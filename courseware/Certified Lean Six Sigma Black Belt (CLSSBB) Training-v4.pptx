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38.xml" ContentType="application/vnd.openxmlformats-officedocument.presentationml.slide+xml"/>
  <Override PartName="/ppt/slides/slide539.xml" ContentType="application/vnd.openxmlformats-officedocument.presentationml.slide+xml"/>
  <Override PartName="/ppt/slides/slide54.xml" ContentType="application/vnd.openxmlformats-officedocument.presentationml.slide+xml"/>
  <Override PartName="/ppt/slides/slide540.xml" ContentType="application/vnd.openxmlformats-officedocument.presentationml.slide+xml"/>
  <Override PartName="/ppt/slides/slide541.xml" ContentType="application/vnd.openxmlformats-officedocument.presentationml.slide+xml"/>
  <Override PartName="/ppt/slides/slide542.xml" ContentType="application/vnd.openxmlformats-officedocument.presentationml.slide+xml"/>
  <Override PartName="/ppt/slides/slide543.xml" ContentType="application/vnd.openxmlformats-officedocument.presentationml.slide+xml"/>
  <Override PartName="/ppt/slides/slide544.xml" ContentType="application/vnd.openxmlformats-officedocument.presentationml.slide+xml"/>
  <Override PartName="/ppt/slides/slide545.xml" ContentType="application/vnd.openxmlformats-officedocument.presentationml.slide+xml"/>
  <Override PartName="/ppt/slides/slide546.xml" ContentType="application/vnd.openxmlformats-officedocument.presentationml.slide+xml"/>
  <Override PartName="/ppt/slides/slide547.xml" ContentType="application/vnd.openxmlformats-officedocument.presentationml.slide+xml"/>
  <Override PartName="/ppt/slides/slide548.xml" ContentType="application/vnd.openxmlformats-officedocument.presentationml.slide+xml"/>
  <Override PartName="/ppt/slides/slide549.xml" ContentType="application/vnd.openxmlformats-officedocument.presentationml.slide+xml"/>
  <Override PartName="/ppt/slides/slide55.xml" ContentType="application/vnd.openxmlformats-officedocument.presentationml.slide+xml"/>
  <Override PartName="/ppt/slides/slide550.xml" ContentType="application/vnd.openxmlformats-officedocument.presentationml.slide+xml"/>
  <Override PartName="/ppt/slides/slide551.xml" ContentType="application/vnd.openxmlformats-officedocument.presentationml.slide+xml"/>
  <Override PartName="/ppt/slides/slide552.xml" ContentType="application/vnd.openxmlformats-officedocument.presentationml.slide+xml"/>
  <Override PartName="/ppt/slides/slide553.xml" ContentType="application/vnd.openxmlformats-officedocument.presentationml.slide+xml"/>
  <Override PartName="/ppt/slides/slide554.xml" ContentType="application/vnd.openxmlformats-officedocument.presentationml.slide+xml"/>
  <Override PartName="/ppt/slides/slide555.xml" ContentType="application/vnd.openxmlformats-officedocument.presentationml.slide+xml"/>
  <Override PartName="/ppt/slides/slide556.xml" ContentType="application/vnd.openxmlformats-officedocument.presentationml.slide+xml"/>
  <Override PartName="/ppt/slides/slide557.xml" ContentType="application/vnd.openxmlformats-officedocument.presentationml.slide+xml"/>
  <Override PartName="/ppt/slides/slide558.xml" ContentType="application/vnd.openxmlformats-officedocument.presentationml.slide+xml"/>
  <Override PartName="/ppt/slides/slide559.xml" ContentType="application/vnd.openxmlformats-officedocument.presentationml.slide+xml"/>
  <Override PartName="/ppt/slides/slide56.xml" ContentType="application/vnd.openxmlformats-officedocument.presentationml.slide+xml"/>
  <Override PartName="/ppt/slides/slide560.xml" ContentType="application/vnd.openxmlformats-officedocument.presentationml.slide+xml"/>
  <Override PartName="/ppt/slides/slide561.xml" ContentType="application/vnd.openxmlformats-officedocument.presentationml.slide+xml"/>
  <Override PartName="/ppt/slides/slide562.xml" ContentType="application/vnd.openxmlformats-officedocument.presentationml.slide+xml"/>
  <Override PartName="/ppt/slides/slide563.xml" ContentType="application/vnd.openxmlformats-officedocument.presentationml.slide+xml"/>
  <Override PartName="/ppt/slides/slide564.xml" ContentType="application/vnd.openxmlformats-officedocument.presentationml.slide+xml"/>
  <Override PartName="/ppt/slides/slide565.xml" ContentType="application/vnd.openxmlformats-officedocument.presentationml.slide+xml"/>
  <Override PartName="/ppt/slides/slide566.xml" ContentType="application/vnd.openxmlformats-officedocument.presentationml.slide+xml"/>
  <Override PartName="/ppt/slides/slide567.xml" ContentType="application/vnd.openxmlformats-officedocument.presentationml.slide+xml"/>
  <Override PartName="/ppt/slides/slide568.xml" ContentType="application/vnd.openxmlformats-officedocument.presentationml.slide+xml"/>
  <Override PartName="/ppt/slides/slide569.xml" ContentType="application/vnd.openxmlformats-officedocument.presentationml.slide+xml"/>
  <Override PartName="/ppt/slides/slide57.xml" ContentType="application/vnd.openxmlformats-officedocument.presentationml.slide+xml"/>
  <Override PartName="/ppt/slides/slide570.xml" ContentType="application/vnd.openxmlformats-officedocument.presentationml.slide+xml"/>
  <Override PartName="/ppt/slides/slide571.xml" ContentType="application/vnd.openxmlformats-officedocument.presentationml.slide+xml"/>
  <Override PartName="/ppt/slides/slide572.xml" ContentType="application/vnd.openxmlformats-officedocument.presentationml.slide+xml"/>
  <Override PartName="/ppt/slides/slide573.xml" ContentType="application/vnd.openxmlformats-officedocument.presentationml.slide+xml"/>
  <Override PartName="/ppt/slides/slide574.xml" ContentType="application/vnd.openxmlformats-officedocument.presentationml.slide+xml"/>
  <Override PartName="/ppt/slides/slide575.xml" ContentType="application/vnd.openxmlformats-officedocument.presentationml.slide+xml"/>
  <Override PartName="/ppt/slides/slide576.xml" ContentType="application/vnd.openxmlformats-officedocument.presentationml.slide+xml"/>
  <Override PartName="/ppt/slides/slide577.xml" ContentType="application/vnd.openxmlformats-officedocument.presentationml.slide+xml"/>
  <Override PartName="/ppt/slides/slide578.xml" ContentType="application/vnd.openxmlformats-officedocument.presentationml.slide+xml"/>
  <Override PartName="/ppt/slides/slide579.xml" ContentType="application/vnd.openxmlformats-officedocument.presentationml.slide+xml"/>
  <Override PartName="/ppt/slides/slide58.xml" ContentType="application/vnd.openxmlformats-officedocument.presentationml.slide+xml"/>
  <Override PartName="/ppt/slides/slide580.xml" ContentType="application/vnd.openxmlformats-officedocument.presentationml.slide+xml"/>
  <Override PartName="/ppt/slides/slide581.xml" ContentType="application/vnd.openxmlformats-officedocument.presentationml.slide+xml"/>
  <Override PartName="/ppt/slides/slide582.xml" ContentType="application/vnd.openxmlformats-officedocument.presentationml.slide+xml"/>
  <Override PartName="/ppt/slides/slide583.xml" ContentType="application/vnd.openxmlformats-officedocument.presentationml.slide+xml"/>
  <Override PartName="/ppt/slides/slide584.xml" ContentType="application/vnd.openxmlformats-officedocument.presentationml.slide+xml"/>
  <Override PartName="/ppt/slides/slide585.xml" ContentType="application/vnd.openxmlformats-officedocument.presentationml.slide+xml"/>
  <Override PartName="/ppt/slides/slide586.xml" ContentType="application/vnd.openxmlformats-officedocument.presentationml.slide+xml"/>
  <Override PartName="/ppt/slides/slide587.xml" ContentType="application/vnd.openxmlformats-officedocument.presentationml.slide+xml"/>
  <Override PartName="/ppt/slides/slide588.xml" ContentType="application/vnd.openxmlformats-officedocument.presentationml.slide+xml"/>
  <Override PartName="/ppt/slides/slide589.xml" ContentType="application/vnd.openxmlformats-officedocument.presentationml.slide+xml"/>
  <Override PartName="/ppt/slides/slide59.xml" ContentType="application/vnd.openxmlformats-officedocument.presentationml.slide+xml"/>
  <Override PartName="/ppt/slides/slide590.xml" ContentType="application/vnd.openxmlformats-officedocument.presentationml.slide+xml"/>
  <Override PartName="/ppt/slides/slide591.xml" ContentType="application/vnd.openxmlformats-officedocument.presentationml.slide+xml"/>
  <Override PartName="/ppt/slides/slide592.xml" ContentType="application/vnd.openxmlformats-officedocument.presentationml.slide+xml"/>
  <Override PartName="/ppt/slides/slide593.xml" ContentType="application/vnd.openxmlformats-officedocument.presentationml.slide+xml"/>
  <Override PartName="/ppt/slides/slide594.xml" ContentType="application/vnd.openxmlformats-officedocument.presentationml.slide+xml"/>
  <Override PartName="/ppt/slides/slide595.xml" ContentType="application/vnd.openxmlformats-officedocument.presentationml.slide+xml"/>
  <Override PartName="/ppt/slides/slide596.xml" ContentType="application/vnd.openxmlformats-officedocument.presentationml.slide+xml"/>
  <Override PartName="/ppt/slides/slide597.xml" ContentType="application/vnd.openxmlformats-officedocument.presentationml.slide+xml"/>
  <Override PartName="/ppt/slides/slide598.xml" ContentType="application/vnd.openxmlformats-officedocument.presentationml.slide+xml"/>
  <Override PartName="/ppt/slides/slide59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00.xml" ContentType="application/vnd.openxmlformats-officedocument.presentationml.slide+xml"/>
  <Override PartName="/ppt/slides/slide601.xml" ContentType="application/vnd.openxmlformats-officedocument.presentationml.slide+xml"/>
  <Override PartName="/ppt/slides/slide602.xml" ContentType="application/vnd.openxmlformats-officedocument.presentationml.slide+xml"/>
  <Override PartName="/ppt/slides/slide603.xml" ContentType="application/vnd.openxmlformats-officedocument.presentationml.slide+xml"/>
  <Override PartName="/ppt/slides/slide604.xml" ContentType="application/vnd.openxmlformats-officedocument.presentationml.slide+xml"/>
  <Override PartName="/ppt/slides/slide605.xml" ContentType="application/vnd.openxmlformats-officedocument.presentationml.slide+xml"/>
  <Override PartName="/ppt/slides/slide606.xml" ContentType="application/vnd.openxmlformats-officedocument.presentationml.slide+xml"/>
  <Override PartName="/ppt/slides/slide607.xml" ContentType="application/vnd.openxmlformats-officedocument.presentationml.slide+xml"/>
  <Override PartName="/ppt/slides/slide608.xml" ContentType="application/vnd.openxmlformats-officedocument.presentationml.slide+xml"/>
  <Override PartName="/ppt/slides/slide609.xml" ContentType="application/vnd.openxmlformats-officedocument.presentationml.slide+xml"/>
  <Override PartName="/ppt/slides/slide61.xml" ContentType="application/vnd.openxmlformats-officedocument.presentationml.slide+xml"/>
  <Override PartName="/ppt/slides/slide610.xml" ContentType="application/vnd.openxmlformats-officedocument.presentationml.slide+xml"/>
  <Override PartName="/ppt/slides/slide611.xml" ContentType="application/vnd.openxmlformats-officedocument.presentationml.slide+xml"/>
  <Override PartName="/ppt/slides/slide612.xml" ContentType="application/vnd.openxmlformats-officedocument.presentationml.slide+xml"/>
  <Override PartName="/ppt/slides/slide613.xml" ContentType="application/vnd.openxmlformats-officedocument.presentationml.slide+xml"/>
  <Override PartName="/ppt/slides/slide614.xml" ContentType="application/vnd.openxmlformats-officedocument.presentationml.slide+xml"/>
  <Override PartName="/ppt/slides/slide615.xml" ContentType="application/vnd.openxmlformats-officedocument.presentationml.slide+xml"/>
  <Override PartName="/ppt/slides/slide616.xml" ContentType="application/vnd.openxmlformats-officedocument.presentationml.slide+xml"/>
  <Override PartName="/ppt/slides/slide617.xml" ContentType="application/vnd.openxmlformats-officedocument.presentationml.slide+xml"/>
  <Override PartName="/ppt/slides/slide618.xml" ContentType="application/vnd.openxmlformats-officedocument.presentationml.slide+xml"/>
  <Override PartName="/ppt/slides/slide619.xml" ContentType="application/vnd.openxmlformats-officedocument.presentationml.slide+xml"/>
  <Override PartName="/ppt/slides/slide62.xml" ContentType="application/vnd.openxmlformats-officedocument.presentationml.slide+xml"/>
  <Override PartName="/ppt/slides/slide620.xml" ContentType="application/vnd.openxmlformats-officedocument.presentationml.slide+xml"/>
  <Override PartName="/ppt/slides/slide621.xml" ContentType="application/vnd.openxmlformats-officedocument.presentationml.slide+xml"/>
  <Override PartName="/ppt/slides/slide622.xml" ContentType="application/vnd.openxmlformats-officedocument.presentationml.slide+xml"/>
  <Override PartName="/ppt/slides/slide623.xml" ContentType="application/vnd.openxmlformats-officedocument.presentationml.slide+xml"/>
  <Override PartName="/ppt/slides/slide624.xml" ContentType="application/vnd.openxmlformats-officedocument.presentationml.slide+xml"/>
  <Override PartName="/ppt/slides/slide625.xml" ContentType="application/vnd.openxmlformats-officedocument.presentationml.slide+xml"/>
  <Override PartName="/ppt/slides/slide626.xml" ContentType="application/vnd.openxmlformats-officedocument.presentationml.slide+xml"/>
  <Override PartName="/ppt/slides/slide627.xml" ContentType="application/vnd.openxmlformats-officedocument.presentationml.slide+xml"/>
  <Override PartName="/ppt/slides/slide628.xml" ContentType="application/vnd.openxmlformats-officedocument.presentationml.slide+xml"/>
  <Override PartName="/ppt/slides/slide629.xml" ContentType="application/vnd.openxmlformats-officedocument.presentationml.slide+xml"/>
  <Override PartName="/ppt/slides/slide63.xml" ContentType="application/vnd.openxmlformats-officedocument.presentationml.slide+xml"/>
  <Override PartName="/ppt/slides/slide630.xml" ContentType="application/vnd.openxmlformats-officedocument.presentationml.slide+xml"/>
  <Override PartName="/ppt/slides/slide631.xml" ContentType="application/vnd.openxmlformats-officedocument.presentationml.slide+xml"/>
  <Override PartName="/ppt/slides/slide632.xml" ContentType="application/vnd.openxmlformats-officedocument.presentationml.slide+xml"/>
  <Override PartName="/ppt/slides/slide633.xml" ContentType="application/vnd.openxmlformats-officedocument.presentationml.slide+xml"/>
  <Override PartName="/ppt/slides/slide634.xml" ContentType="application/vnd.openxmlformats-officedocument.presentationml.slide+xml"/>
  <Override PartName="/ppt/slides/slide635.xml" ContentType="application/vnd.openxmlformats-officedocument.presentationml.slide+xml"/>
  <Override PartName="/ppt/slides/slide636.xml" ContentType="application/vnd.openxmlformats-officedocument.presentationml.slide+xml"/>
  <Override PartName="/ppt/slides/slide637.xml" ContentType="application/vnd.openxmlformats-officedocument.presentationml.slide+xml"/>
  <Override PartName="/ppt/slides/slide638.xml" ContentType="application/vnd.openxmlformats-officedocument.presentationml.slide+xml"/>
  <Override PartName="/ppt/slides/slide639.xml" ContentType="application/vnd.openxmlformats-officedocument.presentationml.slide+xml"/>
  <Override PartName="/ppt/slides/slide64.xml" ContentType="application/vnd.openxmlformats-officedocument.presentationml.slide+xml"/>
  <Override PartName="/ppt/slides/slide640.xml" ContentType="application/vnd.openxmlformats-officedocument.presentationml.slide+xml"/>
  <Override PartName="/ppt/slides/slide641.xml" ContentType="application/vnd.openxmlformats-officedocument.presentationml.slide+xml"/>
  <Override PartName="/ppt/slides/slide642.xml" ContentType="application/vnd.openxmlformats-officedocument.presentationml.slide+xml"/>
  <Override PartName="/ppt/slides/slide643.xml" ContentType="application/vnd.openxmlformats-officedocument.presentationml.slide+xml"/>
  <Override PartName="/ppt/slides/slide644.xml" ContentType="application/vnd.openxmlformats-officedocument.presentationml.slide+xml"/>
  <Override PartName="/ppt/slides/slide645.xml" ContentType="application/vnd.openxmlformats-officedocument.presentationml.slide+xml"/>
  <Override PartName="/ppt/slides/slide646.xml" ContentType="application/vnd.openxmlformats-officedocument.presentationml.slide+xml"/>
  <Override PartName="/ppt/slides/slide647.xml" ContentType="application/vnd.openxmlformats-officedocument.presentationml.slide+xml"/>
  <Override PartName="/ppt/slides/slide648.xml" ContentType="application/vnd.openxmlformats-officedocument.presentationml.slide+xml"/>
  <Override PartName="/ppt/slides/slide649.xml" ContentType="application/vnd.openxmlformats-officedocument.presentationml.slide+xml"/>
  <Override PartName="/ppt/slides/slide65.xml" ContentType="application/vnd.openxmlformats-officedocument.presentationml.slide+xml"/>
  <Override PartName="/ppt/slides/slide650.xml" ContentType="application/vnd.openxmlformats-officedocument.presentationml.slide+xml"/>
  <Override PartName="/ppt/slides/slide651.xml" ContentType="application/vnd.openxmlformats-officedocument.presentationml.slide+xml"/>
  <Override PartName="/ppt/slides/slide652.xml" ContentType="application/vnd.openxmlformats-officedocument.presentationml.slide+xml"/>
  <Override PartName="/ppt/slides/slide653.xml" ContentType="application/vnd.openxmlformats-officedocument.presentationml.slide+xml"/>
  <Override PartName="/ppt/slides/slide654.xml" ContentType="application/vnd.openxmlformats-officedocument.presentationml.slide+xml"/>
  <Override PartName="/ppt/slides/slide655.xml" ContentType="application/vnd.openxmlformats-officedocument.presentationml.slide+xml"/>
  <Override PartName="/ppt/slides/slide656.xml" ContentType="application/vnd.openxmlformats-officedocument.presentationml.slide+xml"/>
  <Override PartName="/ppt/slides/slide657.xml" ContentType="application/vnd.openxmlformats-officedocument.presentationml.slide+xml"/>
  <Override PartName="/ppt/slides/slide658.xml" ContentType="application/vnd.openxmlformats-officedocument.presentationml.slide+xml"/>
  <Override PartName="/ppt/slides/slide659.xml" ContentType="application/vnd.openxmlformats-officedocument.presentationml.slide+xml"/>
  <Override PartName="/ppt/slides/slide66.xml" ContentType="application/vnd.openxmlformats-officedocument.presentationml.slide+xml"/>
  <Override PartName="/ppt/slides/slide660.xml" ContentType="application/vnd.openxmlformats-officedocument.presentationml.slide+xml"/>
  <Override PartName="/ppt/slides/slide661.xml" ContentType="application/vnd.openxmlformats-officedocument.presentationml.slide+xml"/>
  <Override PartName="/ppt/slides/slide662.xml" ContentType="application/vnd.openxmlformats-officedocument.presentationml.slide+xml"/>
  <Override PartName="/ppt/slides/slide663.xml" ContentType="application/vnd.openxmlformats-officedocument.presentationml.slide+xml"/>
  <Override PartName="/ppt/slides/slide664.xml" ContentType="application/vnd.openxmlformats-officedocument.presentationml.slide+xml"/>
  <Override PartName="/ppt/slides/slide665.xml" ContentType="application/vnd.openxmlformats-officedocument.presentationml.slide+xml"/>
  <Override PartName="/ppt/slides/slide666.xml" ContentType="application/vnd.openxmlformats-officedocument.presentationml.slide+xml"/>
  <Override PartName="/ppt/slides/slide667.xml" ContentType="application/vnd.openxmlformats-officedocument.presentationml.slide+xml"/>
  <Override PartName="/ppt/slides/slide668.xml" ContentType="application/vnd.openxmlformats-officedocument.presentationml.slide+xml"/>
  <Override PartName="/ppt/slides/slide669.xml" ContentType="application/vnd.openxmlformats-officedocument.presentationml.slide+xml"/>
  <Override PartName="/ppt/slides/slide67.xml" ContentType="application/vnd.openxmlformats-officedocument.presentationml.slide+xml"/>
  <Override PartName="/ppt/slides/slide670.xml" ContentType="application/vnd.openxmlformats-officedocument.presentationml.slide+xml"/>
  <Override PartName="/ppt/slides/slide671.xml" ContentType="application/vnd.openxmlformats-officedocument.presentationml.slide+xml"/>
  <Override PartName="/ppt/slides/slide672.xml" ContentType="application/vnd.openxmlformats-officedocument.presentationml.slide+xml"/>
  <Override PartName="/ppt/slides/slide673.xml" ContentType="application/vnd.openxmlformats-officedocument.presentationml.slide+xml"/>
  <Override PartName="/ppt/slides/slide674.xml" ContentType="application/vnd.openxmlformats-officedocument.presentationml.slide+xml"/>
  <Override PartName="/ppt/slides/slide675.xml" ContentType="application/vnd.openxmlformats-officedocument.presentationml.slide+xml"/>
  <Override PartName="/ppt/slides/slide676.xml" ContentType="application/vnd.openxmlformats-officedocument.presentationml.slide+xml"/>
  <Override PartName="/ppt/slides/slide677.xml" ContentType="application/vnd.openxmlformats-officedocument.presentationml.slide+xml"/>
  <Override PartName="/ppt/slides/slide678.xml" ContentType="application/vnd.openxmlformats-officedocument.presentationml.slide+xml"/>
  <Override PartName="/ppt/slides/slide679.xml" ContentType="application/vnd.openxmlformats-officedocument.presentationml.slide+xml"/>
  <Override PartName="/ppt/slides/slide68.xml" ContentType="application/vnd.openxmlformats-officedocument.presentationml.slide+xml"/>
  <Override PartName="/ppt/slides/slide680.xml" ContentType="application/vnd.openxmlformats-officedocument.presentationml.slide+xml"/>
  <Override PartName="/ppt/slides/slide681.xml" ContentType="application/vnd.openxmlformats-officedocument.presentationml.slide+xml"/>
  <Override PartName="/ppt/slides/slide682.xml" ContentType="application/vnd.openxmlformats-officedocument.presentationml.slide+xml"/>
  <Override PartName="/ppt/slides/slide683.xml" ContentType="application/vnd.openxmlformats-officedocument.presentationml.slide+xml"/>
  <Override PartName="/ppt/slides/slide684.xml" ContentType="application/vnd.openxmlformats-officedocument.presentationml.slide+xml"/>
  <Override PartName="/ppt/slides/slide685.xml" ContentType="application/vnd.openxmlformats-officedocument.presentationml.slide+xml"/>
  <Override PartName="/ppt/slides/slide686.xml" ContentType="application/vnd.openxmlformats-officedocument.presentationml.slide+xml"/>
  <Override PartName="/ppt/slides/slide687.xml" ContentType="application/vnd.openxmlformats-officedocument.presentationml.slide+xml"/>
  <Override PartName="/ppt/slides/slide688.xml" ContentType="application/vnd.openxmlformats-officedocument.presentationml.slide+xml"/>
  <Override PartName="/ppt/slides/slide689.xml" ContentType="application/vnd.openxmlformats-officedocument.presentationml.slide+xml"/>
  <Override PartName="/ppt/slides/slide69.xml" ContentType="application/vnd.openxmlformats-officedocument.presentationml.slide+xml"/>
  <Override PartName="/ppt/slides/slide690.xml" ContentType="application/vnd.openxmlformats-officedocument.presentationml.slide+xml"/>
  <Override PartName="/ppt/slides/slide691.xml" ContentType="application/vnd.openxmlformats-officedocument.presentationml.slide+xml"/>
  <Override PartName="/ppt/slides/slide692.xml" ContentType="application/vnd.openxmlformats-officedocument.presentationml.slide+xml"/>
  <Override PartName="/ppt/slides/slide693.xml" ContentType="application/vnd.openxmlformats-officedocument.presentationml.slide+xml"/>
  <Override PartName="/ppt/slides/slide694.xml" ContentType="application/vnd.openxmlformats-officedocument.presentationml.slide+xml"/>
  <Override PartName="/ppt/slides/slide695.xml" ContentType="application/vnd.openxmlformats-officedocument.presentationml.slide+xml"/>
  <Override PartName="/ppt/slides/slide696.xml" ContentType="application/vnd.openxmlformats-officedocument.presentationml.slide+xml"/>
  <Override PartName="/ppt/slides/slide697.xml" ContentType="application/vnd.openxmlformats-officedocument.presentationml.slide+xml"/>
  <Override PartName="/ppt/slides/slide698.xml" ContentType="application/vnd.openxmlformats-officedocument.presentationml.slide+xml"/>
  <Override PartName="/ppt/slides/slide69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00.xml" ContentType="application/vnd.openxmlformats-officedocument.presentationml.slide+xml"/>
  <Override PartName="/ppt/slides/slide701.xml" ContentType="application/vnd.openxmlformats-officedocument.presentationml.slide+xml"/>
  <Override PartName="/ppt/slides/slide702.xml" ContentType="application/vnd.openxmlformats-officedocument.presentationml.slide+xml"/>
  <Override PartName="/ppt/slides/slide703.xml" ContentType="application/vnd.openxmlformats-officedocument.presentationml.slide+xml"/>
  <Override PartName="/ppt/slides/slide704.xml" ContentType="application/vnd.openxmlformats-officedocument.presentationml.slide+xml"/>
  <Override PartName="/ppt/slides/slide705.xml" ContentType="application/vnd.openxmlformats-officedocument.presentationml.slide+xml"/>
  <Override PartName="/ppt/slides/slide706.xml" ContentType="application/vnd.openxmlformats-officedocument.presentationml.slide+xml"/>
  <Override PartName="/ppt/slides/slide707.xml" ContentType="application/vnd.openxmlformats-officedocument.presentationml.slide+xml"/>
  <Override PartName="/ppt/slides/slide708.xml" ContentType="application/vnd.openxmlformats-officedocument.presentationml.slide+xml"/>
  <Override PartName="/ppt/slides/slide709.xml" ContentType="application/vnd.openxmlformats-officedocument.presentationml.slide+xml"/>
  <Override PartName="/ppt/slides/slide71.xml" ContentType="application/vnd.openxmlformats-officedocument.presentationml.slide+xml"/>
  <Override PartName="/ppt/slides/slide710.xml" ContentType="application/vnd.openxmlformats-officedocument.presentationml.slide+xml"/>
  <Override PartName="/ppt/slides/slide711.xml" ContentType="application/vnd.openxmlformats-officedocument.presentationml.slide+xml"/>
  <Override PartName="/ppt/slides/slide712.xml" ContentType="application/vnd.openxmlformats-officedocument.presentationml.slide+xml"/>
  <Override PartName="/ppt/slides/slide713.xml" ContentType="application/vnd.openxmlformats-officedocument.presentationml.slide+xml"/>
  <Override PartName="/ppt/slides/slide714.xml" ContentType="application/vnd.openxmlformats-officedocument.presentationml.slide+xml"/>
  <Override PartName="/ppt/slides/slide715.xml" ContentType="application/vnd.openxmlformats-officedocument.presentationml.slide+xml"/>
  <Override PartName="/ppt/slides/slide716.xml" ContentType="application/vnd.openxmlformats-officedocument.presentationml.slide+xml"/>
  <Override PartName="/ppt/slides/slide717.xml" ContentType="application/vnd.openxmlformats-officedocument.presentationml.slide+xml"/>
  <Override PartName="/ppt/slides/slide718.xml" ContentType="application/vnd.openxmlformats-officedocument.presentationml.slide+xml"/>
  <Override PartName="/ppt/slides/slide719.xml" ContentType="application/vnd.openxmlformats-officedocument.presentationml.slide+xml"/>
  <Override PartName="/ppt/slides/slide72.xml" ContentType="application/vnd.openxmlformats-officedocument.presentationml.slide+xml"/>
  <Override PartName="/ppt/slides/slide720.xml" ContentType="application/vnd.openxmlformats-officedocument.presentationml.slide+xml"/>
  <Override PartName="/ppt/slides/slide721.xml" ContentType="application/vnd.openxmlformats-officedocument.presentationml.slide+xml"/>
  <Override PartName="/ppt/slides/slide722.xml" ContentType="application/vnd.openxmlformats-officedocument.presentationml.slide+xml"/>
  <Override PartName="/ppt/slides/slide723.xml" ContentType="application/vnd.openxmlformats-officedocument.presentationml.slide+xml"/>
  <Override PartName="/ppt/slides/slide724.xml" ContentType="application/vnd.openxmlformats-officedocument.presentationml.slide+xml"/>
  <Override PartName="/ppt/slides/slide725.xml" ContentType="application/vnd.openxmlformats-officedocument.presentationml.slide+xml"/>
  <Override PartName="/ppt/slides/slide726.xml" ContentType="application/vnd.openxmlformats-officedocument.presentationml.slide+xml"/>
  <Override PartName="/ppt/slides/slide727.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982" r:id="rId733"/>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28" r:id="rId379"/>
    <p:sldId id="629" r:id="rId380"/>
    <p:sldId id="630" r:id="rId381"/>
    <p:sldId id="631" r:id="rId382"/>
    <p:sldId id="632" r:id="rId383"/>
    <p:sldId id="633" r:id="rId384"/>
    <p:sldId id="634" r:id="rId385"/>
    <p:sldId id="635" r:id="rId386"/>
    <p:sldId id="636" r:id="rId387"/>
    <p:sldId id="637" r:id="rId388"/>
    <p:sldId id="638" r:id="rId389"/>
    <p:sldId id="639" r:id="rId390"/>
    <p:sldId id="640" r:id="rId391"/>
    <p:sldId id="641" r:id="rId392"/>
    <p:sldId id="642" r:id="rId393"/>
    <p:sldId id="643" r:id="rId394"/>
    <p:sldId id="644" r:id="rId395"/>
    <p:sldId id="645" r:id="rId396"/>
    <p:sldId id="646" r:id="rId397"/>
    <p:sldId id="647" r:id="rId398"/>
    <p:sldId id="648" r:id="rId399"/>
    <p:sldId id="649" r:id="rId400"/>
    <p:sldId id="650" r:id="rId401"/>
    <p:sldId id="651" r:id="rId402"/>
    <p:sldId id="652" r:id="rId403"/>
    <p:sldId id="653" r:id="rId404"/>
    <p:sldId id="654" r:id="rId405"/>
    <p:sldId id="655" r:id="rId406"/>
    <p:sldId id="656" r:id="rId407"/>
    <p:sldId id="657" r:id="rId408"/>
    <p:sldId id="658" r:id="rId409"/>
    <p:sldId id="659" r:id="rId410"/>
    <p:sldId id="660" r:id="rId411"/>
    <p:sldId id="661" r:id="rId412"/>
    <p:sldId id="662" r:id="rId413"/>
    <p:sldId id="663" r:id="rId414"/>
    <p:sldId id="664" r:id="rId415"/>
    <p:sldId id="665" r:id="rId416"/>
    <p:sldId id="666" r:id="rId417"/>
    <p:sldId id="667" r:id="rId418"/>
    <p:sldId id="668" r:id="rId419"/>
    <p:sldId id="669" r:id="rId420"/>
    <p:sldId id="670" r:id="rId421"/>
    <p:sldId id="671" r:id="rId422"/>
    <p:sldId id="672" r:id="rId423"/>
    <p:sldId id="673" r:id="rId424"/>
    <p:sldId id="674" r:id="rId425"/>
    <p:sldId id="675" r:id="rId426"/>
    <p:sldId id="676" r:id="rId427"/>
    <p:sldId id="677" r:id="rId428"/>
    <p:sldId id="678" r:id="rId429"/>
    <p:sldId id="679" r:id="rId430"/>
    <p:sldId id="680" r:id="rId431"/>
    <p:sldId id="681" r:id="rId432"/>
    <p:sldId id="682" r:id="rId433"/>
    <p:sldId id="683" r:id="rId434"/>
    <p:sldId id="684" r:id="rId435"/>
    <p:sldId id="685" r:id="rId436"/>
    <p:sldId id="686" r:id="rId437"/>
    <p:sldId id="687" r:id="rId438"/>
    <p:sldId id="688" r:id="rId439"/>
    <p:sldId id="689" r:id="rId440"/>
    <p:sldId id="690" r:id="rId441"/>
    <p:sldId id="691" r:id="rId442"/>
    <p:sldId id="692" r:id="rId443"/>
    <p:sldId id="693" r:id="rId444"/>
    <p:sldId id="694" r:id="rId445"/>
    <p:sldId id="695" r:id="rId446"/>
    <p:sldId id="696" r:id="rId447"/>
    <p:sldId id="697" r:id="rId448"/>
    <p:sldId id="698" r:id="rId449"/>
    <p:sldId id="699" r:id="rId450"/>
    <p:sldId id="700" r:id="rId451"/>
    <p:sldId id="701" r:id="rId452"/>
    <p:sldId id="702" r:id="rId453"/>
    <p:sldId id="703" r:id="rId454"/>
    <p:sldId id="704" r:id="rId455"/>
    <p:sldId id="705" r:id="rId456"/>
    <p:sldId id="706" r:id="rId457"/>
    <p:sldId id="707" r:id="rId458"/>
    <p:sldId id="708" r:id="rId459"/>
    <p:sldId id="709" r:id="rId460"/>
    <p:sldId id="710" r:id="rId461"/>
    <p:sldId id="711" r:id="rId462"/>
    <p:sldId id="712" r:id="rId463"/>
    <p:sldId id="713" r:id="rId464"/>
    <p:sldId id="714" r:id="rId465"/>
    <p:sldId id="715" r:id="rId466"/>
    <p:sldId id="716" r:id="rId467"/>
    <p:sldId id="717" r:id="rId468"/>
    <p:sldId id="718" r:id="rId469"/>
    <p:sldId id="719" r:id="rId470"/>
    <p:sldId id="720" r:id="rId471"/>
    <p:sldId id="721" r:id="rId472"/>
    <p:sldId id="722" r:id="rId473"/>
    <p:sldId id="723" r:id="rId474"/>
    <p:sldId id="724" r:id="rId475"/>
    <p:sldId id="725" r:id="rId476"/>
    <p:sldId id="726" r:id="rId477"/>
    <p:sldId id="727" r:id="rId478"/>
    <p:sldId id="728" r:id="rId479"/>
    <p:sldId id="729" r:id="rId480"/>
    <p:sldId id="730" r:id="rId481"/>
    <p:sldId id="731" r:id="rId482"/>
    <p:sldId id="732" r:id="rId483"/>
    <p:sldId id="733" r:id="rId484"/>
    <p:sldId id="734" r:id="rId485"/>
    <p:sldId id="735" r:id="rId486"/>
    <p:sldId id="736" r:id="rId487"/>
    <p:sldId id="737" r:id="rId488"/>
    <p:sldId id="738" r:id="rId489"/>
    <p:sldId id="739" r:id="rId490"/>
    <p:sldId id="740" r:id="rId491"/>
    <p:sldId id="741" r:id="rId492"/>
    <p:sldId id="742" r:id="rId493"/>
    <p:sldId id="743" r:id="rId494"/>
    <p:sldId id="744" r:id="rId495"/>
    <p:sldId id="745" r:id="rId496"/>
    <p:sldId id="746" r:id="rId497"/>
    <p:sldId id="747" r:id="rId498"/>
    <p:sldId id="748" r:id="rId499"/>
    <p:sldId id="749" r:id="rId500"/>
    <p:sldId id="750" r:id="rId501"/>
    <p:sldId id="751" r:id="rId502"/>
    <p:sldId id="752" r:id="rId503"/>
    <p:sldId id="753" r:id="rId504"/>
    <p:sldId id="754" r:id="rId505"/>
    <p:sldId id="755" r:id="rId506"/>
    <p:sldId id="756" r:id="rId507"/>
    <p:sldId id="757" r:id="rId508"/>
    <p:sldId id="758" r:id="rId509"/>
    <p:sldId id="759" r:id="rId510"/>
    <p:sldId id="760" r:id="rId511"/>
    <p:sldId id="761" r:id="rId512"/>
    <p:sldId id="762" r:id="rId513"/>
    <p:sldId id="763" r:id="rId514"/>
    <p:sldId id="764" r:id="rId515"/>
    <p:sldId id="765" r:id="rId516"/>
    <p:sldId id="766" r:id="rId517"/>
    <p:sldId id="767" r:id="rId518"/>
    <p:sldId id="768" r:id="rId519"/>
    <p:sldId id="769" r:id="rId520"/>
    <p:sldId id="770" r:id="rId521"/>
    <p:sldId id="771" r:id="rId522"/>
    <p:sldId id="772" r:id="rId523"/>
    <p:sldId id="773" r:id="rId524"/>
    <p:sldId id="774" r:id="rId525"/>
    <p:sldId id="775" r:id="rId526"/>
    <p:sldId id="776" r:id="rId527"/>
    <p:sldId id="777" r:id="rId528"/>
    <p:sldId id="778" r:id="rId529"/>
    <p:sldId id="779" r:id="rId530"/>
    <p:sldId id="780" r:id="rId531"/>
    <p:sldId id="781" r:id="rId532"/>
    <p:sldId id="782" r:id="rId533"/>
    <p:sldId id="783" r:id="rId534"/>
    <p:sldId id="784" r:id="rId535"/>
    <p:sldId id="785" r:id="rId536"/>
    <p:sldId id="786" r:id="rId537"/>
    <p:sldId id="787" r:id="rId538"/>
    <p:sldId id="788" r:id="rId539"/>
    <p:sldId id="789" r:id="rId540"/>
    <p:sldId id="790" r:id="rId541"/>
    <p:sldId id="791" r:id="rId542"/>
    <p:sldId id="792" r:id="rId543"/>
    <p:sldId id="793" r:id="rId544"/>
    <p:sldId id="794" r:id="rId545"/>
    <p:sldId id="795" r:id="rId546"/>
    <p:sldId id="796" r:id="rId547"/>
    <p:sldId id="797" r:id="rId548"/>
    <p:sldId id="798" r:id="rId549"/>
    <p:sldId id="799" r:id="rId550"/>
    <p:sldId id="800" r:id="rId551"/>
    <p:sldId id="801" r:id="rId552"/>
    <p:sldId id="802" r:id="rId553"/>
    <p:sldId id="803" r:id="rId554"/>
    <p:sldId id="804" r:id="rId555"/>
    <p:sldId id="805" r:id="rId556"/>
    <p:sldId id="806" r:id="rId557"/>
    <p:sldId id="807" r:id="rId558"/>
    <p:sldId id="808" r:id="rId559"/>
    <p:sldId id="809" r:id="rId560"/>
    <p:sldId id="810" r:id="rId561"/>
    <p:sldId id="811" r:id="rId562"/>
    <p:sldId id="812" r:id="rId563"/>
    <p:sldId id="813" r:id="rId564"/>
    <p:sldId id="814" r:id="rId565"/>
    <p:sldId id="815" r:id="rId566"/>
    <p:sldId id="816" r:id="rId567"/>
    <p:sldId id="817" r:id="rId568"/>
    <p:sldId id="818" r:id="rId569"/>
    <p:sldId id="819" r:id="rId570"/>
    <p:sldId id="820" r:id="rId571"/>
    <p:sldId id="821" r:id="rId572"/>
    <p:sldId id="822" r:id="rId573"/>
    <p:sldId id="823" r:id="rId574"/>
    <p:sldId id="824" r:id="rId575"/>
    <p:sldId id="825" r:id="rId576"/>
    <p:sldId id="826" r:id="rId577"/>
    <p:sldId id="827" r:id="rId578"/>
    <p:sldId id="828" r:id="rId579"/>
    <p:sldId id="829" r:id="rId580"/>
    <p:sldId id="830" r:id="rId581"/>
    <p:sldId id="831" r:id="rId582"/>
    <p:sldId id="832" r:id="rId583"/>
    <p:sldId id="833" r:id="rId584"/>
    <p:sldId id="834" r:id="rId585"/>
    <p:sldId id="835" r:id="rId586"/>
    <p:sldId id="836" r:id="rId587"/>
    <p:sldId id="837" r:id="rId588"/>
    <p:sldId id="838" r:id="rId589"/>
    <p:sldId id="839" r:id="rId590"/>
    <p:sldId id="840" r:id="rId591"/>
    <p:sldId id="841" r:id="rId592"/>
    <p:sldId id="842" r:id="rId593"/>
    <p:sldId id="843" r:id="rId594"/>
    <p:sldId id="844" r:id="rId595"/>
    <p:sldId id="845" r:id="rId596"/>
    <p:sldId id="846" r:id="rId597"/>
    <p:sldId id="847" r:id="rId598"/>
    <p:sldId id="848" r:id="rId599"/>
    <p:sldId id="849" r:id="rId600"/>
    <p:sldId id="850" r:id="rId601"/>
    <p:sldId id="851" r:id="rId602"/>
    <p:sldId id="852" r:id="rId603"/>
    <p:sldId id="853" r:id="rId604"/>
    <p:sldId id="854" r:id="rId605"/>
    <p:sldId id="855" r:id="rId606"/>
    <p:sldId id="856" r:id="rId607"/>
    <p:sldId id="857" r:id="rId608"/>
    <p:sldId id="858" r:id="rId609"/>
    <p:sldId id="859" r:id="rId610"/>
    <p:sldId id="860" r:id="rId611"/>
    <p:sldId id="861" r:id="rId612"/>
    <p:sldId id="862" r:id="rId613"/>
    <p:sldId id="863" r:id="rId614"/>
    <p:sldId id="864" r:id="rId615"/>
    <p:sldId id="865" r:id="rId616"/>
    <p:sldId id="866" r:id="rId617"/>
    <p:sldId id="867" r:id="rId618"/>
    <p:sldId id="868" r:id="rId619"/>
    <p:sldId id="869" r:id="rId620"/>
    <p:sldId id="870" r:id="rId621"/>
    <p:sldId id="871" r:id="rId622"/>
    <p:sldId id="872" r:id="rId623"/>
    <p:sldId id="873" r:id="rId624"/>
    <p:sldId id="874" r:id="rId625"/>
    <p:sldId id="875" r:id="rId626"/>
    <p:sldId id="876" r:id="rId627"/>
    <p:sldId id="877" r:id="rId628"/>
    <p:sldId id="878" r:id="rId629"/>
    <p:sldId id="879" r:id="rId630"/>
    <p:sldId id="880" r:id="rId631"/>
    <p:sldId id="881" r:id="rId632"/>
    <p:sldId id="882" r:id="rId633"/>
    <p:sldId id="883" r:id="rId634"/>
    <p:sldId id="884" r:id="rId635"/>
    <p:sldId id="885" r:id="rId636"/>
    <p:sldId id="886" r:id="rId637"/>
    <p:sldId id="887" r:id="rId638"/>
    <p:sldId id="888" r:id="rId639"/>
    <p:sldId id="889" r:id="rId640"/>
    <p:sldId id="890" r:id="rId641"/>
    <p:sldId id="891" r:id="rId642"/>
    <p:sldId id="892" r:id="rId643"/>
    <p:sldId id="893" r:id="rId644"/>
    <p:sldId id="894" r:id="rId645"/>
    <p:sldId id="895" r:id="rId646"/>
    <p:sldId id="896" r:id="rId647"/>
    <p:sldId id="897" r:id="rId648"/>
    <p:sldId id="898" r:id="rId649"/>
    <p:sldId id="899" r:id="rId650"/>
    <p:sldId id="900" r:id="rId651"/>
    <p:sldId id="901" r:id="rId652"/>
    <p:sldId id="902" r:id="rId653"/>
    <p:sldId id="903" r:id="rId654"/>
    <p:sldId id="904" r:id="rId655"/>
    <p:sldId id="905" r:id="rId656"/>
    <p:sldId id="906" r:id="rId657"/>
    <p:sldId id="907" r:id="rId658"/>
    <p:sldId id="908" r:id="rId659"/>
    <p:sldId id="909" r:id="rId660"/>
    <p:sldId id="910" r:id="rId661"/>
    <p:sldId id="911" r:id="rId662"/>
    <p:sldId id="912" r:id="rId663"/>
    <p:sldId id="913" r:id="rId664"/>
    <p:sldId id="914" r:id="rId665"/>
    <p:sldId id="915" r:id="rId666"/>
    <p:sldId id="916" r:id="rId667"/>
    <p:sldId id="917" r:id="rId668"/>
    <p:sldId id="918" r:id="rId669"/>
    <p:sldId id="919" r:id="rId670"/>
    <p:sldId id="920" r:id="rId671"/>
    <p:sldId id="921" r:id="rId672"/>
    <p:sldId id="922" r:id="rId673"/>
    <p:sldId id="923" r:id="rId674"/>
    <p:sldId id="924" r:id="rId675"/>
    <p:sldId id="925" r:id="rId676"/>
    <p:sldId id="926" r:id="rId677"/>
    <p:sldId id="927" r:id="rId678"/>
    <p:sldId id="928" r:id="rId679"/>
    <p:sldId id="929" r:id="rId680"/>
    <p:sldId id="930" r:id="rId681"/>
    <p:sldId id="931" r:id="rId682"/>
    <p:sldId id="932" r:id="rId683"/>
    <p:sldId id="933" r:id="rId684"/>
    <p:sldId id="934" r:id="rId685"/>
    <p:sldId id="935" r:id="rId686"/>
    <p:sldId id="936" r:id="rId687"/>
    <p:sldId id="937" r:id="rId688"/>
    <p:sldId id="938" r:id="rId689"/>
    <p:sldId id="939" r:id="rId690"/>
    <p:sldId id="940" r:id="rId691"/>
    <p:sldId id="941" r:id="rId692"/>
    <p:sldId id="942" r:id="rId693"/>
    <p:sldId id="943" r:id="rId694"/>
    <p:sldId id="944" r:id="rId695"/>
    <p:sldId id="945" r:id="rId696"/>
    <p:sldId id="946" r:id="rId697"/>
    <p:sldId id="947" r:id="rId698"/>
    <p:sldId id="948" r:id="rId699"/>
    <p:sldId id="949" r:id="rId700"/>
    <p:sldId id="950" r:id="rId701"/>
    <p:sldId id="951" r:id="rId702"/>
    <p:sldId id="952" r:id="rId703"/>
    <p:sldId id="953" r:id="rId704"/>
    <p:sldId id="954" r:id="rId705"/>
    <p:sldId id="955" r:id="rId706"/>
    <p:sldId id="956" r:id="rId707"/>
    <p:sldId id="957" r:id="rId708"/>
    <p:sldId id="958" r:id="rId709"/>
    <p:sldId id="959" r:id="rId710"/>
    <p:sldId id="960" r:id="rId711"/>
    <p:sldId id="961" r:id="rId712"/>
    <p:sldId id="962" r:id="rId713"/>
    <p:sldId id="963" r:id="rId714"/>
    <p:sldId id="964" r:id="rId715"/>
    <p:sldId id="965" r:id="rId716"/>
    <p:sldId id="966" r:id="rId717"/>
    <p:sldId id="967" r:id="rId718"/>
    <p:sldId id="968" r:id="rId719"/>
    <p:sldId id="969" r:id="rId720"/>
    <p:sldId id="970" r:id="rId721"/>
    <p:sldId id="971" r:id="rId722"/>
    <p:sldId id="972" r:id="rId723"/>
    <p:sldId id="973" r:id="rId724"/>
    <p:sldId id="974" r:id="rId725"/>
    <p:sldId id="975" r:id="rId726"/>
    <p:sldId id="976" r:id="rId727"/>
    <p:sldId id="977" r:id="rId728"/>
    <p:sldId id="978" r:id="rId729"/>
    <p:sldId id="979" r:id="rId730"/>
    <p:sldId id="980" r:id="rId731"/>
    <p:sldId id="981" r:id="rId7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 Id="rId336" Type="http://schemas.openxmlformats.org/officeDocument/2006/relationships/slide" Target="slides/slide330.xml"/><Relationship Id="rId337" Type="http://schemas.openxmlformats.org/officeDocument/2006/relationships/slide" Target="slides/slide331.xml"/><Relationship Id="rId338" Type="http://schemas.openxmlformats.org/officeDocument/2006/relationships/slide" Target="slides/slide332.xml"/><Relationship Id="rId339" Type="http://schemas.openxmlformats.org/officeDocument/2006/relationships/slide" Target="slides/slide333.xml"/><Relationship Id="rId340" Type="http://schemas.openxmlformats.org/officeDocument/2006/relationships/slide" Target="slides/slide334.xml"/><Relationship Id="rId341" Type="http://schemas.openxmlformats.org/officeDocument/2006/relationships/slide" Target="slides/slide335.xml"/><Relationship Id="rId342" Type="http://schemas.openxmlformats.org/officeDocument/2006/relationships/slide" Target="slides/slide336.xml"/><Relationship Id="rId343" Type="http://schemas.openxmlformats.org/officeDocument/2006/relationships/slide" Target="slides/slide337.xml"/><Relationship Id="rId344" Type="http://schemas.openxmlformats.org/officeDocument/2006/relationships/slide" Target="slides/slide338.xml"/><Relationship Id="rId345" Type="http://schemas.openxmlformats.org/officeDocument/2006/relationships/slide" Target="slides/slide339.xml"/><Relationship Id="rId346" Type="http://schemas.openxmlformats.org/officeDocument/2006/relationships/slide" Target="slides/slide340.xml"/><Relationship Id="rId347" Type="http://schemas.openxmlformats.org/officeDocument/2006/relationships/slide" Target="slides/slide341.xml"/><Relationship Id="rId348" Type="http://schemas.openxmlformats.org/officeDocument/2006/relationships/slide" Target="slides/slide342.xml"/><Relationship Id="rId349" Type="http://schemas.openxmlformats.org/officeDocument/2006/relationships/slide" Target="slides/slide343.xml"/><Relationship Id="rId350" Type="http://schemas.openxmlformats.org/officeDocument/2006/relationships/slide" Target="slides/slide344.xml"/><Relationship Id="rId351" Type="http://schemas.openxmlformats.org/officeDocument/2006/relationships/slide" Target="slides/slide345.xml"/><Relationship Id="rId352" Type="http://schemas.openxmlformats.org/officeDocument/2006/relationships/slide" Target="slides/slide346.xml"/><Relationship Id="rId353" Type="http://schemas.openxmlformats.org/officeDocument/2006/relationships/slide" Target="slides/slide347.xml"/><Relationship Id="rId354" Type="http://schemas.openxmlformats.org/officeDocument/2006/relationships/slide" Target="slides/slide348.xml"/><Relationship Id="rId355" Type="http://schemas.openxmlformats.org/officeDocument/2006/relationships/slide" Target="slides/slide349.xml"/><Relationship Id="rId356" Type="http://schemas.openxmlformats.org/officeDocument/2006/relationships/slide" Target="slides/slide350.xml"/><Relationship Id="rId357" Type="http://schemas.openxmlformats.org/officeDocument/2006/relationships/slide" Target="slides/slide351.xml"/><Relationship Id="rId358" Type="http://schemas.openxmlformats.org/officeDocument/2006/relationships/slide" Target="slides/slide352.xml"/><Relationship Id="rId359" Type="http://schemas.openxmlformats.org/officeDocument/2006/relationships/slide" Target="slides/slide353.xml"/><Relationship Id="rId360" Type="http://schemas.openxmlformats.org/officeDocument/2006/relationships/slide" Target="slides/slide354.xml"/><Relationship Id="rId361" Type="http://schemas.openxmlformats.org/officeDocument/2006/relationships/slide" Target="slides/slide355.xml"/><Relationship Id="rId362" Type="http://schemas.openxmlformats.org/officeDocument/2006/relationships/slide" Target="slides/slide356.xml"/><Relationship Id="rId363" Type="http://schemas.openxmlformats.org/officeDocument/2006/relationships/slide" Target="slides/slide357.xml"/><Relationship Id="rId364" Type="http://schemas.openxmlformats.org/officeDocument/2006/relationships/slide" Target="slides/slide358.xml"/><Relationship Id="rId365" Type="http://schemas.openxmlformats.org/officeDocument/2006/relationships/slide" Target="slides/slide359.xml"/><Relationship Id="rId366" Type="http://schemas.openxmlformats.org/officeDocument/2006/relationships/slide" Target="slides/slide360.xml"/><Relationship Id="rId367" Type="http://schemas.openxmlformats.org/officeDocument/2006/relationships/slide" Target="slides/slide361.xml"/><Relationship Id="rId368" Type="http://schemas.openxmlformats.org/officeDocument/2006/relationships/slide" Target="slides/slide362.xml"/><Relationship Id="rId369" Type="http://schemas.openxmlformats.org/officeDocument/2006/relationships/slide" Target="slides/slide363.xml"/><Relationship Id="rId370" Type="http://schemas.openxmlformats.org/officeDocument/2006/relationships/slide" Target="slides/slide364.xml"/><Relationship Id="rId371" Type="http://schemas.openxmlformats.org/officeDocument/2006/relationships/slide" Target="slides/slide365.xml"/><Relationship Id="rId372" Type="http://schemas.openxmlformats.org/officeDocument/2006/relationships/slide" Target="slides/slide366.xml"/><Relationship Id="rId373" Type="http://schemas.openxmlformats.org/officeDocument/2006/relationships/slide" Target="slides/slide367.xml"/><Relationship Id="rId374" Type="http://schemas.openxmlformats.org/officeDocument/2006/relationships/slide" Target="slides/slide368.xml"/><Relationship Id="rId375" Type="http://schemas.openxmlformats.org/officeDocument/2006/relationships/slide" Target="slides/slide369.xml"/><Relationship Id="rId376" Type="http://schemas.openxmlformats.org/officeDocument/2006/relationships/slide" Target="slides/slide370.xml"/><Relationship Id="rId377" Type="http://schemas.openxmlformats.org/officeDocument/2006/relationships/slide" Target="slides/slide371.xml"/><Relationship Id="rId378" Type="http://schemas.openxmlformats.org/officeDocument/2006/relationships/slide" Target="slides/slide372.xml"/><Relationship Id="rId379" Type="http://schemas.openxmlformats.org/officeDocument/2006/relationships/slide" Target="slides/slide373.xml"/><Relationship Id="rId380" Type="http://schemas.openxmlformats.org/officeDocument/2006/relationships/slide" Target="slides/slide374.xml"/><Relationship Id="rId381" Type="http://schemas.openxmlformats.org/officeDocument/2006/relationships/slide" Target="slides/slide375.xml"/><Relationship Id="rId382" Type="http://schemas.openxmlformats.org/officeDocument/2006/relationships/slide" Target="slides/slide376.xml"/><Relationship Id="rId383" Type="http://schemas.openxmlformats.org/officeDocument/2006/relationships/slide" Target="slides/slide377.xml"/><Relationship Id="rId384" Type="http://schemas.openxmlformats.org/officeDocument/2006/relationships/slide" Target="slides/slide378.xml"/><Relationship Id="rId385" Type="http://schemas.openxmlformats.org/officeDocument/2006/relationships/slide" Target="slides/slide379.xml"/><Relationship Id="rId386" Type="http://schemas.openxmlformats.org/officeDocument/2006/relationships/slide" Target="slides/slide380.xml"/><Relationship Id="rId387" Type="http://schemas.openxmlformats.org/officeDocument/2006/relationships/slide" Target="slides/slide381.xml"/><Relationship Id="rId388" Type="http://schemas.openxmlformats.org/officeDocument/2006/relationships/slide" Target="slides/slide382.xml"/><Relationship Id="rId389" Type="http://schemas.openxmlformats.org/officeDocument/2006/relationships/slide" Target="slides/slide383.xml"/><Relationship Id="rId390" Type="http://schemas.openxmlformats.org/officeDocument/2006/relationships/slide" Target="slides/slide384.xml"/><Relationship Id="rId391" Type="http://schemas.openxmlformats.org/officeDocument/2006/relationships/slide" Target="slides/slide385.xml"/><Relationship Id="rId392" Type="http://schemas.openxmlformats.org/officeDocument/2006/relationships/slide" Target="slides/slide386.xml"/><Relationship Id="rId393" Type="http://schemas.openxmlformats.org/officeDocument/2006/relationships/slide" Target="slides/slide387.xml"/><Relationship Id="rId394" Type="http://schemas.openxmlformats.org/officeDocument/2006/relationships/slide" Target="slides/slide388.xml"/><Relationship Id="rId395" Type="http://schemas.openxmlformats.org/officeDocument/2006/relationships/slide" Target="slides/slide389.xml"/><Relationship Id="rId396" Type="http://schemas.openxmlformats.org/officeDocument/2006/relationships/slide" Target="slides/slide390.xml"/><Relationship Id="rId397" Type="http://schemas.openxmlformats.org/officeDocument/2006/relationships/slide" Target="slides/slide391.xml"/><Relationship Id="rId398" Type="http://schemas.openxmlformats.org/officeDocument/2006/relationships/slide" Target="slides/slide392.xml"/><Relationship Id="rId399" Type="http://schemas.openxmlformats.org/officeDocument/2006/relationships/slide" Target="slides/slide393.xml"/><Relationship Id="rId400" Type="http://schemas.openxmlformats.org/officeDocument/2006/relationships/slide" Target="slides/slide394.xml"/><Relationship Id="rId401" Type="http://schemas.openxmlformats.org/officeDocument/2006/relationships/slide" Target="slides/slide395.xml"/><Relationship Id="rId402" Type="http://schemas.openxmlformats.org/officeDocument/2006/relationships/slide" Target="slides/slide396.xml"/><Relationship Id="rId403" Type="http://schemas.openxmlformats.org/officeDocument/2006/relationships/slide" Target="slides/slide397.xml"/><Relationship Id="rId404" Type="http://schemas.openxmlformats.org/officeDocument/2006/relationships/slide" Target="slides/slide398.xml"/><Relationship Id="rId405" Type="http://schemas.openxmlformats.org/officeDocument/2006/relationships/slide" Target="slides/slide399.xml"/><Relationship Id="rId406" Type="http://schemas.openxmlformats.org/officeDocument/2006/relationships/slide" Target="slides/slide400.xml"/><Relationship Id="rId407" Type="http://schemas.openxmlformats.org/officeDocument/2006/relationships/slide" Target="slides/slide401.xml"/><Relationship Id="rId408" Type="http://schemas.openxmlformats.org/officeDocument/2006/relationships/slide" Target="slides/slide402.xml"/><Relationship Id="rId409" Type="http://schemas.openxmlformats.org/officeDocument/2006/relationships/slide" Target="slides/slide403.xml"/><Relationship Id="rId410" Type="http://schemas.openxmlformats.org/officeDocument/2006/relationships/slide" Target="slides/slide404.xml"/><Relationship Id="rId411" Type="http://schemas.openxmlformats.org/officeDocument/2006/relationships/slide" Target="slides/slide405.xml"/><Relationship Id="rId412" Type="http://schemas.openxmlformats.org/officeDocument/2006/relationships/slide" Target="slides/slide406.xml"/><Relationship Id="rId413" Type="http://schemas.openxmlformats.org/officeDocument/2006/relationships/slide" Target="slides/slide407.xml"/><Relationship Id="rId414" Type="http://schemas.openxmlformats.org/officeDocument/2006/relationships/slide" Target="slides/slide408.xml"/><Relationship Id="rId415" Type="http://schemas.openxmlformats.org/officeDocument/2006/relationships/slide" Target="slides/slide409.xml"/><Relationship Id="rId416" Type="http://schemas.openxmlformats.org/officeDocument/2006/relationships/slide" Target="slides/slide410.xml"/><Relationship Id="rId417" Type="http://schemas.openxmlformats.org/officeDocument/2006/relationships/slide" Target="slides/slide411.xml"/><Relationship Id="rId418" Type="http://schemas.openxmlformats.org/officeDocument/2006/relationships/slide" Target="slides/slide412.xml"/><Relationship Id="rId419" Type="http://schemas.openxmlformats.org/officeDocument/2006/relationships/slide" Target="slides/slide413.xml"/><Relationship Id="rId420" Type="http://schemas.openxmlformats.org/officeDocument/2006/relationships/slide" Target="slides/slide414.xml"/><Relationship Id="rId421" Type="http://schemas.openxmlformats.org/officeDocument/2006/relationships/slide" Target="slides/slide415.xml"/><Relationship Id="rId422" Type="http://schemas.openxmlformats.org/officeDocument/2006/relationships/slide" Target="slides/slide416.xml"/><Relationship Id="rId423" Type="http://schemas.openxmlformats.org/officeDocument/2006/relationships/slide" Target="slides/slide417.xml"/><Relationship Id="rId424" Type="http://schemas.openxmlformats.org/officeDocument/2006/relationships/slide" Target="slides/slide418.xml"/><Relationship Id="rId425" Type="http://schemas.openxmlformats.org/officeDocument/2006/relationships/slide" Target="slides/slide419.xml"/><Relationship Id="rId426" Type="http://schemas.openxmlformats.org/officeDocument/2006/relationships/slide" Target="slides/slide420.xml"/><Relationship Id="rId427" Type="http://schemas.openxmlformats.org/officeDocument/2006/relationships/slide" Target="slides/slide421.xml"/><Relationship Id="rId428" Type="http://schemas.openxmlformats.org/officeDocument/2006/relationships/slide" Target="slides/slide422.xml"/><Relationship Id="rId429" Type="http://schemas.openxmlformats.org/officeDocument/2006/relationships/slide" Target="slides/slide423.xml"/><Relationship Id="rId430" Type="http://schemas.openxmlformats.org/officeDocument/2006/relationships/slide" Target="slides/slide424.xml"/><Relationship Id="rId431" Type="http://schemas.openxmlformats.org/officeDocument/2006/relationships/slide" Target="slides/slide425.xml"/><Relationship Id="rId432" Type="http://schemas.openxmlformats.org/officeDocument/2006/relationships/slide" Target="slides/slide426.xml"/><Relationship Id="rId433" Type="http://schemas.openxmlformats.org/officeDocument/2006/relationships/slide" Target="slides/slide427.xml"/><Relationship Id="rId434" Type="http://schemas.openxmlformats.org/officeDocument/2006/relationships/slide" Target="slides/slide428.xml"/><Relationship Id="rId435" Type="http://schemas.openxmlformats.org/officeDocument/2006/relationships/slide" Target="slides/slide429.xml"/><Relationship Id="rId436" Type="http://schemas.openxmlformats.org/officeDocument/2006/relationships/slide" Target="slides/slide430.xml"/><Relationship Id="rId437" Type="http://schemas.openxmlformats.org/officeDocument/2006/relationships/slide" Target="slides/slide431.xml"/><Relationship Id="rId438" Type="http://schemas.openxmlformats.org/officeDocument/2006/relationships/slide" Target="slides/slide432.xml"/><Relationship Id="rId439" Type="http://schemas.openxmlformats.org/officeDocument/2006/relationships/slide" Target="slides/slide433.xml"/><Relationship Id="rId440" Type="http://schemas.openxmlformats.org/officeDocument/2006/relationships/slide" Target="slides/slide434.xml"/><Relationship Id="rId441" Type="http://schemas.openxmlformats.org/officeDocument/2006/relationships/slide" Target="slides/slide435.xml"/><Relationship Id="rId442" Type="http://schemas.openxmlformats.org/officeDocument/2006/relationships/slide" Target="slides/slide436.xml"/><Relationship Id="rId443" Type="http://schemas.openxmlformats.org/officeDocument/2006/relationships/slide" Target="slides/slide437.xml"/><Relationship Id="rId444" Type="http://schemas.openxmlformats.org/officeDocument/2006/relationships/slide" Target="slides/slide438.xml"/><Relationship Id="rId445" Type="http://schemas.openxmlformats.org/officeDocument/2006/relationships/slide" Target="slides/slide439.xml"/><Relationship Id="rId446" Type="http://schemas.openxmlformats.org/officeDocument/2006/relationships/slide" Target="slides/slide440.xml"/><Relationship Id="rId447" Type="http://schemas.openxmlformats.org/officeDocument/2006/relationships/slide" Target="slides/slide441.xml"/><Relationship Id="rId448" Type="http://schemas.openxmlformats.org/officeDocument/2006/relationships/slide" Target="slides/slide442.xml"/><Relationship Id="rId449" Type="http://schemas.openxmlformats.org/officeDocument/2006/relationships/slide" Target="slides/slide443.xml"/><Relationship Id="rId450" Type="http://schemas.openxmlformats.org/officeDocument/2006/relationships/slide" Target="slides/slide444.xml"/><Relationship Id="rId451" Type="http://schemas.openxmlformats.org/officeDocument/2006/relationships/slide" Target="slides/slide445.xml"/><Relationship Id="rId452" Type="http://schemas.openxmlformats.org/officeDocument/2006/relationships/slide" Target="slides/slide446.xml"/><Relationship Id="rId453" Type="http://schemas.openxmlformats.org/officeDocument/2006/relationships/slide" Target="slides/slide447.xml"/><Relationship Id="rId454" Type="http://schemas.openxmlformats.org/officeDocument/2006/relationships/slide" Target="slides/slide448.xml"/><Relationship Id="rId455" Type="http://schemas.openxmlformats.org/officeDocument/2006/relationships/slide" Target="slides/slide449.xml"/><Relationship Id="rId456" Type="http://schemas.openxmlformats.org/officeDocument/2006/relationships/slide" Target="slides/slide450.xml"/><Relationship Id="rId457" Type="http://schemas.openxmlformats.org/officeDocument/2006/relationships/slide" Target="slides/slide451.xml"/><Relationship Id="rId458" Type="http://schemas.openxmlformats.org/officeDocument/2006/relationships/slide" Target="slides/slide452.xml"/><Relationship Id="rId459" Type="http://schemas.openxmlformats.org/officeDocument/2006/relationships/slide" Target="slides/slide453.xml"/><Relationship Id="rId460" Type="http://schemas.openxmlformats.org/officeDocument/2006/relationships/slide" Target="slides/slide454.xml"/><Relationship Id="rId461" Type="http://schemas.openxmlformats.org/officeDocument/2006/relationships/slide" Target="slides/slide455.xml"/><Relationship Id="rId462" Type="http://schemas.openxmlformats.org/officeDocument/2006/relationships/slide" Target="slides/slide456.xml"/><Relationship Id="rId463" Type="http://schemas.openxmlformats.org/officeDocument/2006/relationships/slide" Target="slides/slide457.xml"/><Relationship Id="rId464" Type="http://schemas.openxmlformats.org/officeDocument/2006/relationships/slide" Target="slides/slide458.xml"/><Relationship Id="rId465" Type="http://schemas.openxmlformats.org/officeDocument/2006/relationships/slide" Target="slides/slide459.xml"/><Relationship Id="rId466" Type="http://schemas.openxmlformats.org/officeDocument/2006/relationships/slide" Target="slides/slide460.xml"/><Relationship Id="rId467" Type="http://schemas.openxmlformats.org/officeDocument/2006/relationships/slide" Target="slides/slide461.xml"/><Relationship Id="rId468" Type="http://schemas.openxmlformats.org/officeDocument/2006/relationships/slide" Target="slides/slide462.xml"/><Relationship Id="rId469" Type="http://schemas.openxmlformats.org/officeDocument/2006/relationships/slide" Target="slides/slide463.xml"/><Relationship Id="rId470" Type="http://schemas.openxmlformats.org/officeDocument/2006/relationships/slide" Target="slides/slide464.xml"/><Relationship Id="rId471" Type="http://schemas.openxmlformats.org/officeDocument/2006/relationships/slide" Target="slides/slide465.xml"/><Relationship Id="rId472" Type="http://schemas.openxmlformats.org/officeDocument/2006/relationships/slide" Target="slides/slide466.xml"/><Relationship Id="rId473" Type="http://schemas.openxmlformats.org/officeDocument/2006/relationships/slide" Target="slides/slide467.xml"/><Relationship Id="rId474" Type="http://schemas.openxmlformats.org/officeDocument/2006/relationships/slide" Target="slides/slide468.xml"/><Relationship Id="rId475" Type="http://schemas.openxmlformats.org/officeDocument/2006/relationships/slide" Target="slides/slide469.xml"/><Relationship Id="rId476" Type="http://schemas.openxmlformats.org/officeDocument/2006/relationships/slide" Target="slides/slide470.xml"/><Relationship Id="rId477" Type="http://schemas.openxmlformats.org/officeDocument/2006/relationships/slide" Target="slides/slide471.xml"/><Relationship Id="rId478" Type="http://schemas.openxmlformats.org/officeDocument/2006/relationships/slide" Target="slides/slide472.xml"/><Relationship Id="rId479" Type="http://schemas.openxmlformats.org/officeDocument/2006/relationships/slide" Target="slides/slide473.xml"/><Relationship Id="rId480" Type="http://schemas.openxmlformats.org/officeDocument/2006/relationships/slide" Target="slides/slide474.xml"/><Relationship Id="rId481" Type="http://schemas.openxmlformats.org/officeDocument/2006/relationships/slide" Target="slides/slide475.xml"/><Relationship Id="rId482" Type="http://schemas.openxmlformats.org/officeDocument/2006/relationships/slide" Target="slides/slide476.xml"/><Relationship Id="rId483" Type="http://schemas.openxmlformats.org/officeDocument/2006/relationships/slide" Target="slides/slide477.xml"/><Relationship Id="rId484" Type="http://schemas.openxmlformats.org/officeDocument/2006/relationships/slide" Target="slides/slide478.xml"/><Relationship Id="rId485" Type="http://schemas.openxmlformats.org/officeDocument/2006/relationships/slide" Target="slides/slide479.xml"/><Relationship Id="rId486" Type="http://schemas.openxmlformats.org/officeDocument/2006/relationships/slide" Target="slides/slide480.xml"/><Relationship Id="rId487" Type="http://schemas.openxmlformats.org/officeDocument/2006/relationships/slide" Target="slides/slide481.xml"/><Relationship Id="rId488" Type="http://schemas.openxmlformats.org/officeDocument/2006/relationships/slide" Target="slides/slide482.xml"/><Relationship Id="rId489" Type="http://schemas.openxmlformats.org/officeDocument/2006/relationships/slide" Target="slides/slide483.xml"/><Relationship Id="rId490" Type="http://schemas.openxmlformats.org/officeDocument/2006/relationships/slide" Target="slides/slide484.xml"/><Relationship Id="rId491" Type="http://schemas.openxmlformats.org/officeDocument/2006/relationships/slide" Target="slides/slide485.xml"/><Relationship Id="rId492" Type="http://schemas.openxmlformats.org/officeDocument/2006/relationships/slide" Target="slides/slide486.xml"/><Relationship Id="rId493" Type="http://schemas.openxmlformats.org/officeDocument/2006/relationships/slide" Target="slides/slide487.xml"/><Relationship Id="rId494" Type="http://schemas.openxmlformats.org/officeDocument/2006/relationships/slide" Target="slides/slide488.xml"/><Relationship Id="rId495" Type="http://schemas.openxmlformats.org/officeDocument/2006/relationships/slide" Target="slides/slide489.xml"/><Relationship Id="rId496" Type="http://schemas.openxmlformats.org/officeDocument/2006/relationships/slide" Target="slides/slide490.xml"/><Relationship Id="rId497" Type="http://schemas.openxmlformats.org/officeDocument/2006/relationships/slide" Target="slides/slide491.xml"/><Relationship Id="rId498" Type="http://schemas.openxmlformats.org/officeDocument/2006/relationships/slide" Target="slides/slide492.xml"/><Relationship Id="rId499" Type="http://schemas.openxmlformats.org/officeDocument/2006/relationships/slide" Target="slides/slide493.xml"/><Relationship Id="rId500" Type="http://schemas.openxmlformats.org/officeDocument/2006/relationships/slide" Target="slides/slide494.xml"/><Relationship Id="rId501" Type="http://schemas.openxmlformats.org/officeDocument/2006/relationships/slide" Target="slides/slide495.xml"/><Relationship Id="rId502" Type="http://schemas.openxmlformats.org/officeDocument/2006/relationships/slide" Target="slides/slide496.xml"/><Relationship Id="rId503" Type="http://schemas.openxmlformats.org/officeDocument/2006/relationships/slide" Target="slides/slide497.xml"/><Relationship Id="rId504" Type="http://schemas.openxmlformats.org/officeDocument/2006/relationships/slide" Target="slides/slide498.xml"/><Relationship Id="rId505" Type="http://schemas.openxmlformats.org/officeDocument/2006/relationships/slide" Target="slides/slide499.xml"/><Relationship Id="rId506" Type="http://schemas.openxmlformats.org/officeDocument/2006/relationships/slide" Target="slides/slide500.xml"/><Relationship Id="rId507" Type="http://schemas.openxmlformats.org/officeDocument/2006/relationships/slide" Target="slides/slide501.xml"/><Relationship Id="rId508" Type="http://schemas.openxmlformats.org/officeDocument/2006/relationships/slide" Target="slides/slide502.xml"/><Relationship Id="rId509" Type="http://schemas.openxmlformats.org/officeDocument/2006/relationships/slide" Target="slides/slide503.xml"/><Relationship Id="rId510" Type="http://schemas.openxmlformats.org/officeDocument/2006/relationships/slide" Target="slides/slide504.xml"/><Relationship Id="rId511" Type="http://schemas.openxmlformats.org/officeDocument/2006/relationships/slide" Target="slides/slide505.xml"/><Relationship Id="rId512" Type="http://schemas.openxmlformats.org/officeDocument/2006/relationships/slide" Target="slides/slide506.xml"/><Relationship Id="rId513" Type="http://schemas.openxmlformats.org/officeDocument/2006/relationships/slide" Target="slides/slide507.xml"/><Relationship Id="rId514" Type="http://schemas.openxmlformats.org/officeDocument/2006/relationships/slide" Target="slides/slide508.xml"/><Relationship Id="rId515" Type="http://schemas.openxmlformats.org/officeDocument/2006/relationships/slide" Target="slides/slide509.xml"/><Relationship Id="rId516" Type="http://schemas.openxmlformats.org/officeDocument/2006/relationships/slide" Target="slides/slide510.xml"/><Relationship Id="rId517" Type="http://schemas.openxmlformats.org/officeDocument/2006/relationships/slide" Target="slides/slide511.xml"/><Relationship Id="rId518" Type="http://schemas.openxmlformats.org/officeDocument/2006/relationships/slide" Target="slides/slide512.xml"/><Relationship Id="rId519" Type="http://schemas.openxmlformats.org/officeDocument/2006/relationships/slide" Target="slides/slide513.xml"/><Relationship Id="rId520" Type="http://schemas.openxmlformats.org/officeDocument/2006/relationships/slide" Target="slides/slide514.xml"/><Relationship Id="rId521" Type="http://schemas.openxmlformats.org/officeDocument/2006/relationships/slide" Target="slides/slide515.xml"/><Relationship Id="rId522" Type="http://schemas.openxmlformats.org/officeDocument/2006/relationships/slide" Target="slides/slide516.xml"/><Relationship Id="rId523" Type="http://schemas.openxmlformats.org/officeDocument/2006/relationships/slide" Target="slides/slide517.xml"/><Relationship Id="rId524" Type="http://schemas.openxmlformats.org/officeDocument/2006/relationships/slide" Target="slides/slide518.xml"/><Relationship Id="rId525" Type="http://schemas.openxmlformats.org/officeDocument/2006/relationships/slide" Target="slides/slide519.xml"/><Relationship Id="rId526" Type="http://schemas.openxmlformats.org/officeDocument/2006/relationships/slide" Target="slides/slide520.xml"/><Relationship Id="rId527" Type="http://schemas.openxmlformats.org/officeDocument/2006/relationships/slide" Target="slides/slide521.xml"/><Relationship Id="rId528" Type="http://schemas.openxmlformats.org/officeDocument/2006/relationships/slide" Target="slides/slide522.xml"/><Relationship Id="rId529" Type="http://schemas.openxmlformats.org/officeDocument/2006/relationships/slide" Target="slides/slide523.xml"/><Relationship Id="rId530" Type="http://schemas.openxmlformats.org/officeDocument/2006/relationships/slide" Target="slides/slide524.xml"/><Relationship Id="rId531" Type="http://schemas.openxmlformats.org/officeDocument/2006/relationships/slide" Target="slides/slide525.xml"/><Relationship Id="rId532" Type="http://schemas.openxmlformats.org/officeDocument/2006/relationships/slide" Target="slides/slide526.xml"/><Relationship Id="rId533" Type="http://schemas.openxmlformats.org/officeDocument/2006/relationships/slide" Target="slides/slide527.xml"/><Relationship Id="rId534" Type="http://schemas.openxmlformats.org/officeDocument/2006/relationships/slide" Target="slides/slide528.xml"/><Relationship Id="rId535" Type="http://schemas.openxmlformats.org/officeDocument/2006/relationships/slide" Target="slides/slide529.xml"/><Relationship Id="rId536" Type="http://schemas.openxmlformats.org/officeDocument/2006/relationships/slide" Target="slides/slide530.xml"/><Relationship Id="rId537" Type="http://schemas.openxmlformats.org/officeDocument/2006/relationships/slide" Target="slides/slide531.xml"/><Relationship Id="rId538" Type="http://schemas.openxmlformats.org/officeDocument/2006/relationships/slide" Target="slides/slide532.xml"/><Relationship Id="rId539" Type="http://schemas.openxmlformats.org/officeDocument/2006/relationships/slide" Target="slides/slide533.xml"/><Relationship Id="rId540" Type="http://schemas.openxmlformats.org/officeDocument/2006/relationships/slide" Target="slides/slide534.xml"/><Relationship Id="rId541" Type="http://schemas.openxmlformats.org/officeDocument/2006/relationships/slide" Target="slides/slide535.xml"/><Relationship Id="rId542" Type="http://schemas.openxmlformats.org/officeDocument/2006/relationships/slide" Target="slides/slide536.xml"/><Relationship Id="rId543" Type="http://schemas.openxmlformats.org/officeDocument/2006/relationships/slide" Target="slides/slide537.xml"/><Relationship Id="rId544" Type="http://schemas.openxmlformats.org/officeDocument/2006/relationships/slide" Target="slides/slide538.xml"/><Relationship Id="rId545" Type="http://schemas.openxmlformats.org/officeDocument/2006/relationships/slide" Target="slides/slide539.xml"/><Relationship Id="rId546" Type="http://schemas.openxmlformats.org/officeDocument/2006/relationships/slide" Target="slides/slide540.xml"/><Relationship Id="rId547" Type="http://schemas.openxmlformats.org/officeDocument/2006/relationships/slide" Target="slides/slide541.xml"/><Relationship Id="rId548" Type="http://schemas.openxmlformats.org/officeDocument/2006/relationships/slide" Target="slides/slide542.xml"/><Relationship Id="rId549" Type="http://schemas.openxmlformats.org/officeDocument/2006/relationships/slide" Target="slides/slide543.xml"/><Relationship Id="rId550" Type="http://schemas.openxmlformats.org/officeDocument/2006/relationships/slide" Target="slides/slide544.xml"/><Relationship Id="rId551" Type="http://schemas.openxmlformats.org/officeDocument/2006/relationships/slide" Target="slides/slide545.xml"/><Relationship Id="rId552" Type="http://schemas.openxmlformats.org/officeDocument/2006/relationships/slide" Target="slides/slide546.xml"/><Relationship Id="rId553" Type="http://schemas.openxmlformats.org/officeDocument/2006/relationships/slide" Target="slides/slide547.xml"/><Relationship Id="rId554" Type="http://schemas.openxmlformats.org/officeDocument/2006/relationships/slide" Target="slides/slide548.xml"/><Relationship Id="rId555" Type="http://schemas.openxmlformats.org/officeDocument/2006/relationships/slide" Target="slides/slide549.xml"/><Relationship Id="rId556" Type="http://schemas.openxmlformats.org/officeDocument/2006/relationships/slide" Target="slides/slide550.xml"/><Relationship Id="rId557" Type="http://schemas.openxmlformats.org/officeDocument/2006/relationships/slide" Target="slides/slide551.xml"/><Relationship Id="rId558" Type="http://schemas.openxmlformats.org/officeDocument/2006/relationships/slide" Target="slides/slide552.xml"/><Relationship Id="rId559" Type="http://schemas.openxmlformats.org/officeDocument/2006/relationships/slide" Target="slides/slide553.xml"/><Relationship Id="rId560" Type="http://schemas.openxmlformats.org/officeDocument/2006/relationships/slide" Target="slides/slide554.xml"/><Relationship Id="rId561" Type="http://schemas.openxmlformats.org/officeDocument/2006/relationships/slide" Target="slides/slide555.xml"/><Relationship Id="rId562" Type="http://schemas.openxmlformats.org/officeDocument/2006/relationships/slide" Target="slides/slide556.xml"/><Relationship Id="rId563" Type="http://schemas.openxmlformats.org/officeDocument/2006/relationships/slide" Target="slides/slide557.xml"/><Relationship Id="rId564" Type="http://schemas.openxmlformats.org/officeDocument/2006/relationships/slide" Target="slides/slide558.xml"/><Relationship Id="rId565" Type="http://schemas.openxmlformats.org/officeDocument/2006/relationships/slide" Target="slides/slide559.xml"/><Relationship Id="rId566" Type="http://schemas.openxmlformats.org/officeDocument/2006/relationships/slide" Target="slides/slide560.xml"/><Relationship Id="rId567" Type="http://schemas.openxmlformats.org/officeDocument/2006/relationships/slide" Target="slides/slide561.xml"/><Relationship Id="rId568" Type="http://schemas.openxmlformats.org/officeDocument/2006/relationships/slide" Target="slides/slide562.xml"/><Relationship Id="rId569" Type="http://schemas.openxmlformats.org/officeDocument/2006/relationships/slide" Target="slides/slide563.xml"/><Relationship Id="rId570" Type="http://schemas.openxmlformats.org/officeDocument/2006/relationships/slide" Target="slides/slide564.xml"/><Relationship Id="rId571" Type="http://schemas.openxmlformats.org/officeDocument/2006/relationships/slide" Target="slides/slide565.xml"/><Relationship Id="rId572" Type="http://schemas.openxmlformats.org/officeDocument/2006/relationships/slide" Target="slides/slide566.xml"/><Relationship Id="rId573" Type="http://schemas.openxmlformats.org/officeDocument/2006/relationships/slide" Target="slides/slide567.xml"/><Relationship Id="rId574" Type="http://schemas.openxmlformats.org/officeDocument/2006/relationships/slide" Target="slides/slide568.xml"/><Relationship Id="rId575" Type="http://schemas.openxmlformats.org/officeDocument/2006/relationships/slide" Target="slides/slide569.xml"/><Relationship Id="rId576" Type="http://schemas.openxmlformats.org/officeDocument/2006/relationships/slide" Target="slides/slide570.xml"/><Relationship Id="rId577" Type="http://schemas.openxmlformats.org/officeDocument/2006/relationships/slide" Target="slides/slide571.xml"/><Relationship Id="rId578" Type="http://schemas.openxmlformats.org/officeDocument/2006/relationships/slide" Target="slides/slide572.xml"/><Relationship Id="rId579" Type="http://schemas.openxmlformats.org/officeDocument/2006/relationships/slide" Target="slides/slide573.xml"/><Relationship Id="rId580" Type="http://schemas.openxmlformats.org/officeDocument/2006/relationships/slide" Target="slides/slide574.xml"/><Relationship Id="rId581" Type="http://schemas.openxmlformats.org/officeDocument/2006/relationships/slide" Target="slides/slide575.xml"/><Relationship Id="rId582" Type="http://schemas.openxmlformats.org/officeDocument/2006/relationships/slide" Target="slides/slide576.xml"/><Relationship Id="rId583" Type="http://schemas.openxmlformats.org/officeDocument/2006/relationships/slide" Target="slides/slide577.xml"/><Relationship Id="rId584" Type="http://schemas.openxmlformats.org/officeDocument/2006/relationships/slide" Target="slides/slide578.xml"/><Relationship Id="rId585" Type="http://schemas.openxmlformats.org/officeDocument/2006/relationships/slide" Target="slides/slide579.xml"/><Relationship Id="rId586" Type="http://schemas.openxmlformats.org/officeDocument/2006/relationships/slide" Target="slides/slide580.xml"/><Relationship Id="rId587" Type="http://schemas.openxmlformats.org/officeDocument/2006/relationships/slide" Target="slides/slide581.xml"/><Relationship Id="rId588" Type="http://schemas.openxmlformats.org/officeDocument/2006/relationships/slide" Target="slides/slide582.xml"/><Relationship Id="rId589" Type="http://schemas.openxmlformats.org/officeDocument/2006/relationships/slide" Target="slides/slide583.xml"/><Relationship Id="rId590" Type="http://schemas.openxmlformats.org/officeDocument/2006/relationships/slide" Target="slides/slide584.xml"/><Relationship Id="rId591" Type="http://schemas.openxmlformats.org/officeDocument/2006/relationships/slide" Target="slides/slide585.xml"/><Relationship Id="rId592" Type="http://schemas.openxmlformats.org/officeDocument/2006/relationships/slide" Target="slides/slide586.xml"/><Relationship Id="rId593" Type="http://schemas.openxmlformats.org/officeDocument/2006/relationships/slide" Target="slides/slide587.xml"/><Relationship Id="rId594" Type="http://schemas.openxmlformats.org/officeDocument/2006/relationships/slide" Target="slides/slide588.xml"/><Relationship Id="rId595" Type="http://schemas.openxmlformats.org/officeDocument/2006/relationships/slide" Target="slides/slide589.xml"/><Relationship Id="rId596" Type="http://schemas.openxmlformats.org/officeDocument/2006/relationships/slide" Target="slides/slide590.xml"/><Relationship Id="rId597" Type="http://schemas.openxmlformats.org/officeDocument/2006/relationships/slide" Target="slides/slide591.xml"/><Relationship Id="rId598" Type="http://schemas.openxmlformats.org/officeDocument/2006/relationships/slide" Target="slides/slide592.xml"/><Relationship Id="rId599" Type="http://schemas.openxmlformats.org/officeDocument/2006/relationships/slide" Target="slides/slide593.xml"/><Relationship Id="rId600" Type="http://schemas.openxmlformats.org/officeDocument/2006/relationships/slide" Target="slides/slide594.xml"/><Relationship Id="rId601" Type="http://schemas.openxmlformats.org/officeDocument/2006/relationships/slide" Target="slides/slide595.xml"/><Relationship Id="rId602" Type="http://schemas.openxmlformats.org/officeDocument/2006/relationships/slide" Target="slides/slide596.xml"/><Relationship Id="rId603" Type="http://schemas.openxmlformats.org/officeDocument/2006/relationships/slide" Target="slides/slide597.xml"/><Relationship Id="rId604" Type="http://schemas.openxmlformats.org/officeDocument/2006/relationships/slide" Target="slides/slide598.xml"/><Relationship Id="rId605" Type="http://schemas.openxmlformats.org/officeDocument/2006/relationships/slide" Target="slides/slide599.xml"/><Relationship Id="rId606" Type="http://schemas.openxmlformats.org/officeDocument/2006/relationships/slide" Target="slides/slide600.xml"/><Relationship Id="rId607" Type="http://schemas.openxmlformats.org/officeDocument/2006/relationships/slide" Target="slides/slide601.xml"/><Relationship Id="rId608" Type="http://schemas.openxmlformats.org/officeDocument/2006/relationships/slide" Target="slides/slide602.xml"/><Relationship Id="rId609" Type="http://schemas.openxmlformats.org/officeDocument/2006/relationships/slide" Target="slides/slide603.xml"/><Relationship Id="rId610" Type="http://schemas.openxmlformats.org/officeDocument/2006/relationships/slide" Target="slides/slide604.xml"/><Relationship Id="rId611" Type="http://schemas.openxmlformats.org/officeDocument/2006/relationships/slide" Target="slides/slide605.xml"/><Relationship Id="rId612" Type="http://schemas.openxmlformats.org/officeDocument/2006/relationships/slide" Target="slides/slide606.xml"/><Relationship Id="rId613" Type="http://schemas.openxmlformats.org/officeDocument/2006/relationships/slide" Target="slides/slide607.xml"/><Relationship Id="rId614" Type="http://schemas.openxmlformats.org/officeDocument/2006/relationships/slide" Target="slides/slide608.xml"/><Relationship Id="rId615" Type="http://schemas.openxmlformats.org/officeDocument/2006/relationships/slide" Target="slides/slide609.xml"/><Relationship Id="rId616" Type="http://schemas.openxmlformats.org/officeDocument/2006/relationships/slide" Target="slides/slide610.xml"/><Relationship Id="rId617" Type="http://schemas.openxmlformats.org/officeDocument/2006/relationships/slide" Target="slides/slide611.xml"/><Relationship Id="rId618" Type="http://schemas.openxmlformats.org/officeDocument/2006/relationships/slide" Target="slides/slide612.xml"/><Relationship Id="rId619" Type="http://schemas.openxmlformats.org/officeDocument/2006/relationships/slide" Target="slides/slide613.xml"/><Relationship Id="rId620" Type="http://schemas.openxmlformats.org/officeDocument/2006/relationships/slide" Target="slides/slide614.xml"/><Relationship Id="rId621" Type="http://schemas.openxmlformats.org/officeDocument/2006/relationships/slide" Target="slides/slide615.xml"/><Relationship Id="rId622" Type="http://schemas.openxmlformats.org/officeDocument/2006/relationships/slide" Target="slides/slide616.xml"/><Relationship Id="rId623" Type="http://schemas.openxmlformats.org/officeDocument/2006/relationships/slide" Target="slides/slide617.xml"/><Relationship Id="rId624" Type="http://schemas.openxmlformats.org/officeDocument/2006/relationships/slide" Target="slides/slide618.xml"/><Relationship Id="rId625" Type="http://schemas.openxmlformats.org/officeDocument/2006/relationships/slide" Target="slides/slide619.xml"/><Relationship Id="rId626" Type="http://schemas.openxmlformats.org/officeDocument/2006/relationships/slide" Target="slides/slide620.xml"/><Relationship Id="rId627" Type="http://schemas.openxmlformats.org/officeDocument/2006/relationships/slide" Target="slides/slide621.xml"/><Relationship Id="rId628" Type="http://schemas.openxmlformats.org/officeDocument/2006/relationships/slide" Target="slides/slide622.xml"/><Relationship Id="rId629" Type="http://schemas.openxmlformats.org/officeDocument/2006/relationships/slide" Target="slides/slide623.xml"/><Relationship Id="rId630" Type="http://schemas.openxmlformats.org/officeDocument/2006/relationships/slide" Target="slides/slide624.xml"/><Relationship Id="rId631" Type="http://schemas.openxmlformats.org/officeDocument/2006/relationships/slide" Target="slides/slide625.xml"/><Relationship Id="rId632" Type="http://schemas.openxmlformats.org/officeDocument/2006/relationships/slide" Target="slides/slide626.xml"/><Relationship Id="rId633" Type="http://schemas.openxmlformats.org/officeDocument/2006/relationships/slide" Target="slides/slide627.xml"/><Relationship Id="rId634" Type="http://schemas.openxmlformats.org/officeDocument/2006/relationships/slide" Target="slides/slide628.xml"/><Relationship Id="rId635" Type="http://schemas.openxmlformats.org/officeDocument/2006/relationships/slide" Target="slides/slide629.xml"/><Relationship Id="rId636" Type="http://schemas.openxmlformats.org/officeDocument/2006/relationships/slide" Target="slides/slide630.xml"/><Relationship Id="rId637" Type="http://schemas.openxmlformats.org/officeDocument/2006/relationships/slide" Target="slides/slide631.xml"/><Relationship Id="rId638" Type="http://schemas.openxmlformats.org/officeDocument/2006/relationships/slide" Target="slides/slide632.xml"/><Relationship Id="rId639" Type="http://schemas.openxmlformats.org/officeDocument/2006/relationships/slide" Target="slides/slide633.xml"/><Relationship Id="rId640" Type="http://schemas.openxmlformats.org/officeDocument/2006/relationships/slide" Target="slides/slide634.xml"/><Relationship Id="rId641" Type="http://schemas.openxmlformats.org/officeDocument/2006/relationships/slide" Target="slides/slide635.xml"/><Relationship Id="rId642" Type="http://schemas.openxmlformats.org/officeDocument/2006/relationships/slide" Target="slides/slide636.xml"/><Relationship Id="rId643" Type="http://schemas.openxmlformats.org/officeDocument/2006/relationships/slide" Target="slides/slide637.xml"/><Relationship Id="rId644" Type="http://schemas.openxmlformats.org/officeDocument/2006/relationships/slide" Target="slides/slide638.xml"/><Relationship Id="rId645" Type="http://schemas.openxmlformats.org/officeDocument/2006/relationships/slide" Target="slides/slide639.xml"/><Relationship Id="rId646" Type="http://schemas.openxmlformats.org/officeDocument/2006/relationships/slide" Target="slides/slide640.xml"/><Relationship Id="rId647" Type="http://schemas.openxmlformats.org/officeDocument/2006/relationships/slide" Target="slides/slide641.xml"/><Relationship Id="rId648" Type="http://schemas.openxmlformats.org/officeDocument/2006/relationships/slide" Target="slides/slide642.xml"/><Relationship Id="rId649" Type="http://schemas.openxmlformats.org/officeDocument/2006/relationships/slide" Target="slides/slide643.xml"/><Relationship Id="rId650" Type="http://schemas.openxmlformats.org/officeDocument/2006/relationships/slide" Target="slides/slide644.xml"/><Relationship Id="rId651" Type="http://schemas.openxmlformats.org/officeDocument/2006/relationships/slide" Target="slides/slide645.xml"/><Relationship Id="rId652" Type="http://schemas.openxmlformats.org/officeDocument/2006/relationships/slide" Target="slides/slide646.xml"/><Relationship Id="rId653" Type="http://schemas.openxmlformats.org/officeDocument/2006/relationships/slide" Target="slides/slide647.xml"/><Relationship Id="rId654" Type="http://schemas.openxmlformats.org/officeDocument/2006/relationships/slide" Target="slides/slide648.xml"/><Relationship Id="rId655" Type="http://schemas.openxmlformats.org/officeDocument/2006/relationships/slide" Target="slides/slide649.xml"/><Relationship Id="rId656" Type="http://schemas.openxmlformats.org/officeDocument/2006/relationships/slide" Target="slides/slide650.xml"/><Relationship Id="rId657" Type="http://schemas.openxmlformats.org/officeDocument/2006/relationships/slide" Target="slides/slide651.xml"/><Relationship Id="rId658" Type="http://schemas.openxmlformats.org/officeDocument/2006/relationships/slide" Target="slides/slide652.xml"/><Relationship Id="rId659" Type="http://schemas.openxmlformats.org/officeDocument/2006/relationships/slide" Target="slides/slide653.xml"/><Relationship Id="rId660" Type="http://schemas.openxmlformats.org/officeDocument/2006/relationships/slide" Target="slides/slide654.xml"/><Relationship Id="rId661" Type="http://schemas.openxmlformats.org/officeDocument/2006/relationships/slide" Target="slides/slide655.xml"/><Relationship Id="rId662" Type="http://schemas.openxmlformats.org/officeDocument/2006/relationships/slide" Target="slides/slide656.xml"/><Relationship Id="rId663" Type="http://schemas.openxmlformats.org/officeDocument/2006/relationships/slide" Target="slides/slide657.xml"/><Relationship Id="rId664" Type="http://schemas.openxmlformats.org/officeDocument/2006/relationships/slide" Target="slides/slide658.xml"/><Relationship Id="rId665" Type="http://schemas.openxmlformats.org/officeDocument/2006/relationships/slide" Target="slides/slide659.xml"/><Relationship Id="rId666" Type="http://schemas.openxmlformats.org/officeDocument/2006/relationships/slide" Target="slides/slide660.xml"/><Relationship Id="rId667" Type="http://schemas.openxmlformats.org/officeDocument/2006/relationships/slide" Target="slides/slide661.xml"/><Relationship Id="rId668" Type="http://schemas.openxmlformats.org/officeDocument/2006/relationships/slide" Target="slides/slide662.xml"/><Relationship Id="rId669" Type="http://schemas.openxmlformats.org/officeDocument/2006/relationships/slide" Target="slides/slide663.xml"/><Relationship Id="rId670" Type="http://schemas.openxmlformats.org/officeDocument/2006/relationships/slide" Target="slides/slide664.xml"/><Relationship Id="rId671" Type="http://schemas.openxmlformats.org/officeDocument/2006/relationships/slide" Target="slides/slide665.xml"/><Relationship Id="rId672" Type="http://schemas.openxmlformats.org/officeDocument/2006/relationships/slide" Target="slides/slide666.xml"/><Relationship Id="rId673" Type="http://schemas.openxmlformats.org/officeDocument/2006/relationships/slide" Target="slides/slide667.xml"/><Relationship Id="rId674" Type="http://schemas.openxmlformats.org/officeDocument/2006/relationships/slide" Target="slides/slide668.xml"/><Relationship Id="rId675" Type="http://schemas.openxmlformats.org/officeDocument/2006/relationships/slide" Target="slides/slide669.xml"/><Relationship Id="rId676" Type="http://schemas.openxmlformats.org/officeDocument/2006/relationships/slide" Target="slides/slide670.xml"/><Relationship Id="rId677" Type="http://schemas.openxmlformats.org/officeDocument/2006/relationships/slide" Target="slides/slide671.xml"/><Relationship Id="rId678" Type="http://schemas.openxmlformats.org/officeDocument/2006/relationships/slide" Target="slides/slide672.xml"/><Relationship Id="rId679" Type="http://schemas.openxmlformats.org/officeDocument/2006/relationships/slide" Target="slides/slide673.xml"/><Relationship Id="rId680" Type="http://schemas.openxmlformats.org/officeDocument/2006/relationships/slide" Target="slides/slide674.xml"/><Relationship Id="rId681" Type="http://schemas.openxmlformats.org/officeDocument/2006/relationships/slide" Target="slides/slide675.xml"/><Relationship Id="rId682" Type="http://schemas.openxmlformats.org/officeDocument/2006/relationships/slide" Target="slides/slide676.xml"/><Relationship Id="rId683" Type="http://schemas.openxmlformats.org/officeDocument/2006/relationships/slide" Target="slides/slide677.xml"/><Relationship Id="rId684" Type="http://schemas.openxmlformats.org/officeDocument/2006/relationships/slide" Target="slides/slide678.xml"/><Relationship Id="rId685" Type="http://schemas.openxmlformats.org/officeDocument/2006/relationships/slide" Target="slides/slide679.xml"/><Relationship Id="rId686" Type="http://schemas.openxmlformats.org/officeDocument/2006/relationships/slide" Target="slides/slide680.xml"/><Relationship Id="rId687" Type="http://schemas.openxmlformats.org/officeDocument/2006/relationships/slide" Target="slides/slide681.xml"/><Relationship Id="rId688" Type="http://schemas.openxmlformats.org/officeDocument/2006/relationships/slide" Target="slides/slide682.xml"/><Relationship Id="rId689" Type="http://schemas.openxmlformats.org/officeDocument/2006/relationships/slide" Target="slides/slide683.xml"/><Relationship Id="rId690" Type="http://schemas.openxmlformats.org/officeDocument/2006/relationships/slide" Target="slides/slide684.xml"/><Relationship Id="rId691" Type="http://schemas.openxmlformats.org/officeDocument/2006/relationships/slide" Target="slides/slide685.xml"/><Relationship Id="rId692" Type="http://schemas.openxmlformats.org/officeDocument/2006/relationships/slide" Target="slides/slide686.xml"/><Relationship Id="rId693" Type="http://schemas.openxmlformats.org/officeDocument/2006/relationships/slide" Target="slides/slide687.xml"/><Relationship Id="rId694" Type="http://schemas.openxmlformats.org/officeDocument/2006/relationships/slide" Target="slides/slide688.xml"/><Relationship Id="rId695" Type="http://schemas.openxmlformats.org/officeDocument/2006/relationships/slide" Target="slides/slide689.xml"/><Relationship Id="rId696" Type="http://schemas.openxmlformats.org/officeDocument/2006/relationships/slide" Target="slides/slide690.xml"/><Relationship Id="rId697" Type="http://schemas.openxmlformats.org/officeDocument/2006/relationships/slide" Target="slides/slide691.xml"/><Relationship Id="rId698" Type="http://schemas.openxmlformats.org/officeDocument/2006/relationships/slide" Target="slides/slide692.xml"/><Relationship Id="rId699" Type="http://schemas.openxmlformats.org/officeDocument/2006/relationships/slide" Target="slides/slide693.xml"/><Relationship Id="rId700" Type="http://schemas.openxmlformats.org/officeDocument/2006/relationships/slide" Target="slides/slide694.xml"/><Relationship Id="rId701" Type="http://schemas.openxmlformats.org/officeDocument/2006/relationships/slide" Target="slides/slide695.xml"/><Relationship Id="rId702" Type="http://schemas.openxmlformats.org/officeDocument/2006/relationships/slide" Target="slides/slide696.xml"/><Relationship Id="rId703" Type="http://schemas.openxmlformats.org/officeDocument/2006/relationships/slide" Target="slides/slide697.xml"/><Relationship Id="rId704" Type="http://schemas.openxmlformats.org/officeDocument/2006/relationships/slide" Target="slides/slide698.xml"/><Relationship Id="rId705" Type="http://schemas.openxmlformats.org/officeDocument/2006/relationships/slide" Target="slides/slide699.xml"/><Relationship Id="rId706" Type="http://schemas.openxmlformats.org/officeDocument/2006/relationships/slide" Target="slides/slide700.xml"/><Relationship Id="rId707" Type="http://schemas.openxmlformats.org/officeDocument/2006/relationships/slide" Target="slides/slide701.xml"/><Relationship Id="rId708" Type="http://schemas.openxmlformats.org/officeDocument/2006/relationships/slide" Target="slides/slide702.xml"/><Relationship Id="rId709" Type="http://schemas.openxmlformats.org/officeDocument/2006/relationships/slide" Target="slides/slide703.xml"/><Relationship Id="rId710" Type="http://schemas.openxmlformats.org/officeDocument/2006/relationships/slide" Target="slides/slide704.xml"/><Relationship Id="rId711" Type="http://schemas.openxmlformats.org/officeDocument/2006/relationships/slide" Target="slides/slide705.xml"/><Relationship Id="rId712" Type="http://schemas.openxmlformats.org/officeDocument/2006/relationships/slide" Target="slides/slide706.xml"/><Relationship Id="rId713" Type="http://schemas.openxmlformats.org/officeDocument/2006/relationships/slide" Target="slides/slide707.xml"/><Relationship Id="rId714" Type="http://schemas.openxmlformats.org/officeDocument/2006/relationships/slide" Target="slides/slide708.xml"/><Relationship Id="rId715" Type="http://schemas.openxmlformats.org/officeDocument/2006/relationships/slide" Target="slides/slide709.xml"/><Relationship Id="rId716" Type="http://schemas.openxmlformats.org/officeDocument/2006/relationships/slide" Target="slides/slide710.xml"/><Relationship Id="rId717" Type="http://schemas.openxmlformats.org/officeDocument/2006/relationships/slide" Target="slides/slide711.xml"/><Relationship Id="rId718" Type="http://schemas.openxmlformats.org/officeDocument/2006/relationships/slide" Target="slides/slide712.xml"/><Relationship Id="rId719" Type="http://schemas.openxmlformats.org/officeDocument/2006/relationships/slide" Target="slides/slide713.xml"/><Relationship Id="rId720" Type="http://schemas.openxmlformats.org/officeDocument/2006/relationships/slide" Target="slides/slide714.xml"/><Relationship Id="rId721" Type="http://schemas.openxmlformats.org/officeDocument/2006/relationships/slide" Target="slides/slide715.xml"/><Relationship Id="rId722" Type="http://schemas.openxmlformats.org/officeDocument/2006/relationships/slide" Target="slides/slide716.xml"/><Relationship Id="rId723" Type="http://schemas.openxmlformats.org/officeDocument/2006/relationships/slide" Target="slides/slide717.xml"/><Relationship Id="rId724" Type="http://schemas.openxmlformats.org/officeDocument/2006/relationships/slide" Target="slides/slide718.xml"/><Relationship Id="rId725" Type="http://schemas.openxmlformats.org/officeDocument/2006/relationships/slide" Target="slides/slide719.xml"/><Relationship Id="rId726" Type="http://schemas.openxmlformats.org/officeDocument/2006/relationships/slide" Target="slides/slide720.xml"/><Relationship Id="rId727" Type="http://schemas.openxmlformats.org/officeDocument/2006/relationships/slide" Target="slides/slide721.xml"/><Relationship Id="rId728" Type="http://schemas.openxmlformats.org/officeDocument/2006/relationships/slide" Target="slides/slide722.xml"/><Relationship Id="rId729" Type="http://schemas.openxmlformats.org/officeDocument/2006/relationships/slide" Target="slides/slide723.xml"/><Relationship Id="rId730" Type="http://schemas.openxmlformats.org/officeDocument/2006/relationships/slide" Target="slides/slide724.xml"/><Relationship Id="rId731" Type="http://schemas.openxmlformats.org/officeDocument/2006/relationships/slide" Target="slides/slide725.xml"/><Relationship Id="rId732" Type="http://schemas.openxmlformats.org/officeDocument/2006/relationships/slide" Target="slides/slide726.xml"/><Relationship Id="rId733" Type="http://schemas.openxmlformats.org/officeDocument/2006/relationships/slide" Target="slides/slide7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5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5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5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5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5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5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22960" y="1417320"/>
            <a:ext cx="2194560"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1783080"/>
            <a:ext cx="10607040" cy="2103120"/>
          </a:xfrm>
          <a:prstGeom prst="rect">
            <a:avLst/>
          </a:prstGeom>
          <a:noFill/>
        </p:spPr>
        <p:txBody>
          <a:bodyPr wrap="square" anchor="t">
            <a:spAutoFit/>
          </a:bodyPr>
          <a:lstStyle/>
          <a:p>
            <a:pPr algn="l">
              <a:spcAft>
                <a:spcPts val="400"/>
              </a:spcAft>
            </a:pPr>
            <a:r>
              <a:rPr sz="4200" b="1">
                <a:solidFill>
                  <a:srgbClr val="161B26"/>
                </a:solidFill>
                <a:latin typeface="Arial"/>
              </a:rPr>
              <a:t>Certified Lean Six Sigma Black Belt (CLSSBB) Training</a:t>
            </a:r>
          </a:p>
        </p:txBody>
      </p:sp>
      <p:sp>
        <p:nvSpPr>
          <p:cNvPr id="6" name="Rectangle 5"/>
          <p:cNvSpPr/>
          <p:nvPr/>
        </p:nvSpPr>
        <p:spPr>
          <a:xfrm>
            <a:off x="841248" y="3977639"/>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25196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TGS-2024051900</a:t>
            </a:r>
          </a:p>
          <a:p>
            <a:pPr algn="l">
              <a:spcAft>
                <a:spcPts val="600"/>
              </a:spcAft>
            </a:pPr>
            <a:r>
              <a:rPr sz="1400" b="0">
                <a:solidFill>
                  <a:srgbClr val="5B6372"/>
                </a:solidFill>
                <a:latin typeface="Arial"/>
              </a:rPr>
              <a:t>Conducted by Tertiary Infotech Academy Pte Ltd  ·  UEN: 201200696W</a:t>
            </a:r>
          </a:p>
          <a:p>
            <a:pPr algn="l">
              <a:spcAft>
                <a:spcPts val="600"/>
              </a:spcAft>
            </a:pPr>
            <a:r>
              <a:rPr sz="1300" b="0">
                <a:solidFill>
                  <a:srgbClr val="5B6372"/>
                </a:solidFill>
                <a:latin typeface="Arial"/>
              </a:rPr>
              <a:t>TSC: Quality Process Control  ·  ELE-QUA-5006-1.1</a:t>
            </a:r>
          </a:p>
        </p:txBody>
      </p:sp>
      <p:sp>
        <p:nvSpPr>
          <p:cNvPr id="8" name="TextBox 7"/>
          <p:cNvSpPr txBox="1"/>
          <p:nvPr/>
        </p:nvSpPr>
        <p:spPr>
          <a:xfrm>
            <a:off x="822960" y="5870448"/>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v4  ·  23 September 2026  ·  Trainer: Dr. Alfred Ang</a:t>
            </a:r>
          </a:p>
        </p:txBody>
      </p:sp>
      <p:sp>
        <p:nvSpPr>
          <p:cNvPr id="9" name="TextBox 8"/>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pic>
        <p:nvPicPr>
          <p:cNvPr id="10" name="Picture 9" descr="tertiary-logo.png"/>
          <p:cNvPicPr>
            <a:picLocks noChangeAspect="1"/>
          </p:cNvPicPr>
          <p:nvPr/>
        </p:nvPicPr>
        <p:blipFill>
          <a:blip r:embed="rId2"/>
          <a:stretch>
            <a:fillRect/>
          </a:stretch>
        </p:blipFill>
        <p:spPr>
          <a:xfrm>
            <a:off x="9692640" y="502920"/>
            <a:ext cx="777240" cy="77724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Digital Attendance (Mandatory)</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Trainer displays the SSG digital attendance QR code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Scan the QR code with your phone camera</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Key in your NRIC/FIN and submit</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Repeat for AM, PM and the assessment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Keep 75% attendance to stay eligible for funding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68780" y="2286000"/>
            <a:ext cx="1554480" cy="1554480"/>
          </a:xfrm>
          <a:prstGeom prst="rect">
            <a:avLst/>
          </a:prstGeom>
          <a:noFill/>
        </p:spPr>
        <p:txBody>
          <a:bodyPr wrap="square" anchor="ctr">
            <a:spAutoFit/>
          </a:bodyPr>
          <a:lstStyle/>
          <a:p>
            <a:pPr algn="ctr">
              <a:spcAft>
                <a:spcPts val="400"/>
              </a:spcAft>
            </a:pPr>
            <a:r>
              <a:rPr sz="4200" b="1">
                <a:solidFill>
                  <a:srgbClr val="FFFFFF"/>
                </a:solidFill>
                <a:latin typeface="Arial"/>
              </a:rPr>
              <a:t>?</a:t>
            </a:r>
          </a:p>
        </p:txBody>
      </p:sp>
      <p:sp>
        <p:nvSpPr>
          <p:cNvPr id="10" name="TextBox 9"/>
          <p:cNvSpPr txBox="1"/>
          <p:nvPr/>
        </p:nvSpPr>
        <p:spPr>
          <a:xfrm>
            <a:off x="914400" y="411480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1" name="TextBox 10"/>
          <p:cNvSpPr txBox="1"/>
          <p:nvPr/>
        </p:nvSpPr>
        <p:spPr>
          <a:xfrm>
            <a:off x="914400" y="4709160"/>
            <a:ext cx="3063240" cy="118872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a:t>
            </a:r>
          </a:p>
          <a:p>
            <a:pPr algn="ctr">
              <a:spcAft>
                <a:spcPts val="400"/>
              </a:spcAft>
            </a:pPr>
            <a:r>
              <a:rPr sz="1300" b="0">
                <a:solidFill>
                  <a:srgbClr val="5B6372"/>
                </a:solidFill>
                <a:latin typeface="Arial"/>
              </a:rPr>
              <a:t>to be completed by the trainer</a:t>
            </a:r>
          </a:p>
        </p:txBody>
      </p:sp>
      <p:sp>
        <p:nvSpPr>
          <p:cNvPr id="12" name="Rectangle 11"/>
          <p:cNvSpPr/>
          <p:nvPr/>
        </p:nvSpPr>
        <p:spPr>
          <a:xfrm>
            <a:off x="4480560" y="178308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0560" y="1783080"/>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54880" y="1783080"/>
            <a:ext cx="6437376" cy="579120"/>
          </a:xfrm>
          <a:prstGeom prst="rect">
            <a:avLst/>
          </a:prstGeom>
          <a:noFill/>
        </p:spPr>
        <p:txBody>
          <a:bodyPr wrap="square" anchor="ctr">
            <a:spAutoFit/>
          </a:bodyPr>
          <a:lstStyle/>
          <a:p>
            <a:pPr algn="l">
              <a:spcAft>
                <a:spcPts val="300"/>
              </a:spcAft>
            </a:pPr>
            <a:r>
              <a:rPr sz="1000" b="1">
                <a:solidFill>
                  <a:srgbClr val="1F6FEB"/>
                </a:solidFill>
                <a:latin typeface="Arial"/>
              </a:rPr>
              <a:t>NAME</a:t>
            </a:r>
          </a:p>
          <a:p>
            <a:pPr algn="l">
              <a:spcAft>
                <a:spcPts val="300"/>
              </a:spcAft>
            </a:pPr>
            <a:r>
              <a:rPr sz="1200" b="0">
                <a:solidFill>
                  <a:srgbClr val="E2E8F0"/>
                </a:solidFill>
                <a:latin typeface="Arial"/>
              </a:rPr>
              <a:t>____________________________________________</a:t>
            </a:r>
          </a:p>
        </p:txBody>
      </p:sp>
      <p:sp>
        <p:nvSpPr>
          <p:cNvPr id="15" name="Rectangle 14"/>
          <p:cNvSpPr/>
          <p:nvPr/>
        </p:nvSpPr>
        <p:spPr>
          <a:xfrm>
            <a:off x="4480560" y="2526792"/>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480560" y="2526792"/>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754880" y="2526792"/>
            <a:ext cx="6437376" cy="579120"/>
          </a:xfrm>
          <a:prstGeom prst="rect">
            <a:avLst/>
          </a:prstGeom>
          <a:noFill/>
        </p:spPr>
        <p:txBody>
          <a:bodyPr wrap="square" anchor="ctr">
            <a:spAutoFit/>
          </a:bodyPr>
          <a:lstStyle/>
          <a:p>
            <a:pPr algn="l">
              <a:spcAft>
                <a:spcPts val="300"/>
              </a:spcAft>
            </a:pPr>
            <a:r>
              <a:rPr sz="1000" b="1">
                <a:solidFill>
                  <a:srgbClr val="10B981"/>
                </a:solidFill>
                <a:latin typeface="Arial"/>
              </a:rPr>
              <a:t>TITLE / DESIGNATION</a:t>
            </a:r>
          </a:p>
          <a:p>
            <a:pPr algn="l">
              <a:spcAft>
                <a:spcPts val="300"/>
              </a:spcAft>
            </a:pPr>
            <a:r>
              <a:rPr sz="1200" b="0">
                <a:solidFill>
                  <a:srgbClr val="E2E8F0"/>
                </a:solidFill>
                <a:latin typeface="Arial"/>
              </a:rPr>
              <a:t>____________________________________________</a:t>
            </a:r>
          </a:p>
        </p:txBody>
      </p:sp>
      <p:sp>
        <p:nvSpPr>
          <p:cNvPr id="18" name="Rectangle 17"/>
          <p:cNvSpPr/>
          <p:nvPr/>
        </p:nvSpPr>
        <p:spPr>
          <a:xfrm>
            <a:off x="4480560" y="3270504"/>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80560" y="3270504"/>
            <a:ext cx="91440" cy="5791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754880" y="3270504"/>
            <a:ext cx="6437376" cy="579120"/>
          </a:xfrm>
          <a:prstGeom prst="rect">
            <a:avLst/>
          </a:prstGeom>
          <a:noFill/>
        </p:spPr>
        <p:txBody>
          <a:bodyPr wrap="square" anchor="ctr">
            <a:spAutoFit/>
          </a:bodyPr>
          <a:lstStyle/>
          <a:p>
            <a:pPr algn="l">
              <a:spcAft>
                <a:spcPts val="300"/>
              </a:spcAft>
            </a:pPr>
            <a:r>
              <a:rPr sz="1000" b="1">
                <a:solidFill>
                  <a:srgbClr val="7C3AED"/>
                </a:solidFill>
                <a:latin typeface="Arial"/>
              </a:rPr>
              <a:t>QUALIFICATIONS</a:t>
            </a:r>
          </a:p>
          <a:p>
            <a:pPr algn="l">
              <a:spcAft>
                <a:spcPts val="300"/>
              </a:spcAft>
            </a:pPr>
            <a:r>
              <a:rPr sz="1200" b="0">
                <a:solidFill>
                  <a:srgbClr val="E2E8F0"/>
                </a:solidFill>
                <a:latin typeface="Arial"/>
              </a:rPr>
              <a:t>____________________________________________</a:t>
            </a:r>
          </a:p>
        </p:txBody>
      </p:sp>
      <p:sp>
        <p:nvSpPr>
          <p:cNvPr id="21" name="Rectangle 20"/>
          <p:cNvSpPr/>
          <p:nvPr/>
        </p:nvSpPr>
        <p:spPr>
          <a:xfrm>
            <a:off x="4480560" y="4014216"/>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480560" y="4014216"/>
            <a:ext cx="91440" cy="579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754880" y="4014216"/>
            <a:ext cx="6437376" cy="579120"/>
          </a:xfrm>
          <a:prstGeom prst="rect">
            <a:avLst/>
          </a:prstGeom>
          <a:noFill/>
        </p:spPr>
        <p:txBody>
          <a:bodyPr wrap="square" anchor="ctr">
            <a:spAutoFit/>
          </a:bodyPr>
          <a:lstStyle/>
          <a:p>
            <a:pPr algn="l">
              <a:spcAft>
                <a:spcPts val="300"/>
              </a:spcAft>
            </a:pPr>
            <a:r>
              <a:rPr sz="1000" b="1">
                <a:solidFill>
                  <a:srgbClr val="F59E0B"/>
                </a:solidFill>
                <a:latin typeface="Arial"/>
              </a:rPr>
              <a:t>AREAS OF EXPERTISE</a:t>
            </a:r>
          </a:p>
          <a:p>
            <a:pPr algn="l">
              <a:spcAft>
                <a:spcPts val="300"/>
              </a:spcAft>
            </a:pPr>
            <a:r>
              <a:rPr sz="1200" b="0">
                <a:solidFill>
                  <a:srgbClr val="E2E8F0"/>
                </a:solidFill>
                <a:latin typeface="Arial"/>
              </a:rPr>
              <a:t>____________________________________________</a:t>
            </a:r>
          </a:p>
        </p:txBody>
      </p:sp>
      <p:sp>
        <p:nvSpPr>
          <p:cNvPr id="24" name="Rectangle 23"/>
          <p:cNvSpPr/>
          <p:nvPr/>
        </p:nvSpPr>
        <p:spPr>
          <a:xfrm>
            <a:off x="4480560" y="4757928"/>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0560" y="4757928"/>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754880" y="4757928"/>
            <a:ext cx="6437376" cy="579120"/>
          </a:xfrm>
          <a:prstGeom prst="rect">
            <a:avLst/>
          </a:prstGeom>
          <a:noFill/>
        </p:spPr>
        <p:txBody>
          <a:bodyPr wrap="square" anchor="ctr">
            <a:spAutoFit/>
          </a:bodyPr>
          <a:lstStyle/>
          <a:p>
            <a:pPr algn="l">
              <a:spcAft>
                <a:spcPts val="300"/>
              </a:spcAft>
            </a:pPr>
            <a:r>
              <a:rPr sz="1000" b="1">
                <a:solidFill>
                  <a:srgbClr val="1F6FEB"/>
                </a:solidFill>
                <a:latin typeface="Arial"/>
              </a:rPr>
              <a:t>TRAINING &amp; INDUSTRY EXPERIENCE</a:t>
            </a:r>
          </a:p>
          <a:p>
            <a:pPr algn="l">
              <a:spcAft>
                <a:spcPts val="300"/>
              </a:spcAft>
            </a:pPr>
            <a:r>
              <a:rPr sz="1200" b="0">
                <a:solidFill>
                  <a:srgbClr val="E2E8F0"/>
                </a:solidFill>
                <a:latin typeface="Arial"/>
              </a:rPr>
              <a:t>____________________________________________</a:t>
            </a:r>
          </a:p>
        </p:txBody>
      </p:sp>
      <p:sp>
        <p:nvSpPr>
          <p:cNvPr id="27" name="Rectangle 26"/>
          <p:cNvSpPr/>
          <p:nvPr/>
        </p:nvSpPr>
        <p:spPr>
          <a:xfrm>
            <a:off x="4480560" y="550164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4480560" y="5501640"/>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754880" y="5501640"/>
            <a:ext cx="6437376" cy="579120"/>
          </a:xfrm>
          <a:prstGeom prst="rect">
            <a:avLst/>
          </a:prstGeom>
          <a:noFill/>
        </p:spPr>
        <p:txBody>
          <a:bodyPr wrap="square" anchor="ctr">
            <a:spAutoFit/>
          </a:bodyPr>
          <a:lstStyle/>
          <a:p>
            <a:pPr algn="l">
              <a:spcAft>
                <a:spcPts val="300"/>
              </a:spcAft>
            </a:pPr>
            <a:r>
              <a:rPr sz="1000" b="1">
                <a:solidFill>
                  <a:srgbClr val="10B981"/>
                </a:solidFill>
                <a:latin typeface="Arial"/>
              </a:rPr>
              <a:t>CONTACT</a:t>
            </a:r>
          </a:p>
          <a:p>
            <a:pPr algn="l">
              <a:spcAft>
                <a:spcPts val="300"/>
              </a:spcAft>
            </a:pPr>
            <a:r>
              <a:rPr sz="1200" b="0">
                <a:solidFill>
                  <a:srgbClr val="E2E8F0"/>
                </a:solidFill>
                <a:latin typeface="Arial"/>
              </a:rPr>
              <a:t>____________________________________________</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68780" y="2286000"/>
            <a:ext cx="1554480" cy="1554480"/>
          </a:xfrm>
          <a:prstGeom prst="rect">
            <a:avLst/>
          </a:prstGeom>
          <a:noFill/>
        </p:spPr>
        <p:txBody>
          <a:bodyPr wrap="square" anchor="ctr">
            <a:spAutoFit/>
          </a:bodyPr>
          <a:lstStyle/>
          <a:p>
            <a:pPr algn="ctr">
              <a:spcAft>
                <a:spcPts val="400"/>
              </a:spcAft>
            </a:pPr>
            <a:r>
              <a:rPr sz="4200" b="1">
                <a:solidFill>
                  <a:srgbClr val="FFFFFF"/>
                </a:solidFill>
                <a:latin typeface="Arial"/>
              </a:rPr>
              <a:t>AA</a:t>
            </a:r>
          </a:p>
        </p:txBody>
      </p:sp>
      <p:sp>
        <p:nvSpPr>
          <p:cNvPr id="10" name="TextBox 9"/>
          <p:cNvSpPr txBox="1"/>
          <p:nvPr/>
        </p:nvSpPr>
        <p:spPr>
          <a:xfrm>
            <a:off x="914400" y="411480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1" name="TextBox 10"/>
          <p:cNvSpPr txBox="1"/>
          <p:nvPr/>
        </p:nvSpPr>
        <p:spPr>
          <a:xfrm>
            <a:off x="914400" y="4709160"/>
            <a:ext cx="3063240" cy="1188720"/>
          </a:xfrm>
          <a:prstGeom prst="rect">
            <a:avLst/>
          </a:prstGeom>
          <a:noFill/>
        </p:spPr>
        <p:txBody>
          <a:bodyPr wrap="square" anchor="t">
            <a:spAutoFit/>
          </a:bodyPr>
          <a:lstStyle/>
          <a:p>
            <a:pPr algn="ctr">
              <a:spcAft>
                <a:spcPts val="400"/>
              </a:spcAft>
            </a:pPr>
            <a:r>
              <a:rPr sz="1300" b="0">
                <a:solidFill>
                  <a:srgbClr val="5B6372"/>
                </a:solidFill>
                <a:latin typeface="Arial"/>
              </a:rPr>
              <a:t>Principal Trainer</a:t>
            </a:r>
          </a:p>
          <a:p>
            <a:pPr algn="ctr">
              <a:spcAft>
                <a:spcPts val="400"/>
              </a:spcAft>
            </a:pPr>
            <a:r>
              <a:rPr sz="1300" b="0">
                <a:solidFill>
                  <a:srgbClr val="5B6372"/>
                </a:solidFill>
                <a:latin typeface="Arial"/>
              </a:rPr>
              <a:t>Tertiary Infotech Academy Pte. Ltd.</a:t>
            </a:r>
          </a:p>
        </p:txBody>
      </p:sp>
      <p:sp>
        <p:nvSpPr>
          <p:cNvPr id="12" name="Rectangle 11"/>
          <p:cNvSpPr/>
          <p:nvPr/>
        </p:nvSpPr>
        <p:spPr>
          <a:xfrm>
            <a:off x="4480560" y="1783080"/>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0560" y="1783080"/>
            <a:ext cx="91440" cy="72786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54880" y="1783080"/>
            <a:ext cx="6437376" cy="727862"/>
          </a:xfrm>
          <a:prstGeom prst="rect">
            <a:avLst/>
          </a:prstGeom>
          <a:noFill/>
        </p:spPr>
        <p:txBody>
          <a:bodyPr wrap="square" anchor="ctr">
            <a:spAutoFit/>
          </a:bodyPr>
          <a:lstStyle/>
          <a:p>
            <a:pPr algn="l">
              <a:spcAft>
                <a:spcPts val="300"/>
              </a:spcAft>
            </a:pPr>
            <a:r>
              <a:rPr sz="1000" b="1">
                <a:solidFill>
                  <a:srgbClr val="1F6FEB"/>
                </a:solidFill>
                <a:latin typeface="Arial"/>
              </a:rPr>
              <a:t>ROLE</a:t>
            </a:r>
          </a:p>
          <a:p>
            <a:pPr algn="l">
              <a:spcAft>
                <a:spcPts val="300"/>
              </a:spcAft>
            </a:pPr>
            <a:r>
              <a:rPr sz="1300" b="0">
                <a:solidFill>
                  <a:srgbClr val="161B26"/>
                </a:solidFill>
                <a:latin typeface="Arial"/>
              </a:rPr>
              <a:t>Principal Trainer, Tertiary Infotech Academy Pte. Ltd.</a:t>
            </a:r>
          </a:p>
        </p:txBody>
      </p:sp>
      <p:sp>
        <p:nvSpPr>
          <p:cNvPr id="15" name="Rectangle 14"/>
          <p:cNvSpPr/>
          <p:nvPr/>
        </p:nvSpPr>
        <p:spPr>
          <a:xfrm>
            <a:off x="4480560" y="2675534"/>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480560" y="2675534"/>
            <a:ext cx="91440" cy="72786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754880" y="2675534"/>
            <a:ext cx="6437376" cy="727862"/>
          </a:xfrm>
          <a:prstGeom prst="rect">
            <a:avLst/>
          </a:prstGeom>
          <a:noFill/>
        </p:spPr>
        <p:txBody>
          <a:bodyPr wrap="square" anchor="ctr">
            <a:spAutoFit/>
          </a:bodyPr>
          <a:lstStyle/>
          <a:p>
            <a:pPr algn="l">
              <a:spcAft>
                <a:spcPts val="300"/>
              </a:spcAft>
            </a:pPr>
            <a:r>
              <a:rPr sz="1000" b="1">
                <a:solidFill>
                  <a:srgbClr val="10B981"/>
                </a:solidFill>
                <a:latin typeface="Arial"/>
              </a:rPr>
              <a:t>QUALIFICATIONS</a:t>
            </a:r>
          </a:p>
          <a:p>
            <a:pPr algn="l">
              <a:spcAft>
                <a:spcPts val="300"/>
              </a:spcAft>
            </a:pPr>
            <a:r>
              <a:rPr sz="1300" b="0">
                <a:solidFill>
                  <a:srgbClr val="161B26"/>
                </a:solidFill>
                <a:latin typeface="Arial"/>
              </a:rPr>
              <a:t>PhD; Certified Lean Six Sigma Black Belt practitioner and trainer.</a:t>
            </a:r>
          </a:p>
        </p:txBody>
      </p:sp>
      <p:sp>
        <p:nvSpPr>
          <p:cNvPr id="18" name="Rectangle 17"/>
          <p:cNvSpPr/>
          <p:nvPr/>
        </p:nvSpPr>
        <p:spPr>
          <a:xfrm>
            <a:off x="4480560" y="3567988"/>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80560" y="3567988"/>
            <a:ext cx="91440" cy="72786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754880" y="3567988"/>
            <a:ext cx="6437376" cy="727862"/>
          </a:xfrm>
          <a:prstGeom prst="rect">
            <a:avLst/>
          </a:prstGeom>
          <a:noFill/>
        </p:spPr>
        <p:txBody>
          <a:bodyPr wrap="square" anchor="ctr">
            <a:spAutoFit/>
          </a:bodyPr>
          <a:lstStyle/>
          <a:p>
            <a:pPr algn="l">
              <a:spcAft>
                <a:spcPts val="300"/>
              </a:spcAft>
            </a:pPr>
            <a:r>
              <a:rPr sz="1000" b="1">
                <a:solidFill>
                  <a:srgbClr val="7C3AED"/>
                </a:solidFill>
                <a:latin typeface="Arial"/>
              </a:rPr>
              <a:t>DELIVERS</a:t>
            </a:r>
          </a:p>
          <a:p>
            <a:pPr algn="l">
              <a:spcAft>
                <a:spcPts val="300"/>
              </a:spcAft>
            </a:pPr>
            <a:r>
              <a:rPr sz="1300" b="0">
                <a:solidFill>
                  <a:srgbClr val="161B26"/>
                </a:solidFill>
                <a:latin typeface="Arial"/>
              </a:rPr>
              <a:t>WSQ courses on Lean Six Sigma, quality management and data analytics.</a:t>
            </a:r>
          </a:p>
        </p:txBody>
      </p:sp>
      <p:sp>
        <p:nvSpPr>
          <p:cNvPr id="21" name="Rectangle 20"/>
          <p:cNvSpPr/>
          <p:nvPr/>
        </p:nvSpPr>
        <p:spPr>
          <a:xfrm>
            <a:off x="4480560" y="4460442"/>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480560" y="4460442"/>
            <a:ext cx="91440" cy="72786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754880" y="4460442"/>
            <a:ext cx="6437376" cy="727862"/>
          </a:xfrm>
          <a:prstGeom prst="rect">
            <a:avLst/>
          </a:prstGeom>
          <a:noFill/>
        </p:spPr>
        <p:txBody>
          <a:bodyPr wrap="square" anchor="ctr">
            <a:spAutoFit/>
          </a:bodyPr>
          <a:lstStyle/>
          <a:p>
            <a:pPr algn="l">
              <a:spcAft>
                <a:spcPts val="300"/>
              </a:spcAft>
            </a:pPr>
            <a:r>
              <a:rPr sz="1000" b="1">
                <a:solidFill>
                  <a:srgbClr val="F59E0B"/>
                </a:solidFill>
                <a:latin typeface="Arial"/>
              </a:rPr>
              <a:t>EXPERIENCE</a:t>
            </a:r>
          </a:p>
          <a:p>
            <a:pPr algn="l">
              <a:spcAft>
                <a:spcPts val="300"/>
              </a:spcAft>
            </a:pPr>
            <a:r>
              <a:rPr sz="1300" b="0">
                <a:solidFill>
                  <a:srgbClr val="161B26"/>
                </a:solidFill>
                <a:latin typeface="Arial"/>
              </a:rPr>
              <a:t>Process improvement across manufacturing, service and technology sectors.</a:t>
            </a:r>
          </a:p>
        </p:txBody>
      </p:sp>
      <p:sp>
        <p:nvSpPr>
          <p:cNvPr id="24" name="Rectangle 23"/>
          <p:cNvSpPr/>
          <p:nvPr/>
        </p:nvSpPr>
        <p:spPr>
          <a:xfrm>
            <a:off x="4480560" y="5352896"/>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0560" y="5352896"/>
            <a:ext cx="91440" cy="72786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754880" y="5352896"/>
            <a:ext cx="6437376" cy="727862"/>
          </a:xfrm>
          <a:prstGeom prst="rect">
            <a:avLst/>
          </a:prstGeom>
          <a:noFill/>
        </p:spPr>
        <p:txBody>
          <a:bodyPr wrap="square" anchor="ctr">
            <a:spAutoFit/>
          </a:bodyPr>
          <a:lstStyle/>
          <a:p>
            <a:pPr algn="l">
              <a:spcAft>
                <a:spcPts val="300"/>
              </a:spcAft>
            </a:pPr>
            <a:r>
              <a:rPr sz="1000" b="1">
                <a:solidFill>
                  <a:srgbClr val="1F6FEB"/>
                </a:solidFill>
                <a:latin typeface="Arial"/>
              </a:rPr>
              <a:t>FOUNDER</a:t>
            </a:r>
          </a:p>
          <a:p>
            <a:pPr algn="l">
              <a:spcAft>
                <a:spcPts val="300"/>
              </a:spcAft>
            </a:pPr>
            <a:r>
              <a:rPr sz="1300" b="0">
                <a:solidFill>
                  <a:srgbClr val="161B26"/>
                </a:solidFill>
                <a:latin typeface="Arial"/>
              </a:rPr>
              <a:t>Founder and lead instructor at Tertiary Infotech / Tertiary Courses.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Let's Know Each Other</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Your name, organisation and role.</a:t>
            </a:r>
          </a:p>
          <a:p>
            <a:pPr>
              <a:spcAft>
                <a:spcPts val="1000"/>
              </a:spcAft>
            </a:pPr>
            <a:r>
              <a:rPr sz="2000">
                <a:solidFill>
                  <a:srgbClr val="161B26"/>
                </a:solidFill>
                <a:latin typeface="Arial"/>
              </a:rPr>
              <a:t>•  Your Green Belt background and the projects you have run or supported.</a:t>
            </a:r>
          </a:p>
          <a:p>
            <a:pPr>
              <a:spcAft>
                <a:spcPts val="1000"/>
              </a:spcAft>
            </a:pPr>
            <a:r>
              <a:rPr sz="2000">
                <a:solidFill>
                  <a:srgbClr val="161B26"/>
                </a:solidFill>
                <a:latin typeface="Arial"/>
              </a:rPr>
              <a:t>•  Your comfort level with statistics — regression, ANOVA, design of experiments.</a:t>
            </a:r>
          </a:p>
          <a:p>
            <a:pPr>
              <a:spcAft>
                <a:spcPts val="1000"/>
              </a:spcAft>
            </a:pPr>
            <a:r>
              <a:rPr sz="2000">
                <a:solidFill>
                  <a:srgbClr val="161B26"/>
                </a:solidFill>
                <a:latin typeface="Arial"/>
              </a:rPr>
              <a:t>•  A REAL process at work you could improve — this becomes your capstone project.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HOW THIS COURSE WORKS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Your Capstone Project Starts Today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You will choose a real process from your own workplace in Lab 1, and every lab across the next five days adds one artifact to it. On Day 5 you present it to a steering committee - in addition to the WSQ assessment.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CAPSTONE THREAD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Your Capstone Is Built</a:t>
            </a:r>
          </a:p>
        </p:txBody>
      </p:sp>
      <p:sp>
        <p:nvSpPr>
          <p:cNvPr id="6" name="Rectangle 5"/>
          <p:cNvSpPr/>
          <p:nvPr/>
        </p:nvSpPr>
        <p:spPr>
          <a:xfrm>
            <a:off x="777240"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Day 1 - select and charter your own workplace project</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3513582"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Days 2-4 - every lab adds one artifact to that project</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6249924"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Day 5 - consolidate the artifacts into an A3 storyboard</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8986266"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Day 5 - present and defend it to the steering committee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Ground Rules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 for certification.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PORTAL · lms-tms.tertiaryinfotech.com</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Download Your Course Material</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Go to lms-tms.tertiaryinfotech.com</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in with the account details given in class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Open this course from your dashboard</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Download the slides, Learner Guide and lab files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Keep them open — the assessment is open book</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BROWSER-BASED TOOLS USED IN THE LABS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Interactive Toolkit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SIPOC</a:t>
            </a:r>
          </a:p>
          <a:p>
            <a:pPr algn="l">
              <a:spcAft>
                <a:spcPts val="300"/>
              </a:spcAft>
            </a:pPr>
            <a:r>
              <a:rPr sz="1100" b="0">
                <a:solidFill>
                  <a:srgbClr val="5B6372"/>
                </a:solidFill>
                <a:latin typeface="Arial"/>
              </a:rPr>
              <a:t>Build a SIPOC map and agree process boundaries — alfredang.github.io/sipoc</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Fishbone Diagram</a:t>
            </a:r>
          </a:p>
          <a:p>
            <a:pPr algn="l">
              <a:spcAft>
                <a:spcPts val="300"/>
              </a:spcAft>
            </a:pPr>
            <a:r>
              <a:rPr sz="1100" b="0">
                <a:solidFill>
                  <a:srgbClr val="5B6372"/>
                </a:solidFill>
                <a:latin typeface="Arial"/>
              </a:rPr>
              <a:t>Build an Ishikawa cause-and-effect diagram — alfredang.github.io/fishbone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5 Whys</a:t>
            </a:r>
          </a:p>
          <a:p>
            <a:pPr algn="l">
              <a:spcAft>
                <a:spcPts val="300"/>
              </a:spcAft>
            </a:pPr>
            <a:r>
              <a:rPr sz="1100" b="0">
                <a:solidFill>
                  <a:srgbClr val="5B6372"/>
                </a:solidFill>
                <a:latin typeface="Arial"/>
              </a:rPr>
              <a:t>Build and share a 5 Whys root-cause chain — alfredang.github.io/5whys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Pareto Chart</a:t>
            </a:r>
          </a:p>
          <a:p>
            <a:pPr algn="l">
              <a:spcAft>
                <a:spcPts val="300"/>
              </a:spcAft>
            </a:pPr>
            <a:r>
              <a:rPr sz="1100" b="0">
                <a:solidFill>
                  <a:srgbClr val="5B6372"/>
                </a:solidFill>
                <a:latin typeface="Arial"/>
              </a:rPr>
              <a:t>Team brainstorms and votes; the chart builds itself live — alfredang.github.io/paretochart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NovaSPC</a:t>
            </a:r>
          </a:p>
          <a:p>
            <a:pPr algn="l">
              <a:spcAft>
                <a:spcPts val="300"/>
              </a:spcAft>
            </a:pPr>
            <a:r>
              <a:rPr sz="1100" b="0">
                <a:solidFill>
                  <a:srgbClr val="5B6372"/>
                </a:solidFill>
                <a:latin typeface="Arial"/>
              </a:rPr>
              <a:t>Run charts, SPC charts and process capability from your CSV — alfredang.github.io/novaspc</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No installation</a:t>
            </a:r>
          </a:p>
          <a:p>
            <a:pPr algn="l">
              <a:spcAft>
                <a:spcPts val="300"/>
              </a:spcAft>
            </a:pPr>
            <a:r>
              <a:rPr sz="1100" b="0">
                <a:solidFill>
                  <a:srgbClr val="5B6372"/>
                </a:solidFill>
                <a:latin typeface="Arial"/>
              </a:rPr>
              <a:t>All run in the browser. No licence, no setup — use them in the labs.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9:30am-6:30pm with a 1-hour lunch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Lesson Plan — Days 1 &amp; 2</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Day 1 — The Black Belt role, portfolio selection, capstone chartering and Define</a:t>
            </a:r>
          </a:p>
          <a:p>
            <a:pPr>
              <a:spcAft>
                <a:spcPts val="1000"/>
              </a:spcAft>
            </a:pPr>
            <a:r>
              <a:rPr sz="1300">
                <a:solidFill>
                  <a:srgbClr val="5B6372"/>
                </a:solidFill>
                <a:latin typeface="Arial"/>
              </a:rPr>
              <a:t>–  Digital attendance (AM) · Introductions</a:t>
            </a:r>
          </a:p>
          <a:p>
            <a:pPr>
              <a:spcAft>
                <a:spcPts val="1000"/>
              </a:spcAft>
            </a:pPr>
            <a:r>
              <a:rPr sz="1300">
                <a:solidFill>
                  <a:srgbClr val="5B6372"/>
                </a:solidFill>
                <a:latin typeface="Arial"/>
              </a:rPr>
              <a:t>–  The Black Belt role vs the Green Belt role</a:t>
            </a:r>
          </a:p>
          <a:p>
            <a:pPr>
              <a:spcAft>
                <a:spcPts val="1000"/>
              </a:spcAft>
            </a:pPr>
            <a:r>
              <a:rPr sz="1300">
                <a:solidFill>
                  <a:srgbClr val="5B6372"/>
                </a:solidFill>
                <a:latin typeface="Arial"/>
              </a:rPr>
              <a:t>–  Project portfolio selection and strategy alignment</a:t>
            </a:r>
          </a:p>
          <a:p>
            <a:pPr>
              <a:spcAft>
                <a:spcPts val="1000"/>
              </a:spcAft>
            </a:pPr>
            <a:r>
              <a:rPr sz="1300">
                <a:solidFill>
                  <a:srgbClr val="5B6372"/>
                </a:solidFill>
                <a:latin typeface="Arial"/>
              </a:rPr>
              <a:t>–  DMAIC recap at depth · Y = f(X) · sigma level</a:t>
            </a:r>
          </a:p>
          <a:p>
            <a:pPr>
              <a:spcAft>
                <a:spcPts val="1000"/>
              </a:spcAft>
            </a:pPr>
            <a:r>
              <a:rPr sz="1300">
                <a:solidFill>
                  <a:srgbClr val="5B6372"/>
                </a:solidFill>
                <a:latin typeface="Arial"/>
              </a:rPr>
              <a:t>–  Labs 1-3 — SELECT AND CHARTER YOUR CAPSTONE</a:t>
            </a:r>
          </a:p>
          <a:p>
            <a:pPr>
              <a:spcAft>
                <a:spcPts val="1000"/>
              </a:spcAft>
            </a:pPr>
            <a:r>
              <a:rPr sz="1300">
                <a:solidFill>
                  <a:srgbClr val="5B6372"/>
                </a:solidFill>
                <a:latin typeface="Arial"/>
              </a:rPr>
              <a:t>–  DEFINE: VOC, Kano, CTQ trees and CTQ flowdown</a:t>
            </a:r>
          </a:p>
          <a:p>
            <a:pPr>
              <a:spcAft>
                <a:spcPts val="1000"/>
              </a:spcAft>
            </a:pPr>
            <a:r>
              <a:rPr sz="1300">
                <a:solidFill>
                  <a:srgbClr val="5B6372"/>
                </a:solidFill>
                <a:latin typeface="Arial"/>
              </a:rPr>
              <a:t>–  Stakeholders, resistance and change leadership</a:t>
            </a:r>
          </a:p>
          <a:p>
            <a:pPr>
              <a:spcAft>
                <a:spcPts val="1000"/>
              </a:spcAft>
            </a:pPr>
            <a:r>
              <a:rPr sz="1300">
                <a:solidFill>
                  <a:srgbClr val="5B6372"/>
                </a:solidFill>
                <a:latin typeface="Arial"/>
              </a:rPr>
              <a:t>–  Labs 4-7 — VOC/Kano, CTQ flowdown, SIPOC, stakeholders</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Day 2 — Measure — advanced measurement systems, attribute MSA and capability</a:t>
            </a:r>
          </a:p>
          <a:p>
            <a:pPr>
              <a:spcAft>
                <a:spcPts val="1000"/>
              </a:spcAft>
            </a:pPr>
            <a:r>
              <a:rPr sz="1300">
                <a:solidFill>
                  <a:srgbClr val="5B6372"/>
                </a:solidFill>
                <a:latin typeface="Arial"/>
              </a:rPr>
              <a:t>–  Digital attendance (AM)</a:t>
            </a:r>
          </a:p>
          <a:p>
            <a:pPr>
              <a:spcAft>
                <a:spcPts val="1000"/>
              </a:spcAft>
            </a:pPr>
            <a:r>
              <a:rPr sz="1300">
                <a:solidFill>
                  <a:srgbClr val="5B6372"/>
                </a:solidFill>
                <a:latin typeface="Arial"/>
              </a:rPr>
              <a:t>–  MEASURE recap: mapping, VSM, takt, eight wastes</a:t>
            </a:r>
          </a:p>
          <a:p>
            <a:pPr>
              <a:spcAft>
                <a:spcPts val="1000"/>
              </a:spcAft>
            </a:pPr>
            <a:r>
              <a:rPr sz="1300">
                <a:solidFill>
                  <a:srgbClr val="5B6372"/>
                </a:solidFill>
                <a:latin typeface="Arial"/>
              </a:rPr>
              <a:t>–  Data types, sampling and rational subgrouping</a:t>
            </a:r>
          </a:p>
          <a:p>
            <a:pPr>
              <a:spcAft>
                <a:spcPts val="1000"/>
              </a:spcAft>
            </a:pPr>
            <a:r>
              <a:rPr sz="1300">
                <a:solidFill>
                  <a:srgbClr val="5B6372"/>
                </a:solidFill>
                <a:latin typeface="Arial"/>
              </a:rPr>
              <a:t>–  Continuous Gage R&amp;R at depth</a:t>
            </a:r>
          </a:p>
          <a:p>
            <a:pPr>
              <a:spcAft>
                <a:spcPts val="1000"/>
              </a:spcAft>
            </a:pPr>
            <a:r>
              <a:rPr sz="1300">
                <a:solidFill>
                  <a:srgbClr val="5B6372"/>
                </a:solidFill>
                <a:latin typeface="Arial"/>
              </a:rPr>
              <a:t>–  ATTRIBUTE MSA and Kappa analysis (Black Belt only)</a:t>
            </a:r>
          </a:p>
          <a:p>
            <a:pPr>
              <a:spcAft>
                <a:spcPts val="1000"/>
              </a:spcAft>
            </a:pPr>
            <a:r>
              <a:rPr sz="1300">
                <a:solidFill>
                  <a:srgbClr val="5B6372"/>
                </a:solidFill>
                <a:latin typeface="Arial"/>
              </a:rPr>
              <a:t>–  Nested and destructive gauge studies</a:t>
            </a:r>
          </a:p>
          <a:p>
            <a:pPr>
              <a:spcAft>
                <a:spcPts val="1000"/>
              </a:spcAft>
            </a:pPr>
            <a:r>
              <a:rPr sz="1300">
                <a:solidFill>
                  <a:srgbClr val="5B6372"/>
                </a:solidFill>
                <a:latin typeface="Arial"/>
              </a:rPr>
              <a:t>–  Non-normal capability, Cpk vs Ppk, Box-Cox</a:t>
            </a:r>
          </a:p>
          <a:p>
            <a:pPr>
              <a:spcAft>
                <a:spcPts val="1000"/>
              </a:spcAft>
            </a:pPr>
            <a:r>
              <a:rPr sz="1300">
                <a:solidFill>
                  <a:srgbClr val="5B6372"/>
                </a:solidFill>
                <a:latin typeface="Arial"/>
              </a:rPr>
              <a:t>–  Labs 8-14 — VSM, sampling, Gage R&amp;R, Kappa, capability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9:30am-6:30pm with a 1-hour lunch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Lesson Plan — Days 3 &amp; 4</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3</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4</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Day 3 — Analyze — multiple regression, ANOVA, non-parametric and multi-vari</a:t>
            </a:r>
          </a:p>
          <a:p>
            <a:pPr>
              <a:spcAft>
                <a:spcPts val="1000"/>
              </a:spcAft>
            </a:pPr>
            <a:r>
              <a:rPr sz="1300">
                <a:solidFill>
                  <a:srgbClr val="5B6372"/>
                </a:solidFill>
                <a:latin typeface="Arial"/>
              </a:rPr>
              <a:t>–  Digital attendance (AM)</a:t>
            </a:r>
          </a:p>
          <a:p>
            <a:pPr>
              <a:spcAft>
                <a:spcPts val="1000"/>
              </a:spcAft>
            </a:pPr>
            <a:r>
              <a:rPr sz="1300">
                <a:solidFill>
                  <a:srgbClr val="5B6372"/>
                </a:solidFill>
                <a:latin typeface="Arial"/>
              </a:rPr>
              <a:t>–  ANALYZE recap: variation, run charts, Pareto, fishbone</a:t>
            </a:r>
          </a:p>
          <a:p>
            <a:pPr>
              <a:spcAft>
                <a:spcPts val="1000"/>
              </a:spcAft>
            </a:pPr>
            <a:r>
              <a:rPr sz="1300">
                <a:solidFill>
                  <a:srgbClr val="5B6372"/>
                </a:solidFill>
                <a:latin typeface="Arial"/>
              </a:rPr>
              <a:t>–  Hypothesis testing at depth and test selection</a:t>
            </a:r>
          </a:p>
          <a:p>
            <a:pPr>
              <a:spcAft>
                <a:spcPts val="1000"/>
              </a:spcAft>
            </a:pPr>
            <a:r>
              <a:rPr sz="1300">
                <a:solidFill>
                  <a:srgbClr val="5B6372"/>
                </a:solidFill>
                <a:latin typeface="Arial"/>
              </a:rPr>
              <a:t>–  MULTIPLE REGRESSION and model diagnostics (VIF, residuals)</a:t>
            </a:r>
          </a:p>
          <a:p>
            <a:pPr>
              <a:spcAft>
                <a:spcPts val="1000"/>
              </a:spcAft>
            </a:pPr>
            <a:r>
              <a:rPr sz="1300">
                <a:solidFill>
                  <a:srgbClr val="5B6372"/>
                </a:solidFill>
                <a:latin typeface="Arial"/>
              </a:rPr>
              <a:t>–  ANOVA, two-way ANOVA and interaction effects</a:t>
            </a:r>
          </a:p>
          <a:p>
            <a:pPr>
              <a:spcAft>
                <a:spcPts val="1000"/>
              </a:spcAft>
            </a:pPr>
            <a:r>
              <a:rPr sz="1300">
                <a:solidFill>
                  <a:srgbClr val="5B6372"/>
                </a:solidFill>
                <a:latin typeface="Arial"/>
              </a:rPr>
              <a:t>–  Non-parametric tests and multi-vari studies</a:t>
            </a:r>
          </a:p>
          <a:p>
            <a:pPr>
              <a:spcAft>
                <a:spcPts val="1000"/>
              </a:spcAft>
            </a:pPr>
            <a:r>
              <a:rPr sz="1300">
                <a:solidFill>
                  <a:srgbClr val="5B6372"/>
                </a:solidFill>
                <a:latin typeface="Arial"/>
              </a:rPr>
              <a:t>–  Chi-square and categorical association</a:t>
            </a:r>
          </a:p>
          <a:p>
            <a:pPr>
              <a:spcAft>
                <a:spcPts val="1000"/>
              </a:spcAft>
            </a:pPr>
            <a:r>
              <a:rPr sz="1300">
                <a:solidFill>
                  <a:srgbClr val="5B6372"/>
                </a:solidFill>
                <a:latin typeface="Arial"/>
              </a:rPr>
              <a:t>–  Labs 15-21 — regression, ANOVA, multi-vari, tollgate</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Day 4 — Improve and Control — DOE, RSM and advanced SPC</a:t>
            </a:r>
          </a:p>
          <a:p>
            <a:pPr>
              <a:spcAft>
                <a:spcPts val="1000"/>
              </a:spcAft>
            </a:pPr>
            <a:r>
              <a:rPr sz="1300">
                <a:solidFill>
                  <a:srgbClr val="5B6372"/>
                </a:solidFill>
                <a:latin typeface="Arial"/>
              </a:rPr>
              <a:t>–  Digital attendance (AM)</a:t>
            </a:r>
          </a:p>
          <a:p>
            <a:pPr>
              <a:spcAft>
                <a:spcPts val="1000"/>
              </a:spcAft>
            </a:pPr>
            <a:r>
              <a:rPr sz="1300">
                <a:solidFill>
                  <a:srgbClr val="5B6372"/>
                </a:solidFill>
                <a:latin typeface="Arial"/>
              </a:rPr>
              <a:t>–  IMPROVE recap: solutions, Lean tools, FMEA</a:t>
            </a:r>
          </a:p>
          <a:p>
            <a:pPr>
              <a:spcAft>
                <a:spcPts val="1000"/>
              </a:spcAft>
            </a:pPr>
            <a:r>
              <a:rPr sz="1300">
                <a:solidFill>
                  <a:srgbClr val="5B6372"/>
                </a:solidFill>
                <a:latin typeface="Arial"/>
              </a:rPr>
              <a:t>–  FULL FACTORIAL DOE — main effects and interactions</a:t>
            </a:r>
          </a:p>
          <a:p>
            <a:pPr>
              <a:spcAft>
                <a:spcPts val="1000"/>
              </a:spcAft>
            </a:pPr>
            <a:r>
              <a:rPr sz="1300">
                <a:solidFill>
                  <a:srgbClr val="5B6372"/>
                </a:solidFill>
                <a:latin typeface="Arial"/>
              </a:rPr>
              <a:t>–  Fractional factorial, confounding and resolution</a:t>
            </a:r>
          </a:p>
          <a:p>
            <a:pPr>
              <a:spcAft>
                <a:spcPts val="1000"/>
              </a:spcAft>
            </a:pPr>
            <a:r>
              <a:rPr sz="1300">
                <a:solidFill>
                  <a:srgbClr val="5B6372"/>
                </a:solidFill>
                <a:latin typeface="Arial"/>
              </a:rPr>
              <a:t>–  Response surface methodology and robust design</a:t>
            </a:r>
          </a:p>
          <a:p>
            <a:pPr>
              <a:spcAft>
                <a:spcPts val="1000"/>
              </a:spcAft>
            </a:pPr>
            <a:r>
              <a:rPr sz="1300">
                <a:solidFill>
                  <a:srgbClr val="5B6372"/>
                </a:solidFill>
                <a:latin typeface="Arial"/>
              </a:rPr>
              <a:t>–  CONTROL recap: SPC, chart selection, Cp/Cpk</a:t>
            </a:r>
          </a:p>
          <a:p>
            <a:pPr>
              <a:spcAft>
                <a:spcPts val="1000"/>
              </a:spcAft>
            </a:pPr>
            <a:r>
              <a:rPr sz="1300">
                <a:solidFill>
                  <a:srgbClr val="5B6372"/>
                </a:solidFill>
                <a:latin typeface="Arial"/>
              </a:rPr>
              <a:t>–  CUSUM, EWMA, short-run and multivariate SPC</a:t>
            </a:r>
          </a:p>
          <a:p>
            <a:pPr>
              <a:spcAft>
                <a:spcPts val="1000"/>
              </a:spcAft>
            </a:pPr>
            <a:r>
              <a:rPr sz="1300">
                <a:solidFill>
                  <a:srgbClr val="5B6372"/>
                </a:solidFill>
                <a:latin typeface="Arial"/>
              </a:rPr>
              <a:t>–  Labs 22-30 — DOE, RSM, FMEA, SPC, control plan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9:30am-6:30pm with a 1-hour lunch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Lesson Plan — Day 5</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5 AM</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5 PM</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Day 5 — Capstone project consolidation and steering committee presentation</a:t>
            </a:r>
          </a:p>
          <a:p>
            <a:pPr>
              <a:spcAft>
                <a:spcPts val="1000"/>
              </a:spcAft>
            </a:pPr>
            <a:r>
              <a:rPr sz="1300">
                <a:solidFill>
                  <a:srgbClr val="5B6372"/>
                </a:solidFill>
                <a:latin typeface="Arial"/>
              </a:rPr>
              <a:t>–  Digital attendance (AM)</a:t>
            </a:r>
          </a:p>
          <a:p>
            <a:pPr>
              <a:spcAft>
                <a:spcPts val="1000"/>
              </a:spcAft>
            </a:pPr>
            <a:r>
              <a:rPr sz="1300">
                <a:solidFill>
                  <a:srgbClr val="5B6372"/>
                </a:solidFill>
                <a:latin typeface="Arial"/>
              </a:rPr>
              <a:t>–  Consolidating your capstone artifacts from Labs 1-30</a:t>
            </a:r>
          </a:p>
          <a:p>
            <a:pPr>
              <a:spcAft>
                <a:spcPts val="1000"/>
              </a:spcAft>
            </a:pPr>
            <a:r>
              <a:rPr sz="1300">
                <a:solidFill>
                  <a:srgbClr val="5B6372"/>
                </a:solidFill>
                <a:latin typeface="Arial"/>
              </a:rPr>
              <a:t>–  The A3 storyboard — one page, seven sections</a:t>
            </a:r>
          </a:p>
          <a:p>
            <a:pPr>
              <a:spcAft>
                <a:spcPts val="1000"/>
              </a:spcAft>
            </a:pPr>
            <a:r>
              <a:rPr sz="1300">
                <a:solidFill>
                  <a:srgbClr val="5B6372"/>
                </a:solidFill>
                <a:latin typeface="Arial"/>
              </a:rPr>
              <a:t>–  Lab 31 — build your A3 storyboard</a:t>
            </a:r>
          </a:p>
          <a:p>
            <a:pPr>
              <a:spcAft>
                <a:spcPts val="1000"/>
              </a:spcAft>
            </a:pPr>
            <a:r>
              <a:rPr sz="1300">
                <a:solidFill>
                  <a:srgbClr val="5B6372"/>
                </a:solidFill>
                <a:latin typeface="Arial"/>
              </a:rPr>
              <a:t>–  Building the steering committee presentation</a:t>
            </a:r>
          </a:p>
          <a:p>
            <a:pPr>
              <a:spcAft>
                <a:spcPts val="1000"/>
              </a:spcAft>
            </a:pPr>
            <a:r>
              <a:rPr sz="1300">
                <a:solidFill>
                  <a:srgbClr val="5B6372"/>
                </a:solidFill>
                <a:latin typeface="Arial"/>
              </a:rPr>
              <a:t>–  Lab 32 — build and rehearse your presentation</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Day 5 (continued)</a:t>
            </a:r>
          </a:p>
          <a:p>
            <a:pPr>
              <a:spcAft>
                <a:spcPts val="1000"/>
              </a:spcAft>
            </a:pPr>
            <a:r>
              <a:rPr sz="1300">
                <a:solidFill>
                  <a:srgbClr val="5B6372"/>
                </a:solidFill>
                <a:latin typeface="Arial"/>
              </a:rPr>
              <a:t>–  Lab 33 — CAPSTONE PRESENTATION AND DEFENCE</a:t>
            </a:r>
          </a:p>
          <a:p>
            <a:pPr>
              <a:spcAft>
                <a:spcPts val="1000"/>
              </a:spcAft>
            </a:pPr>
            <a:r>
              <a:rPr sz="1300">
                <a:solidFill>
                  <a:srgbClr val="5B6372"/>
                </a:solidFill>
                <a:latin typeface="Arial"/>
              </a:rPr>
              <a:t>–  Defending the analysis under challenge</a:t>
            </a:r>
          </a:p>
          <a:p>
            <a:pPr>
              <a:spcAft>
                <a:spcPts val="1000"/>
              </a:spcAft>
            </a:pPr>
            <a:r>
              <a:rPr sz="1300">
                <a:solidFill>
                  <a:srgbClr val="5B6372"/>
                </a:solidFill>
                <a:latin typeface="Arial"/>
              </a:rPr>
              <a:t>–  Peer presentations and observation</a:t>
            </a:r>
          </a:p>
          <a:p>
            <a:pPr>
              <a:spcAft>
                <a:spcPts val="1000"/>
              </a:spcAft>
            </a:pPr>
            <a:r>
              <a:rPr sz="1300">
                <a:solidFill>
                  <a:srgbClr val="5B6372"/>
                </a:solidFill>
                <a:latin typeface="Arial"/>
              </a:rPr>
              <a:t>–  Lessons learned and knowledge transfer</a:t>
            </a:r>
          </a:p>
          <a:p>
            <a:pPr>
              <a:spcAft>
                <a:spcPts val="1000"/>
              </a:spcAft>
            </a:pPr>
            <a:r>
              <a:rPr sz="1300">
                <a:solidFill>
                  <a:srgbClr val="5B6372"/>
                </a:solidFill>
                <a:latin typeface="Arial"/>
              </a:rPr>
              <a:t>–  Mentoring Green Belts — the coaching model</a:t>
            </a:r>
          </a:p>
          <a:p>
            <a:pPr>
              <a:spcAft>
                <a:spcPts val="1000"/>
              </a:spcAft>
            </a:pPr>
            <a:r>
              <a:rPr sz="1300">
                <a:solidFill>
                  <a:srgbClr val="5B6372"/>
                </a:solidFill>
                <a:latin typeface="Arial"/>
              </a:rPr>
              <a:t>–  Lab 34 — your Black Belt journey and 90-day plan</a:t>
            </a:r>
          </a:p>
          <a:p>
            <a:pPr>
              <a:spcAft>
                <a:spcPts val="1000"/>
              </a:spcAft>
            </a:pPr>
            <a:r>
              <a:rPr sz="1300">
                <a:solidFill>
                  <a:srgbClr val="5B6372"/>
                </a:solidFill>
                <a:latin typeface="Arial"/>
              </a:rPr>
              <a:t>–  TRAQOM survey · Course close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WSQ SKILLS FRAMEWORK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Skills Framework — TSC: Quality Process Control</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TSC Code: ELE-QUA-5006-1.1</a:t>
            </a:r>
          </a:p>
          <a:p>
            <a:pPr>
              <a:spcAft>
                <a:spcPts val="1000"/>
              </a:spcAft>
            </a:pPr>
            <a:r>
              <a:rPr sz="1500">
                <a:solidFill>
                  <a:srgbClr val="161B26"/>
                </a:solidFill>
                <a:latin typeface="Arial"/>
              </a:rPr>
              <a:t>•  A1: Lead improvement projects to meet process performance requirements.</a:t>
            </a:r>
          </a:p>
          <a:p>
            <a:pPr>
              <a:spcAft>
                <a:spcPts val="1000"/>
              </a:spcAft>
            </a:pPr>
            <a:r>
              <a:rPr sz="1500">
                <a:solidFill>
                  <a:srgbClr val="161B26"/>
                </a:solidFill>
                <a:latin typeface="Arial"/>
              </a:rPr>
              <a:t>•  A2: Establish project scope of work and resourcing based on organisational requirements.</a:t>
            </a:r>
          </a:p>
          <a:p>
            <a:pPr>
              <a:spcAft>
                <a:spcPts val="1000"/>
              </a:spcAft>
            </a:pPr>
            <a:r>
              <a:rPr sz="1500">
                <a:solidFill>
                  <a:srgbClr val="161B26"/>
                </a:solidFill>
                <a:latin typeface="Arial"/>
              </a:rPr>
              <a:t>•  A3: Analyse process performance data using advanced statistical methods to identify root causes of variation.</a:t>
            </a:r>
          </a:p>
          <a:p>
            <a:pPr>
              <a:spcAft>
                <a:spcPts val="1000"/>
              </a:spcAft>
            </a:pPr>
            <a:r>
              <a:rPr sz="1500">
                <a:solidFill>
                  <a:srgbClr val="161B26"/>
                </a:solidFill>
                <a:latin typeface="Arial"/>
              </a:rPr>
              <a:t>•  A4: Measure process performance against defined quality standards and validate the measurement system.</a:t>
            </a:r>
          </a:p>
          <a:p>
            <a:pPr>
              <a:spcAft>
                <a:spcPts val="1000"/>
              </a:spcAft>
            </a:pPr>
            <a:r>
              <a:rPr sz="1500">
                <a:solidFill>
                  <a:srgbClr val="161B26"/>
                </a:solidFill>
                <a:latin typeface="Arial"/>
              </a:rPr>
              <a:t>•  A5: Recommend, pilot and control improvement actions to sustain process performance.</a:t>
            </a:r>
          </a:p>
          <a:p>
            <a:pPr>
              <a:spcAft>
                <a:spcPts val="1000"/>
              </a:spcAft>
            </a:pPr>
            <a:r>
              <a:rPr sz="1500">
                <a:solidFill>
                  <a:srgbClr val="161B26"/>
                </a:solidFill>
                <a:latin typeface="Arial"/>
              </a:rPr>
              <a:t>•  K1: DMAIC methodology and the advanced Lean Six Sigma body of knowledge.</a:t>
            </a:r>
          </a:p>
          <a:p>
            <a:pPr>
              <a:spcAft>
                <a:spcPts val="1000"/>
              </a:spcAft>
            </a:pPr>
            <a:r>
              <a:rPr sz="1500">
                <a:solidFill>
                  <a:srgbClr val="161B26"/>
                </a:solidFill>
                <a:latin typeface="Arial"/>
              </a:rPr>
              <a:t>•  K2: Advanced statistical tools, experimental design and problem-solving techniques for process improvement.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Learning Outcomes</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LO1 — Lead a portfolio</a:t>
            </a:r>
          </a:p>
          <a:p>
            <a:pPr algn="l">
              <a:spcAft>
                <a:spcPts val="300"/>
              </a:spcAft>
            </a:pPr>
            <a:r>
              <a:rPr sz="1100" b="0">
                <a:solidFill>
                  <a:srgbClr val="5B6372"/>
                </a:solidFill>
                <a:latin typeface="Arial"/>
              </a:rPr>
              <a:t>Select, charter and govern projects aligned to business strategy.</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LO2 — Validate measurement</a:t>
            </a:r>
          </a:p>
          <a:p>
            <a:pPr algn="l">
              <a:spcAft>
                <a:spcPts val="300"/>
              </a:spcAft>
            </a:pPr>
            <a:r>
              <a:rPr sz="1100" b="0">
                <a:solidFill>
                  <a:srgbClr val="5B6372"/>
                </a:solidFill>
                <a:latin typeface="Arial"/>
              </a:rPr>
              <a:t>Gage R&amp;R for continuous data AND Kappa for attribute data.</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LO3 — Advanced analysis</a:t>
            </a:r>
          </a:p>
          <a:p>
            <a:pPr algn="l">
              <a:spcAft>
                <a:spcPts val="300"/>
              </a:spcAft>
            </a:pPr>
            <a:r>
              <a:rPr sz="1100" b="0">
                <a:solidFill>
                  <a:srgbClr val="5B6372"/>
                </a:solidFill>
                <a:latin typeface="Arial"/>
              </a:rPr>
              <a:t>Multiple regression, ANOVA, non-parametric and multi-vari studies.</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LO4 — Design experiments</a:t>
            </a:r>
          </a:p>
          <a:p>
            <a:pPr algn="l">
              <a:spcAft>
                <a:spcPts val="300"/>
              </a:spcAft>
            </a:pPr>
            <a:r>
              <a:rPr sz="1100" b="0">
                <a:solidFill>
                  <a:srgbClr val="5B6372"/>
                </a:solidFill>
                <a:latin typeface="Arial"/>
              </a:rPr>
              <a:t>Full and fractional factorial DOE and response surface methods.</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LO5 — De-risk &amp; validate</a:t>
            </a:r>
          </a:p>
          <a:p>
            <a:pPr algn="l">
              <a:spcAft>
                <a:spcPts val="300"/>
              </a:spcAft>
            </a:pPr>
            <a:r>
              <a:rPr sz="1100" b="0">
                <a:solidFill>
                  <a:srgbClr val="5B6372"/>
                </a:solidFill>
                <a:latin typeface="Arial"/>
              </a:rPr>
              <a:t>FMEA, piloting and financial benefits with Finance sign-off.</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LO6 — Advanced SPC</a:t>
            </a:r>
          </a:p>
          <a:p>
            <a:pPr algn="l">
              <a:spcAft>
                <a:spcPts val="300"/>
              </a:spcAft>
            </a:pPr>
            <a:r>
              <a:rPr sz="1100" b="0">
                <a:solidFill>
                  <a:srgbClr val="5B6372"/>
                </a:solidFill>
                <a:latin typeface="Arial"/>
              </a:rPr>
              <a:t>CUSUM, EWMA, short-run and multivariate control charts.</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LO7 — Lead change</a:t>
            </a:r>
          </a:p>
          <a:p>
            <a:pPr algn="l">
              <a:spcAft>
                <a:spcPts val="300"/>
              </a:spcAft>
            </a:pPr>
            <a:r>
              <a:rPr sz="1100" b="0">
                <a:solidFill>
                  <a:srgbClr val="5B6372"/>
                </a:solidFill>
                <a:latin typeface="Arial"/>
              </a:rPr>
              <a:t>Resistance, stakeholder management and mentoring Green Belts.</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LO8 — Deliver the capstone</a:t>
            </a:r>
          </a:p>
          <a:p>
            <a:pPr algn="l">
              <a:spcAft>
                <a:spcPts val="300"/>
              </a:spcAft>
            </a:pPr>
            <a:r>
              <a:rPr sz="1100" b="0">
                <a:solidFill>
                  <a:srgbClr val="5B6372"/>
                </a:solidFill>
                <a:latin typeface="Arial"/>
              </a:rPr>
              <a:t>Present and defend a real project to a steering committee.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 · 5 DAYS · 34 HANDS-ON LABS · CAPSTONE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Course Outline — DMAIC Reviewed in Depth, Then Extended</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VOC, Kano, CTQ recap</a:t>
            </a:r>
          </a:p>
          <a:p>
            <a:pPr>
              <a:spcAft>
                <a:spcPts val="600"/>
              </a:spcAft>
            </a:pPr>
            <a:r>
              <a:rPr sz="1100">
                <a:solidFill>
                  <a:srgbClr val="161B26"/>
                </a:solidFill>
                <a:latin typeface="Arial"/>
              </a:rPr>
              <a:t>•  CTQ FLOWDOWN</a:t>
            </a:r>
          </a:p>
          <a:p>
            <a:pPr>
              <a:spcAft>
                <a:spcPts val="600"/>
              </a:spcAft>
            </a:pPr>
            <a:r>
              <a:rPr sz="1100">
                <a:solidFill>
                  <a:srgbClr val="161B26"/>
                </a:solidFill>
                <a:latin typeface="Arial"/>
              </a:rPr>
              <a:t>•  Resistance &amp; change</a:t>
            </a:r>
          </a:p>
          <a:p>
            <a:pPr>
              <a:spcAft>
                <a:spcPts val="600"/>
              </a:spcAft>
            </a:pPr>
            <a:r>
              <a:rPr sz="1100">
                <a:solidFill>
                  <a:srgbClr val="161B26"/>
                </a:solidFill>
                <a:latin typeface="Arial"/>
              </a:rPr>
              <a:t>•  Labs 4-7</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Gage R&amp;R recap</a:t>
            </a:r>
          </a:p>
          <a:p>
            <a:pPr>
              <a:spcAft>
                <a:spcPts val="600"/>
              </a:spcAft>
            </a:pPr>
            <a:r>
              <a:rPr sz="1100">
                <a:solidFill>
                  <a:srgbClr val="161B26"/>
                </a:solidFill>
                <a:latin typeface="Arial"/>
              </a:rPr>
              <a:t>•  ATTRIBUTE MSA / KAPPA</a:t>
            </a:r>
          </a:p>
          <a:p>
            <a:pPr>
              <a:spcAft>
                <a:spcPts val="600"/>
              </a:spcAft>
            </a:pPr>
            <a:r>
              <a:rPr sz="1100">
                <a:solidFill>
                  <a:srgbClr val="161B26"/>
                </a:solidFill>
                <a:latin typeface="Arial"/>
              </a:rPr>
              <a:t>•  Nested &amp; destructive</a:t>
            </a:r>
          </a:p>
          <a:p>
            <a:pPr>
              <a:spcAft>
                <a:spcPts val="600"/>
              </a:spcAft>
            </a:pPr>
            <a:r>
              <a:rPr sz="1100">
                <a:solidFill>
                  <a:srgbClr val="161B26"/>
                </a:solidFill>
                <a:latin typeface="Arial"/>
              </a:rPr>
              <a:t>•  Labs 8-14</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Hypothesis recap</a:t>
            </a:r>
          </a:p>
          <a:p>
            <a:pPr>
              <a:spcAft>
                <a:spcPts val="600"/>
              </a:spcAft>
            </a:pPr>
            <a:r>
              <a:rPr sz="1100">
                <a:solidFill>
                  <a:srgbClr val="161B26"/>
                </a:solidFill>
                <a:latin typeface="Arial"/>
              </a:rPr>
              <a:t>•  MULTIPLE REGRESSION</a:t>
            </a:r>
          </a:p>
          <a:p>
            <a:pPr>
              <a:spcAft>
                <a:spcPts val="600"/>
              </a:spcAft>
            </a:pPr>
            <a:r>
              <a:rPr sz="1100">
                <a:solidFill>
                  <a:srgbClr val="161B26"/>
                </a:solidFill>
                <a:latin typeface="Arial"/>
              </a:rPr>
              <a:t>•  ANOVA, multi-vari</a:t>
            </a:r>
          </a:p>
          <a:p>
            <a:pPr>
              <a:spcAft>
                <a:spcPts val="600"/>
              </a:spcAft>
            </a:pPr>
            <a:r>
              <a:rPr sz="1100">
                <a:solidFill>
                  <a:srgbClr val="161B26"/>
                </a:solidFill>
                <a:latin typeface="Arial"/>
              </a:rPr>
              <a:t>•  Labs 15-21</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FMEA &amp; Lean recap</a:t>
            </a:r>
          </a:p>
          <a:p>
            <a:pPr>
              <a:spcAft>
                <a:spcPts val="600"/>
              </a:spcAft>
            </a:pPr>
            <a:r>
              <a:rPr sz="1100">
                <a:solidFill>
                  <a:srgbClr val="161B26"/>
                </a:solidFill>
                <a:latin typeface="Arial"/>
              </a:rPr>
              <a:t>•  FULL &amp; FRACTIONAL DOE</a:t>
            </a:r>
          </a:p>
          <a:p>
            <a:pPr>
              <a:spcAft>
                <a:spcPts val="600"/>
              </a:spcAft>
            </a:pPr>
            <a:r>
              <a:rPr sz="1100">
                <a:solidFill>
                  <a:srgbClr val="161B26"/>
                </a:solidFill>
                <a:latin typeface="Arial"/>
              </a:rPr>
              <a:t>•  RSM, robust design</a:t>
            </a:r>
          </a:p>
          <a:p>
            <a:pPr>
              <a:spcAft>
                <a:spcPts val="600"/>
              </a:spcAft>
            </a:pPr>
            <a:r>
              <a:rPr sz="1100">
                <a:solidFill>
                  <a:srgbClr val="161B26"/>
                </a:solidFill>
                <a:latin typeface="Arial"/>
              </a:rPr>
              <a:t>•  Labs 22-26</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SPC recap</a:t>
            </a:r>
          </a:p>
          <a:p>
            <a:pPr>
              <a:spcAft>
                <a:spcPts val="600"/>
              </a:spcAft>
            </a:pPr>
            <a:r>
              <a:rPr sz="1100">
                <a:solidFill>
                  <a:srgbClr val="161B26"/>
                </a:solidFill>
                <a:latin typeface="Arial"/>
              </a:rPr>
              <a:t>•  CUSUM, EWMA, T-squared</a:t>
            </a:r>
          </a:p>
          <a:p>
            <a:pPr>
              <a:spcAft>
                <a:spcPts val="600"/>
              </a:spcAft>
            </a:pPr>
            <a:r>
              <a:rPr sz="1100">
                <a:solidFill>
                  <a:srgbClr val="161B26"/>
                </a:solidFill>
                <a:latin typeface="Arial"/>
              </a:rPr>
              <a:t>•  Benefits validation</a:t>
            </a:r>
          </a:p>
          <a:p>
            <a:pPr>
              <a:spcAft>
                <a:spcPts val="600"/>
              </a:spcAft>
            </a:pPr>
            <a:r>
              <a:rPr sz="1100">
                <a:solidFill>
                  <a:srgbClr val="161B26"/>
                </a:solidFill>
                <a:latin typeface="Arial"/>
              </a:rPr>
              <a:t>•  Labs 27-30</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STEP UP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This Course Steps Up From Green Belt</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GREEN BELT</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Leads one scoped project</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Simple linear regression, one X</a:t>
            </a:r>
          </a:p>
          <a:p>
            <a:pPr>
              <a:spcAft>
                <a:spcPts val="700"/>
              </a:spcAft>
            </a:pPr>
            <a:r>
              <a:rPr sz="1200">
                <a:solidFill>
                  <a:srgbClr val="161B26"/>
                </a:solidFill>
                <a:latin typeface="Arial"/>
              </a:rPr>
              <a:t>•  Continuous Gage R&amp;R only</a:t>
            </a:r>
          </a:p>
          <a:p>
            <a:pPr>
              <a:spcAft>
                <a:spcPts val="700"/>
              </a:spcAft>
            </a:pPr>
            <a:r>
              <a:rPr sz="1200">
                <a:solidFill>
                  <a:srgbClr val="161B26"/>
                </a:solidFill>
                <a:latin typeface="Arial"/>
              </a:rPr>
              <a:t>•  DOE mentioned in passing</a:t>
            </a:r>
          </a:p>
          <a:p>
            <a:pPr>
              <a:spcAft>
                <a:spcPts val="700"/>
              </a:spcAft>
            </a:pPr>
            <a:r>
              <a:rPr sz="1200">
                <a:solidFill>
                  <a:srgbClr val="161B26"/>
                </a:solidFill>
                <a:latin typeface="Arial"/>
              </a:rPr>
              <a:t>•  Shewhart control charts</a:t>
            </a:r>
          </a:p>
          <a:p>
            <a:pPr>
              <a:spcAft>
                <a:spcPts val="700"/>
              </a:spcAft>
            </a:pPr>
            <a:r>
              <a:rPr sz="1200">
                <a:solidFill>
                  <a:srgbClr val="161B26"/>
                </a:solidFill>
                <a:latin typeface="Arial"/>
              </a:rPr>
              <a:t>•  Supports the change effort</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BLACK BELT</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Leads a portfolio and mentors belts</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Multiple regression, ANOVA, multi-vari</a:t>
            </a:r>
          </a:p>
          <a:p>
            <a:pPr>
              <a:spcAft>
                <a:spcPts val="700"/>
              </a:spcAft>
            </a:pPr>
            <a:r>
              <a:rPr sz="1200">
                <a:solidFill>
                  <a:srgbClr val="161B26"/>
                </a:solidFill>
                <a:latin typeface="Arial"/>
              </a:rPr>
              <a:t>•  Attribute MSA, Kappa, nested studies</a:t>
            </a:r>
          </a:p>
          <a:p>
            <a:pPr>
              <a:spcAft>
                <a:spcPts val="700"/>
              </a:spcAft>
            </a:pPr>
            <a:r>
              <a:rPr sz="1200">
                <a:solidFill>
                  <a:srgbClr val="161B26"/>
                </a:solidFill>
                <a:latin typeface="Arial"/>
              </a:rPr>
              <a:t>•  Full and fractional factorial DOE, RSM</a:t>
            </a:r>
          </a:p>
          <a:p>
            <a:pPr>
              <a:spcAft>
                <a:spcPts val="700"/>
              </a:spcAft>
            </a:pPr>
            <a:r>
              <a:rPr sz="1200">
                <a:solidFill>
                  <a:srgbClr val="161B26"/>
                </a:solidFill>
                <a:latin typeface="Arial"/>
              </a:rPr>
              <a:t>•  CUSUM, EWMA, short-run, multivariate</a:t>
            </a:r>
          </a:p>
          <a:p>
            <a:pPr>
              <a:spcAft>
                <a:spcPts val="700"/>
              </a:spcAft>
            </a:pPr>
            <a:r>
              <a:rPr sz="1200">
                <a:solidFill>
                  <a:srgbClr val="161B26"/>
                </a:solidFill>
                <a:latin typeface="Arial"/>
              </a:rPr>
              <a:t>•  Leads change and validates the money</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DMAIC Roadmap</a:t>
            </a:r>
          </a:p>
        </p:txBody>
      </p:sp>
      <p:pic>
        <p:nvPicPr>
          <p:cNvPr id="6" name="Picture 5" descr="clssgb-dmaic-roadmap.png"/>
          <p:cNvPicPr>
            <a:picLocks noChangeAspect="1"/>
          </p:cNvPicPr>
          <p:nvPr/>
        </p:nvPicPr>
        <p:blipFill>
          <a:blip r:embed="rId2"/>
          <a:stretch>
            <a:fillRect/>
          </a:stretch>
        </p:blipFill>
        <p:spPr>
          <a:xfrm>
            <a:off x="975207" y="1737360"/>
            <a:ext cx="10241280" cy="3584448"/>
          </a:xfrm>
          <a:prstGeom prst="rect">
            <a:avLst/>
          </a:prstGeom>
        </p:spPr>
      </p:pic>
      <p:sp>
        <p:nvSpPr>
          <p:cNvPr id="7" name="TextBox 6"/>
          <p:cNvSpPr txBox="1"/>
          <p:nvPr/>
        </p:nvSpPr>
        <p:spPr>
          <a:xfrm>
            <a:off x="777240" y="5431536"/>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Every topic and lab in this course sits inside one of these five phases.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BEFORE YOU SIT THE ASSESSMENT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Briefing for Assessment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Clear your desk</a:t>
            </a:r>
          </a:p>
          <a:p>
            <a:pPr algn="l">
              <a:spcAft>
                <a:spcPts val="300"/>
              </a:spcAft>
            </a:pPr>
            <a:r>
              <a:rPr sz="1200" b="0">
                <a:solidFill>
                  <a:srgbClr val="5B6372"/>
                </a:solidFill>
                <a:latin typeface="Arial"/>
              </a:rPr>
              <a:t>Phones and other materials go under the table or on the floor.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No photos or recording</a:t>
            </a:r>
          </a:p>
          <a:p>
            <a:pPr algn="l">
              <a:spcAft>
                <a:spcPts val="300"/>
              </a:spcAft>
            </a:pPr>
            <a:r>
              <a:rPr sz="1200" b="0">
                <a:solidFill>
                  <a:srgbClr val="5B6372"/>
                </a:solidFill>
                <a:latin typeface="Arial"/>
              </a:rPr>
              <a:t>Assessment scripts must not be photographed or recorded.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No discussion</a:t>
            </a:r>
          </a:p>
          <a:p>
            <a:pPr algn="l">
              <a:spcAft>
                <a:spcPts val="300"/>
              </a:spcAft>
            </a:pPr>
            <a:r>
              <a:rPr sz="1200" b="0">
                <a:solidFill>
                  <a:srgbClr val="5B6372"/>
                </a:solidFill>
                <a:latin typeface="Arial"/>
              </a:rPr>
              <a:t>The assessment is individual work — no talking once it starts.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Black or blue pen</a:t>
            </a:r>
          </a:p>
          <a:p>
            <a:pPr algn="l">
              <a:spcAft>
                <a:spcPts val="300"/>
              </a:spcAft>
            </a:pPr>
            <a:r>
              <a:rPr sz="1200" b="0">
                <a:solidFill>
                  <a:srgbClr val="5B6372"/>
                </a:solidFill>
                <a:latin typeface="Arial"/>
              </a:rPr>
              <a:t>Use a black or blue pen for hard-copy assessments.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No correction fluid</a:t>
            </a:r>
          </a:p>
          <a:p>
            <a:pPr algn="l">
              <a:spcAft>
                <a:spcPts val="300"/>
              </a:spcAft>
            </a:pPr>
            <a:r>
              <a:rPr sz="1200" b="0">
                <a:solidFill>
                  <a:srgbClr val="5B6372"/>
                </a:solidFill>
                <a:latin typeface="Arial"/>
              </a:rPr>
              <a:t>No liquid paper or correction tape — strike through instead.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Open book</a:t>
            </a:r>
          </a:p>
          <a:p>
            <a:pPr algn="l">
              <a:spcAft>
                <a:spcPts val="300"/>
              </a:spcAft>
            </a:pPr>
            <a:r>
              <a:rPr sz="1200" b="0">
                <a:solidFill>
                  <a:srgbClr val="5B6372"/>
                </a:solidFill>
                <a:latin typeface="Arial"/>
              </a:rPr>
              <a:t>Slides, Learner Guide and approved materials only.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FINAL ASSESSMENT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a:t>
            </a:r>
          </a:p>
        </p:txBody>
      </p:sp>
      <p:sp>
        <p:nvSpPr>
          <p:cNvPr id="6" name="Rectangle 5"/>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78308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78308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365760"/>
          </a:xfrm>
          <a:prstGeom prst="rect">
            <a:avLst/>
          </a:prstGeom>
          <a:noFill/>
        </p:spPr>
        <p:txBody>
          <a:bodyPr wrap="square" anchor="ctr">
            <a:spAutoFit/>
          </a:bodyPr>
          <a:lstStyle/>
          <a:p>
            <a:pPr algn="l">
              <a:spcAft>
                <a:spcPts val="300"/>
              </a:spcAft>
            </a:pPr>
            <a:r>
              <a:rPr sz="1500" b="1">
                <a:solidFill>
                  <a:srgbClr val="161B26"/>
                </a:solidFill>
                <a:latin typeface="Arial"/>
              </a:rPr>
              <a:t>Written Assessment (WA)</a:t>
            </a:r>
          </a:p>
          <a:p>
            <a:pPr algn="l">
              <a:spcAft>
                <a:spcPts val="300"/>
              </a:spcAft>
            </a:pPr>
            <a:r>
              <a:rPr sz="1100" b="0">
                <a:solidFill>
                  <a:srgbClr val="5B6372"/>
                </a:solidFill>
                <a:latin typeface="Arial"/>
              </a:rPr>
              <a:t>Short-Answer Questions (SAQ) — 2 questions, 1 hour, open book (K1, K2).</a:t>
            </a:r>
          </a:p>
        </p:txBody>
      </p:sp>
      <p:sp>
        <p:nvSpPr>
          <p:cNvPr id="11" name="Rectangle 10"/>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660904"/>
            <a:ext cx="9482328" cy="365760"/>
          </a:xfrm>
          <a:prstGeom prst="rect">
            <a:avLst/>
          </a:prstGeom>
          <a:noFill/>
        </p:spPr>
        <p:txBody>
          <a:bodyPr wrap="square" anchor="ctr">
            <a:spAutoFit/>
          </a:bodyPr>
          <a:lstStyle/>
          <a:p>
            <a:pPr algn="l">
              <a:spcAft>
                <a:spcPts val="300"/>
              </a:spcAft>
            </a:pPr>
            <a:r>
              <a:rPr sz="1500" b="1">
                <a:solidFill>
                  <a:srgbClr val="161B26"/>
                </a:solidFill>
                <a:latin typeface="Arial"/>
              </a:rPr>
              <a:t>Case Study (CS)</a:t>
            </a:r>
          </a:p>
          <a:p>
            <a:pPr algn="l">
              <a:spcAft>
                <a:spcPts val="300"/>
              </a:spcAft>
            </a:pPr>
            <a:r>
              <a:rPr sz="1100" b="0">
                <a:solidFill>
                  <a:srgbClr val="5B6372"/>
                </a:solidFill>
                <a:latin typeface="Arial"/>
              </a:rPr>
              <a:t>An applied DMAIC case study — 90 minutes, open book (A1-A5).</a:t>
            </a:r>
          </a:p>
        </p:txBody>
      </p:sp>
      <p:sp>
        <p:nvSpPr>
          <p:cNvPr id="16" name="Rectangle 15"/>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31927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31927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9482328" cy="365760"/>
          </a:xfrm>
          <a:prstGeom prst="rect">
            <a:avLst/>
          </a:prstGeom>
          <a:noFill/>
        </p:spPr>
        <p:txBody>
          <a:bodyPr wrap="square" anchor="ctr">
            <a:spAutoFit/>
          </a:bodyPr>
          <a:lstStyle/>
          <a:p>
            <a:pPr algn="l">
              <a:spcAft>
                <a:spcPts val="300"/>
              </a:spcAft>
            </a:pPr>
            <a:r>
              <a:rPr sz="1500" b="1">
                <a:solidFill>
                  <a:srgbClr val="161B26"/>
                </a:solidFill>
                <a:latin typeface="Arial"/>
              </a:rPr>
              <a:t>Capstone (additional)</a:t>
            </a:r>
          </a:p>
          <a:p>
            <a:pPr algn="l">
              <a:spcAft>
                <a:spcPts val="300"/>
              </a:spcAft>
            </a:pPr>
            <a:r>
              <a:rPr sz="1100" b="0">
                <a:solidFill>
                  <a:srgbClr val="5B6372"/>
                </a:solidFill>
                <a:latin typeface="Arial"/>
              </a:rPr>
              <a:t>Your project + steering committee presentation, on top of the WSQ assessment.</a:t>
            </a:r>
          </a:p>
        </p:txBody>
      </p:sp>
      <p:sp>
        <p:nvSpPr>
          <p:cNvPr id="21" name="Rectangle 20"/>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408736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408736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4197096"/>
            <a:ext cx="9482328" cy="365760"/>
          </a:xfrm>
          <a:prstGeom prst="rect">
            <a:avLst/>
          </a:prstGeom>
          <a:noFill/>
        </p:spPr>
        <p:txBody>
          <a:bodyPr wrap="square" anchor="ctr">
            <a:spAutoFit/>
          </a:bodyPr>
          <a:lstStyle/>
          <a:p>
            <a:pPr algn="l">
              <a:spcAft>
                <a:spcPts val="300"/>
              </a:spcAft>
            </a:pPr>
            <a:r>
              <a:rPr sz="1500" b="1">
                <a:solidFill>
                  <a:srgbClr val="161B26"/>
                </a:solidFill>
                <a:latin typeface="Arial"/>
              </a:rPr>
              <a:t>Built from Day 1</a:t>
            </a:r>
          </a:p>
          <a:p>
            <a:pPr algn="l">
              <a:spcAft>
                <a:spcPts val="300"/>
              </a:spcAft>
            </a:pPr>
            <a:r>
              <a:rPr sz="1100" b="0">
                <a:solidFill>
                  <a:srgbClr val="5B6372"/>
                </a:solidFill>
                <a:latin typeface="Arial"/>
              </a:rPr>
              <a:t>Every lab from Lab 1 onwards adds one artifact to your capstone.</a:t>
            </a:r>
          </a:p>
        </p:txBody>
      </p:sp>
      <p:sp>
        <p:nvSpPr>
          <p:cNvPr id="26" name="Rectangle 25"/>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85546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9482328" cy="365760"/>
          </a:xfrm>
          <a:prstGeom prst="rect">
            <a:avLst/>
          </a:prstGeom>
          <a:noFill/>
        </p:spPr>
        <p:txBody>
          <a:bodyPr wrap="square" anchor="ctr">
            <a:spAutoFit/>
          </a:bodyPr>
          <a:lstStyle/>
          <a:p>
            <a:pPr algn="l">
              <a:spcAft>
                <a:spcPts val="300"/>
              </a:spcAft>
            </a:pPr>
            <a:r>
              <a:rPr sz="1500" b="1">
                <a:solidFill>
                  <a:srgbClr val="161B26"/>
                </a:solidFill>
                <a:latin typeface="Arial"/>
              </a:rPr>
              <a:t>Attendance</a:t>
            </a:r>
          </a:p>
          <a:p>
            <a:pPr algn="l">
              <a:spcAft>
                <a:spcPts val="300"/>
              </a:spcAft>
            </a:pPr>
            <a:r>
              <a:rPr sz="1100" b="0">
                <a:solidFill>
                  <a:srgbClr val="5B6372"/>
                </a:solidFill>
                <a:latin typeface="Arial"/>
              </a:rPr>
              <a:t>A minimum of 75% attendance is required to be eligible for assessment and funding.</a:t>
            </a:r>
          </a:p>
        </p:txBody>
      </p:sp>
      <p:sp>
        <p:nvSpPr>
          <p:cNvPr id="31" name="Rectangle 30"/>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1014984" y="5623560"/>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14984" y="562356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1709928" y="5733288"/>
            <a:ext cx="9482328" cy="365760"/>
          </a:xfrm>
          <a:prstGeom prst="rect">
            <a:avLst/>
          </a:prstGeom>
          <a:noFill/>
        </p:spPr>
        <p:txBody>
          <a:bodyPr wrap="square" anchor="ctr">
            <a:spAutoFit/>
          </a:bodyPr>
          <a:lstStyle/>
          <a:p>
            <a:pPr algn="l">
              <a:spcAft>
                <a:spcPts val="300"/>
              </a:spcAft>
            </a:pPr>
            <a:r>
              <a:rPr sz="1500" b="1">
                <a:solidFill>
                  <a:srgbClr val="161B26"/>
                </a:solidFill>
                <a:latin typeface="Arial"/>
              </a:rPr>
              <a:t>Appeals</a:t>
            </a:r>
          </a:p>
          <a:p>
            <a:pPr algn="l">
              <a:spcAft>
                <a:spcPts val="300"/>
              </a:spcAft>
            </a:pPr>
            <a:r>
              <a:rPr sz="1100" b="0">
                <a:solidFill>
                  <a:srgbClr val="5B6372"/>
                </a:solidFill>
                <a:latin typeface="Arial"/>
              </a:rPr>
              <a:t>An appeal process is available if required.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 Flow</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Sit the WA (SAQ, 1 hour), then the Case Study (90 minutes)</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Submit your capstone report and present it to the steering committee</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FOUNDATIONS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The Black Belt Role, Portfolio Selection &amp; Your Capstone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BB vs GB - Portfolio selection - Strategy alignment - COPQ - Capstone chartering - DMAIC at altitude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00</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WHY YOU ARE HERE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You already know how to run a project.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This week is about running a PORTFOLIO of them, owning the statistics nobody else in the room can defend, and coaching the Green Belts who report their work to you.</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FOUNDATIONS - THE BLACK BELT ROLE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This Opening Module Delivers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shared technical baseline</a:t>
            </a:r>
          </a:p>
          <a:p>
            <a:pPr algn="l">
              <a:spcAft>
                <a:spcPts val="300"/>
              </a:spcAft>
            </a:pPr>
            <a:r>
              <a:rPr sz="1200" b="0">
                <a:solidFill>
                  <a:srgbClr val="5B6372"/>
                </a:solidFill>
                <a:latin typeface="Arial"/>
              </a:rPr>
              <a:t>Six Sigma, Lean, Y = f(X), sigma level and DPMO re-established at Black Belt precision.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clear role boundary</a:t>
            </a:r>
          </a:p>
          <a:p>
            <a:pPr algn="l">
              <a:spcAft>
                <a:spcPts val="300"/>
              </a:spcAft>
            </a:pPr>
            <a:r>
              <a:rPr sz="1200" b="0">
                <a:solidFill>
                  <a:srgbClr val="5B6372"/>
                </a:solidFill>
                <a:latin typeface="Arial"/>
              </a:rPr>
              <a:t>Exactly what a Black Belt does that a Green Belt does not - and is paid to do.</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portfolio method</a:t>
            </a:r>
          </a:p>
          <a:p>
            <a:pPr algn="l">
              <a:spcAft>
                <a:spcPts val="300"/>
              </a:spcAft>
            </a:pPr>
            <a:r>
              <a:rPr sz="1200" b="0">
                <a:solidFill>
                  <a:srgbClr val="5B6372"/>
                </a:solidFill>
                <a:latin typeface="Arial"/>
              </a:rPr>
              <a:t>Criteria, weighted scoring and strategy alignment for choosing which projects live.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money language</a:t>
            </a:r>
          </a:p>
          <a:p>
            <a:pPr algn="l">
              <a:spcAft>
                <a:spcPts val="300"/>
              </a:spcAft>
            </a:pPr>
            <a:r>
              <a:rPr sz="1200" b="0">
                <a:solidFill>
                  <a:srgbClr val="5B6372"/>
                </a:solidFill>
                <a:latin typeface="Arial"/>
              </a:rPr>
              <a:t>COPQ rolled up from one project to a whole programme, in dollars Finance accepts.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Your capstone project</a:t>
            </a:r>
          </a:p>
          <a:p>
            <a:pPr algn="l">
              <a:spcAft>
                <a:spcPts val="300"/>
              </a:spcAft>
            </a:pPr>
            <a:r>
              <a:rPr sz="1200" b="0">
                <a:solidFill>
                  <a:srgbClr val="5B6372"/>
                </a:solidFill>
                <a:latin typeface="Arial"/>
              </a:rPr>
              <a:t>You pick your own workplace process today and build it across every lab this week.</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DMAIC and tollgates</a:t>
            </a:r>
          </a:p>
          <a:p>
            <a:pPr algn="l">
              <a:spcAft>
                <a:spcPts val="300"/>
              </a:spcAft>
            </a:pPr>
            <a:r>
              <a:rPr sz="1200" b="0">
                <a:solidFill>
                  <a:srgbClr val="5B6372"/>
                </a:solidFill>
                <a:latin typeface="Arial"/>
              </a:rPr>
              <a:t>The five phases and the five gates, at the depth needed to mentor others through them.</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THE RUNNING SCENARIO</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Meridian Medical Devices</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Our running case all week: infusion pump assemblies built on 6 lines across 3 plants - Singapore, Penang and Suzhou. OTIF, first-pass yield and warranty returns are the metrics the board watches. Every worked example lands here.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MERIDIAN MEDICAL DEVICES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at a Glance - The Numbers You Will Reuse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Volume</a:t>
            </a:r>
          </a:p>
          <a:p>
            <a:pPr algn="l">
              <a:spcAft>
                <a:spcPts val="300"/>
              </a:spcAft>
            </a:pPr>
            <a:r>
              <a:rPr sz="1200" b="0">
                <a:solidFill>
                  <a:srgbClr val="5B6372"/>
                </a:solidFill>
                <a:latin typeface="Arial"/>
              </a:rPr>
              <a:t>412,000 infusion pump assemblies shipped last financial year across the three plants.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First-pass yield</a:t>
            </a:r>
          </a:p>
          <a:p>
            <a:pPr algn="l">
              <a:spcAft>
                <a:spcPts val="300"/>
              </a:spcAft>
            </a:pPr>
            <a:r>
              <a:rPr sz="1200" b="0">
                <a:solidFill>
                  <a:srgbClr val="5B6372"/>
                </a:solidFill>
                <a:latin typeface="Arial"/>
              </a:rPr>
              <a:t>Singapore 96.1 pct, Penang 91.4 pct, Suzhou 88.7 pct - a 7.4 point spread nobody has explained.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OTIF</a:t>
            </a:r>
          </a:p>
          <a:p>
            <a:pPr algn="l">
              <a:spcAft>
                <a:spcPts val="300"/>
              </a:spcAft>
            </a:pPr>
            <a:r>
              <a:rPr sz="1200" b="0">
                <a:solidFill>
                  <a:srgbClr val="5B6372"/>
                </a:solidFill>
                <a:latin typeface="Arial"/>
              </a:rPr>
              <a:t>On-time in-full sits at 87.2 pct against a customer contract commitment of 96 pct.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Warranty returns</a:t>
            </a:r>
          </a:p>
          <a:p>
            <a:pPr algn="l">
              <a:spcAft>
                <a:spcPts val="300"/>
              </a:spcAft>
            </a:pPr>
            <a:r>
              <a:rPr sz="1200" b="0">
                <a:solidFill>
                  <a:srgbClr val="5B6372"/>
                </a:solidFill>
                <a:latin typeface="Arial"/>
              </a:rPr>
              <a:t>2,140 field returns last year, average settlement cost SGD 780 per unit.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Rework</a:t>
            </a:r>
          </a:p>
          <a:p>
            <a:pPr algn="l">
              <a:spcAft>
                <a:spcPts val="300"/>
              </a:spcAft>
            </a:pPr>
            <a:r>
              <a:rPr sz="1200" b="0">
                <a:solidFill>
                  <a:srgbClr val="5B6372"/>
                </a:solidFill>
                <a:latin typeface="Arial"/>
              </a:rPr>
              <a:t>One line in Penang runs a permanent 4-person rework cell that is not in the standard cost.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Board pressure</a:t>
            </a:r>
          </a:p>
          <a:p>
            <a:pPr algn="l">
              <a:spcAft>
                <a:spcPts val="300"/>
              </a:spcAft>
            </a:pPr>
            <a:r>
              <a:rPr sz="1200" b="0">
                <a:solidFill>
                  <a:srgbClr val="5B6372"/>
                </a:solidFill>
                <a:latin typeface="Arial"/>
              </a:rPr>
              <a:t>The CEO has asked for a 30 pct reduction in cost of poor quality within 12 months.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WHAT SIX SIGMA ACTUALLY IS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Six Sigma is three things at once.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statistical measure of capability, a structured improvement method, and a management philosophy about running the business on data. A Black Belt has to be fluent in all three.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THREE FACES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Three Faces of Six Sigma</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A metric</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Sigma level and DPMO</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Counts how many standard deviations fit between mean and spec</a:t>
            </a:r>
          </a:p>
          <a:p>
            <a:pPr>
              <a:spcAft>
                <a:spcPts val="700"/>
              </a:spcAft>
            </a:pPr>
            <a:r>
              <a:rPr sz="1200">
                <a:solidFill>
                  <a:srgbClr val="161B26"/>
                </a:solidFill>
                <a:latin typeface="Arial"/>
              </a:rPr>
              <a:t>•  Six sigma performance = 3.4 defects per million opportunities</a:t>
            </a:r>
          </a:p>
          <a:p>
            <a:pPr>
              <a:spcAft>
                <a:spcPts val="700"/>
              </a:spcAft>
            </a:pPr>
            <a:r>
              <a:rPr sz="1200">
                <a:solidFill>
                  <a:srgbClr val="161B26"/>
                </a:solidFill>
                <a:latin typeface="Arial"/>
              </a:rPr>
              <a:t>•  Lets you compare a soldering line to an invoicing process</a:t>
            </a:r>
          </a:p>
          <a:p>
            <a:pPr>
              <a:spcAft>
                <a:spcPts val="700"/>
              </a:spcAft>
            </a:pPr>
            <a:r>
              <a:rPr sz="1200">
                <a:solidFill>
                  <a:srgbClr val="161B26"/>
                </a:solidFill>
                <a:latin typeface="Arial"/>
              </a:rPr>
              <a:t>•  This is the face you defend in front of engineers</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A method</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DMAIC and DMADV</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Define, Measure, Analyze, Improve, Control - in that order</a:t>
            </a:r>
          </a:p>
          <a:p>
            <a:pPr>
              <a:spcAft>
                <a:spcPts val="700"/>
              </a:spcAft>
            </a:pPr>
            <a:r>
              <a:rPr sz="1200">
                <a:solidFill>
                  <a:srgbClr val="161B26"/>
                </a:solidFill>
                <a:latin typeface="Arial"/>
              </a:rPr>
              <a:t>•  Each phase closes at a tollgate with evidence, not opinion</a:t>
            </a:r>
          </a:p>
          <a:p>
            <a:pPr>
              <a:spcAft>
                <a:spcPts val="700"/>
              </a:spcAft>
            </a:pPr>
            <a:r>
              <a:rPr sz="1200">
                <a:solidFill>
                  <a:srgbClr val="161B26"/>
                </a:solidFill>
                <a:latin typeface="Arial"/>
              </a:rPr>
              <a:t>•  Prevents jumping from symptom straight to pet solution</a:t>
            </a:r>
          </a:p>
          <a:p>
            <a:pPr>
              <a:spcAft>
                <a:spcPts val="700"/>
              </a:spcAft>
            </a:pPr>
            <a:r>
              <a:rPr sz="1200">
                <a:solidFill>
                  <a:srgbClr val="161B26"/>
                </a:solidFill>
                <a:latin typeface="Arial"/>
              </a:rPr>
              <a:t>•  This is the face you run projects with</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A philosophy</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Management by data</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Decisions are made from measured process data, not seniority</a:t>
            </a:r>
          </a:p>
          <a:p>
            <a:pPr>
              <a:spcAft>
                <a:spcPts val="700"/>
              </a:spcAft>
            </a:pPr>
            <a:r>
              <a:rPr sz="1200">
                <a:solidFill>
                  <a:srgbClr val="161B26"/>
                </a:solidFill>
                <a:latin typeface="Arial"/>
              </a:rPr>
              <a:t>•  Every process has a customer whose voice sets the target</a:t>
            </a:r>
          </a:p>
          <a:p>
            <a:pPr>
              <a:spcAft>
                <a:spcPts val="700"/>
              </a:spcAft>
            </a:pPr>
            <a:r>
              <a:rPr sz="1200">
                <a:solidFill>
                  <a:srgbClr val="161B26"/>
                </a:solidFill>
                <a:latin typeface="Arial"/>
              </a:rPr>
              <a:t>•  Variation is treated as a cost, not as bad luck</a:t>
            </a:r>
          </a:p>
          <a:p>
            <a:pPr>
              <a:spcAft>
                <a:spcPts val="700"/>
              </a:spcAft>
            </a:pPr>
            <a:r>
              <a:rPr sz="1200">
                <a:solidFill>
                  <a:srgbClr val="161B26"/>
                </a:solidFill>
                <a:latin typeface="Arial"/>
              </a:rPr>
              <a:t>•  This is the face you sell to the steering committee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CLEARING THE MYTHS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Six Sigma Is Not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Not a quality department</a:t>
            </a:r>
          </a:p>
          <a:p>
            <a:pPr algn="l">
              <a:spcAft>
                <a:spcPts val="300"/>
              </a:spcAft>
            </a:pPr>
            <a:r>
              <a:rPr sz="1200" b="0">
                <a:solidFill>
                  <a:srgbClr val="5B6372"/>
                </a:solidFill>
                <a:latin typeface="Arial"/>
              </a:rPr>
              <a:t>It is a line-management discipline. Quality assurance audits; Six Sigma changes the process.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Not statistics for its own sake</a:t>
            </a:r>
          </a:p>
          <a:p>
            <a:pPr algn="l">
              <a:spcAft>
                <a:spcPts val="300"/>
              </a:spcAft>
            </a:pPr>
            <a:r>
              <a:rPr sz="1200" b="0">
                <a:solidFill>
                  <a:srgbClr val="5B6372"/>
                </a:solidFill>
                <a:latin typeface="Arial"/>
              </a:rPr>
              <a:t>Statistics is the evidence, never the deliverable. The deliverable is a changed, controlled process.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Not a training programme</a:t>
            </a:r>
          </a:p>
          <a:p>
            <a:pPr algn="l">
              <a:spcAft>
                <a:spcPts val="300"/>
              </a:spcAft>
            </a:pPr>
            <a:r>
              <a:rPr sz="1200" b="0">
                <a:solidFill>
                  <a:srgbClr val="5B6372"/>
                </a:solidFill>
                <a:latin typeface="Arial"/>
              </a:rPr>
              <a:t>Belts without live projects produce certificates and no benefit. Projects are the point.</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Not a substitute for strategy</a:t>
            </a:r>
          </a:p>
          <a:p>
            <a:pPr algn="l">
              <a:spcAft>
                <a:spcPts val="300"/>
              </a:spcAft>
            </a:pPr>
            <a:r>
              <a:rPr sz="1200" b="0">
                <a:solidFill>
                  <a:srgbClr val="5B6372"/>
                </a:solidFill>
                <a:latin typeface="Arial"/>
              </a:rPr>
              <a:t>It executes strategy faster. It cannot tell you which market to be in.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 SHORT HISTORY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We Got Here</a:t>
            </a:r>
          </a:p>
        </p:txBody>
      </p:sp>
      <p:cxnSp>
        <p:nvCxnSpPr>
          <p:cNvPr id="6" name="Connector 5"/>
          <p:cNvCxnSpPr/>
          <p:nvPr/>
        </p:nvCxnSpPr>
        <p:spPr>
          <a:xfrm>
            <a:off x="777240" y="3749039"/>
            <a:ext cx="10634472" cy="0"/>
          </a:xfrm>
          <a:prstGeom prst="line">
            <a:avLst/>
          </a:prstGeom>
          <a:ln w="38100">
            <a:solidFill>
              <a:srgbClr val="E2E8F0"/>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1591056" y="3602735"/>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267711"/>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77240" y="2267711"/>
            <a:ext cx="1920240" cy="731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68680" y="2432303"/>
            <a:ext cx="1737360" cy="329184"/>
          </a:xfrm>
          <a:prstGeom prst="rect">
            <a:avLst/>
          </a:prstGeom>
          <a:noFill/>
        </p:spPr>
        <p:txBody>
          <a:bodyPr wrap="square" anchor="t">
            <a:spAutoFit/>
          </a:bodyPr>
          <a:lstStyle/>
          <a:p>
            <a:pPr algn="ctr">
              <a:spcAft>
                <a:spcPts val="400"/>
              </a:spcAft>
            </a:pPr>
            <a:r>
              <a:rPr sz="1500" b="1">
                <a:solidFill>
                  <a:srgbClr val="1F6FEB"/>
                </a:solidFill>
                <a:latin typeface="Arial"/>
              </a:rPr>
              <a:t>1924</a:t>
            </a:r>
          </a:p>
        </p:txBody>
      </p:sp>
      <p:sp>
        <p:nvSpPr>
          <p:cNvPr id="11" name="TextBox 10"/>
          <p:cNvSpPr txBox="1"/>
          <p:nvPr/>
        </p:nvSpPr>
        <p:spPr>
          <a:xfrm>
            <a:off x="841248" y="2798063"/>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Shewhart invents the control chart at Western Electric</a:t>
            </a:r>
          </a:p>
        </p:txBody>
      </p:sp>
      <p:sp>
        <p:nvSpPr>
          <p:cNvPr id="12" name="Oval 11"/>
          <p:cNvSpPr/>
          <p:nvPr/>
        </p:nvSpPr>
        <p:spPr>
          <a:xfrm>
            <a:off x="3333902" y="3602735"/>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520086" y="4059935"/>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2520086" y="4059935"/>
            <a:ext cx="192024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611526" y="4224527"/>
            <a:ext cx="1737360" cy="329184"/>
          </a:xfrm>
          <a:prstGeom prst="rect">
            <a:avLst/>
          </a:prstGeom>
          <a:noFill/>
        </p:spPr>
        <p:txBody>
          <a:bodyPr wrap="square" anchor="t">
            <a:spAutoFit/>
          </a:bodyPr>
          <a:lstStyle/>
          <a:p>
            <a:pPr algn="ctr">
              <a:spcAft>
                <a:spcPts val="400"/>
              </a:spcAft>
            </a:pPr>
            <a:r>
              <a:rPr sz="1500" b="1">
                <a:solidFill>
                  <a:srgbClr val="10B981"/>
                </a:solidFill>
                <a:latin typeface="Arial"/>
              </a:rPr>
              <a:t>1950s</a:t>
            </a:r>
          </a:p>
        </p:txBody>
      </p:sp>
      <p:sp>
        <p:nvSpPr>
          <p:cNvPr id="16" name="TextBox 15"/>
          <p:cNvSpPr txBox="1"/>
          <p:nvPr/>
        </p:nvSpPr>
        <p:spPr>
          <a:xfrm>
            <a:off x="2584094" y="4590287"/>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Deming and Juran rebuild Japanese manufacturing quality</a:t>
            </a:r>
          </a:p>
        </p:txBody>
      </p:sp>
      <p:sp>
        <p:nvSpPr>
          <p:cNvPr id="17" name="Oval 16"/>
          <p:cNvSpPr/>
          <p:nvPr/>
        </p:nvSpPr>
        <p:spPr>
          <a:xfrm>
            <a:off x="5076748" y="3602735"/>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262932" y="2267711"/>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262932" y="2267711"/>
            <a:ext cx="1920240" cy="731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354372" y="2432303"/>
            <a:ext cx="1737360" cy="329184"/>
          </a:xfrm>
          <a:prstGeom prst="rect">
            <a:avLst/>
          </a:prstGeom>
          <a:noFill/>
        </p:spPr>
        <p:txBody>
          <a:bodyPr wrap="square" anchor="t">
            <a:spAutoFit/>
          </a:bodyPr>
          <a:lstStyle/>
          <a:p>
            <a:pPr algn="ctr">
              <a:spcAft>
                <a:spcPts val="400"/>
              </a:spcAft>
            </a:pPr>
            <a:r>
              <a:rPr sz="1500" b="1">
                <a:solidFill>
                  <a:srgbClr val="7C3AED"/>
                </a:solidFill>
                <a:latin typeface="Arial"/>
              </a:rPr>
              <a:t>1986</a:t>
            </a:r>
          </a:p>
        </p:txBody>
      </p:sp>
      <p:sp>
        <p:nvSpPr>
          <p:cNvPr id="21" name="TextBox 20"/>
          <p:cNvSpPr txBox="1"/>
          <p:nvPr/>
        </p:nvSpPr>
        <p:spPr>
          <a:xfrm>
            <a:off x="4326940" y="2798063"/>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Bill Smith coins Six Sigma at Motorola</a:t>
            </a:r>
          </a:p>
        </p:txBody>
      </p:sp>
      <p:sp>
        <p:nvSpPr>
          <p:cNvPr id="22" name="Oval 21"/>
          <p:cNvSpPr/>
          <p:nvPr/>
        </p:nvSpPr>
        <p:spPr>
          <a:xfrm>
            <a:off x="6819595" y="3602735"/>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005779" y="4059935"/>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6005779" y="4059935"/>
            <a:ext cx="192024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097219" y="4224527"/>
            <a:ext cx="1737360" cy="329184"/>
          </a:xfrm>
          <a:prstGeom prst="rect">
            <a:avLst/>
          </a:prstGeom>
          <a:noFill/>
        </p:spPr>
        <p:txBody>
          <a:bodyPr wrap="square" anchor="t">
            <a:spAutoFit/>
          </a:bodyPr>
          <a:lstStyle/>
          <a:p>
            <a:pPr algn="ctr">
              <a:spcAft>
                <a:spcPts val="400"/>
              </a:spcAft>
            </a:pPr>
            <a:r>
              <a:rPr sz="1500" b="1">
                <a:solidFill>
                  <a:srgbClr val="F59E0B"/>
                </a:solidFill>
                <a:latin typeface="Arial"/>
              </a:rPr>
              <a:t>1995</a:t>
            </a:r>
          </a:p>
        </p:txBody>
      </p:sp>
      <p:sp>
        <p:nvSpPr>
          <p:cNvPr id="26" name="TextBox 25"/>
          <p:cNvSpPr txBox="1"/>
          <p:nvPr/>
        </p:nvSpPr>
        <p:spPr>
          <a:xfrm>
            <a:off x="6069787" y="4590287"/>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Jack Welch makes it GE's central initiative</a:t>
            </a:r>
          </a:p>
        </p:txBody>
      </p:sp>
      <p:sp>
        <p:nvSpPr>
          <p:cNvPr id="27" name="Oval 26"/>
          <p:cNvSpPr/>
          <p:nvPr/>
        </p:nvSpPr>
        <p:spPr>
          <a:xfrm>
            <a:off x="8562441" y="3602735"/>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48625" y="2267711"/>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7748625" y="2267711"/>
            <a:ext cx="1920240" cy="731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840065" y="2432303"/>
            <a:ext cx="1737360" cy="329184"/>
          </a:xfrm>
          <a:prstGeom prst="rect">
            <a:avLst/>
          </a:prstGeom>
          <a:noFill/>
        </p:spPr>
        <p:txBody>
          <a:bodyPr wrap="square" anchor="t">
            <a:spAutoFit/>
          </a:bodyPr>
          <a:lstStyle/>
          <a:p>
            <a:pPr algn="ctr">
              <a:spcAft>
                <a:spcPts val="400"/>
              </a:spcAft>
            </a:pPr>
            <a:r>
              <a:rPr sz="1500" b="1">
                <a:solidFill>
                  <a:srgbClr val="1F6FEB"/>
                </a:solidFill>
                <a:latin typeface="Arial"/>
              </a:rPr>
              <a:t>2002</a:t>
            </a:r>
          </a:p>
        </p:txBody>
      </p:sp>
      <p:sp>
        <p:nvSpPr>
          <p:cNvPr id="31" name="TextBox 30"/>
          <p:cNvSpPr txBox="1"/>
          <p:nvPr/>
        </p:nvSpPr>
        <p:spPr>
          <a:xfrm>
            <a:off x="7812633" y="2798063"/>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Lean and Six Sigma formally merge into Lean Six Sigma</a:t>
            </a:r>
          </a:p>
        </p:txBody>
      </p:sp>
      <p:sp>
        <p:nvSpPr>
          <p:cNvPr id="32" name="Oval 31"/>
          <p:cNvSpPr/>
          <p:nvPr/>
        </p:nvSpPr>
        <p:spPr>
          <a:xfrm>
            <a:off x="10305288" y="3602735"/>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491472" y="4059935"/>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9491472" y="4059935"/>
            <a:ext cx="192024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9582912" y="4224527"/>
            <a:ext cx="1737360" cy="329184"/>
          </a:xfrm>
          <a:prstGeom prst="rect">
            <a:avLst/>
          </a:prstGeom>
          <a:noFill/>
        </p:spPr>
        <p:txBody>
          <a:bodyPr wrap="square" anchor="t">
            <a:spAutoFit/>
          </a:bodyPr>
          <a:lstStyle/>
          <a:p>
            <a:pPr algn="ctr">
              <a:spcAft>
                <a:spcPts val="400"/>
              </a:spcAft>
            </a:pPr>
            <a:r>
              <a:rPr sz="1500" b="1">
                <a:solidFill>
                  <a:srgbClr val="10B981"/>
                </a:solidFill>
                <a:latin typeface="Arial"/>
              </a:rPr>
              <a:t>Today</a:t>
            </a:r>
          </a:p>
        </p:txBody>
      </p:sp>
      <p:sp>
        <p:nvSpPr>
          <p:cNvPr id="36" name="TextBox 35"/>
          <p:cNvSpPr txBox="1"/>
          <p:nvPr/>
        </p:nvSpPr>
        <p:spPr>
          <a:xfrm>
            <a:off x="9555480" y="4590287"/>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Applied across services, healthcare, finance and software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THE INHERITANCE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Each Era Contributed - And Why It Still Matters to You</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Shewhart, 1924</a:t>
            </a:r>
          </a:p>
          <a:p>
            <a:pPr algn="l">
              <a:spcAft>
                <a:spcPts val="300"/>
              </a:spcAft>
            </a:pPr>
            <a:r>
              <a:rPr sz="1200" b="0">
                <a:solidFill>
                  <a:srgbClr val="5B6372"/>
                </a:solidFill>
                <a:latin typeface="Arial"/>
              </a:rPr>
              <a:t>Separated common cause from special cause. Without this distinction you tamper and make things worse.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Deming, 1950s</a:t>
            </a:r>
          </a:p>
          <a:p>
            <a:pPr algn="l">
              <a:spcAft>
                <a:spcPts val="300"/>
              </a:spcAft>
            </a:pPr>
            <a:r>
              <a:rPr sz="1200" b="0">
                <a:solidFill>
                  <a:srgbClr val="5B6372"/>
                </a:solidFill>
                <a:latin typeface="Arial"/>
              </a:rPr>
              <a:t>94 pct of problems belong to the system, not the worker. This is why you attack process, not people.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Juran, 1950s</a:t>
            </a:r>
          </a:p>
          <a:p>
            <a:pPr algn="l">
              <a:spcAft>
                <a:spcPts val="300"/>
              </a:spcAft>
            </a:pPr>
            <a:r>
              <a:rPr sz="1200" b="0">
                <a:solidFill>
                  <a:srgbClr val="5B6372"/>
                </a:solidFill>
                <a:latin typeface="Arial"/>
              </a:rPr>
              <a:t>The vital few versus the trivial many - the logic behind every Pareto chart you will draw.</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Motorola, 1986</a:t>
            </a:r>
          </a:p>
          <a:p>
            <a:pPr algn="l">
              <a:spcAft>
                <a:spcPts val="300"/>
              </a:spcAft>
            </a:pPr>
            <a:r>
              <a:rPr sz="1200" b="0">
                <a:solidFill>
                  <a:srgbClr val="5B6372"/>
                </a:solidFill>
                <a:latin typeface="Arial"/>
              </a:rPr>
              <a:t>Turned capability into a single comparable number so plants could be ranked honestly.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GE, 1995</a:t>
            </a:r>
          </a:p>
          <a:p>
            <a:pPr algn="l">
              <a:spcAft>
                <a:spcPts val="300"/>
              </a:spcAft>
            </a:pPr>
            <a:r>
              <a:rPr sz="1200" b="0">
                <a:solidFill>
                  <a:srgbClr val="5B6372"/>
                </a:solidFill>
                <a:latin typeface="Arial"/>
              </a:rPr>
              <a:t>Tied belt certification to hard financial benefit signed by Finance. Still the standard.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Toyota, ongoing</a:t>
            </a:r>
          </a:p>
          <a:p>
            <a:pPr algn="l">
              <a:spcAft>
                <a:spcPts val="300"/>
              </a:spcAft>
            </a:pPr>
            <a:r>
              <a:rPr sz="1200" b="0">
                <a:solidFill>
                  <a:srgbClr val="5B6372"/>
                </a:solidFill>
                <a:latin typeface="Arial"/>
              </a:rPr>
              <a:t>Flow, pull and respect for people - the Lean half of what you now lead.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DEFINING QUALITY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Definitions of Quality - Only One Survives Scrutiny</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Defect free</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zero defect answer</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Free of what defect, defined by whom?</a:t>
            </a:r>
          </a:p>
          <a:p>
            <a:pPr>
              <a:spcAft>
                <a:spcPts val="700"/>
              </a:spcAft>
            </a:pPr>
            <a:r>
              <a:rPr sz="1200">
                <a:solidFill>
                  <a:srgbClr val="161B26"/>
                </a:solidFill>
                <a:latin typeface="Arial"/>
              </a:rPr>
              <a:t>•  A pump with no cosmetic flaw can still arrive late</a:t>
            </a:r>
          </a:p>
          <a:p>
            <a:pPr>
              <a:spcAft>
                <a:spcPts val="700"/>
              </a:spcAft>
            </a:pPr>
            <a:r>
              <a:rPr sz="1200">
                <a:solidFill>
                  <a:srgbClr val="161B26"/>
                </a:solidFill>
                <a:latin typeface="Arial"/>
              </a:rPr>
              <a:t>•  Silent on everything the buyer actually valued</a:t>
            </a:r>
          </a:p>
          <a:p>
            <a:pPr>
              <a:spcAft>
                <a:spcPts val="700"/>
              </a:spcAft>
            </a:pPr>
            <a:r>
              <a:rPr sz="1200">
                <a:solidFill>
                  <a:srgbClr val="161B26"/>
                </a:solidFill>
                <a:latin typeface="Arial"/>
              </a:rPr>
              <a:t>•  Verdict: incomplete</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Conforms to spec</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engineering answer</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Measurable and auditable - a real improvement</a:t>
            </a:r>
          </a:p>
          <a:p>
            <a:pPr>
              <a:spcAft>
                <a:spcPts val="700"/>
              </a:spcAft>
            </a:pPr>
            <a:r>
              <a:rPr sz="1200">
                <a:solidFill>
                  <a:srgbClr val="161B26"/>
                </a:solidFill>
                <a:latin typeface="Arial"/>
              </a:rPr>
              <a:t>•  But who wrote the spec, and from what evidence?</a:t>
            </a:r>
          </a:p>
          <a:p>
            <a:pPr>
              <a:spcAft>
                <a:spcPts val="700"/>
              </a:spcAft>
            </a:pPr>
            <a:r>
              <a:rPr sz="1200">
                <a:solidFill>
                  <a:srgbClr val="161B26"/>
                </a:solidFill>
                <a:latin typeface="Arial"/>
              </a:rPr>
              <a:t>•  A wrong spec met perfectly is still a failed product</a:t>
            </a:r>
          </a:p>
          <a:p>
            <a:pPr>
              <a:spcAft>
                <a:spcPts val="700"/>
              </a:spcAft>
            </a:pPr>
            <a:r>
              <a:rPr sz="1200">
                <a:solidFill>
                  <a:srgbClr val="161B26"/>
                </a:solidFill>
                <a:latin typeface="Arial"/>
              </a:rPr>
              <a:t>•  Verdict: necessary but not sufficient</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Meets customer needs</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Six Sigma answer</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customer defines what good looks like</a:t>
            </a:r>
          </a:p>
          <a:p>
            <a:pPr>
              <a:spcAft>
                <a:spcPts val="700"/>
              </a:spcAft>
            </a:pPr>
            <a:r>
              <a:rPr sz="1200">
                <a:solidFill>
                  <a:srgbClr val="161B26"/>
                </a:solidFill>
                <a:latin typeface="Arial"/>
              </a:rPr>
              <a:t>•  The spec is then derived from that voice, and traceable to it</a:t>
            </a:r>
          </a:p>
          <a:p>
            <a:pPr>
              <a:spcAft>
                <a:spcPts val="700"/>
              </a:spcAft>
            </a:pPr>
            <a:r>
              <a:rPr sz="1200">
                <a:solidFill>
                  <a:srgbClr val="161B26"/>
                </a:solidFill>
                <a:latin typeface="Arial"/>
              </a:rPr>
              <a:t>•  Covers delivery, service and cost, not only the part</a:t>
            </a:r>
          </a:p>
          <a:p>
            <a:pPr>
              <a:spcAft>
                <a:spcPts val="700"/>
              </a:spcAft>
            </a:pPr>
            <a:r>
              <a:rPr sz="1200">
                <a:solidFill>
                  <a:srgbClr val="161B26"/>
                </a:solidFill>
                <a:latin typeface="Arial"/>
              </a:rPr>
              <a:t>•  Verdict: this is the working definition</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COMBINATION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plus Six Sigma equals Lean Six Sigma</a:t>
            </a:r>
          </a:p>
        </p:txBody>
      </p:sp>
      <p:sp>
        <p:nvSpPr>
          <p:cNvPr id="6" name="Rectangle 5"/>
          <p:cNvSpPr/>
          <p:nvPr/>
        </p:nvSpPr>
        <p:spPr>
          <a:xfrm>
            <a:off x="777240" y="1828800"/>
            <a:ext cx="3977639"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828800"/>
            <a:ext cx="397763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5840" y="2084832"/>
            <a:ext cx="3520439" cy="457200"/>
          </a:xfrm>
          <a:prstGeom prst="rect">
            <a:avLst/>
          </a:prstGeom>
          <a:noFill/>
        </p:spPr>
        <p:txBody>
          <a:bodyPr wrap="square" anchor="t">
            <a:spAutoFit/>
          </a:bodyPr>
          <a:lstStyle/>
          <a:p>
            <a:pPr algn="l">
              <a:spcAft>
                <a:spcPts val="400"/>
              </a:spcAft>
            </a:pPr>
            <a:r>
              <a:rPr sz="2200" b="1">
                <a:solidFill>
                  <a:srgbClr val="1F6FEB"/>
                </a:solidFill>
                <a:latin typeface="Arial"/>
              </a:rPr>
              <a:t>Lean</a:t>
            </a:r>
          </a:p>
        </p:txBody>
      </p:sp>
      <p:sp>
        <p:nvSpPr>
          <p:cNvPr id="9" name="TextBox 8"/>
          <p:cNvSpPr txBox="1"/>
          <p:nvPr/>
        </p:nvSpPr>
        <p:spPr>
          <a:xfrm>
            <a:off x="1005840" y="2697480"/>
            <a:ext cx="3520439" cy="1280160"/>
          </a:xfrm>
          <a:prstGeom prst="rect">
            <a:avLst/>
          </a:prstGeom>
          <a:noFill/>
        </p:spPr>
        <p:txBody>
          <a:bodyPr wrap="square">
            <a:spAutoFit/>
          </a:bodyPr>
          <a:lstStyle/>
          <a:p>
            <a:pPr>
              <a:spcAft>
                <a:spcPts val="700"/>
              </a:spcAft>
            </a:pPr>
            <a:r>
              <a:rPr sz="1300">
                <a:solidFill>
                  <a:srgbClr val="161B26"/>
                </a:solidFill>
                <a:latin typeface="Arial"/>
              </a:rPr>
              <a:t>•  Speed, flow and lead time</a:t>
            </a:r>
          </a:p>
          <a:p>
            <a:pPr>
              <a:spcAft>
                <a:spcPts val="700"/>
              </a:spcAft>
            </a:pPr>
            <a:r>
              <a:rPr sz="1300">
                <a:solidFill>
                  <a:srgbClr val="161B26"/>
                </a:solidFill>
                <a:latin typeface="Arial"/>
              </a:rPr>
              <a:t>•  Attacks waste and non-value-add steps</a:t>
            </a:r>
          </a:p>
          <a:p>
            <a:pPr>
              <a:spcAft>
                <a:spcPts val="700"/>
              </a:spcAft>
            </a:pPr>
            <a:r>
              <a:rPr sz="1300">
                <a:solidFill>
                  <a:srgbClr val="161B26"/>
                </a:solidFill>
                <a:latin typeface="Arial"/>
              </a:rPr>
              <a:t>•  Fast, visual, shop-floor tools</a:t>
            </a:r>
          </a:p>
          <a:p>
            <a:pPr>
              <a:spcAft>
                <a:spcPts val="700"/>
              </a:spcAft>
            </a:pPr>
            <a:r>
              <a:rPr sz="1300">
                <a:solidFill>
                  <a:srgbClr val="161B26"/>
                </a:solidFill>
                <a:latin typeface="Arial"/>
              </a:rPr>
              <a:t>•  Weak on statistical proof</a:t>
            </a:r>
          </a:p>
        </p:txBody>
      </p:sp>
      <p:sp>
        <p:nvSpPr>
          <p:cNvPr id="10" name="Rectangle 9"/>
          <p:cNvSpPr/>
          <p:nvPr/>
        </p:nvSpPr>
        <p:spPr>
          <a:xfrm>
            <a:off x="7406640" y="1828800"/>
            <a:ext cx="3977639"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406640" y="1828800"/>
            <a:ext cx="397763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635240" y="2084832"/>
            <a:ext cx="3520439" cy="457200"/>
          </a:xfrm>
          <a:prstGeom prst="rect">
            <a:avLst/>
          </a:prstGeom>
          <a:noFill/>
        </p:spPr>
        <p:txBody>
          <a:bodyPr wrap="square" anchor="t">
            <a:spAutoFit/>
          </a:bodyPr>
          <a:lstStyle/>
          <a:p>
            <a:pPr algn="l">
              <a:spcAft>
                <a:spcPts val="400"/>
              </a:spcAft>
            </a:pPr>
            <a:r>
              <a:rPr sz="2200" b="1">
                <a:solidFill>
                  <a:srgbClr val="10B981"/>
                </a:solidFill>
                <a:latin typeface="Arial"/>
              </a:rPr>
              <a:t>Six Sigma</a:t>
            </a:r>
          </a:p>
        </p:txBody>
      </p:sp>
      <p:sp>
        <p:nvSpPr>
          <p:cNvPr id="13" name="TextBox 12"/>
          <p:cNvSpPr txBox="1"/>
          <p:nvPr/>
        </p:nvSpPr>
        <p:spPr>
          <a:xfrm>
            <a:off x="7635240" y="2697480"/>
            <a:ext cx="3520439" cy="1280160"/>
          </a:xfrm>
          <a:prstGeom prst="rect">
            <a:avLst/>
          </a:prstGeom>
          <a:noFill/>
        </p:spPr>
        <p:txBody>
          <a:bodyPr wrap="square">
            <a:spAutoFit/>
          </a:bodyPr>
          <a:lstStyle/>
          <a:p>
            <a:pPr>
              <a:spcAft>
                <a:spcPts val="700"/>
              </a:spcAft>
            </a:pPr>
            <a:r>
              <a:rPr sz="1300">
                <a:solidFill>
                  <a:srgbClr val="161B26"/>
                </a:solidFill>
                <a:latin typeface="Arial"/>
              </a:rPr>
              <a:t>•  Accuracy, capability and variation</a:t>
            </a:r>
          </a:p>
          <a:p>
            <a:pPr>
              <a:spcAft>
                <a:spcPts val="700"/>
              </a:spcAft>
            </a:pPr>
            <a:r>
              <a:rPr sz="1300">
                <a:solidFill>
                  <a:srgbClr val="161B26"/>
                </a:solidFill>
                <a:latin typeface="Arial"/>
              </a:rPr>
              <a:t>•  Attacks defects and inconsistency</a:t>
            </a:r>
          </a:p>
          <a:p>
            <a:pPr>
              <a:spcAft>
                <a:spcPts val="700"/>
              </a:spcAft>
            </a:pPr>
            <a:r>
              <a:rPr sz="1300">
                <a:solidFill>
                  <a:srgbClr val="161B26"/>
                </a:solidFill>
                <a:latin typeface="Arial"/>
              </a:rPr>
              <a:t>•  Rigorous data and inferential statistics</a:t>
            </a:r>
          </a:p>
          <a:p>
            <a:pPr>
              <a:spcAft>
                <a:spcPts val="700"/>
              </a:spcAft>
            </a:pPr>
            <a:r>
              <a:rPr sz="1300">
                <a:solidFill>
                  <a:srgbClr val="161B26"/>
                </a:solidFill>
                <a:latin typeface="Arial"/>
              </a:rPr>
              <a:t>•  Slow on waste that is already obvious</a:t>
            </a:r>
          </a:p>
        </p:txBody>
      </p:sp>
      <p:sp>
        <p:nvSpPr>
          <p:cNvPr id="14" name="TextBox 13"/>
          <p:cNvSpPr txBox="1"/>
          <p:nvPr/>
        </p:nvSpPr>
        <p:spPr>
          <a:xfrm>
            <a:off x="5120640" y="2606040"/>
            <a:ext cx="1920240" cy="731520"/>
          </a:xfrm>
          <a:prstGeom prst="rect">
            <a:avLst/>
          </a:prstGeom>
          <a:noFill/>
        </p:spPr>
        <p:txBody>
          <a:bodyPr wrap="square" anchor="ctr">
            <a:spAutoFit/>
          </a:bodyPr>
          <a:lstStyle/>
          <a:p>
            <a:pPr algn="ctr">
              <a:spcAft>
                <a:spcPts val="400"/>
              </a:spcAft>
            </a:pPr>
            <a:r>
              <a:rPr sz="4400" b="1">
                <a:solidFill>
                  <a:srgbClr val="5B6372"/>
                </a:solidFill>
                <a:latin typeface="Arial"/>
              </a:rPr>
              <a:t>+</a:t>
            </a:r>
          </a:p>
        </p:txBody>
      </p:sp>
      <p:sp>
        <p:nvSpPr>
          <p:cNvPr id="15" name="TextBox 14"/>
          <p:cNvSpPr txBox="1"/>
          <p:nvPr/>
        </p:nvSpPr>
        <p:spPr>
          <a:xfrm>
            <a:off x="777240" y="4315968"/>
            <a:ext cx="10607040" cy="365760"/>
          </a:xfrm>
          <a:prstGeom prst="rect">
            <a:avLst/>
          </a:prstGeom>
          <a:noFill/>
        </p:spPr>
        <p:txBody>
          <a:bodyPr wrap="square" anchor="t">
            <a:spAutoFit/>
          </a:bodyPr>
          <a:lstStyle/>
          <a:p>
            <a:pPr algn="ctr">
              <a:spcAft>
                <a:spcPts val="400"/>
              </a:spcAft>
            </a:pPr>
            <a:r>
              <a:rPr sz="1600" b="1">
                <a:solidFill>
                  <a:srgbClr val="5B6372"/>
                </a:solidFill>
                <a:latin typeface="Arial"/>
              </a:rPr>
              <a:t>▼</a:t>
            </a:r>
          </a:p>
        </p:txBody>
      </p:sp>
      <p:sp>
        <p:nvSpPr>
          <p:cNvPr id="16" name="Rectangle 15"/>
          <p:cNvSpPr/>
          <p:nvPr/>
        </p:nvSpPr>
        <p:spPr>
          <a:xfrm>
            <a:off x="2194560" y="4709160"/>
            <a:ext cx="777240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377440" y="4709160"/>
            <a:ext cx="7406640" cy="1298448"/>
          </a:xfrm>
          <a:prstGeom prst="rect">
            <a:avLst/>
          </a:prstGeom>
          <a:noFill/>
        </p:spPr>
        <p:txBody>
          <a:bodyPr wrap="square" anchor="ctr">
            <a:spAutoFit/>
          </a:bodyPr>
          <a:lstStyle/>
          <a:p>
            <a:pPr algn="ctr">
              <a:spcAft>
                <a:spcPts val="400"/>
              </a:spcAft>
            </a:pPr>
            <a:r>
              <a:rPr sz="2200" b="1">
                <a:solidFill>
                  <a:srgbClr val="FFFFFF"/>
                </a:solidFill>
                <a:latin typeface="Arial"/>
              </a:rPr>
              <a:t>LEAN SIX SIGMA</a:t>
            </a:r>
          </a:p>
          <a:p>
            <a:pPr algn="ctr">
              <a:spcAft>
                <a:spcPts val="400"/>
              </a:spcAft>
            </a:pPr>
            <a:r>
              <a:rPr sz="1300" b="0">
                <a:solidFill>
                  <a:srgbClr val="FFFFFF"/>
                </a:solidFill>
                <a:latin typeface="Arial"/>
              </a:rPr>
              <a:t>Right things, done fast AND done right - waste removal carrying statistical proof, run through DMAIC</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CHOOSING YOUR EMPHASIS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Which Half Leads - A Black Belt Judgement Call</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Long lead time, few defects</a:t>
            </a:r>
          </a:p>
          <a:p>
            <a:pPr algn="l">
              <a:spcAft>
                <a:spcPts val="300"/>
              </a:spcAft>
            </a:pPr>
            <a:r>
              <a:rPr sz="1200" b="0">
                <a:solidFill>
                  <a:srgbClr val="5B6372"/>
                </a:solidFill>
                <a:latin typeface="Arial"/>
              </a:rPr>
              <a:t>Lean leads. Map the value stream, attack queues and batch size before touching statistics.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Short lead time, many defects</a:t>
            </a:r>
          </a:p>
          <a:p>
            <a:pPr algn="l">
              <a:spcAft>
                <a:spcPts val="300"/>
              </a:spcAft>
            </a:pPr>
            <a:r>
              <a:rPr sz="1200" b="0">
                <a:solidFill>
                  <a:srgbClr val="5B6372"/>
                </a:solidFill>
                <a:latin typeface="Arial"/>
              </a:rPr>
              <a:t>Six Sigma leads. Find the Xs driving variation and bring them under control.</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Both at once</a:t>
            </a:r>
          </a:p>
          <a:p>
            <a:pPr algn="l">
              <a:spcAft>
                <a:spcPts val="300"/>
              </a:spcAft>
            </a:pPr>
            <a:r>
              <a:rPr sz="1200" b="0">
                <a:solidFill>
                  <a:srgbClr val="5B6372"/>
                </a:solidFill>
                <a:latin typeface="Arial"/>
              </a:rPr>
              <a:t>Lean first to expose the true process, then Six Sigma on the variation that remains.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Neither is clear</a:t>
            </a:r>
          </a:p>
          <a:p>
            <a:pPr algn="l">
              <a:spcAft>
                <a:spcPts val="300"/>
              </a:spcAft>
            </a:pPr>
            <a:r>
              <a:rPr sz="1200" b="0">
                <a:solidFill>
                  <a:srgbClr val="5B6372"/>
                </a:solidFill>
                <a:latin typeface="Arial"/>
              </a:rPr>
              <a:t>Measure first. Choosing a toolkit before baseline data is the classic Green Belt error.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THE COST OF POOR QUALITY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Most of what poor quality costs you is invisible.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Scrap and rework sit above the waterline where accounting can see them. The larger cost - expediting, lost customers, excess inventory, management attention - never appears in a cost code.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WHERE THE MONEY HIDES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COPQ Iceberg</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Above the waterline</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Visible and already booked</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Scrap and material write-off</a:t>
            </a:r>
          </a:p>
          <a:p>
            <a:pPr>
              <a:spcAft>
                <a:spcPts val="700"/>
              </a:spcAft>
            </a:pPr>
            <a:r>
              <a:rPr sz="1200">
                <a:solidFill>
                  <a:srgbClr val="161B26"/>
                </a:solidFill>
                <a:latin typeface="Arial"/>
              </a:rPr>
              <a:t>•  Rework labour and rework cell headcount</a:t>
            </a:r>
          </a:p>
          <a:p>
            <a:pPr>
              <a:spcAft>
                <a:spcPts val="700"/>
              </a:spcAft>
            </a:pPr>
            <a:r>
              <a:rPr sz="1200">
                <a:solidFill>
                  <a:srgbClr val="161B26"/>
                </a:solidFill>
                <a:latin typeface="Arial"/>
              </a:rPr>
              <a:t>•  Warranty settlements and field returns</a:t>
            </a:r>
          </a:p>
          <a:p>
            <a:pPr>
              <a:spcAft>
                <a:spcPts val="700"/>
              </a:spcAft>
            </a:pPr>
            <a:r>
              <a:rPr sz="1200">
                <a:solidFill>
                  <a:srgbClr val="161B26"/>
                </a:solidFill>
                <a:latin typeface="Arial"/>
              </a:rPr>
              <a:t>•  Inspection and sorting labour</a:t>
            </a:r>
          </a:p>
          <a:p>
            <a:pPr>
              <a:spcAft>
                <a:spcPts val="700"/>
              </a:spcAft>
            </a:pPr>
            <a:r>
              <a:rPr sz="1200">
                <a:solidFill>
                  <a:srgbClr val="161B26"/>
                </a:solidFill>
                <a:latin typeface="Arial"/>
              </a:rPr>
              <a:t>•  Typically only 15 to 20 pct of true COPQ</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Just below</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Traceable if you look</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Expedited freight and premium shipping</a:t>
            </a:r>
          </a:p>
          <a:p>
            <a:pPr>
              <a:spcAft>
                <a:spcPts val="700"/>
              </a:spcAft>
            </a:pPr>
            <a:r>
              <a:rPr sz="1200">
                <a:solidFill>
                  <a:srgbClr val="161B26"/>
                </a:solidFill>
                <a:latin typeface="Arial"/>
              </a:rPr>
              <a:t>•  Excess safety stock held to cover variation</a:t>
            </a:r>
          </a:p>
          <a:p>
            <a:pPr>
              <a:spcAft>
                <a:spcPts val="700"/>
              </a:spcAft>
            </a:pPr>
            <a:r>
              <a:rPr sz="1200">
                <a:solidFill>
                  <a:srgbClr val="161B26"/>
                </a:solidFill>
                <a:latin typeface="Arial"/>
              </a:rPr>
              <a:t>•  Line downtime and unplanned changeovers</a:t>
            </a:r>
          </a:p>
          <a:p>
            <a:pPr>
              <a:spcAft>
                <a:spcPts val="700"/>
              </a:spcAft>
            </a:pPr>
            <a:r>
              <a:rPr sz="1200">
                <a:solidFill>
                  <a:srgbClr val="161B26"/>
                </a:solidFill>
                <a:latin typeface="Arial"/>
              </a:rPr>
              <a:t>•  Engineering time on recurring deviations</a:t>
            </a:r>
          </a:p>
          <a:p>
            <a:pPr>
              <a:spcAft>
                <a:spcPts val="700"/>
              </a:spcAft>
            </a:pPr>
            <a:r>
              <a:rPr sz="1200">
                <a:solidFill>
                  <a:srgbClr val="161B26"/>
                </a:solidFill>
                <a:latin typeface="Arial"/>
              </a:rPr>
              <a:t>•  Recoverable with effort from the ERP</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Deep below</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Real but never coded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Lost customers and orders never quoted</a:t>
            </a:r>
          </a:p>
          <a:p>
            <a:pPr>
              <a:spcAft>
                <a:spcPts val="700"/>
              </a:spcAft>
            </a:pPr>
            <a:r>
              <a:rPr sz="1200">
                <a:solidFill>
                  <a:srgbClr val="161B26"/>
                </a:solidFill>
                <a:latin typeface="Arial"/>
              </a:rPr>
              <a:t>•  Price concessions granted to keep an account</a:t>
            </a:r>
          </a:p>
          <a:p>
            <a:pPr>
              <a:spcAft>
                <a:spcPts val="700"/>
              </a:spcAft>
            </a:pPr>
            <a:r>
              <a:rPr sz="1200">
                <a:solidFill>
                  <a:srgbClr val="161B26"/>
                </a:solidFill>
                <a:latin typeface="Arial"/>
              </a:rPr>
              <a:t>•  Management hours in escalation meetings</a:t>
            </a:r>
          </a:p>
          <a:p>
            <a:pPr>
              <a:spcAft>
                <a:spcPts val="700"/>
              </a:spcAft>
            </a:pPr>
            <a:r>
              <a:rPr sz="1200">
                <a:solidFill>
                  <a:srgbClr val="161B26"/>
                </a:solidFill>
                <a:latin typeface="Arial"/>
              </a:rPr>
              <a:t>•  Reputation and audit findings with regulators</a:t>
            </a:r>
          </a:p>
          <a:p>
            <a:pPr>
              <a:spcAft>
                <a:spcPts val="700"/>
              </a:spcAft>
            </a:pPr>
            <a:r>
              <a:rPr sz="1200">
                <a:solidFill>
                  <a:srgbClr val="161B26"/>
                </a:solidFill>
                <a:latin typeface="Arial"/>
              </a:rPr>
              <a:t>•  Estimated, not extracted - but still real</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COPQ ARITHMETIC</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Quantifying COPQ at Meridian</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COPQ as pct of revenue</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COPQ / Revenue x 100</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Meridian: SGD 11.4m COPQ on SGD 142m revenue = 8.0 pct. World class is under 1 pct.</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Cost per defect</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Total failure cost / Defect count</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2,140 warranty returns x SGD 780 settlement = SGD 1.67m external failure alone.</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Hidden factory ratio</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Rework hours / Total direct hours</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Penang rework cell: 4 staff x 1,800 h = 7,200 h against 96,000 direct h = 7.5 pct.</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Rule of thumb: a 3 sigma organisation loses 25 to 40 pct of revenue to COPQ; a 5 sigma one loses under 5 pct.</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PREVENTION - APPRAISAL - FAILURE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Four COPQ Categories - Know Which You Are Attacking</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Internal failure</a:t>
            </a:r>
          </a:p>
          <a:p>
            <a:pPr algn="l">
              <a:spcAft>
                <a:spcPts val="300"/>
              </a:spcAft>
            </a:pPr>
            <a:r>
              <a:rPr sz="1200" b="0">
                <a:solidFill>
                  <a:srgbClr val="5B6372"/>
                </a:solidFill>
                <a:latin typeface="Arial"/>
              </a:rPr>
              <a:t>Defects caught before the customer - scrap, rework, re-test, downgrade. Cheap to find, expensive to repeat.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External failure</a:t>
            </a:r>
          </a:p>
          <a:p>
            <a:pPr algn="l">
              <a:spcAft>
                <a:spcPts val="300"/>
              </a:spcAft>
            </a:pPr>
            <a:r>
              <a:rPr sz="1200" b="0">
                <a:solidFill>
                  <a:srgbClr val="5B6372"/>
                </a:solidFill>
                <a:latin typeface="Arial"/>
              </a:rPr>
              <a:t>Defects the customer caught - warranty, returns, recalls, credits. 10x the cost of internal failure.</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Appraisal</a:t>
            </a:r>
          </a:p>
          <a:p>
            <a:pPr algn="l">
              <a:spcAft>
                <a:spcPts val="300"/>
              </a:spcAft>
            </a:pPr>
            <a:r>
              <a:rPr sz="1200" b="0">
                <a:solidFill>
                  <a:srgbClr val="5B6372"/>
                </a:solidFill>
                <a:latin typeface="Arial"/>
              </a:rPr>
              <a:t>The cost of checking - inspection, testing, audit. Spending here treats symptoms, not causes.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Prevention</a:t>
            </a:r>
          </a:p>
          <a:p>
            <a:pPr algn="l">
              <a:spcAft>
                <a:spcPts val="300"/>
              </a:spcAft>
            </a:pPr>
            <a:r>
              <a:rPr sz="1200" b="0">
                <a:solidFill>
                  <a:srgbClr val="5B6372"/>
                </a:solidFill>
                <a:latin typeface="Arial"/>
              </a:rPr>
              <a:t>The cost of designing defects out - training, capability studies, poka-yoke. The only spend that pays back.</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THE CORE MODEL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Y = f(X)</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single most important equation in Six Sigma. You cannot manage the Y. You can only find, control and improve the Xs that produce it. Every phase of DMAIC exists to move you from the Y to the vital few Xs.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Y = f(X)</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Reading the Equation Properly</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Y - the output</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dependent variable</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What the customer feels and the board measures</a:t>
            </a:r>
          </a:p>
          <a:p>
            <a:pPr>
              <a:spcAft>
                <a:spcPts val="700"/>
              </a:spcAft>
            </a:pPr>
            <a:r>
              <a:rPr sz="1200">
                <a:solidFill>
                  <a:srgbClr val="161B26"/>
                </a:solidFill>
                <a:latin typeface="Arial"/>
              </a:rPr>
              <a:t>•  Always a result, always downstream, always lagging</a:t>
            </a:r>
          </a:p>
          <a:p>
            <a:pPr>
              <a:spcAft>
                <a:spcPts val="700"/>
              </a:spcAft>
            </a:pPr>
            <a:r>
              <a:rPr sz="1200">
                <a:solidFill>
                  <a:srgbClr val="161B26"/>
                </a:solidFill>
                <a:latin typeface="Arial"/>
              </a:rPr>
              <a:t>•  Cannot be changed directly - only through the Xs</a:t>
            </a:r>
          </a:p>
          <a:p>
            <a:pPr>
              <a:spcAft>
                <a:spcPts val="700"/>
              </a:spcAft>
            </a:pPr>
            <a:r>
              <a:rPr sz="1200">
                <a:solidFill>
                  <a:srgbClr val="161B26"/>
                </a:solidFill>
                <a:latin typeface="Arial"/>
              </a:rPr>
              <a:t>•  Meridian Y: on-time in-full at 87.2 pct</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f - the transfer function</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relationship</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process itself: how the Xs combine to make the Y</a:t>
            </a:r>
          </a:p>
          <a:p>
            <a:pPr>
              <a:spcAft>
                <a:spcPts val="700"/>
              </a:spcAft>
            </a:pPr>
            <a:r>
              <a:rPr sz="1200">
                <a:solidFill>
                  <a:srgbClr val="161B26"/>
                </a:solidFill>
                <a:latin typeface="Arial"/>
              </a:rPr>
              <a:t>•  May be linear, curved, or full of interactions</a:t>
            </a:r>
          </a:p>
          <a:p>
            <a:pPr>
              <a:spcAft>
                <a:spcPts val="700"/>
              </a:spcAft>
            </a:pPr>
            <a:r>
              <a:rPr sz="1200">
                <a:solidFill>
                  <a:srgbClr val="161B26"/>
                </a:solidFill>
                <a:latin typeface="Arial"/>
              </a:rPr>
              <a:t>•  Discovering f IS the Analyze phase</a:t>
            </a:r>
          </a:p>
          <a:p>
            <a:pPr>
              <a:spcAft>
                <a:spcPts val="700"/>
              </a:spcAft>
            </a:pPr>
            <a:r>
              <a:rPr sz="1200">
                <a:solidFill>
                  <a:srgbClr val="161B26"/>
                </a:solidFill>
                <a:latin typeface="Arial"/>
              </a:rPr>
              <a:t>•  Regression, ANOVA and DOE are how you estimate it</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X - the inputs</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independent variables</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Materials, methods, machines, people, measures, environment</a:t>
            </a:r>
          </a:p>
          <a:p>
            <a:pPr>
              <a:spcAft>
                <a:spcPts val="700"/>
              </a:spcAft>
            </a:pPr>
            <a:r>
              <a:rPr sz="1200">
                <a:solidFill>
                  <a:srgbClr val="161B26"/>
                </a:solidFill>
                <a:latin typeface="Arial"/>
              </a:rPr>
              <a:t>•  Controllable, noise, or critical-to-process</a:t>
            </a:r>
          </a:p>
          <a:p>
            <a:pPr>
              <a:spcAft>
                <a:spcPts val="700"/>
              </a:spcAft>
            </a:pPr>
            <a:r>
              <a:rPr sz="1200">
                <a:solidFill>
                  <a:srgbClr val="161B26"/>
                </a:solidFill>
                <a:latin typeface="Arial"/>
              </a:rPr>
              <a:t>•  Leading indicators - they move before Y does</a:t>
            </a:r>
          </a:p>
          <a:p>
            <a:pPr>
              <a:spcAft>
                <a:spcPts val="700"/>
              </a:spcAft>
            </a:pPr>
            <a:r>
              <a:rPr sz="1200">
                <a:solidFill>
                  <a:srgbClr val="161B26"/>
                </a:solidFill>
                <a:latin typeface="Arial"/>
              </a:rPr>
              <a:t>•  Meridian Xs: supplier lot, oven profile, operator shift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FUNNEL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DMAIC Walks You From Y to the Vital Few Xs</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DEFINE - name the Y precisely and set its target</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MEASURE - trust the Y measurement, then baseline it</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ANALYZE - list 30 candidate Xs, prove which 3 matter</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IMPROVE - change those Xs and confirm the Y moved</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CONTROL - hold the Xs so the Y never drifts back</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X CLASSIFICATION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Classifying Your Xs - A Black Belt Habit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Controllable X</a:t>
            </a:r>
          </a:p>
          <a:p>
            <a:pPr algn="l">
              <a:spcAft>
                <a:spcPts val="300"/>
              </a:spcAft>
            </a:pPr>
            <a:r>
              <a:rPr sz="1200" b="0">
                <a:solidFill>
                  <a:srgbClr val="5B6372"/>
                </a:solidFill>
                <a:latin typeface="Arial"/>
              </a:rPr>
              <a:t>You can set it and hold it - oven temperature, torque setting, approved supplier list.</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Noise X</a:t>
            </a:r>
          </a:p>
          <a:p>
            <a:pPr algn="l">
              <a:spcAft>
                <a:spcPts val="300"/>
              </a:spcAft>
            </a:pPr>
            <a:r>
              <a:rPr sz="1200" b="0">
                <a:solidFill>
                  <a:srgbClr val="5B6372"/>
                </a:solidFill>
                <a:latin typeface="Arial"/>
              </a:rPr>
              <a:t>Real but not economically controllable - ambient humidity, incoming lot variation, shift fatigue.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Critical X</a:t>
            </a:r>
          </a:p>
          <a:p>
            <a:pPr algn="l">
              <a:spcAft>
                <a:spcPts val="300"/>
              </a:spcAft>
            </a:pPr>
            <a:r>
              <a:rPr sz="1200" b="0">
                <a:solidFill>
                  <a:srgbClr val="5B6372"/>
                </a:solidFill>
                <a:latin typeface="Arial"/>
              </a:rPr>
              <a:t>Proven by data to drive the Y. These earn a control plan entry. Usually only 3 to 5 exist.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Standard operating X</a:t>
            </a:r>
          </a:p>
          <a:p>
            <a:pPr algn="l">
              <a:spcAft>
                <a:spcPts val="300"/>
              </a:spcAft>
            </a:pPr>
            <a:r>
              <a:rPr sz="1200" b="0">
                <a:solidFill>
                  <a:srgbClr val="5B6372"/>
                </a:solidFill>
                <a:latin typeface="Arial"/>
              </a:rPr>
              <a:t>Already known and already controlled. Do not spend Analyze effort re-proving these.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Constraint X</a:t>
            </a:r>
          </a:p>
          <a:p>
            <a:pPr algn="l">
              <a:spcAft>
                <a:spcPts val="300"/>
              </a:spcAft>
            </a:pPr>
            <a:r>
              <a:rPr sz="1200" b="0">
                <a:solidFill>
                  <a:srgbClr val="5B6372"/>
                </a:solidFill>
                <a:latin typeface="Arial"/>
              </a:rPr>
              <a:t>Cannot be changed for regulatory or contractual reasons - design the solution around it.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Suspect X</a:t>
            </a:r>
          </a:p>
          <a:p>
            <a:pPr algn="l">
              <a:spcAft>
                <a:spcPts val="300"/>
              </a:spcAft>
            </a:pPr>
            <a:r>
              <a:rPr sz="1200" b="0">
                <a:solidFill>
                  <a:srgbClr val="5B6372"/>
                </a:solidFill>
                <a:latin typeface="Arial"/>
              </a:rPr>
              <a:t>Named by the team but unproven. Stays suspect until hypothesis testing promotes or kills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FROM 27 XS TO 2</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 = f(X) at Meridian - Worked Through</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Business Y</a:t>
            </a:r>
          </a:p>
          <a:p>
            <a:pPr algn="l">
              <a:spcAft>
                <a:spcPts val="300"/>
              </a:spcAft>
            </a:pPr>
            <a:r>
              <a:rPr sz="1200" b="0">
                <a:solidFill>
                  <a:srgbClr val="5B6372"/>
                </a:solidFill>
                <a:latin typeface="Arial"/>
              </a:rPr>
              <a:t>Warranty cost per 1,000 units shipped - the figure the board sees each quarter.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Process Y</a:t>
            </a:r>
          </a:p>
          <a:p>
            <a:pPr algn="l">
              <a:spcAft>
                <a:spcPts val="300"/>
              </a:spcAft>
            </a:pPr>
            <a:r>
              <a:rPr sz="1200" b="0">
                <a:solidFill>
                  <a:srgbClr val="5B6372"/>
                </a:solidFill>
                <a:latin typeface="Arial"/>
              </a:rPr>
              <a:t>First-pass yield at final electrical test - 88.7 pct at Suzhou versus 96.1 pct at Singapore.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Candidate Xs</a:t>
            </a:r>
          </a:p>
          <a:p>
            <a:pPr algn="l">
              <a:spcAft>
                <a:spcPts val="300"/>
              </a:spcAft>
            </a:pPr>
            <a:r>
              <a:rPr sz="1200" b="0">
                <a:solidFill>
                  <a:srgbClr val="5B6372"/>
                </a:solidFill>
                <a:latin typeface="Arial"/>
              </a:rPr>
              <a:t>Solder paste lot, reflow profile, operator certification level, board supplier, shift, humidity.</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Proven X 1</a:t>
            </a:r>
          </a:p>
          <a:p>
            <a:pPr algn="l">
              <a:spcAft>
                <a:spcPts val="300"/>
              </a:spcAft>
            </a:pPr>
            <a:r>
              <a:rPr sz="1200" b="0">
                <a:solidFill>
                  <a:srgbClr val="5B6372"/>
                </a:solidFill>
                <a:latin typeface="Arial"/>
              </a:rPr>
              <a:t>Reflow zone-3 temperature - explains 41 pct of yield variation by regression.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Proven X 2</a:t>
            </a:r>
          </a:p>
          <a:p>
            <a:pPr algn="l">
              <a:spcAft>
                <a:spcPts val="300"/>
              </a:spcAft>
            </a:pPr>
            <a:r>
              <a:rPr sz="1200" b="0">
                <a:solidFill>
                  <a:srgbClr val="5B6372"/>
                </a:solidFill>
                <a:latin typeface="Arial"/>
              </a:rPr>
              <a:t>Solder paste age at point of use - beyond 8 hours yield drops 6 points.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Everything else</a:t>
            </a:r>
          </a:p>
          <a:p>
            <a:pPr algn="l">
              <a:spcAft>
                <a:spcPts val="300"/>
              </a:spcAft>
            </a:pPr>
            <a:r>
              <a:rPr sz="1200" b="0">
                <a:solidFill>
                  <a:srgbClr val="5B6372"/>
                </a:solidFill>
                <a:latin typeface="Arial"/>
              </a:rPr>
              <a:t>Twenty-one other suspected Xs tested and found statistically insignificant. That is a result too.</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MEASURING CAPABILITY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Sigma level is a common currency.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It lets you put a solder line, an invoice process and a discharge ward on the same scale. As a Black Belt you must be able to compute it, defend the 1.5 sigma shift, and explain both to a sceptical VP.</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BELL CURVE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Why It Is Called SIX Sigma</a:t>
            </a:r>
          </a:p>
        </p:txBody>
      </p:sp>
      <p:cxnSp>
        <p:nvCxnSpPr>
          <p:cNvPr id="6" name="Connector 5"/>
          <p:cNvCxnSpPr/>
          <p:nvPr/>
        </p:nvCxnSpPr>
        <p:spPr>
          <a:xfrm>
            <a:off x="1097280" y="5166360"/>
            <a:ext cx="996696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143000" y="5165161"/>
            <a:ext cx="82296" cy="27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225296" y="5164805"/>
            <a:ext cx="82296" cy="3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307592" y="5164352"/>
            <a:ext cx="82296" cy="4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389888" y="5163779"/>
            <a:ext cx="82296" cy="57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472184" y="5163057"/>
            <a:ext cx="82296" cy="72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554480" y="5162152"/>
            <a:ext cx="82296" cy="90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636776" y="5161023"/>
            <a:ext cx="82296" cy="112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719072" y="5159620"/>
            <a:ext cx="82296" cy="140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801368" y="5157887"/>
            <a:ext cx="82296" cy="173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883664" y="5155755"/>
            <a:ext cx="82296" cy="213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965960" y="5153145"/>
            <a:ext cx="82296" cy="26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048256" y="5149966"/>
            <a:ext cx="82296" cy="31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130552" y="5146113"/>
            <a:ext cx="82296" cy="38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212848" y="5141465"/>
            <a:ext cx="82296" cy="4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295144" y="5135885"/>
            <a:ext cx="82296" cy="558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377440" y="5129221"/>
            <a:ext cx="82295" cy="6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459735" y="5121300"/>
            <a:ext cx="82297" cy="79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542032" y="5111931"/>
            <a:ext cx="82296" cy="936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624328" y="5100907"/>
            <a:ext cx="82296" cy="1102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706624" y="5087999"/>
            <a:ext cx="82295" cy="129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2788919" y="5072961"/>
            <a:ext cx="82297" cy="1503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2871216" y="5055530"/>
            <a:ext cx="82296" cy="174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953512" y="5035430"/>
            <a:ext cx="82296" cy="20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035808" y="5012371"/>
            <a:ext cx="82296" cy="2305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118104" y="4986053"/>
            <a:ext cx="82296" cy="2631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3200400" y="4956174"/>
            <a:ext cx="82296" cy="298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3282696" y="4922430"/>
            <a:ext cx="82296" cy="3374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364992" y="4884524"/>
            <a:ext cx="82296" cy="3790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447288" y="4842171"/>
            <a:ext cx="82296" cy="423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3529584" y="4795108"/>
            <a:ext cx="82296" cy="4706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3611880" y="4743097"/>
            <a:ext cx="82296" cy="5201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694176" y="4685941"/>
            <a:ext cx="82296" cy="571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3776472" y="4623484"/>
            <a:ext cx="82296" cy="6245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3858768" y="4555628"/>
            <a:ext cx="82296" cy="678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941064" y="4482337"/>
            <a:ext cx="82296" cy="7329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4023360" y="4403648"/>
            <a:ext cx="82296" cy="786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4105656" y="4319678"/>
            <a:ext cx="82296" cy="8397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4187952" y="4230631"/>
            <a:ext cx="82296" cy="8904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4270248" y="4136806"/>
            <a:ext cx="82296" cy="9382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4352544" y="4038596"/>
            <a:ext cx="82296" cy="982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4434840" y="3936496"/>
            <a:ext cx="82296" cy="102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4517136" y="3831101"/>
            <a:ext cx="82296" cy="10539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4599432" y="3723102"/>
            <a:ext cx="82296" cy="10799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681728" y="3613285"/>
            <a:ext cx="82296" cy="10981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764024" y="3502525"/>
            <a:ext cx="82296" cy="11076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4846320" y="3391769"/>
            <a:ext cx="82296" cy="1107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928616" y="3282035"/>
            <a:ext cx="82296" cy="10973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5010912" y="3174387"/>
            <a:ext cx="82296" cy="107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5093208" y="3069929"/>
            <a:ext cx="82296" cy="10445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5175504" y="2969777"/>
            <a:ext cx="82296" cy="10015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5257800" y="2875046"/>
            <a:ext cx="82296" cy="947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5340096" y="2786830"/>
            <a:ext cx="82296" cy="8821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5422392" y="2706175"/>
            <a:ext cx="82296" cy="8065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5504688" y="2634067"/>
            <a:ext cx="82296" cy="721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5586984" y="2571403"/>
            <a:ext cx="82296" cy="62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5669280" y="2518982"/>
            <a:ext cx="82296" cy="524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751576" y="2477478"/>
            <a:ext cx="82296" cy="4150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5833872" y="2447435"/>
            <a:ext cx="82296" cy="3004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5916168" y="2429249"/>
            <a:ext cx="82296" cy="1818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5998464" y="2423160"/>
            <a:ext cx="82296" cy="60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6080760" y="2423160"/>
            <a:ext cx="82296" cy="60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6163056" y="2429249"/>
            <a:ext cx="82296" cy="1818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6245352" y="2447435"/>
            <a:ext cx="82296" cy="3004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6327648" y="2477478"/>
            <a:ext cx="82296" cy="4150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6409944" y="2518982"/>
            <a:ext cx="82296" cy="524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6492240" y="2571403"/>
            <a:ext cx="82296" cy="62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6574536" y="2634067"/>
            <a:ext cx="82296" cy="721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656832" y="2706175"/>
            <a:ext cx="82296" cy="8065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6739128" y="2786830"/>
            <a:ext cx="82296" cy="8821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6821424" y="2875046"/>
            <a:ext cx="82296" cy="947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6903720" y="2969777"/>
            <a:ext cx="82296" cy="10015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986016" y="3069929"/>
            <a:ext cx="82296" cy="10445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068312" y="3174387"/>
            <a:ext cx="82296" cy="107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150608" y="3282035"/>
            <a:ext cx="82296" cy="10973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232904" y="3391769"/>
            <a:ext cx="82296" cy="1107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7315200" y="3502525"/>
            <a:ext cx="82296" cy="11076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7397496" y="3613285"/>
            <a:ext cx="82296" cy="10981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7479792" y="3723102"/>
            <a:ext cx="82296" cy="10799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7562088" y="3831101"/>
            <a:ext cx="82296" cy="10539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7644384" y="3936496"/>
            <a:ext cx="82296" cy="102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7726680" y="4038596"/>
            <a:ext cx="82296" cy="982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7808976" y="4136806"/>
            <a:ext cx="82296" cy="9382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7891272" y="4230631"/>
            <a:ext cx="82296" cy="8904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7973568" y="4319678"/>
            <a:ext cx="82296" cy="8397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8055864" y="4403648"/>
            <a:ext cx="82296" cy="786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8138160" y="4482337"/>
            <a:ext cx="82296" cy="7329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8220456" y="4555628"/>
            <a:ext cx="82296" cy="678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8302752" y="4623484"/>
            <a:ext cx="82296" cy="6245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8385048" y="4685941"/>
            <a:ext cx="82296" cy="571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8467344" y="4743097"/>
            <a:ext cx="82296" cy="5201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549640" y="4795108"/>
            <a:ext cx="82296" cy="4706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8631936" y="4842171"/>
            <a:ext cx="82296" cy="423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8714232" y="4884524"/>
            <a:ext cx="82296" cy="3790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8796528" y="4922430"/>
            <a:ext cx="82296" cy="3374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8878824" y="4956174"/>
            <a:ext cx="82296" cy="298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8961120" y="4986053"/>
            <a:ext cx="82296" cy="2631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9043416" y="5012371"/>
            <a:ext cx="82296" cy="2305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9125712" y="5035430"/>
            <a:ext cx="82296" cy="20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9208008" y="5055530"/>
            <a:ext cx="82296" cy="174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9290304" y="5072961"/>
            <a:ext cx="82296" cy="1503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9372600" y="5087999"/>
            <a:ext cx="82296" cy="129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9454896" y="5100907"/>
            <a:ext cx="82296" cy="1102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9537192" y="5111931"/>
            <a:ext cx="82296" cy="936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9619488" y="5121300"/>
            <a:ext cx="82296" cy="79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9701784" y="5129221"/>
            <a:ext cx="82296" cy="6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9784080" y="5135885"/>
            <a:ext cx="82296" cy="558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9866376" y="5141465"/>
            <a:ext cx="82296" cy="4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9948672" y="5146113"/>
            <a:ext cx="82296" cy="38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10030968" y="5149966"/>
            <a:ext cx="82296" cy="31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10113264" y="5153145"/>
            <a:ext cx="82296" cy="26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10195560" y="5155755"/>
            <a:ext cx="82296" cy="213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10277856" y="5157887"/>
            <a:ext cx="82296" cy="173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10360152" y="5159620"/>
            <a:ext cx="82296" cy="140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10442448" y="5161023"/>
            <a:ext cx="82296" cy="112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10524744" y="5162152"/>
            <a:ext cx="82296" cy="90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10607040" y="5163057"/>
            <a:ext cx="82296" cy="72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10689336" y="5163779"/>
            <a:ext cx="82296" cy="57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10771632" y="5164352"/>
            <a:ext cx="82296" cy="4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10853928" y="5164805"/>
            <a:ext cx="82296" cy="3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10936224" y="5165161"/>
            <a:ext cx="82296" cy="27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2377440" y="5135885"/>
            <a:ext cx="0" cy="3047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205740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-3σ</a:t>
            </a:r>
          </a:p>
        </p:txBody>
      </p:sp>
      <p:cxnSp>
        <p:nvCxnSpPr>
          <p:cNvPr id="129" name="Connector 128"/>
          <p:cNvCxnSpPr/>
          <p:nvPr/>
        </p:nvCxnSpPr>
        <p:spPr>
          <a:xfrm flipV="1">
            <a:off x="3611880" y="4795108"/>
            <a:ext cx="0" cy="371252"/>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0" name="TextBox 129"/>
          <p:cNvSpPr txBox="1"/>
          <p:nvPr/>
        </p:nvSpPr>
        <p:spPr>
          <a:xfrm>
            <a:off x="329184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-2σ</a:t>
            </a:r>
          </a:p>
        </p:txBody>
      </p:sp>
      <p:cxnSp>
        <p:nvCxnSpPr>
          <p:cNvPr id="131" name="Connector 130"/>
          <p:cNvCxnSpPr/>
          <p:nvPr/>
        </p:nvCxnSpPr>
        <p:spPr>
          <a:xfrm flipV="1">
            <a:off x="4846320" y="3502525"/>
            <a:ext cx="0" cy="166383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452628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-1σ</a:t>
            </a:r>
          </a:p>
        </p:txBody>
      </p:sp>
      <p:cxnSp>
        <p:nvCxnSpPr>
          <p:cNvPr id="133" name="Connector 132"/>
          <p:cNvCxnSpPr/>
          <p:nvPr/>
        </p:nvCxnSpPr>
        <p:spPr>
          <a:xfrm flipV="1">
            <a:off x="6080760" y="2423160"/>
            <a:ext cx="0" cy="274320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4" name="TextBox 133"/>
          <p:cNvSpPr txBox="1"/>
          <p:nvPr/>
        </p:nvSpPr>
        <p:spPr>
          <a:xfrm>
            <a:off x="576072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μ</a:t>
            </a:r>
          </a:p>
        </p:txBody>
      </p:sp>
      <p:cxnSp>
        <p:nvCxnSpPr>
          <p:cNvPr id="135" name="Connector 134"/>
          <p:cNvCxnSpPr/>
          <p:nvPr/>
        </p:nvCxnSpPr>
        <p:spPr>
          <a:xfrm flipV="1">
            <a:off x="7315200" y="3502525"/>
            <a:ext cx="0" cy="166383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699516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+1σ</a:t>
            </a:r>
          </a:p>
        </p:txBody>
      </p:sp>
      <p:cxnSp>
        <p:nvCxnSpPr>
          <p:cNvPr id="137" name="Connector 136"/>
          <p:cNvCxnSpPr/>
          <p:nvPr/>
        </p:nvCxnSpPr>
        <p:spPr>
          <a:xfrm flipV="1">
            <a:off x="8549640" y="4795108"/>
            <a:ext cx="0" cy="371252"/>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8" name="TextBox 137"/>
          <p:cNvSpPr txBox="1"/>
          <p:nvPr/>
        </p:nvSpPr>
        <p:spPr>
          <a:xfrm>
            <a:off x="822960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+2σ</a:t>
            </a:r>
          </a:p>
        </p:txBody>
      </p:sp>
      <p:cxnSp>
        <p:nvCxnSpPr>
          <p:cNvPr id="139" name="Connector 138"/>
          <p:cNvCxnSpPr/>
          <p:nvPr/>
        </p:nvCxnSpPr>
        <p:spPr>
          <a:xfrm flipV="1">
            <a:off x="9784080" y="5135885"/>
            <a:ext cx="0" cy="3047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946404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+3σ</a:t>
            </a:r>
          </a:p>
        </p:txBody>
      </p:sp>
      <p:cxnSp>
        <p:nvCxnSpPr>
          <p:cNvPr id="141" name="Connector 140"/>
          <p:cNvCxnSpPr/>
          <p:nvPr/>
        </p:nvCxnSpPr>
        <p:spPr>
          <a:xfrm>
            <a:off x="2377440" y="2368296"/>
            <a:ext cx="0" cy="2798064"/>
          </a:xfrm>
          <a:prstGeom prst="line">
            <a:avLst/>
          </a:prstGeom>
          <a:ln w="22860">
            <a:solidFill>
              <a:srgbClr val="DC2C2C"/>
            </a:solidFill>
            <a:prstDash val="dash"/>
          </a:ln>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1920240" y="1929384"/>
            <a:ext cx="914400" cy="292608"/>
          </a:xfrm>
          <a:prstGeom prst="rect">
            <a:avLst/>
          </a:prstGeom>
          <a:noFill/>
        </p:spPr>
        <p:txBody>
          <a:bodyPr wrap="square" anchor="t">
            <a:spAutoFit/>
          </a:bodyPr>
          <a:lstStyle/>
          <a:p>
            <a:pPr algn="ctr">
              <a:spcAft>
                <a:spcPts val="400"/>
              </a:spcAft>
            </a:pPr>
            <a:r>
              <a:rPr sz="1200" b="1">
                <a:solidFill>
                  <a:srgbClr val="DC2C2C"/>
                </a:solidFill>
                <a:latin typeface="Arial"/>
              </a:rPr>
              <a:t>LSL</a:t>
            </a:r>
          </a:p>
        </p:txBody>
      </p:sp>
      <p:cxnSp>
        <p:nvCxnSpPr>
          <p:cNvPr id="143" name="Connector 142"/>
          <p:cNvCxnSpPr/>
          <p:nvPr/>
        </p:nvCxnSpPr>
        <p:spPr>
          <a:xfrm>
            <a:off x="9784080" y="2368296"/>
            <a:ext cx="0" cy="2798064"/>
          </a:xfrm>
          <a:prstGeom prst="line">
            <a:avLst/>
          </a:prstGeom>
          <a:ln w="22860">
            <a:solidFill>
              <a:srgbClr val="DC2C2C"/>
            </a:solidFill>
            <a:prstDash val="dash"/>
          </a:ln>
        </p:spPr>
        <p:style>
          <a:lnRef idx="2">
            <a:schemeClr val="accent1"/>
          </a:lnRef>
          <a:fillRef idx="0">
            <a:schemeClr val="accent1"/>
          </a:fillRef>
          <a:effectRef idx="1">
            <a:schemeClr val="accent1"/>
          </a:effectRef>
          <a:fontRef idx="minor">
            <a:schemeClr val="tx1"/>
          </a:fontRef>
        </p:style>
      </p:cxnSp>
      <p:sp>
        <p:nvSpPr>
          <p:cNvPr id="144" name="TextBox 143"/>
          <p:cNvSpPr txBox="1"/>
          <p:nvPr/>
        </p:nvSpPr>
        <p:spPr>
          <a:xfrm>
            <a:off x="9326880" y="1929384"/>
            <a:ext cx="914400" cy="292608"/>
          </a:xfrm>
          <a:prstGeom prst="rect">
            <a:avLst/>
          </a:prstGeom>
          <a:noFill/>
        </p:spPr>
        <p:txBody>
          <a:bodyPr wrap="square" anchor="t">
            <a:spAutoFit/>
          </a:bodyPr>
          <a:lstStyle/>
          <a:p>
            <a:pPr algn="ctr">
              <a:spcAft>
                <a:spcPts val="400"/>
              </a:spcAft>
            </a:pPr>
            <a:r>
              <a:rPr sz="1200" b="1">
                <a:solidFill>
                  <a:srgbClr val="DC2C2C"/>
                </a:solidFill>
                <a:latin typeface="Arial"/>
              </a:rPr>
              <a:t>USL</a:t>
            </a:r>
          </a:p>
        </p:txBody>
      </p:sp>
      <p:sp>
        <p:nvSpPr>
          <p:cNvPr id="145" name="TextBox 144"/>
          <p:cNvSpPr txBox="1"/>
          <p:nvPr/>
        </p:nvSpPr>
        <p:spPr>
          <a:xfrm>
            <a:off x="777240" y="5715000"/>
            <a:ext cx="10607040" cy="548640"/>
          </a:xfrm>
          <a:prstGeom prst="rect">
            <a:avLst/>
          </a:prstGeom>
          <a:noFill/>
        </p:spPr>
        <p:txBody>
          <a:bodyPr wrap="square" anchor="t">
            <a:spAutoFit/>
          </a:bodyPr>
          <a:lstStyle/>
          <a:p>
            <a:pPr algn="ctr">
              <a:spcAft>
                <a:spcPts val="400"/>
              </a:spcAft>
            </a:pPr>
            <a:r>
              <a:rPr sz="1400" b="0">
                <a:solidFill>
                  <a:srgbClr val="5B6372"/>
                </a:solidFill>
                <a:latin typeface="Arial"/>
              </a:rPr>
              <a:t>Six sigma capability means the nearest specification limit sits six standard deviations from the process mean.</a:t>
            </a:r>
          </a:p>
        </p:txBody>
      </p:sp>
      <p:sp>
        <p:nvSpPr>
          <p:cNvPr id="146" name="TextBox 1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7" name="TextBox 1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8" name="TextBox 1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FORMULAS YOU MUST OWN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Core Capability Formulas</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Defects per unit</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DPU = Defects / Units</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Meridian Suzhou: 1,412 defects found on 12,400 boards = DPU 0.1139.</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DPMO</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DPMO = (Defects / (Units x Opps)) x 1,000,000</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1,412 defects, 12,400 boards, 340 solder joints each = 335 DPMO.</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First-pass yield</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FPY = Units passing first time / Units started</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11,001 of 12,400 boards passed at first test = 88.7 pct FPY.</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Rolled throughput yield</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RTY = Y1 x Y2 x ... x Yn</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0.97 x 0.94 x 0.96 x 0.99 across four Suzhou stations = 86.6 pct RTY.</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DPMO normalises for complexity - that is why it can compare a 340-joint board to a 3-field invoice.</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THE OPPORTUNITY TRAP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Defining an Opportunity - Where Most Sigma Numbers Go Wrong</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An opportunity is a chance to fail</a:t>
            </a:r>
          </a:p>
          <a:p>
            <a:pPr algn="l">
              <a:spcAft>
                <a:spcPts val="300"/>
              </a:spcAft>
            </a:pPr>
            <a:r>
              <a:rPr sz="1200" b="0">
                <a:solidFill>
                  <a:srgbClr val="5B6372"/>
                </a:solidFill>
                <a:latin typeface="Arial"/>
              </a:rPr>
              <a:t>One measurable characteristic that can be judged conforming or not - nothing looser.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Be honest, not generous</a:t>
            </a:r>
          </a:p>
          <a:p>
            <a:pPr algn="l">
              <a:spcAft>
                <a:spcPts val="300"/>
              </a:spcAft>
            </a:pPr>
            <a:r>
              <a:rPr sz="1200" b="0">
                <a:solidFill>
                  <a:srgbClr val="5B6372"/>
                </a:solidFill>
                <a:latin typeface="Arial"/>
              </a:rPr>
              <a:t>Inflating opportunity count inflates your sigma level. Auditors and peers will find it.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Count only what you inspect</a:t>
            </a:r>
          </a:p>
          <a:p>
            <a:pPr algn="l">
              <a:spcAft>
                <a:spcPts val="300"/>
              </a:spcAft>
            </a:pPr>
            <a:r>
              <a:rPr sz="1200" b="0">
                <a:solidFill>
                  <a:srgbClr val="5B6372"/>
                </a:solidFill>
                <a:latin typeface="Arial"/>
              </a:rPr>
              <a:t>If you never test a joint, it is not an opportunity for your DPMO - it is a blind spot.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Keep the definition frozen</a:t>
            </a:r>
          </a:p>
          <a:p>
            <a:pPr algn="l">
              <a:spcAft>
                <a:spcPts val="300"/>
              </a:spcAft>
            </a:pPr>
            <a:r>
              <a:rPr sz="1200" b="0">
                <a:solidFill>
                  <a:srgbClr val="5B6372"/>
                </a:solidFill>
                <a:latin typeface="Arial"/>
              </a:rPr>
              <a:t>Change the opportunity definition mid-project and your baseline becomes meaningless.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Document it in the charter</a:t>
            </a:r>
          </a:p>
          <a:p>
            <a:pPr algn="l">
              <a:spcAft>
                <a:spcPts val="300"/>
              </a:spcAft>
            </a:pPr>
            <a:r>
              <a:rPr sz="1200" b="0">
                <a:solidFill>
                  <a:srgbClr val="5B6372"/>
                </a:solidFill>
                <a:latin typeface="Arial"/>
              </a:rPr>
              <a:t>The opportunity definition is a tollgate deliverable at Measure, not a footnote.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Same rule across sites</a:t>
            </a:r>
          </a:p>
          <a:p>
            <a:pPr algn="l">
              <a:spcAft>
                <a:spcPts val="300"/>
              </a:spcAft>
            </a:pPr>
            <a:r>
              <a:rPr sz="1200" b="0">
                <a:solidFill>
                  <a:srgbClr val="5B6372"/>
                </a:solidFill>
                <a:latin typeface="Arial"/>
              </a:rPr>
              <a:t>Meridian cannot compare Penang to Suzhou unless both count joints the same way.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SIGMA SCALE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Sigma Ladder - Capability Versus Defect Rate</a:t>
            </a:r>
          </a:p>
        </p:txBody>
      </p:sp>
      <p:sp>
        <p:nvSpPr>
          <p:cNvPr id="6" name="Rectangle 5"/>
          <p:cNvSpPr/>
          <p:nvPr/>
        </p:nvSpPr>
        <p:spPr>
          <a:xfrm>
            <a:off x="914400" y="3870473"/>
            <a:ext cx="1905609" cy="166164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870473"/>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4089929"/>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2 sigma</a:t>
            </a:r>
          </a:p>
        </p:txBody>
      </p:sp>
      <p:sp>
        <p:nvSpPr>
          <p:cNvPr id="9" name="TextBox 8"/>
          <p:cNvSpPr txBox="1"/>
          <p:nvPr/>
        </p:nvSpPr>
        <p:spPr>
          <a:xfrm>
            <a:off x="1042416" y="4675145"/>
            <a:ext cx="1649577" cy="747247"/>
          </a:xfrm>
          <a:prstGeom prst="rect">
            <a:avLst/>
          </a:prstGeom>
          <a:noFill/>
        </p:spPr>
        <p:txBody>
          <a:bodyPr wrap="square" anchor="t">
            <a:spAutoFit/>
          </a:bodyPr>
          <a:lstStyle/>
          <a:p>
            <a:pPr algn="ctr">
              <a:spcAft>
                <a:spcPts val="400"/>
              </a:spcAft>
            </a:pPr>
            <a:r>
              <a:rPr sz="1100" b="0">
                <a:solidFill>
                  <a:srgbClr val="5B6372"/>
                </a:solidFill>
                <a:latin typeface="Arial"/>
              </a:rPr>
              <a:t>308,537 DPMO - 69 pct yield. Most unmanaged manual processes.</a:t>
            </a:r>
          </a:p>
        </p:txBody>
      </p:sp>
      <p:sp>
        <p:nvSpPr>
          <p:cNvPr id="10" name="Rectangle 9"/>
          <p:cNvSpPr/>
          <p:nvPr/>
        </p:nvSpPr>
        <p:spPr>
          <a:xfrm>
            <a:off x="3021177" y="3405775"/>
            <a:ext cx="1905609" cy="21263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021177" y="3405775"/>
            <a:ext cx="19056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130905" y="3625231"/>
            <a:ext cx="1686153" cy="548640"/>
          </a:xfrm>
          <a:prstGeom prst="rect">
            <a:avLst/>
          </a:prstGeom>
          <a:noFill/>
        </p:spPr>
        <p:txBody>
          <a:bodyPr wrap="square" anchor="t">
            <a:spAutoFit/>
          </a:bodyPr>
          <a:lstStyle/>
          <a:p>
            <a:pPr algn="ctr">
              <a:spcAft>
                <a:spcPts val="400"/>
              </a:spcAft>
            </a:pPr>
            <a:r>
              <a:rPr sz="1500" b="1">
                <a:solidFill>
                  <a:srgbClr val="10B981"/>
                </a:solidFill>
                <a:latin typeface="Arial"/>
              </a:rPr>
              <a:t>3 sigma</a:t>
            </a:r>
          </a:p>
        </p:txBody>
      </p:sp>
      <p:sp>
        <p:nvSpPr>
          <p:cNvPr id="13" name="TextBox 12"/>
          <p:cNvSpPr txBox="1"/>
          <p:nvPr/>
        </p:nvSpPr>
        <p:spPr>
          <a:xfrm>
            <a:off x="3149193" y="4210447"/>
            <a:ext cx="1649577" cy="1211945"/>
          </a:xfrm>
          <a:prstGeom prst="rect">
            <a:avLst/>
          </a:prstGeom>
          <a:noFill/>
        </p:spPr>
        <p:txBody>
          <a:bodyPr wrap="square" anchor="t">
            <a:spAutoFit/>
          </a:bodyPr>
          <a:lstStyle/>
          <a:p>
            <a:pPr algn="ctr">
              <a:spcAft>
                <a:spcPts val="400"/>
              </a:spcAft>
            </a:pPr>
            <a:r>
              <a:rPr sz="1100" b="0">
                <a:solidFill>
                  <a:srgbClr val="5B6372"/>
                </a:solidFill>
                <a:latin typeface="Arial"/>
              </a:rPr>
              <a:t>66,807 DPMO - 93.3 pct yield. The typical unimproved business process.</a:t>
            </a:r>
          </a:p>
        </p:txBody>
      </p:sp>
      <p:sp>
        <p:nvSpPr>
          <p:cNvPr id="14" name="Rectangle 13"/>
          <p:cNvSpPr/>
          <p:nvPr/>
        </p:nvSpPr>
        <p:spPr>
          <a:xfrm>
            <a:off x="5127954" y="2941077"/>
            <a:ext cx="1905609" cy="25910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127954" y="2941077"/>
            <a:ext cx="1905609"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237682" y="3160533"/>
            <a:ext cx="1686153" cy="548640"/>
          </a:xfrm>
          <a:prstGeom prst="rect">
            <a:avLst/>
          </a:prstGeom>
          <a:noFill/>
        </p:spPr>
        <p:txBody>
          <a:bodyPr wrap="square" anchor="t">
            <a:spAutoFit/>
          </a:bodyPr>
          <a:lstStyle/>
          <a:p>
            <a:pPr algn="ctr">
              <a:spcAft>
                <a:spcPts val="400"/>
              </a:spcAft>
            </a:pPr>
            <a:r>
              <a:rPr sz="1500" b="1">
                <a:solidFill>
                  <a:srgbClr val="7C3AED"/>
                </a:solidFill>
                <a:latin typeface="Arial"/>
              </a:rPr>
              <a:t>4 sigma</a:t>
            </a:r>
          </a:p>
        </p:txBody>
      </p:sp>
      <p:sp>
        <p:nvSpPr>
          <p:cNvPr id="17" name="TextBox 16"/>
          <p:cNvSpPr txBox="1"/>
          <p:nvPr/>
        </p:nvSpPr>
        <p:spPr>
          <a:xfrm>
            <a:off x="5255970" y="3745749"/>
            <a:ext cx="1649577" cy="1676643"/>
          </a:xfrm>
          <a:prstGeom prst="rect">
            <a:avLst/>
          </a:prstGeom>
          <a:noFill/>
        </p:spPr>
        <p:txBody>
          <a:bodyPr wrap="square" anchor="t">
            <a:spAutoFit/>
          </a:bodyPr>
          <a:lstStyle/>
          <a:p>
            <a:pPr algn="ctr">
              <a:spcAft>
                <a:spcPts val="400"/>
              </a:spcAft>
            </a:pPr>
            <a:r>
              <a:rPr sz="1100" b="0">
                <a:solidFill>
                  <a:srgbClr val="5B6372"/>
                </a:solidFill>
                <a:latin typeface="Arial"/>
              </a:rPr>
              <a:t>6,210 DPMO - 99.38 pct yield. Where a good Green Belt project lands.</a:t>
            </a:r>
          </a:p>
        </p:txBody>
      </p:sp>
      <p:sp>
        <p:nvSpPr>
          <p:cNvPr id="18" name="Rectangle 17"/>
          <p:cNvSpPr/>
          <p:nvPr/>
        </p:nvSpPr>
        <p:spPr>
          <a:xfrm>
            <a:off x="7234731" y="2476379"/>
            <a:ext cx="1905609" cy="30557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234731" y="2476379"/>
            <a:ext cx="1905609"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44459" y="2695835"/>
            <a:ext cx="1686153" cy="548640"/>
          </a:xfrm>
          <a:prstGeom prst="rect">
            <a:avLst/>
          </a:prstGeom>
          <a:noFill/>
        </p:spPr>
        <p:txBody>
          <a:bodyPr wrap="square" anchor="t">
            <a:spAutoFit/>
          </a:bodyPr>
          <a:lstStyle/>
          <a:p>
            <a:pPr algn="ctr">
              <a:spcAft>
                <a:spcPts val="400"/>
              </a:spcAft>
            </a:pPr>
            <a:r>
              <a:rPr sz="1500" b="1">
                <a:solidFill>
                  <a:srgbClr val="F59E0B"/>
                </a:solidFill>
                <a:latin typeface="Arial"/>
              </a:rPr>
              <a:t>5 sigma</a:t>
            </a:r>
          </a:p>
        </p:txBody>
      </p:sp>
      <p:sp>
        <p:nvSpPr>
          <p:cNvPr id="21" name="TextBox 20"/>
          <p:cNvSpPr txBox="1"/>
          <p:nvPr/>
        </p:nvSpPr>
        <p:spPr>
          <a:xfrm>
            <a:off x="7362747" y="3281051"/>
            <a:ext cx="1649577" cy="2141341"/>
          </a:xfrm>
          <a:prstGeom prst="rect">
            <a:avLst/>
          </a:prstGeom>
          <a:noFill/>
        </p:spPr>
        <p:txBody>
          <a:bodyPr wrap="square" anchor="t">
            <a:spAutoFit/>
          </a:bodyPr>
          <a:lstStyle/>
          <a:p>
            <a:pPr algn="ctr">
              <a:spcAft>
                <a:spcPts val="400"/>
              </a:spcAft>
            </a:pPr>
            <a:r>
              <a:rPr sz="1100" b="0">
                <a:solidFill>
                  <a:srgbClr val="5B6372"/>
                </a:solidFill>
                <a:latin typeface="Arial"/>
              </a:rPr>
              <a:t>233 DPMO - 99.977 pct yield. Requires designed-in control, not inspection.</a:t>
            </a:r>
          </a:p>
        </p:txBody>
      </p:sp>
      <p:sp>
        <p:nvSpPr>
          <p:cNvPr id="22" name="Rectangle 21"/>
          <p:cNvSpPr/>
          <p:nvPr/>
        </p:nvSpPr>
        <p:spPr>
          <a:xfrm>
            <a:off x="9341508" y="2011680"/>
            <a:ext cx="1905609"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9341508" y="2011680"/>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451236" y="2231136"/>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6 sigma</a:t>
            </a:r>
          </a:p>
        </p:txBody>
      </p:sp>
      <p:sp>
        <p:nvSpPr>
          <p:cNvPr id="25" name="TextBox 24"/>
          <p:cNvSpPr txBox="1"/>
          <p:nvPr/>
        </p:nvSpPr>
        <p:spPr>
          <a:xfrm>
            <a:off x="9469524" y="2816352"/>
            <a:ext cx="1649577" cy="2606040"/>
          </a:xfrm>
          <a:prstGeom prst="rect">
            <a:avLst/>
          </a:prstGeom>
          <a:noFill/>
        </p:spPr>
        <p:txBody>
          <a:bodyPr wrap="square" anchor="t">
            <a:spAutoFit/>
          </a:bodyPr>
          <a:lstStyle/>
          <a:p>
            <a:pPr algn="ctr">
              <a:spcAft>
                <a:spcPts val="400"/>
              </a:spcAft>
            </a:pPr>
            <a:r>
              <a:rPr sz="1100" b="0">
                <a:solidFill>
                  <a:srgbClr val="5B6372"/>
                </a:solidFill>
                <a:latin typeface="Arial"/>
              </a:rPr>
              <a:t>3.4 DPMO - 99.9997 pct yield. Best-in-class, rarely economic everywhere.</a:t>
            </a:r>
          </a:p>
        </p:txBody>
      </p:sp>
      <p:cxnSp>
        <p:nvCxnSpPr>
          <p:cNvPr id="26" name="Connector 25"/>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Each step up is roughly a 10x reduction in defects - and roughly a 10x increase in the discipline required.</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YIELD -&gt; DPMO -&gt; SIGMA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Converting Yield to Sigma Level - The Meridian Worked Example</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Step 1 - DPMO</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DPMO = (1 - Yield) x 1,000,000</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Suzhou final test yield 0.887 -&gt; DPMO = 0.113 x 1,000,000 = 113,000.</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Step 2 - Look up Z</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Z(short term) from the standard normal table</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113,000 DPMO -&gt; long-term Z = 1.21 from the normal distribution.</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Step 3 - Add the shift</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Sigma level = Z(long term) + 1.5</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1.21 + 1.5 = 2.71 sigma. Suzhou runs at roughly 2.7 sigma at final test.</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Step 4 - Set the target</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Target DPMO from target sigma</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Moving Suzhou to 4 sigma means 6,210 DPMO - a 94 pct reduction in defects.</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Report the assumption every time: sigma levels quoted here include the conventional 1.5 sigma long-term shift.</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THE 1.5 SIGMA SHIFT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1.5 Sigma Shift - What It Is and Why You Must Declare It</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The observation</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Motorola, 1980s</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Short-term studies looked far better than long-run results</a:t>
            </a:r>
          </a:p>
          <a:p>
            <a:pPr>
              <a:spcAft>
                <a:spcPts val="700"/>
              </a:spcAft>
            </a:pPr>
            <a:r>
              <a:rPr sz="1200">
                <a:solidFill>
                  <a:srgbClr val="161B26"/>
                </a:solidFill>
                <a:latin typeface="Arial"/>
              </a:rPr>
              <a:t>•  Over weeks the mean drifts with tooling, lots and shifts</a:t>
            </a:r>
          </a:p>
          <a:p>
            <a:pPr>
              <a:spcAft>
                <a:spcPts val="700"/>
              </a:spcAft>
            </a:pPr>
            <a:r>
              <a:rPr sz="1200">
                <a:solidFill>
                  <a:srgbClr val="161B26"/>
                </a:solidFill>
                <a:latin typeface="Arial"/>
              </a:rPr>
              <a:t>•  Empirically the drift averaged about 1.5 standard deviations</a:t>
            </a:r>
          </a:p>
          <a:p>
            <a:pPr>
              <a:spcAft>
                <a:spcPts val="700"/>
              </a:spcAft>
            </a:pPr>
            <a:r>
              <a:rPr sz="1200">
                <a:solidFill>
                  <a:srgbClr val="161B26"/>
                </a:solidFill>
                <a:latin typeface="Arial"/>
              </a:rPr>
              <a:t>•  So a 6 sigma short-term process yields 3.4 DPMO long term</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The convention</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How the industry uses it</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Published sigma tables already bake in the 1.5 shift</a:t>
            </a:r>
          </a:p>
          <a:p>
            <a:pPr>
              <a:spcAft>
                <a:spcPts val="700"/>
              </a:spcAft>
            </a:pPr>
            <a:r>
              <a:rPr sz="1200">
                <a:solidFill>
                  <a:srgbClr val="161B26"/>
                </a:solidFill>
                <a:latin typeface="Arial"/>
              </a:rPr>
              <a:t>•  Sigma level = long-term Z + 1.5, by convention</a:t>
            </a:r>
          </a:p>
          <a:p>
            <a:pPr>
              <a:spcAft>
                <a:spcPts val="700"/>
              </a:spcAft>
            </a:pPr>
            <a:r>
              <a:rPr sz="1200">
                <a:solidFill>
                  <a:srgbClr val="161B26"/>
                </a:solidFill>
                <a:latin typeface="Arial"/>
              </a:rPr>
              <a:t>•  Cp / Cpk are short term; Pp / Ppk are long term</a:t>
            </a:r>
          </a:p>
          <a:p>
            <a:pPr>
              <a:spcAft>
                <a:spcPts val="700"/>
              </a:spcAft>
            </a:pPr>
            <a:r>
              <a:rPr sz="1200">
                <a:solidFill>
                  <a:srgbClr val="161B26"/>
                </a:solidFill>
                <a:latin typeface="Arial"/>
              </a:rPr>
              <a:t>•  6 sigma short term = 4.5 sigma long term = 3.4 DPMO</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The Black Belt duty</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Where it goes wrong</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It is an empirical convention, not a law of physics</a:t>
            </a:r>
          </a:p>
          <a:p>
            <a:pPr>
              <a:spcAft>
                <a:spcPts val="700"/>
              </a:spcAft>
            </a:pPr>
            <a:r>
              <a:rPr sz="1200">
                <a:solidFill>
                  <a:srgbClr val="161B26"/>
                </a:solidFill>
                <a:latin typeface="Arial"/>
              </a:rPr>
              <a:t>•  Some processes drift far more, some barely at all</a:t>
            </a:r>
          </a:p>
          <a:p>
            <a:pPr>
              <a:spcAft>
                <a:spcPts val="700"/>
              </a:spcAft>
            </a:pPr>
            <a:r>
              <a:rPr sz="1200">
                <a:solidFill>
                  <a:srgbClr val="161B26"/>
                </a:solidFill>
                <a:latin typeface="Arial"/>
              </a:rPr>
              <a:t>•  Never compare a shifted number to an unshifted one</a:t>
            </a:r>
          </a:p>
          <a:p>
            <a:pPr>
              <a:spcAft>
                <a:spcPts val="700"/>
              </a:spcAft>
            </a:pPr>
            <a:r>
              <a:rPr sz="1200">
                <a:solidFill>
                  <a:srgbClr val="161B26"/>
                </a:solidFill>
                <a:latin typeface="Arial"/>
              </a:rPr>
              <a:t>•  State the assumption on every capability slide you present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CONVERSION TABLE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Sigma Conversion Table - The Numbers to Memorise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6.0 sigma</a:t>
            </a:r>
          </a:p>
          <a:p>
            <a:pPr algn="l">
              <a:spcAft>
                <a:spcPts val="300"/>
              </a:spcAft>
            </a:pPr>
            <a:r>
              <a:rPr sz="1200" b="0">
                <a:solidFill>
                  <a:srgbClr val="5B6372"/>
                </a:solidFill>
                <a:latin typeface="Arial"/>
              </a:rPr>
              <a:t>3.4 DPMO - 99.99966 pct yield - best in class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5.0 sigma</a:t>
            </a:r>
          </a:p>
          <a:p>
            <a:pPr algn="l">
              <a:spcAft>
                <a:spcPts val="300"/>
              </a:spcAft>
            </a:pPr>
            <a:r>
              <a:rPr sz="1200" b="0">
                <a:solidFill>
                  <a:srgbClr val="5B6372"/>
                </a:solidFill>
                <a:latin typeface="Arial"/>
              </a:rPr>
              <a:t>233 DPMO - 99.977 pct yield - excellent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4.5 sigma</a:t>
            </a:r>
          </a:p>
          <a:p>
            <a:pPr algn="l">
              <a:spcAft>
                <a:spcPts val="300"/>
              </a:spcAft>
            </a:pPr>
            <a:r>
              <a:rPr sz="1200" b="0">
                <a:solidFill>
                  <a:srgbClr val="5B6372"/>
                </a:solidFill>
                <a:latin typeface="Arial"/>
              </a:rPr>
              <a:t>1,350 DPMO - 99.87 pct yield - strong</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4.0 sigma</a:t>
            </a:r>
          </a:p>
          <a:p>
            <a:pPr algn="l">
              <a:spcAft>
                <a:spcPts val="300"/>
              </a:spcAft>
            </a:pPr>
            <a:r>
              <a:rPr sz="1200" b="0">
                <a:solidFill>
                  <a:srgbClr val="5B6372"/>
                </a:solidFill>
                <a:latin typeface="Arial"/>
              </a:rPr>
              <a:t>6,210 DPMO - 99.38 pct yield - industry average plus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3.0 sigma</a:t>
            </a:r>
          </a:p>
          <a:p>
            <a:pPr algn="l">
              <a:spcAft>
                <a:spcPts val="300"/>
              </a:spcAft>
            </a:pPr>
            <a:r>
              <a:rPr sz="1200" b="0">
                <a:solidFill>
                  <a:srgbClr val="5B6372"/>
                </a:solidFill>
                <a:latin typeface="Arial"/>
              </a:rPr>
              <a:t>66,807 DPMO - 93.32 pct yield - industry average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2.0 sigma</a:t>
            </a:r>
          </a:p>
          <a:p>
            <a:pPr algn="l">
              <a:spcAft>
                <a:spcPts val="300"/>
              </a:spcAft>
            </a:pPr>
            <a:r>
              <a:rPr sz="1200" b="0">
                <a:solidFill>
                  <a:srgbClr val="5B6372"/>
                </a:solidFill>
                <a:latin typeface="Arial"/>
              </a:rPr>
              <a:t>308,537 DPMO - 69.15 pct yield - non-competitive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THE COMPOUNDING PROBLEM</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Why 3 Sigma Is Not Good Enough - The Compounding Argument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One step at 99.38 pct</a:t>
            </a:r>
          </a:p>
          <a:p>
            <a:pPr algn="l">
              <a:spcAft>
                <a:spcPts val="300"/>
              </a:spcAft>
            </a:pPr>
            <a:r>
              <a:rPr sz="1200" b="0">
                <a:solidFill>
                  <a:srgbClr val="5B6372"/>
                </a:solidFill>
                <a:latin typeface="Arial"/>
              </a:rPr>
              <a:t>Sounds excellent. A 4 sigma single operation looks like a solved problem.</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Ten steps in series</a:t>
            </a:r>
          </a:p>
          <a:p>
            <a:pPr algn="l">
              <a:spcAft>
                <a:spcPts val="300"/>
              </a:spcAft>
            </a:pPr>
            <a:r>
              <a:rPr sz="1200" b="0">
                <a:solidFill>
                  <a:srgbClr val="5B6372"/>
                </a:solidFill>
                <a:latin typeface="Arial"/>
              </a:rPr>
              <a:t>0.9938 to the power 10 = 93.9 pct RTY. One in sixteen units touched rework.</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Fifty steps in series</a:t>
            </a:r>
          </a:p>
          <a:p>
            <a:pPr algn="l">
              <a:spcAft>
                <a:spcPts val="300"/>
              </a:spcAft>
            </a:pPr>
            <a:r>
              <a:rPr sz="1200" b="0">
                <a:solidFill>
                  <a:srgbClr val="5B6372"/>
                </a:solidFill>
                <a:latin typeface="Arial"/>
              </a:rPr>
              <a:t>0.9938 to the power 50 = 73.2 pct RTY. Over a quarter of units need intervention.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Meridian reality</a:t>
            </a:r>
          </a:p>
          <a:p>
            <a:pPr algn="l">
              <a:spcAft>
                <a:spcPts val="300"/>
              </a:spcAft>
            </a:pPr>
            <a:r>
              <a:rPr sz="1200" b="0">
                <a:solidFill>
                  <a:srgbClr val="5B6372"/>
                </a:solidFill>
                <a:latin typeface="Arial"/>
              </a:rPr>
              <a:t>The pump assembly has 62 sequential process steps across three plants.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lesson</a:t>
            </a:r>
          </a:p>
          <a:p>
            <a:pPr algn="l">
              <a:spcAft>
                <a:spcPts val="300"/>
              </a:spcAft>
            </a:pPr>
            <a:r>
              <a:rPr sz="1200" b="0">
                <a:solidFill>
                  <a:srgbClr val="5B6372"/>
                </a:solidFill>
                <a:latin typeface="Arial"/>
              </a:rPr>
              <a:t>Complexity multiplies defect exposure. Step-level yield flatters system-level truth.</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response</a:t>
            </a:r>
          </a:p>
          <a:p>
            <a:pPr algn="l">
              <a:spcAft>
                <a:spcPts val="300"/>
              </a:spcAft>
            </a:pPr>
            <a:r>
              <a:rPr sz="1200" b="0">
                <a:solidFill>
                  <a:srgbClr val="5B6372"/>
                </a:solidFill>
                <a:latin typeface="Arial"/>
              </a:rPr>
              <a:t>Always report RTY, never only final yield. RTY is what exposes the hidden factory.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BELT ROLES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belt system is a division of labour, not a hierarchy of intelligence.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Each belt owns a different scope, a different toolset and a different kind of accountability. Knowing exactly where your boundary sits is what makes a deployment work.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SIX ROLES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Belt Ladder</a:t>
            </a:r>
          </a:p>
        </p:txBody>
      </p:sp>
      <p:sp>
        <p:nvSpPr>
          <p:cNvPr id="6" name="Rectangle 5"/>
          <p:cNvSpPr/>
          <p:nvPr/>
        </p:nvSpPr>
        <p:spPr>
          <a:xfrm>
            <a:off x="914400" y="3947922"/>
            <a:ext cx="1554480" cy="15841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947922"/>
            <a:ext cx="155448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4167378"/>
            <a:ext cx="1335024" cy="548640"/>
          </a:xfrm>
          <a:prstGeom prst="rect">
            <a:avLst/>
          </a:prstGeom>
          <a:noFill/>
        </p:spPr>
        <p:txBody>
          <a:bodyPr wrap="square" anchor="t">
            <a:spAutoFit/>
          </a:bodyPr>
          <a:lstStyle/>
          <a:p>
            <a:pPr algn="ctr">
              <a:spcAft>
                <a:spcPts val="400"/>
              </a:spcAft>
            </a:pPr>
            <a:r>
              <a:rPr sz="1500" b="1">
                <a:solidFill>
                  <a:srgbClr val="1F6FEB"/>
                </a:solidFill>
                <a:latin typeface="Arial"/>
              </a:rPr>
              <a:t>White Belt</a:t>
            </a:r>
          </a:p>
        </p:txBody>
      </p:sp>
      <p:sp>
        <p:nvSpPr>
          <p:cNvPr id="9" name="TextBox 8"/>
          <p:cNvSpPr txBox="1"/>
          <p:nvPr/>
        </p:nvSpPr>
        <p:spPr>
          <a:xfrm>
            <a:off x="1042416" y="4752594"/>
            <a:ext cx="1298448" cy="669798"/>
          </a:xfrm>
          <a:prstGeom prst="rect">
            <a:avLst/>
          </a:prstGeom>
          <a:noFill/>
        </p:spPr>
        <p:txBody>
          <a:bodyPr wrap="square" anchor="t">
            <a:spAutoFit/>
          </a:bodyPr>
          <a:lstStyle/>
          <a:p>
            <a:pPr algn="ctr">
              <a:spcAft>
                <a:spcPts val="400"/>
              </a:spcAft>
            </a:pPr>
            <a:r>
              <a:rPr sz="1100" b="0">
                <a:solidFill>
                  <a:srgbClr val="5B6372"/>
                </a:solidFill>
                <a:latin typeface="Arial"/>
              </a:rPr>
              <a:t>Awareness only. Understands the vocabulary and supports projects locally.</a:t>
            </a:r>
          </a:p>
        </p:txBody>
      </p:sp>
      <p:sp>
        <p:nvSpPr>
          <p:cNvPr id="10" name="Rectangle 9"/>
          <p:cNvSpPr/>
          <p:nvPr/>
        </p:nvSpPr>
        <p:spPr>
          <a:xfrm>
            <a:off x="2670048" y="3560674"/>
            <a:ext cx="1554480" cy="19714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2670048" y="3560674"/>
            <a:ext cx="155448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779776" y="3780130"/>
            <a:ext cx="1335024" cy="548640"/>
          </a:xfrm>
          <a:prstGeom prst="rect">
            <a:avLst/>
          </a:prstGeom>
          <a:noFill/>
        </p:spPr>
        <p:txBody>
          <a:bodyPr wrap="square" anchor="t">
            <a:spAutoFit/>
          </a:bodyPr>
          <a:lstStyle/>
          <a:p>
            <a:pPr algn="ctr">
              <a:spcAft>
                <a:spcPts val="400"/>
              </a:spcAft>
            </a:pPr>
            <a:r>
              <a:rPr sz="1500" b="1">
                <a:solidFill>
                  <a:srgbClr val="10B981"/>
                </a:solidFill>
                <a:latin typeface="Arial"/>
              </a:rPr>
              <a:t>Yellow Belt</a:t>
            </a:r>
          </a:p>
        </p:txBody>
      </p:sp>
      <p:sp>
        <p:nvSpPr>
          <p:cNvPr id="13" name="TextBox 12"/>
          <p:cNvSpPr txBox="1"/>
          <p:nvPr/>
        </p:nvSpPr>
        <p:spPr>
          <a:xfrm>
            <a:off x="2798064" y="4365346"/>
            <a:ext cx="1298448" cy="1057046"/>
          </a:xfrm>
          <a:prstGeom prst="rect">
            <a:avLst/>
          </a:prstGeom>
          <a:noFill/>
        </p:spPr>
        <p:txBody>
          <a:bodyPr wrap="square" anchor="t">
            <a:spAutoFit/>
          </a:bodyPr>
          <a:lstStyle/>
          <a:p>
            <a:pPr algn="ctr">
              <a:spcAft>
                <a:spcPts val="400"/>
              </a:spcAft>
            </a:pPr>
            <a:r>
              <a:rPr sz="1100" b="0">
                <a:solidFill>
                  <a:srgbClr val="5B6372"/>
                </a:solidFill>
                <a:latin typeface="Arial"/>
              </a:rPr>
              <a:t>Team member. Collects data, maps process steps, contributes subject knowledge.</a:t>
            </a:r>
          </a:p>
        </p:txBody>
      </p:sp>
      <p:sp>
        <p:nvSpPr>
          <p:cNvPr id="14" name="Rectangle 13"/>
          <p:cNvSpPr/>
          <p:nvPr/>
        </p:nvSpPr>
        <p:spPr>
          <a:xfrm>
            <a:off x="4425696" y="3173426"/>
            <a:ext cx="1554480" cy="235869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25696" y="3173426"/>
            <a:ext cx="155448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35424" y="3392882"/>
            <a:ext cx="1335024" cy="548640"/>
          </a:xfrm>
          <a:prstGeom prst="rect">
            <a:avLst/>
          </a:prstGeom>
          <a:noFill/>
        </p:spPr>
        <p:txBody>
          <a:bodyPr wrap="square" anchor="t">
            <a:spAutoFit/>
          </a:bodyPr>
          <a:lstStyle/>
          <a:p>
            <a:pPr algn="ctr">
              <a:spcAft>
                <a:spcPts val="400"/>
              </a:spcAft>
            </a:pPr>
            <a:r>
              <a:rPr sz="1500" b="1">
                <a:solidFill>
                  <a:srgbClr val="7C3AED"/>
                </a:solidFill>
                <a:latin typeface="Arial"/>
              </a:rPr>
              <a:t>Green Belt</a:t>
            </a:r>
          </a:p>
        </p:txBody>
      </p:sp>
      <p:sp>
        <p:nvSpPr>
          <p:cNvPr id="17" name="TextBox 16"/>
          <p:cNvSpPr txBox="1"/>
          <p:nvPr/>
        </p:nvSpPr>
        <p:spPr>
          <a:xfrm>
            <a:off x="4553712" y="3978098"/>
            <a:ext cx="1298448" cy="1444294"/>
          </a:xfrm>
          <a:prstGeom prst="rect">
            <a:avLst/>
          </a:prstGeom>
          <a:noFill/>
        </p:spPr>
        <p:txBody>
          <a:bodyPr wrap="square" anchor="t">
            <a:spAutoFit/>
          </a:bodyPr>
          <a:lstStyle/>
          <a:p>
            <a:pPr algn="ctr">
              <a:spcAft>
                <a:spcPts val="400"/>
              </a:spcAft>
            </a:pPr>
            <a:r>
              <a:rPr sz="1100" b="0">
                <a:solidFill>
                  <a:srgbClr val="5B6372"/>
                </a:solidFill>
                <a:latin typeface="Arial"/>
              </a:rPr>
              <a:t>Leads one project part-time in their own area, with Black Belt support.</a:t>
            </a:r>
          </a:p>
        </p:txBody>
      </p:sp>
      <p:sp>
        <p:nvSpPr>
          <p:cNvPr id="18" name="Rectangle 17"/>
          <p:cNvSpPr/>
          <p:nvPr/>
        </p:nvSpPr>
        <p:spPr>
          <a:xfrm>
            <a:off x="6181344" y="2786177"/>
            <a:ext cx="1554480" cy="27459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81344" y="2786177"/>
            <a:ext cx="155448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291072" y="3005633"/>
            <a:ext cx="1335024" cy="548640"/>
          </a:xfrm>
          <a:prstGeom prst="rect">
            <a:avLst/>
          </a:prstGeom>
          <a:noFill/>
        </p:spPr>
        <p:txBody>
          <a:bodyPr wrap="square" anchor="t">
            <a:spAutoFit/>
          </a:bodyPr>
          <a:lstStyle/>
          <a:p>
            <a:pPr algn="ctr">
              <a:spcAft>
                <a:spcPts val="400"/>
              </a:spcAft>
            </a:pPr>
            <a:r>
              <a:rPr sz="1500" b="1">
                <a:solidFill>
                  <a:srgbClr val="F59E0B"/>
                </a:solidFill>
                <a:latin typeface="Arial"/>
              </a:rPr>
              <a:t>Black Belt</a:t>
            </a:r>
          </a:p>
        </p:txBody>
      </p:sp>
      <p:sp>
        <p:nvSpPr>
          <p:cNvPr id="21" name="TextBox 20"/>
          <p:cNvSpPr txBox="1"/>
          <p:nvPr/>
        </p:nvSpPr>
        <p:spPr>
          <a:xfrm>
            <a:off x="6309360" y="3590849"/>
            <a:ext cx="1298448" cy="1831543"/>
          </a:xfrm>
          <a:prstGeom prst="rect">
            <a:avLst/>
          </a:prstGeom>
          <a:noFill/>
        </p:spPr>
        <p:txBody>
          <a:bodyPr wrap="square" anchor="t">
            <a:spAutoFit/>
          </a:bodyPr>
          <a:lstStyle/>
          <a:p>
            <a:pPr algn="ctr">
              <a:spcAft>
                <a:spcPts val="400"/>
              </a:spcAft>
            </a:pPr>
            <a:r>
              <a:rPr sz="1100" b="0">
                <a:solidFill>
                  <a:srgbClr val="5B6372"/>
                </a:solidFill>
                <a:latin typeface="Arial"/>
              </a:rPr>
              <a:t>Full-time. Leads a portfolio, owns the advanced statistics, mentors Green Belts.</a:t>
            </a:r>
          </a:p>
        </p:txBody>
      </p:sp>
      <p:sp>
        <p:nvSpPr>
          <p:cNvPr id="22" name="Rectangle 21"/>
          <p:cNvSpPr/>
          <p:nvPr/>
        </p:nvSpPr>
        <p:spPr>
          <a:xfrm>
            <a:off x="7936992" y="2398929"/>
            <a:ext cx="1554480" cy="313319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936992" y="2398929"/>
            <a:ext cx="155448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046720" y="2618385"/>
            <a:ext cx="1335024" cy="548640"/>
          </a:xfrm>
          <a:prstGeom prst="rect">
            <a:avLst/>
          </a:prstGeom>
          <a:noFill/>
        </p:spPr>
        <p:txBody>
          <a:bodyPr wrap="square" anchor="t">
            <a:spAutoFit/>
          </a:bodyPr>
          <a:lstStyle/>
          <a:p>
            <a:pPr algn="ctr">
              <a:spcAft>
                <a:spcPts val="400"/>
              </a:spcAft>
            </a:pPr>
            <a:r>
              <a:rPr sz="1500" b="1">
                <a:solidFill>
                  <a:srgbClr val="1F6FEB"/>
                </a:solidFill>
                <a:latin typeface="Arial"/>
              </a:rPr>
              <a:t>Master Black Belt</a:t>
            </a:r>
          </a:p>
        </p:txBody>
      </p:sp>
      <p:sp>
        <p:nvSpPr>
          <p:cNvPr id="25" name="TextBox 24"/>
          <p:cNvSpPr txBox="1"/>
          <p:nvPr/>
        </p:nvSpPr>
        <p:spPr>
          <a:xfrm>
            <a:off x="8065008" y="3203601"/>
            <a:ext cx="1298448" cy="2218791"/>
          </a:xfrm>
          <a:prstGeom prst="rect">
            <a:avLst/>
          </a:prstGeom>
          <a:noFill/>
        </p:spPr>
        <p:txBody>
          <a:bodyPr wrap="square" anchor="t">
            <a:spAutoFit/>
          </a:bodyPr>
          <a:lstStyle/>
          <a:p>
            <a:pPr algn="ctr">
              <a:spcAft>
                <a:spcPts val="400"/>
              </a:spcAft>
            </a:pPr>
            <a:r>
              <a:rPr sz="1100" b="0">
                <a:solidFill>
                  <a:srgbClr val="5B6372"/>
                </a:solidFill>
                <a:latin typeface="Arial"/>
              </a:rPr>
              <a:t>Deploys the programme, trains and certifies belts, owns the methodology.</a:t>
            </a:r>
          </a:p>
        </p:txBody>
      </p:sp>
      <p:sp>
        <p:nvSpPr>
          <p:cNvPr id="26" name="Rectangle 25"/>
          <p:cNvSpPr/>
          <p:nvPr/>
        </p:nvSpPr>
        <p:spPr>
          <a:xfrm>
            <a:off x="9692640" y="2011680"/>
            <a:ext cx="1554480"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9692640" y="2011680"/>
            <a:ext cx="155448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802368" y="2231136"/>
            <a:ext cx="1335024" cy="548640"/>
          </a:xfrm>
          <a:prstGeom prst="rect">
            <a:avLst/>
          </a:prstGeom>
          <a:noFill/>
        </p:spPr>
        <p:txBody>
          <a:bodyPr wrap="square" anchor="t">
            <a:spAutoFit/>
          </a:bodyPr>
          <a:lstStyle/>
          <a:p>
            <a:pPr algn="ctr">
              <a:spcAft>
                <a:spcPts val="400"/>
              </a:spcAft>
            </a:pPr>
            <a:r>
              <a:rPr sz="1500" b="1">
                <a:solidFill>
                  <a:srgbClr val="10B981"/>
                </a:solidFill>
                <a:latin typeface="Arial"/>
              </a:rPr>
              <a:t>Champion / Sponsor</a:t>
            </a:r>
          </a:p>
        </p:txBody>
      </p:sp>
      <p:sp>
        <p:nvSpPr>
          <p:cNvPr id="29" name="TextBox 28"/>
          <p:cNvSpPr txBox="1"/>
          <p:nvPr/>
        </p:nvSpPr>
        <p:spPr>
          <a:xfrm>
            <a:off x="9820656" y="2816352"/>
            <a:ext cx="1298448" cy="2606040"/>
          </a:xfrm>
          <a:prstGeom prst="rect">
            <a:avLst/>
          </a:prstGeom>
          <a:noFill/>
        </p:spPr>
        <p:txBody>
          <a:bodyPr wrap="square" anchor="t">
            <a:spAutoFit/>
          </a:bodyPr>
          <a:lstStyle/>
          <a:p>
            <a:pPr algn="ctr">
              <a:spcAft>
                <a:spcPts val="400"/>
              </a:spcAft>
            </a:pPr>
            <a:r>
              <a:rPr sz="1100" b="0">
                <a:solidFill>
                  <a:srgbClr val="5B6372"/>
                </a:solidFill>
                <a:latin typeface="Arial"/>
              </a:rPr>
              <a:t>Selects and funds projects, removes barriers, decides at every tollgate.</a:t>
            </a:r>
          </a:p>
        </p:txBody>
      </p:sp>
      <p:cxnSp>
        <p:nvCxnSpPr>
          <p:cNvPr id="30" name="Connector 29"/>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Time commitment rises with the rung: Yellow a few hours, Green 20 to 25 pct, Black Belt 100 pct.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BB vs GB - THE DECISIVE COMPARISON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Green Belt Versus Black Belt - The Real Boundary</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Green Belt</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One project, part time</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Leads a single project inside their own department</a:t>
            </a:r>
          </a:p>
          <a:p>
            <a:pPr>
              <a:spcAft>
                <a:spcPts val="700"/>
              </a:spcAft>
            </a:pPr>
            <a:r>
              <a:rPr sz="1200">
                <a:solidFill>
                  <a:srgbClr val="161B26"/>
                </a:solidFill>
                <a:latin typeface="Arial"/>
              </a:rPr>
              <a:t>•  Uses descriptive stats, basic hypothesis tests, control charts</a:t>
            </a:r>
          </a:p>
          <a:p>
            <a:pPr>
              <a:spcAft>
                <a:spcPts val="700"/>
              </a:spcAft>
            </a:pPr>
            <a:r>
              <a:rPr sz="1200">
                <a:solidFill>
                  <a:srgbClr val="161B26"/>
                </a:solidFill>
                <a:latin typeface="Arial"/>
              </a:rPr>
              <a:t>•  Escalates anything needing DOE, MSA design or regression</a:t>
            </a:r>
          </a:p>
          <a:p>
            <a:pPr>
              <a:spcAft>
                <a:spcPts val="700"/>
              </a:spcAft>
            </a:pPr>
            <a:r>
              <a:rPr sz="1200">
                <a:solidFill>
                  <a:srgbClr val="161B26"/>
                </a:solidFill>
                <a:latin typeface="Arial"/>
              </a:rPr>
              <a:t>•  Reports at tollgates - does not run them</a:t>
            </a:r>
          </a:p>
          <a:p>
            <a:pPr>
              <a:spcAft>
                <a:spcPts val="700"/>
              </a:spcAft>
            </a:pPr>
            <a:r>
              <a:rPr sz="1200">
                <a:solidFill>
                  <a:srgbClr val="161B26"/>
                </a:solidFill>
                <a:latin typeface="Arial"/>
              </a:rPr>
              <a:t>•  Benefit typically SGD 50k to 150k per project</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Black Belt</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 portfolio, full time</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Leads 4 to 6 concurrent projects across functions and sites</a:t>
            </a:r>
          </a:p>
          <a:p>
            <a:pPr>
              <a:spcAft>
                <a:spcPts val="700"/>
              </a:spcAft>
            </a:pPr>
            <a:r>
              <a:rPr sz="1200">
                <a:solidFill>
                  <a:srgbClr val="161B26"/>
                </a:solidFill>
                <a:latin typeface="Arial"/>
              </a:rPr>
              <a:t>•  Owns DOE, regression, ANOVA, MSA design, capability analysis</a:t>
            </a:r>
          </a:p>
          <a:p>
            <a:pPr>
              <a:spcAft>
                <a:spcPts val="700"/>
              </a:spcAft>
            </a:pPr>
            <a:r>
              <a:rPr sz="1200">
                <a:solidFill>
                  <a:srgbClr val="161B26"/>
                </a:solidFill>
                <a:latin typeface="Arial"/>
              </a:rPr>
              <a:t>•  Mentors and technically reviews the Green Belts' work</a:t>
            </a:r>
          </a:p>
          <a:p>
            <a:pPr>
              <a:spcAft>
                <a:spcPts val="700"/>
              </a:spcAft>
            </a:pPr>
            <a:r>
              <a:rPr sz="1200">
                <a:solidFill>
                  <a:srgbClr val="161B26"/>
                </a:solidFill>
                <a:latin typeface="Arial"/>
              </a:rPr>
              <a:t>•  Runs the tollgate and prepares the sponsor's decision</a:t>
            </a:r>
          </a:p>
          <a:p>
            <a:pPr>
              <a:spcAft>
                <a:spcPts val="700"/>
              </a:spcAft>
            </a:pPr>
            <a:r>
              <a:rPr sz="1200">
                <a:solidFill>
                  <a:srgbClr val="161B26"/>
                </a:solidFill>
                <a:latin typeface="Arial"/>
              </a:rPr>
              <a:t>•  Benefit typically SGD 500k to 1m per year of portfolio</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The five deltas</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What you now add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1. Portfolio - selecting and sequencing, not just executing</a:t>
            </a:r>
          </a:p>
          <a:p>
            <a:pPr>
              <a:spcAft>
                <a:spcPts val="700"/>
              </a:spcAft>
            </a:pPr>
            <a:r>
              <a:rPr sz="1200">
                <a:solidFill>
                  <a:srgbClr val="161B26"/>
                </a:solidFill>
                <a:latin typeface="Arial"/>
              </a:rPr>
              <a:t>•  2. Advanced statistics - you are the last technical authority</a:t>
            </a:r>
          </a:p>
          <a:p>
            <a:pPr>
              <a:spcAft>
                <a:spcPts val="700"/>
              </a:spcAft>
            </a:pPr>
            <a:r>
              <a:rPr sz="1200">
                <a:solidFill>
                  <a:srgbClr val="161B26"/>
                </a:solidFill>
                <a:latin typeface="Arial"/>
              </a:rPr>
              <a:t>•  3. Mentoring - Green Belt capability is your deliverable too</a:t>
            </a:r>
          </a:p>
          <a:p>
            <a:pPr>
              <a:spcAft>
                <a:spcPts val="700"/>
              </a:spcAft>
            </a:pPr>
            <a:r>
              <a:rPr sz="1200">
                <a:solidFill>
                  <a:srgbClr val="161B26"/>
                </a:solidFill>
                <a:latin typeface="Arial"/>
              </a:rPr>
              <a:t>•  4. Tollgate governance - you run the gate, sponsor decides</a:t>
            </a:r>
          </a:p>
          <a:p>
            <a:pPr>
              <a:spcAft>
                <a:spcPts val="700"/>
              </a:spcAft>
            </a:pPr>
            <a:r>
              <a:rPr sz="1200">
                <a:solidFill>
                  <a:srgbClr val="161B26"/>
                </a:solidFill>
                <a:latin typeface="Arial"/>
              </a:rPr>
              <a:t>•  5. Finance validation - benefits signed off, not self-declared</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 ARE PAID FOR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Five Black Belt Accountabilities in Detail</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Own a portfolio</a:t>
            </a:r>
          </a:p>
          <a:p>
            <a:pPr algn="l">
              <a:spcAft>
                <a:spcPts val="300"/>
              </a:spcAft>
            </a:pPr>
            <a:r>
              <a:rPr sz="1200" b="0">
                <a:solidFill>
                  <a:srgbClr val="5B6372"/>
                </a:solidFill>
                <a:latin typeface="Arial"/>
              </a:rPr>
              <a:t>Select, sequence, resource and kill projects. Say no to work that will not deliver.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Be the statistical authority</a:t>
            </a:r>
          </a:p>
          <a:p>
            <a:pPr algn="l">
              <a:spcAft>
                <a:spcPts val="300"/>
              </a:spcAft>
            </a:pPr>
            <a:r>
              <a:rPr sz="1200" b="0">
                <a:solidFill>
                  <a:srgbClr val="5B6372"/>
                </a:solidFill>
                <a:latin typeface="Arial"/>
              </a:rPr>
              <a:t>When a result is challenged in a steering meeting, the defence stops with you.</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Develop Green Belts</a:t>
            </a:r>
          </a:p>
          <a:p>
            <a:pPr algn="l">
              <a:spcAft>
                <a:spcPts val="300"/>
              </a:spcAft>
            </a:pPr>
            <a:r>
              <a:rPr sz="1200" b="0">
                <a:solidFill>
                  <a:srgbClr val="5B6372"/>
                </a:solidFill>
                <a:latin typeface="Arial"/>
              </a:rPr>
              <a:t>Coach through tools, review their analysis, catch their errors before the sponsor does.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Run disciplined tollgates</a:t>
            </a:r>
          </a:p>
          <a:p>
            <a:pPr algn="l">
              <a:spcAft>
                <a:spcPts val="300"/>
              </a:spcAft>
            </a:pPr>
            <a:r>
              <a:rPr sz="1200" b="0">
                <a:solidFill>
                  <a:srgbClr val="5B6372"/>
                </a:solidFill>
                <a:latin typeface="Arial"/>
              </a:rPr>
              <a:t>Assemble evidence, frame the decision, let the sponsor decide go, adjust or kill.</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Validate benefit with Finance</a:t>
            </a:r>
          </a:p>
          <a:p>
            <a:pPr algn="l">
              <a:spcAft>
                <a:spcPts val="300"/>
              </a:spcAft>
            </a:pPr>
            <a:r>
              <a:rPr sz="1200" b="0">
                <a:solidFill>
                  <a:srgbClr val="5B6372"/>
                </a:solidFill>
                <a:latin typeface="Arial"/>
              </a:rPr>
              <a:t>No claimed saving is real until a finance controller signs the calculation.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Escalate honestly</a:t>
            </a:r>
          </a:p>
          <a:p>
            <a:pPr algn="l">
              <a:spcAft>
                <a:spcPts val="300"/>
              </a:spcAft>
            </a:pPr>
            <a:r>
              <a:rPr sz="1200" b="0">
                <a:solidFill>
                  <a:srgbClr val="5B6372"/>
                </a:solidFill>
                <a:latin typeface="Arial"/>
              </a:rPr>
              <a:t>Report a failing project early. Concealment is the fastest way to lose a programme.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WIDER CAST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Who Else Is in the Room</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Executive sponsor</a:t>
            </a:r>
          </a:p>
          <a:p>
            <a:pPr algn="l">
              <a:spcAft>
                <a:spcPts val="300"/>
              </a:spcAft>
            </a:pPr>
            <a:r>
              <a:rPr sz="1200" b="0">
                <a:solidFill>
                  <a:srgbClr val="5B6372"/>
                </a:solidFill>
                <a:latin typeface="Arial"/>
              </a:rPr>
              <a:t>Owns the business objective. Signs the charter, funds the resource, decides at gates.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Process owner</a:t>
            </a:r>
          </a:p>
          <a:p>
            <a:pPr algn="l">
              <a:spcAft>
                <a:spcPts val="300"/>
              </a:spcAft>
            </a:pPr>
            <a:r>
              <a:rPr sz="1200" b="0">
                <a:solidFill>
                  <a:srgbClr val="5B6372"/>
                </a:solidFill>
                <a:latin typeface="Arial"/>
              </a:rPr>
              <a:t>Runs the process day to day and inherits the control plan. Must be engaged from Define.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Master Black Belt</a:t>
            </a:r>
          </a:p>
          <a:p>
            <a:pPr algn="l">
              <a:spcAft>
                <a:spcPts val="300"/>
              </a:spcAft>
            </a:pPr>
            <a:r>
              <a:rPr sz="1200" b="0">
                <a:solidFill>
                  <a:srgbClr val="5B6372"/>
                </a:solidFill>
                <a:latin typeface="Arial"/>
              </a:rPr>
              <a:t>Your technical coach and the guardian of method. Escalate design-of-experiment doubts here.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Finance controller</a:t>
            </a:r>
          </a:p>
          <a:p>
            <a:pPr algn="l">
              <a:spcAft>
                <a:spcPts val="300"/>
              </a:spcAft>
            </a:pPr>
            <a:r>
              <a:rPr sz="1200" b="0">
                <a:solidFill>
                  <a:srgbClr val="5B6372"/>
                </a:solidFill>
                <a:latin typeface="Arial"/>
              </a:rPr>
              <a:t>Independently validates every benefit claim. Involve at Define, not at Control.</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Team members</a:t>
            </a:r>
          </a:p>
          <a:p>
            <a:pPr algn="l">
              <a:spcAft>
                <a:spcPts val="300"/>
              </a:spcAft>
            </a:pPr>
            <a:r>
              <a:rPr sz="1200" b="0">
                <a:solidFill>
                  <a:srgbClr val="5B6372"/>
                </a:solidFill>
                <a:latin typeface="Arial"/>
              </a:rPr>
              <a:t>Yellow Belts and subject experts who know what actually happens on the floor.</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Deployment leader</a:t>
            </a:r>
          </a:p>
          <a:p>
            <a:pPr algn="l">
              <a:spcAft>
                <a:spcPts val="300"/>
              </a:spcAft>
            </a:pPr>
            <a:r>
              <a:rPr sz="1200" b="0">
                <a:solidFill>
                  <a:srgbClr val="5B6372"/>
                </a:solidFill>
                <a:latin typeface="Arial"/>
              </a:rPr>
              <a:t>Owns the belt pipeline, the project hopper and the programme-level scorecard.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MENTORING JUDGEMENT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Escalation Rule - When a Green Belt Should Call You</a:t>
            </a:r>
          </a:p>
        </p:txBody>
      </p:sp>
      <p:sp>
        <p:nvSpPr>
          <p:cNvPr id="6" name="Rectangle 5"/>
          <p:cNvSpPr/>
          <p:nvPr/>
        </p:nvSpPr>
        <p:spPr>
          <a:xfrm>
            <a:off x="228600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86000" y="1828800"/>
            <a:ext cx="73152" cy="18745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42032" y="2048256"/>
            <a:ext cx="3328416" cy="457200"/>
          </a:xfrm>
          <a:prstGeom prst="rect">
            <a:avLst/>
          </a:prstGeom>
          <a:noFill/>
        </p:spPr>
        <p:txBody>
          <a:bodyPr wrap="square" anchor="t">
            <a:spAutoFit/>
          </a:bodyPr>
          <a:lstStyle/>
          <a:p>
            <a:pPr algn="l">
              <a:spcAft>
                <a:spcPts val="400"/>
              </a:spcAft>
            </a:pPr>
            <a:r>
              <a:rPr sz="1600" b="1">
                <a:solidFill>
                  <a:srgbClr val="10B981"/>
                </a:solidFill>
                <a:latin typeface="Arial"/>
              </a:rPr>
              <a:t>Coach at the next review</a:t>
            </a:r>
          </a:p>
        </p:txBody>
      </p:sp>
      <p:sp>
        <p:nvSpPr>
          <p:cNvPr id="9" name="TextBox 8"/>
          <p:cNvSpPr txBox="1"/>
          <p:nvPr/>
        </p:nvSpPr>
        <p:spPr>
          <a:xfrm>
            <a:off x="254203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complexity, low risk. Let the Green Belt work it out and confirm at the weekly review.</a:t>
            </a:r>
          </a:p>
        </p:txBody>
      </p:sp>
      <p:sp>
        <p:nvSpPr>
          <p:cNvPr id="10" name="Rectangle 9"/>
          <p:cNvSpPr/>
          <p:nvPr/>
        </p:nvSpPr>
        <p:spPr>
          <a:xfrm>
            <a:off x="612648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126480" y="1828800"/>
            <a:ext cx="73152" cy="187451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2048256"/>
            <a:ext cx="3328416" cy="457200"/>
          </a:xfrm>
          <a:prstGeom prst="rect">
            <a:avLst/>
          </a:prstGeom>
          <a:noFill/>
        </p:spPr>
        <p:txBody>
          <a:bodyPr wrap="square" anchor="t">
            <a:spAutoFit/>
          </a:bodyPr>
          <a:lstStyle/>
          <a:p>
            <a:pPr algn="l">
              <a:spcAft>
                <a:spcPts val="400"/>
              </a:spcAft>
            </a:pPr>
            <a:r>
              <a:rPr sz="1600" b="1">
                <a:solidFill>
                  <a:srgbClr val="1F6FEB"/>
                </a:solidFill>
                <a:latin typeface="Arial"/>
              </a:rPr>
              <a:t>Take the analysis yourself</a:t>
            </a:r>
          </a:p>
        </p:txBody>
      </p:sp>
      <p:sp>
        <p:nvSpPr>
          <p:cNvPr id="13" name="TextBox 12"/>
          <p:cNvSpPr txBox="1"/>
          <p:nvPr/>
        </p:nvSpPr>
        <p:spPr>
          <a:xfrm>
            <a:off x="638251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complexity, high risk. DOE design, regression validity, sample size for a regulated claim.</a:t>
            </a:r>
          </a:p>
        </p:txBody>
      </p:sp>
      <p:sp>
        <p:nvSpPr>
          <p:cNvPr id="14" name="Rectangle 13"/>
          <p:cNvSpPr/>
          <p:nvPr/>
        </p:nvSpPr>
        <p:spPr>
          <a:xfrm>
            <a:off x="228600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286000" y="3703319"/>
            <a:ext cx="73152"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42032" y="3922775"/>
            <a:ext cx="3328416" cy="457200"/>
          </a:xfrm>
          <a:prstGeom prst="rect">
            <a:avLst/>
          </a:prstGeom>
          <a:noFill/>
        </p:spPr>
        <p:txBody>
          <a:bodyPr wrap="square" anchor="t">
            <a:spAutoFit/>
          </a:bodyPr>
          <a:lstStyle/>
          <a:p>
            <a:pPr algn="l">
              <a:spcAft>
                <a:spcPts val="400"/>
              </a:spcAft>
            </a:pPr>
            <a:r>
              <a:rPr sz="1600" b="1">
                <a:solidFill>
                  <a:srgbClr val="F59E0B"/>
                </a:solidFill>
                <a:latin typeface="Arial"/>
              </a:rPr>
              <a:t>Let them run</a:t>
            </a:r>
          </a:p>
        </p:txBody>
      </p:sp>
      <p:sp>
        <p:nvSpPr>
          <p:cNvPr id="17" name="TextBox 16"/>
          <p:cNvSpPr txBox="1"/>
          <p:nvPr/>
        </p:nvSpPr>
        <p:spPr>
          <a:xfrm>
            <a:off x="254203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complexity, low risk. Autonomy builds capability - resist the urge to solve it for them.</a:t>
            </a:r>
          </a:p>
        </p:txBody>
      </p:sp>
      <p:sp>
        <p:nvSpPr>
          <p:cNvPr id="18" name="Rectangle 17"/>
          <p:cNvSpPr/>
          <p:nvPr/>
        </p:nvSpPr>
        <p:spPr>
          <a:xfrm>
            <a:off x="612648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26480" y="3703319"/>
            <a:ext cx="73152" cy="1874519"/>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82512" y="3922775"/>
            <a:ext cx="3328416" cy="457200"/>
          </a:xfrm>
          <a:prstGeom prst="rect">
            <a:avLst/>
          </a:prstGeom>
          <a:noFill/>
        </p:spPr>
        <p:txBody>
          <a:bodyPr wrap="square" anchor="t">
            <a:spAutoFit/>
          </a:bodyPr>
          <a:lstStyle/>
          <a:p>
            <a:pPr algn="l">
              <a:spcAft>
                <a:spcPts val="400"/>
              </a:spcAft>
            </a:pPr>
            <a:r>
              <a:rPr sz="1600" b="1">
                <a:solidFill>
                  <a:srgbClr val="5B6372"/>
                </a:solidFill>
                <a:latin typeface="Arial"/>
              </a:rPr>
              <a:t>Pair on it</a:t>
            </a:r>
          </a:p>
        </p:txBody>
      </p:sp>
      <p:sp>
        <p:nvSpPr>
          <p:cNvPr id="21" name="TextBox 20"/>
          <p:cNvSpPr txBox="1"/>
          <p:nvPr/>
        </p:nvSpPr>
        <p:spPr>
          <a:xfrm>
            <a:off x="638251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complexity, lower risk. The ideal teaching moment - do it together, then let them present it.</a:t>
            </a:r>
          </a:p>
        </p:txBody>
      </p:sp>
      <p:sp>
        <p:nvSpPr>
          <p:cNvPr id="22" name="TextBox 21"/>
          <p:cNvSpPr txBox="1"/>
          <p:nvPr/>
        </p:nvSpPr>
        <p:spPr>
          <a:xfrm>
            <a:off x="2286000" y="5687567"/>
            <a:ext cx="7680960" cy="365760"/>
          </a:xfrm>
          <a:prstGeom prst="rect">
            <a:avLst/>
          </a:prstGeom>
          <a:noFill/>
        </p:spPr>
        <p:txBody>
          <a:bodyPr wrap="square" anchor="t">
            <a:spAutoFit/>
          </a:bodyPr>
          <a:lstStyle/>
          <a:p>
            <a:pPr algn="ctr">
              <a:spcAft>
                <a:spcPts val="400"/>
              </a:spcAft>
            </a:pPr>
            <a:r>
              <a:rPr sz="1300" b="1">
                <a:solidFill>
                  <a:srgbClr val="161B26"/>
                </a:solidFill>
                <a:latin typeface="Arial"/>
              </a:rPr>
              <a:t>Statistical complexity of the question -&gt;</a:t>
            </a:r>
          </a:p>
        </p:txBody>
      </p:sp>
      <p:sp>
        <p:nvSpPr>
          <p:cNvPr id="23" name="TextBox 22"/>
          <p:cNvSpPr txBox="1"/>
          <p:nvPr/>
        </p:nvSpPr>
        <p:spPr>
          <a:xfrm>
            <a:off x="548640" y="3520439"/>
            <a:ext cx="1645920" cy="365760"/>
          </a:xfrm>
          <a:prstGeom prst="rect">
            <a:avLst/>
          </a:prstGeom>
          <a:noFill/>
        </p:spPr>
        <p:txBody>
          <a:bodyPr wrap="square" anchor="t">
            <a:spAutoFit/>
          </a:bodyPr>
          <a:lstStyle/>
          <a:p>
            <a:pPr algn="ctr">
              <a:spcAft>
                <a:spcPts val="400"/>
              </a:spcAft>
            </a:pPr>
            <a:r>
              <a:rPr sz="1300" b="1">
                <a:solidFill>
                  <a:srgbClr val="161B26"/>
                </a:solidFill>
                <a:latin typeface="Arial"/>
              </a:rPr>
              <a:t>Business risk ^</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PROJECT PORTFOLIO SELECTION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Choosing the wrong project is the most expensive mistake a Black Belt can make.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brilliantly executed project on a problem nobody cares about still ends with a cancelled programme. Selection is a Black Belt skill; a Green Belt is usually handed a project.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SIX STEPS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Portfolio Selection Cycle</a:t>
            </a:r>
          </a:p>
        </p:txBody>
      </p:sp>
      <p:sp>
        <p:nvSpPr>
          <p:cNvPr id="6" name="Rectangle 5"/>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715768"/>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GENERATE - build a hopper of candidates from COPQ, VOC, audits and strategy</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715768"/>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SCREEN - remove anything already solved, out of scope or a known solution</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715768"/>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SCORE - rank on weighted criteria with the sponsor in the room</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715768"/>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SEQUENCE - schedule against belt capacity and site readiness</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715768"/>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CHARTER - convert the top candidates into signed charters</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6" name="Rectangle 35"/>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715768"/>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REVIEW - re-score the hopper every quarter as strategy moves</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FILLING THE HOPPER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Where Good Candidate Projects Come From</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COPQ analysis</a:t>
            </a:r>
          </a:p>
          <a:p>
            <a:pPr algn="l">
              <a:spcAft>
                <a:spcPts val="300"/>
              </a:spcAft>
            </a:pPr>
            <a:r>
              <a:rPr sz="1200" b="0">
                <a:solidFill>
                  <a:srgbClr val="5B6372"/>
                </a:solidFill>
                <a:latin typeface="Arial"/>
              </a:rPr>
              <a:t>Follow the money. The biggest failure-cost buckets are usually the biggest opportunities.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Voice of the customer</a:t>
            </a:r>
          </a:p>
          <a:p>
            <a:pPr algn="l">
              <a:spcAft>
                <a:spcPts val="300"/>
              </a:spcAft>
            </a:pPr>
            <a:r>
              <a:rPr sz="1200" b="0">
                <a:solidFill>
                  <a:srgbClr val="5B6372"/>
                </a:solidFill>
                <a:latin typeface="Arial"/>
              </a:rPr>
              <a:t>Complaint themes, lost bids and churn interviews name problems customers actually feel.</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Process performance data</a:t>
            </a:r>
          </a:p>
          <a:p>
            <a:pPr algn="l">
              <a:spcAft>
                <a:spcPts val="300"/>
              </a:spcAft>
            </a:pPr>
            <a:r>
              <a:rPr sz="1200" b="0">
                <a:solidFill>
                  <a:srgbClr val="5B6372"/>
                </a:solidFill>
                <a:latin typeface="Arial"/>
              </a:rPr>
              <a:t>Any metric off target, drifting, or with visibly wide variation is a candidate.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Audit and regulatory findings</a:t>
            </a:r>
          </a:p>
          <a:p>
            <a:pPr algn="l">
              <a:spcAft>
                <a:spcPts val="300"/>
              </a:spcAft>
            </a:pPr>
            <a:r>
              <a:rPr sz="1200" b="0">
                <a:solidFill>
                  <a:srgbClr val="5B6372"/>
                </a:solidFill>
                <a:latin typeface="Arial"/>
              </a:rPr>
              <a:t>Repeat non-conformances have a sponsor and a deadline already attached.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Strategy deployment</a:t>
            </a:r>
          </a:p>
          <a:p>
            <a:pPr algn="l">
              <a:spcAft>
                <a:spcPts val="300"/>
              </a:spcAft>
            </a:pPr>
            <a:r>
              <a:rPr sz="1200" b="0">
                <a:solidFill>
                  <a:srgbClr val="5B6372"/>
                </a:solidFill>
                <a:latin typeface="Arial"/>
              </a:rPr>
              <a:t>Hoshin breakthrough objectives cascade directly into project candidates.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Value stream maps</a:t>
            </a:r>
          </a:p>
          <a:p>
            <a:pPr algn="l">
              <a:spcAft>
                <a:spcPts val="300"/>
              </a:spcAft>
            </a:pPr>
            <a:r>
              <a:rPr sz="1200" b="0">
                <a:solidFill>
                  <a:srgbClr val="5B6372"/>
                </a:solidFill>
                <a:latin typeface="Arial"/>
              </a:rPr>
              <a:t>Bottlenecks, long queues and rework loops identified on the map are ready-made scopes.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SIX CRITERIA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Selection Criteria - What Actually Predicts Success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Strategic alignment</a:t>
            </a:r>
          </a:p>
          <a:p>
            <a:pPr algn="l">
              <a:spcAft>
                <a:spcPts val="300"/>
              </a:spcAft>
            </a:pPr>
            <a:r>
              <a:rPr sz="1200" b="0">
                <a:solidFill>
                  <a:srgbClr val="5B6372"/>
                </a:solidFill>
                <a:latin typeface="Arial"/>
              </a:rPr>
              <a:t>Traces to a stated business objective. Without it the sponsor disengages by Analyze.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Financial benefit</a:t>
            </a:r>
          </a:p>
          <a:p>
            <a:pPr algn="l">
              <a:spcAft>
                <a:spcPts val="300"/>
              </a:spcAft>
            </a:pPr>
            <a:r>
              <a:rPr sz="1200" b="0">
                <a:solidFill>
                  <a:srgbClr val="5B6372"/>
                </a:solidFill>
                <a:latin typeface="Arial"/>
              </a:rPr>
              <a:t>Hard, quantifiable and Finance-validatable. Soft benefits do not fund a programme.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Data availability</a:t>
            </a:r>
          </a:p>
          <a:p>
            <a:pPr algn="l">
              <a:spcAft>
                <a:spcPts val="300"/>
              </a:spcAft>
            </a:pPr>
            <a:r>
              <a:rPr sz="1200" b="0">
                <a:solidFill>
                  <a:srgbClr val="5B6372"/>
                </a:solidFill>
                <a:latin typeface="Arial"/>
              </a:rPr>
              <a:t>If the Y cannot be measured today, Measure phase becomes a six-month data project.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Scope and duration</a:t>
            </a:r>
          </a:p>
          <a:p>
            <a:pPr algn="l">
              <a:spcAft>
                <a:spcPts val="300"/>
              </a:spcAft>
            </a:pPr>
            <a:r>
              <a:rPr sz="1200" b="0">
                <a:solidFill>
                  <a:srgbClr val="5B6372"/>
                </a:solidFill>
                <a:latin typeface="Arial"/>
              </a:rPr>
              <a:t>3 to 6 months. Beyond that sponsors change, priorities move and teams disband.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Solution unknown</a:t>
            </a:r>
          </a:p>
          <a:p>
            <a:pPr algn="l">
              <a:spcAft>
                <a:spcPts val="300"/>
              </a:spcAft>
            </a:pPr>
            <a:r>
              <a:rPr sz="1200" b="0">
                <a:solidFill>
                  <a:srgbClr val="5B6372"/>
                </a:solidFill>
                <a:latin typeface="Arial"/>
              </a:rPr>
              <a:t>If everyone already knows the fix, it is a just-do-it, not a DMAIC project.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Process ownership</a:t>
            </a:r>
          </a:p>
          <a:p>
            <a:pPr algn="l">
              <a:spcAft>
                <a:spcPts val="300"/>
              </a:spcAft>
            </a:pPr>
            <a:r>
              <a:rPr sz="1200" b="0">
                <a:solidFill>
                  <a:srgbClr val="5B6372"/>
                </a:solidFill>
                <a:latin typeface="Arial"/>
              </a:rPr>
              <a:t>A named, willing process owner exists. No owner means no sustained control plan.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SCORING WORKED THROUGH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Weighted Scoring Matrix</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Weighted score</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Score = sum of (criterion weight x criterion rating)</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Rate each criterion 1 to 5, weights summing to 100 pct. Rank the hopper by total.</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Meridian project A</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Suzhou solder yield improvement</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Align 5 x .30, Benefit 5 x .25, Data 4 x .20, Scope 4 x .15, Unknown 5 x .10 = 4.65.</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Meridian project B</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Warehouse label reprint reduction</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Align 2 x .30, Benefit 2 x .25, Data 5 x .20, Scope 5 x .15, Unknown 2 x .10 = 2.85.</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The decision</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Charter A, defer B, revisit at the next quarterly hopper review</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A is worth SGD 1.4m and is on strategy. B is worth SGD 40k and is a just-do-it.</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Do the scoring WITH the sponsor. A matrix scored alone in your office convinces nobody.</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TRIAGE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Benefit Versus Effort Screen</a:t>
            </a:r>
          </a:p>
        </p:txBody>
      </p:sp>
      <p:sp>
        <p:nvSpPr>
          <p:cNvPr id="6" name="Rectangle 5"/>
          <p:cNvSpPr/>
          <p:nvPr/>
        </p:nvSpPr>
        <p:spPr>
          <a:xfrm>
            <a:off x="228600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86000" y="1828800"/>
            <a:ext cx="73152" cy="18745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42032" y="2048256"/>
            <a:ext cx="3328416" cy="457200"/>
          </a:xfrm>
          <a:prstGeom prst="rect">
            <a:avLst/>
          </a:prstGeom>
          <a:noFill/>
        </p:spPr>
        <p:txBody>
          <a:bodyPr wrap="square" anchor="t">
            <a:spAutoFit/>
          </a:bodyPr>
          <a:lstStyle/>
          <a:p>
            <a:pPr algn="l">
              <a:spcAft>
                <a:spcPts val="400"/>
              </a:spcAft>
            </a:pPr>
            <a:r>
              <a:rPr sz="1600" b="1">
                <a:solidFill>
                  <a:srgbClr val="10B981"/>
                </a:solidFill>
                <a:latin typeface="Arial"/>
              </a:rPr>
              <a:t>QUICK WINS</a:t>
            </a:r>
          </a:p>
        </p:txBody>
      </p:sp>
      <p:sp>
        <p:nvSpPr>
          <p:cNvPr id="9" name="TextBox 8"/>
          <p:cNvSpPr txBox="1"/>
          <p:nvPr/>
        </p:nvSpPr>
        <p:spPr>
          <a:xfrm>
            <a:off x="254203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benefit, low effort. Do these immediately - often just-do-it or Kaizen, not full DMAIC.</a:t>
            </a:r>
          </a:p>
        </p:txBody>
      </p:sp>
      <p:sp>
        <p:nvSpPr>
          <p:cNvPr id="10" name="Rectangle 9"/>
          <p:cNvSpPr/>
          <p:nvPr/>
        </p:nvSpPr>
        <p:spPr>
          <a:xfrm>
            <a:off x="612648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126480" y="1828800"/>
            <a:ext cx="73152" cy="187451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2048256"/>
            <a:ext cx="3328416" cy="457200"/>
          </a:xfrm>
          <a:prstGeom prst="rect">
            <a:avLst/>
          </a:prstGeom>
          <a:noFill/>
        </p:spPr>
        <p:txBody>
          <a:bodyPr wrap="square" anchor="t">
            <a:spAutoFit/>
          </a:bodyPr>
          <a:lstStyle/>
          <a:p>
            <a:pPr algn="l">
              <a:spcAft>
                <a:spcPts val="400"/>
              </a:spcAft>
            </a:pPr>
            <a:r>
              <a:rPr sz="1600" b="1">
                <a:solidFill>
                  <a:srgbClr val="1F6FEB"/>
                </a:solidFill>
                <a:latin typeface="Arial"/>
              </a:rPr>
              <a:t>MAJOR PROJECTS</a:t>
            </a:r>
          </a:p>
        </p:txBody>
      </p:sp>
      <p:sp>
        <p:nvSpPr>
          <p:cNvPr id="13" name="TextBox 12"/>
          <p:cNvSpPr txBox="1"/>
          <p:nvPr/>
        </p:nvSpPr>
        <p:spPr>
          <a:xfrm>
            <a:off x="638251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benefit, high effort. This is where Black Belt DMAIC projects belong. Charter these.</a:t>
            </a:r>
          </a:p>
        </p:txBody>
      </p:sp>
      <p:sp>
        <p:nvSpPr>
          <p:cNvPr id="14" name="Rectangle 13"/>
          <p:cNvSpPr/>
          <p:nvPr/>
        </p:nvSpPr>
        <p:spPr>
          <a:xfrm>
            <a:off x="228600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286000" y="3703319"/>
            <a:ext cx="73152"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42032" y="3922775"/>
            <a:ext cx="3328416" cy="457200"/>
          </a:xfrm>
          <a:prstGeom prst="rect">
            <a:avLst/>
          </a:prstGeom>
          <a:noFill/>
        </p:spPr>
        <p:txBody>
          <a:bodyPr wrap="square" anchor="t">
            <a:spAutoFit/>
          </a:bodyPr>
          <a:lstStyle/>
          <a:p>
            <a:pPr algn="l">
              <a:spcAft>
                <a:spcPts val="400"/>
              </a:spcAft>
            </a:pPr>
            <a:r>
              <a:rPr sz="1600" b="1">
                <a:solidFill>
                  <a:srgbClr val="F59E0B"/>
                </a:solidFill>
                <a:latin typeface="Arial"/>
              </a:rPr>
              <a:t>FILL-INS</a:t>
            </a:r>
          </a:p>
        </p:txBody>
      </p:sp>
      <p:sp>
        <p:nvSpPr>
          <p:cNvPr id="17" name="TextBox 16"/>
          <p:cNvSpPr txBox="1"/>
          <p:nvPr/>
        </p:nvSpPr>
        <p:spPr>
          <a:xfrm>
            <a:off x="254203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benefit, low effort. Good Green Belt training projects. Never occupy Black Belt capacity.</a:t>
            </a:r>
          </a:p>
        </p:txBody>
      </p:sp>
      <p:sp>
        <p:nvSpPr>
          <p:cNvPr id="18" name="Rectangle 17"/>
          <p:cNvSpPr/>
          <p:nvPr/>
        </p:nvSpPr>
        <p:spPr>
          <a:xfrm>
            <a:off x="612648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26480" y="3703319"/>
            <a:ext cx="73152" cy="1874519"/>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82512" y="3922775"/>
            <a:ext cx="3328416" cy="457200"/>
          </a:xfrm>
          <a:prstGeom prst="rect">
            <a:avLst/>
          </a:prstGeom>
          <a:noFill/>
        </p:spPr>
        <p:txBody>
          <a:bodyPr wrap="square" anchor="t">
            <a:spAutoFit/>
          </a:bodyPr>
          <a:lstStyle/>
          <a:p>
            <a:pPr algn="l">
              <a:spcAft>
                <a:spcPts val="400"/>
              </a:spcAft>
            </a:pPr>
            <a:r>
              <a:rPr sz="1600" b="1">
                <a:solidFill>
                  <a:srgbClr val="5B6372"/>
                </a:solidFill>
                <a:latin typeface="Arial"/>
              </a:rPr>
              <a:t>THANKLESS</a:t>
            </a:r>
          </a:p>
        </p:txBody>
      </p:sp>
      <p:sp>
        <p:nvSpPr>
          <p:cNvPr id="21" name="TextBox 20"/>
          <p:cNvSpPr txBox="1"/>
          <p:nvPr/>
        </p:nvSpPr>
        <p:spPr>
          <a:xfrm>
            <a:off x="638251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benefit, high effort. Say no, and say it early with the scoring matrix as your evidence.</a:t>
            </a:r>
          </a:p>
        </p:txBody>
      </p:sp>
      <p:sp>
        <p:nvSpPr>
          <p:cNvPr id="22" name="TextBox 21"/>
          <p:cNvSpPr txBox="1"/>
          <p:nvPr/>
        </p:nvSpPr>
        <p:spPr>
          <a:xfrm>
            <a:off x="2286000" y="5687567"/>
            <a:ext cx="7680960" cy="365760"/>
          </a:xfrm>
          <a:prstGeom prst="rect">
            <a:avLst/>
          </a:prstGeom>
          <a:noFill/>
        </p:spPr>
        <p:txBody>
          <a:bodyPr wrap="square" anchor="t">
            <a:spAutoFit/>
          </a:bodyPr>
          <a:lstStyle/>
          <a:p>
            <a:pPr algn="ctr">
              <a:spcAft>
                <a:spcPts val="400"/>
              </a:spcAft>
            </a:pPr>
            <a:r>
              <a:rPr sz="1300" b="1">
                <a:solidFill>
                  <a:srgbClr val="161B26"/>
                </a:solidFill>
                <a:latin typeface="Arial"/>
              </a:rPr>
              <a:t>Effort and complexity -&gt;</a:t>
            </a:r>
          </a:p>
        </p:txBody>
      </p:sp>
      <p:sp>
        <p:nvSpPr>
          <p:cNvPr id="23" name="TextBox 22"/>
          <p:cNvSpPr txBox="1"/>
          <p:nvPr/>
        </p:nvSpPr>
        <p:spPr>
          <a:xfrm>
            <a:off x="548640" y="3520439"/>
            <a:ext cx="1645920" cy="365760"/>
          </a:xfrm>
          <a:prstGeom prst="rect">
            <a:avLst/>
          </a:prstGeom>
          <a:noFill/>
        </p:spPr>
        <p:txBody>
          <a:bodyPr wrap="square" anchor="t">
            <a:spAutoFit/>
          </a:bodyPr>
          <a:lstStyle/>
          <a:p>
            <a:pPr algn="ctr">
              <a:spcAft>
                <a:spcPts val="400"/>
              </a:spcAft>
            </a:pPr>
            <a:r>
              <a:rPr sz="1300" b="1">
                <a:solidFill>
                  <a:srgbClr val="161B26"/>
                </a:solidFill>
                <a:latin typeface="Arial"/>
              </a:rPr>
              <a:t>Business benefit ^</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HOSHIN KANRI</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Strategy Alignment - Hoshin Kanri Cascade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Level 1 - Breakthrough objective</a:t>
            </a:r>
          </a:p>
          <a:p>
            <a:pPr algn="l">
              <a:spcAft>
                <a:spcPts val="300"/>
              </a:spcAft>
            </a:pPr>
            <a:r>
              <a:rPr sz="1200" b="0">
                <a:solidFill>
                  <a:srgbClr val="5B6372"/>
                </a:solidFill>
                <a:latin typeface="Arial"/>
              </a:rPr>
              <a:t>Meridian: reduce cost of poor quality by 30 pct within 12 months.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Level 2 - Annual objective</a:t>
            </a:r>
          </a:p>
          <a:p>
            <a:pPr algn="l">
              <a:spcAft>
                <a:spcPts val="300"/>
              </a:spcAft>
            </a:pPr>
            <a:r>
              <a:rPr sz="1200" b="0">
                <a:solidFill>
                  <a:srgbClr val="5B6372"/>
                </a:solidFill>
                <a:latin typeface="Arial"/>
              </a:rPr>
              <a:t>Lift group first-pass yield from 92.1 pct to 96.0 pct this financial year.</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Level 3 - Site target</a:t>
            </a:r>
          </a:p>
          <a:p>
            <a:pPr algn="l">
              <a:spcAft>
                <a:spcPts val="300"/>
              </a:spcAft>
            </a:pPr>
            <a:r>
              <a:rPr sz="1200" b="0">
                <a:solidFill>
                  <a:srgbClr val="5B6372"/>
                </a:solidFill>
                <a:latin typeface="Arial"/>
              </a:rPr>
              <a:t>Suzhou final-test FPY from 88.7 pct to 95.0 pct by Q3.</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Level 4 - Project Y</a:t>
            </a:r>
          </a:p>
          <a:p>
            <a:pPr algn="l">
              <a:spcAft>
                <a:spcPts val="300"/>
              </a:spcAft>
            </a:pPr>
            <a:r>
              <a:rPr sz="1200" b="0">
                <a:solidFill>
                  <a:srgbClr val="5B6372"/>
                </a:solidFill>
                <a:latin typeface="Arial"/>
              </a:rPr>
              <a:t>Reduce solder-joint defects at Suzhou reflow from 113,000 DPMO to 20,000 DPMO.</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Catchball</a:t>
            </a:r>
          </a:p>
          <a:p>
            <a:pPr algn="l">
              <a:spcAft>
                <a:spcPts val="300"/>
              </a:spcAft>
            </a:pPr>
            <a:r>
              <a:rPr sz="1200" b="0">
                <a:solidFill>
                  <a:srgbClr val="5B6372"/>
                </a:solidFill>
                <a:latin typeface="Arial"/>
              </a:rPr>
              <a:t>Targets negotiated up and down until the site genuinely owns them - not imposed.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test</a:t>
            </a:r>
          </a:p>
          <a:p>
            <a:pPr algn="l">
              <a:spcAft>
                <a:spcPts val="300"/>
              </a:spcAft>
            </a:pPr>
            <a:r>
              <a:rPr sz="1200" b="0">
                <a:solidFill>
                  <a:srgbClr val="5B6372"/>
                </a:solidFill>
                <a:latin typeface="Arial"/>
              </a:rPr>
              <a:t>Every project must trace up all four levels. If it cannot, it does not get chartered.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PORTFOLIO DISCIPLINE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Saying No - A Core Black Belt Skill</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No, it is a just-do-it</a:t>
            </a:r>
          </a:p>
          <a:p>
            <a:pPr algn="l">
              <a:spcAft>
                <a:spcPts val="300"/>
              </a:spcAft>
            </a:pPr>
            <a:r>
              <a:rPr sz="1200" b="0">
                <a:solidFill>
                  <a:srgbClr val="5B6372"/>
                </a:solidFill>
                <a:latin typeface="Arial"/>
              </a:rPr>
              <a:t>The cause and fix are already known. Hand it to the process owner today.</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No, there is no measurable Y</a:t>
            </a:r>
          </a:p>
          <a:p>
            <a:pPr algn="l">
              <a:spcAft>
                <a:spcPts val="300"/>
              </a:spcAft>
            </a:pPr>
            <a:r>
              <a:rPr sz="1200" b="0">
                <a:solidFill>
                  <a:srgbClr val="5B6372"/>
                </a:solidFill>
                <a:latin typeface="Arial"/>
              </a:rPr>
              <a:t>Without a measurable output there is no baseline, no proof and no control.</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No, the scope is a whole function</a:t>
            </a:r>
          </a:p>
          <a:p>
            <a:pPr algn="l">
              <a:spcAft>
                <a:spcPts val="300"/>
              </a:spcAft>
            </a:pPr>
            <a:r>
              <a:rPr sz="1200" b="0">
                <a:solidFill>
                  <a:srgbClr val="5B6372"/>
                </a:solidFill>
                <a:latin typeface="Arial"/>
              </a:rPr>
              <a:t>Boil-the-ocean scopes fail. Offer a scoped slice of the same problem instead.</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No, there is no sponsor</a:t>
            </a:r>
          </a:p>
          <a:p>
            <a:pPr algn="l">
              <a:spcAft>
                <a:spcPts val="300"/>
              </a:spcAft>
            </a:pPr>
            <a:r>
              <a:rPr sz="1200" b="0">
                <a:solidFill>
                  <a:srgbClr val="5B6372"/>
                </a:solidFill>
                <a:latin typeface="Arial"/>
              </a:rPr>
              <a:t>A project without a sponsor has no decision maker and no resource. Decline it.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Not now - it is queued</a:t>
            </a:r>
          </a:p>
          <a:p>
            <a:pPr algn="l">
              <a:spcAft>
                <a:spcPts val="300"/>
              </a:spcAft>
            </a:pPr>
            <a:r>
              <a:rPr sz="1200" b="0">
                <a:solidFill>
                  <a:srgbClr val="5B6372"/>
                </a:solidFill>
                <a:latin typeface="Arial"/>
              </a:rPr>
              <a:t>Sequenced behind higher-scoring work. Show the matrix; the ranking does the arguing.</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How to say it</a:t>
            </a:r>
          </a:p>
          <a:p>
            <a:pPr algn="l">
              <a:spcAft>
                <a:spcPts val="300"/>
              </a:spcAft>
            </a:pPr>
            <a:r>
              <a:rPr sz="1200" b="0">
                <a:solidFill>
                  <a:srgbClr val="5B6372"/>
                </a:solidFill>
                <a:latin typeface="Arial"/>
              </a:rPr>
              <a:t>Never a flat refusal. Show the criteria, the score and what you WILL do instead.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PORTFOLIO MANAGEMENT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Managing a Live Portfolio of Four to Six Projects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Stagger the phases</a:t>
            </a:r>
          </a:p>
          <a:p>
            <a:pPr algn="l">
              <a:spcAft>
                <a:spcPts val="300"/>
              </a:spcAft>
            </a:pPr>
            <a:r>
              <a:rPr sz="1200" b="0">
                <a:solidFill>
                  <a:srgbClr val="5B6372"/>
                </a:solidFill>
                <a:latin typeface="Arial"/>
              </a:rPr>
              <a:t>Never have three projects in Analyze at once - the statistical load lands on you alone.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One scorecard</a:t>
            </a:r>
          </a:p>
          <a:p>
            <a:pPr algn="l">
              <a:spcAft>
                <a:spcPts val="300"/>
              </a:spcAft>
            </a:pPr>
            <a:r>
              <a:rPr sz="1200" b="0">
                <a:solidFill>
                  <a:srgbClr val="5B6372"/>
                </a:solidFill>
                <a:latin typeface="Arial"/>
              </a:rPr>
              <a:t>A single portfolio view: phase, tollgate date, benefit forecast, RAG status, blocker.</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Protect Green Belt time</a:t>
            </a:r>
          </a:p>
          <a:p>
            <a:pPr algn="l">
              <a:spcAft>
                <a:spcPts val="300"/>
              </a:spcAft>
            </a:pPr>
            <a:r>
              <a:rPr sz="1200" b="0">
                <a:solidFill>
                  <a:srgbClr val="5B6372"/>
                </a:solidFill>
                <a:latin typeface="Arial"/>
              </a:rPr>
              <a:t>The commonest cause of stalled projects is a Green Belt pulled back to day job.</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Kill fast</a:t>
            </a:r>
          </a:p>
          <a:p>
            <a:pPr algn="l">
              <a:spcAft>
                <a:spcPts val="300"/>
              </a:spcAft>
            </a:pPr>
            <a:r>
              <a:rPr sz="1200" b="0">
                <a:solidFill>
                  <a:srgbClr val="5B6372"/>
                </a:solidFill>
                <a:latin typeface="Arial"/>
              </a:rPr>
              <a:t>A project that misses two consecutive tollgates should be killed, not nursed.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Bank the benefits</a:t>
            </a:r>
          </a:p>
          <a:p>
            <a:pPr algn="l">
              <a:spcAft>
                <a:spcPts val="300"/>
              </a:spcAft>
            </a:pPr>
            <a:r>
              <a:rPr sz="1200" b="0">
                <a:solidFill>
                  <a:srgbClr val="5B6372"/>
                </a:solidFill>
                <a:latin typeface="Arial"/>
              </a:rPr>
              <a:t>Track realised versus forecast benefit monthly for 12 months after Control.</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Refresh the hopper</a:t>
            </a:r>
          </a:p>
          <a:p>
            <a:pPr algn="l">
              <a:spcAft>
                <a:spcPts val="300"/>
              </a:spcAft>
            </a:pPr>
            <a:r>
              <a:rPr sz="1200" b="0">
                <a:solidFill>
                  <a:srgbClr val="5B6372"/>
                </a:solidFill>
                <a:latin typeface="Arial"/>
              </a:rPr>
              <a:t>Quarterly re-scoring keeps the portfolio aligned as strategy shifts under you.</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COPQ AT PORTFOLIO SCALE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COPQ by Category - Where the Portfolio Should Aim</a:t>
            </a:r>
          </a:p>
        </p:txBody>
      </p:sp>
      <p:cxnSp>
        <p:nvCxnSpPr>
          <p:cNvPr id="6" name="Connector 5"/>
          <p:cNvCxnSpPr/>
          <p:nvPr/>
        </p:nvCxnSpPr>
        <p:spPr>
          <a:xfrm>
            <a:off x="1234440" y="4983480"/>
            <a:ext cx="905256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234440" y="2148840"/>
            <a:ext cx="0" cy="283464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1493084" y="2432304"/>
            <a:ext cx="775933" cy="25511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34440" y="2139696"/>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1670</a:t>
            </a:r>
          </a:p>
        </p:txBody>
      </p:sp>
      <p:sp>
        <p:nvSpPr>
          <p:cNvPr id="10" name="TextBox 9"/>
          <p:cNvSpPr txBox="1"/>
          <p:nvPr/>
        </p:nvSpPr>
        <p:spPr>
          <a:xfrm>
            <a:off x="1143000"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Warranty and field returns</a:t>
            </a:r>
          </a:p>
        </p:txBody>
      </p:sp>
      <p:sp>
        <p:nvSpPr>
          <p:cNvPr id="11" name="Rectangle 10"/>
          <p:cNvSpPr/>
          <p:nvPr/>
        </p:nvSpPr>
        <p:spPr>
          <a:xfrm>
            <a:off x="2786307" y="3089194"/>
            <a:ext cx="775933" cy="189428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527662" y="2796586"/>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1240</a:t>
            </a:r>
          </a:p>
        </p:txBody>
      </p:sp>
      <p:sp>
        <p:nvSpPr>
          <p:cNvPr id="13" name="TextBox 12"/>
          <p:cNvSpPr txBox="1"/>
          <p:nvPr/>
        </p:nvSpPr>
        <p:spPr>
          <a:xfrm>
            <a:off x="2436222"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Rework labour</a:t>
            </a:r>
          </a:p>
        </p:txBody>
      </p:sp>
      <p:sp>
        <p:nvSpPr>
          <p:cNvPr id="14" name="Rectangle 13"/>
          <p:cNvSpPr/>
          <p:nvPr/>
        </p:nvSpPr>
        <p:spPr>
          <a:xfrm>
            <a:off x="4079530" y="3486383"/>
            <a:ext cx="775933" cy="149709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820885" y="3193775"/>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980</a:t>
            </a:r>
          </a:p>
        </p:txBody>
      </p:sp>
      <p:sp>
        <p:nvSpPr>
          <p:cNvPr id="16" name="TextBox 15"/>
          <p:cNvSpPr txBox="1"/>
          <p:nvPr/>
        </p:nvSpPr>
        <p:spPr>
          <a:xfrm>
            <a:off x="3729445"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Scrap and write-off</a:t>
            </a:r>
          </a:p>
        </p:txBody>
      </p:sp>
      <p:sp>
        <p:nvSpPr>
          <p:cNvPr id="17" name="Rectangle 16"/>
          <p:cNvSpPr/>
          <p:nvPr/>
        </p:nvSpPr>
        <p:spPr>
          <a:xfrm>
            <a:off x="5372753" y="4051614"/>
            <a:ext cx="775933" cy="9318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114108" y="3759006"/>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610</a:t>
            </a:r>
          </a:p>
        </p:txBody>
      </p:sp>
      <p:sp>
        <p:nvSpPr>
          <p:cNvPr id="19" name="TextBox 18"/>
          <p:cNvSpPr txBox="1"/>
          <p:nvPr/>
        </p:nvSpPr>
        <p:spPr>
          <a:xfrm>
            <a:off x="5022668"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Expedited freight</a:t>
            </a:r>
          </a:p>
        </p:txBody>
      </p:sp>
      <p:sp>
        <p:nvSpPr>
          <p:cNvPr id="20" name="Rectangle 19"/>
          <p:cNvSpPr/>
          <p:nvPr/>
        </p:nvSpPr>
        <p:spPr>
          <a:xfrm>
            <a:off x="6665976" y="4341867"/>
            <a:ext cx="775933" cy="64161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7331" y="4049259"/>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420</a:t>
            </a:r>
          </a:p>
        </p:txBody>
      </p:sp>
      <p:sp>
        <p:nvSpPr>
          <p:cNvPr id="22" name="TextBox 21"/>
          <p:cNvSpPr txBox="1"/>
          <p:nvPr/>
        </p:nvSpPr>
        <p:spPr>
          <a:xfrm>
            <a:off x="6315891"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Excess inventory carry</a:t>
            </a:r>
          </a:p>
        </p:txBody>
      </p:sp>
      <p:sp>
        <p:nvSpPr>
          <p:cNvPr id="23" name="Rectangle 22"/>
          <p:cNvSpPr/>
          <p:nvPr/>
        </p:nvSpPr>
        <p:spPr>
          <a:xfrm>
            <a:off x="7959198" y="4509909"/>
            <a:ext cx="775933" cy="4735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700554" y="4217301"/>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310</a:t>
            </a:r>
          </a:p>
        </p:txBody>
      </p:sp>
      <p:sp>
        <p:nvSpPr>
          <p:cNvPr id="25" name="TextBox 24"/>
          <p:cNvSpPr txBox="1"/>
          <p:nvPr/>
        </p:nvSpPr>
        <p:spPr>
          <a:xfrm>
            <a:off x="7609114"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Inspection and sorting</a:t>
            </a:r>
          </a:p>
        </p:txBody>
      </p:sp>
      <p:sp>
        <p:nvSpPr>
          <p:cNvPr id="26" name="Rectangle 25"/>
          <p:cNvSpPr/>
          <p:nvPr/>
        </p:nvSpPr>
        <p:spPr>
          <a:xfrm>
            <a:off x="9252421" y="4708503"/>
            <a:ext cx="775933" cy="27497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993777" y="4415895"/>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180</a:t>
            </a:r>
          </a:p>
        </p:txBody>
      </p:sp>
      <p:sp>
        <p:nvSpPr>
          <p:cNvPr id="28" name="TextBox 27"/>
          <p:cNvSpPr txBox="1"/>
          <p:nvPr/>
        </p:nvSpPr>
        <p:spPr>
          <a:xfrm>
            <a:off x="8902337"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Line downtime</a:t>
            </a:r>
          </a:p>
        </p:txBody>
      </p:sp>
      <p:cxnSp>
        <p:nvCxnSpPr>
          <p:cNvPr id="29" name="Connector 28"/>
          <p:cNvCxnSpPr/>
          <p:nvPr/>
        </p:nvCxnSpPr>
        <p:spPr>
          <a:xfrm flipV="1">
            <a:off x="1881051" y="3611220"/>
            <a:ext cx="1293223" cy="584743"/>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174274" y="3149085"/>
            <a:ext cx="1293223" cy="462135"/>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4467497" y="2861429"/>
            <a:ext cx="1293222" cy="287656"/>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5760719" y="2663371"/>
            <a:ext cx="1293223" cy="19805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7053942" y="2517186"/>
            <a:ext cx="1293223" cy="146185"/>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8347165" y="2432304"/>
            <a:ext cx="1293223" cy="84882"/>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1817043" y="4131955"/>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20931" y="4058803"/>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31%</a:t>
            </a:r>
          </a:p>
        </p:txBody>
      </p:sp>
      <p:sp>
        <p:nvSpPr>
          <p:cNvPr id="37" name="Oval 36"/>
          <p:cNvSpPr/>
          <p:nvPr/>
        </p:nvSpPr>
        <p:spPr>
          <a:xfrm>
            <a:off x="3110266" y="3547212"/>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2214154" y="3474060"/>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54%</a:t>
            </a:r>
          </a:p>
        </p:txBody>
      </p:sp>
      <p:sp>
        <p:nvSpPr>
          <p:cNvPr id="39" name="Oval 38"/>
          <p:cNvSpPr/>
          <p:nvPr/>
        </p:nvSpPr>
        <p:spPr>
          <a:xfrm>
            <a:off x="4403489" y="3085077"/>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3507377" y="3011925"/>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72%</a:t>
            </a:r>
          </a:p>
        </p:txBody>
      </p:sp>
      <p:sp>
        <p:nvSpPr>
          <p:cNvPr id="41" name="Oval 40"/>
          <p:cNvSpPr/>
          <p:nvPr/>
        </p:nvSpPr>
        <p:spPr>
          <a:xfrm>
            <a:off x="5696711" y="2797421"/>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5349239" y="2422517"/>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83%</a:t>
            </a:r>
          </a:p>
        </p:txBody>
      </p:sp>
      <p:sp>
        <p:nvSpPr>
          <p:cNvPr id="43" name="Oval 42"/>
          <p:cNvSpPr/>
          <p:nvPr/>
        </p:nvSpPr>
        <p:spPr>
          <a:xfrm>
            <a:off x="6989934" y="2599363"/>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642462" y="2224459"/>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91%</a:t>
            </a:r>
          </a:p>
        </p:txBody>
      </p:sp>
      <p:sp>
        <p:nvSpPr>
          <p:cNvPr id="45" name="Oval 44"/>
          <p:cNvSpPr/>
          <p:nvPr/>
        </p:nvSpPr>
        <p:spPr>
          <a:xfrm>
            <a:off x="8283157" y="245317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7935685" y="2078274"/>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97%</a:t>
            </a:r>
          </a:p>
        </p:txBody>
      </p:sp>
      <p:sp>
        <p:nvSpPr>
          <p:cNvPr id="47" name="Oval 46"/>
          <p:cNvSpPr/>
          <p:nvPr/>
        </p:nvSpPr>
        <p:spPr>
          <a:xfrm>
            <a:off x="9576380" y="236829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9228908" y="1993392"/>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100%</a:t>
            </a:r>
          </a:p>
        </p:txBody>
      </p:sp>
      <p:cxnSp>
        <p:nvCxnSpPr>
          <p:cNvPr id="49" name="Connector 48"/>
          <p:cNvCxnSpPr/>
          <p:nvPr/>
        </p:nvCxnSpPr>
        <p:spPr>
          <a:xfrm>
            <a:off x="1234440" y="2942539"/>
            <a:ext cx="9052560" cy="0"/>
          </a:xfrm>
          <a:prstGeom prst="line">
            <a:avLst/>
          </a:prstGeom>
          <a:ln w="12700">
            <a:solidFill>
              <a:srgbClr val="5B6372"/>
            </a:solidFill>
            <a:prstDash val="dash"/>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10341864" y="2796235"/>
            <a:ext cx="822960" cy="274320"/>
          </a:xfrm>
          <a:prstGeom prst="rect">
            <a:avLst/>
          </a:prstGeom>
          <a:noFill/>
        </p:spPr>
        <p:txBody>
          <a:bodyPr wrap="square" anchor="t">
            <a:spAutoFit/>
          </a:bodyPr>
          <a:lstStyle/>
          <a:p>
            <a:pPr algn="l">
              <a:spcAft>
                <a:spcPts val="400"/>
              </a:spcAft>
            </a:pPr>
            <a:r>
              <a:rPr sz="1000" b="1">
                <a:solidFill>
                  <a:srgbClr val="5B6372"/>
                </a:solidFill>
                <a:latin typeface="Arial"/>
              </a:rPr>
              <a:t>80%</a:t>
            </a:r>
          </a:p>
        </p:txBody>
      </p:sp>
      <p:sp>
        <p:nvSpPr>
          <p:cNvPr id="51" name="TextBox 50"/>
          <p:cNvSpPr txBox="1"/>
          <p:nvPr/>
        </p:nvSpPr>
        <p:spPr>
          <a:xfrm>
            <a:off x="777240" y="589788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SGD thousands. Three categories carry 71 pct of COPQ - that is where the first three charters go.</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COPQ AT SCALE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Rolling COPQ Up From Project to Programme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Project level</a:t>
            </a:r>
          </a:p>
          <a:p>
            <a:pPr algn="l">
              <a:spcAft>
                <a:spcPts val="300"/>
              </a:spcAft>
            </a:pPr>
            <a:r>
              <a:rPr sz="1200" b="0">
                <a:solidFill>
                  <a:srgbClr val="5B6372"/>
                </a:solidFill>
                <a:latin typeface="Arial"/>
              </a:rPr>
              <a:t>One charter, one Y, one benefit figure signed by one finance controller.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Site level</a:t>
            </a:r>
          </a:p>
          <a:p>
            <a:pPr algn="l">
              <a:spcAft>
                <a:spcPts val="300"/>
              </a:spcAft>
            </a:pPr>
            <a:r>
              <a:rPr sz="1200" b="0">
                <a:solidFill>
                  <a:srgbClr val="5B6372"/>
                </a:solidFill>
                <a:latin typeface="Arial"/>
              </a:rPr>
              <a:t>Sum the project benefits, subtract double-counting where two projects touch the same cost.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Programme level</a:t>
            </a:r>
          </a:p>
          <a:p>
            <a:pPr algn="l">
              <a:spcAft>
                <a:spcPts val="300"/>
              </a:spcAft>
            </a:pPr>
            <a:r>
              <a:rPr sz="1200" b="0">
                <a:solidFill>
                  <a:srgbClr val="5B6372"/>
                </a:solidFill>
                <a:latin typeface="Arial"/>
              </a:rPr>
              <a:t>Aggregate across sites, net of belt cost, training cost and any capital spend.</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double-count trap</a:t>
            </a:r>
          </a:p>
          <a:p>
            <a:pPr algn="l">
              <a:spcAft>
                <a:spcPts val="300"/>
              </a:spcAft>
            </a:pPr>
            <a:r>
              <a:rPr sz="1200" b="0">
                <a:solidFill>
                  <a:srgbClr val="5B6372"/>
                </a:solidFill>
                <a:latin typeface="Arial"/>
              </a:rPr>
              <a:t>Two projects both claiming the same scrap reduction is the fastest way to lose credibility.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netting rule</a:t>
            </a:r>
          </a:p>
          <a:p>
            <a:pPr algn="l">
              <a:spcAft>
                <a:spcPts val="300"/>
              </a:spcAft>
            </a:pPr>
            <a:r>
              <a:rPr sz="1200" b="0">
                <a:solidFill>
                  <a:srgbClr val="5B6372"/>
                </a:solidFill>
                <a:latin typeface="Arial"/>
              </a:rPr>
              <a:t>Report gross benefit, programme cost and net benefit separately. Never only the gross.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Reporting cadence</a:t>
            </a:r>
          </a:p>
          <a:p>
            <a:pPr algn="l">
              <a:spcAft>
                <a:spcPts val="300"/>
              </a:spcAft>
            </a:pPr>
            <a:r>
              <a:rPr sz="1200" b="0">
                <a:solidFill>
                  <a:srgbClr val="5B6372"/>
                </a:solidFill>
                <a:latin typeface="Arial"/>
              </a:rPr>
              <a:t>Monthly to the deployment leader, quarterly to the steering committee, with Finance present.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YOUR CAPSTONE PROJECT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Your capstone starts today.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Alongside the WSQ assessment, you build a capstone project on YOUR own workplace process - chosen today, developed in every lab, and presented to a simulated steering committee on Day 5.</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ASSESSMENT MODEL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the Capstone Works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You choose it today</a:t>
            </a:r>
          </a:p>
          <a:p>
            <a:pPr algn="l">
              <a:spcAft>
                <a:spcPts val="300"/>
              </a:spcAft>
            </a:pPr>
            <a:r>
              <a:rPr sz="1200" b="0">
                <a:solidFill>
                  <a:srgbClr val="5B6372"/>
                </a:solidFill>
                <a:latin typeface="Arial"/>
              </a:rPr>
              <a:t>Pick a real process you own or influence at work. Real data, real sponsor, real benefit.</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It grows in every lab</a:t>
            </a:r>
          </a:p>
          <a:p>
            <a:pPr algn="l">
              <a:spcAft>
                <a:spcPts val="300"/>
              </a:spcAft>
            </a:pPr>
            <a:r>
              <a:rPr sz="1200" b="0">
                <a:solidFill>
                  <a:srgbClr val="5B6372"/>
                </a:solidFill>
                <a:latin typeface="Arial"/>
              </a:rPr>
              <a:t>Each lab applies that session's tool to YOUR process, not to a textbook case.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It accumulates artefacts</a:t>
            </a:r>
          </a:p>
          <a:p>
            <a:pPr algn="l">
              <a:spcAft>
                <a:spcPts val="300"/>
              </a:spcAft>
            </a:pPr>
            <a:r>
              <a:rPr sz="1200" b="0">
                <a:solidFill>
                  <a:srgbClr val="5B6372"/>
                </a:solidFill>
                <a:latin typeface="Arial"/>
              </a:rPr>
              <a:t>Charter, SIPOC, MSA, capability study, hypothesis tests, DOE, control plan - all yours.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Day 5 consolidates</a:t>
            </a:r>
          </a:p>
          <a:p>
            <a:pPr algn="l">
              <a:spcAft>
                <a:spcPts val="300"/>
              </a:spcAft>
            </a:pPr>
            <a:r>
              <a:rPr sz="1200" b="0">
                <a:solidFill>
                  <a:srgbClr val="5B6372"/>
                </a:solidFill>
                <a:latin typeface="Arial"/>
              </a:rPr>
              <a:t>The final day assembles everything into one coherent project storyboard.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You present to a panel</a:t>
            </a:r>
          </a:p>
          <a:p>
            <a:pPr algn="l">
              <a:spcAft>
                <a:spcPts val="300"/>
              </a:spcAft>
            </a:pPr>
            <a:r>
              <a:rPr sz="1200" b="0">
                <a:solidFill>
                  <a:srgbClr val="5B6372"/>
                </a:solidFill>
                <a:latin typeface="Arial"/>
              </a:rPr>
              <a:t>A simulated steering committee tollgate review, with challenge questions.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Additional to the WSQ papers</a:t>
            </a:r>
          </a:p>
          <a:p>
            <a:pPr algn="l">
              <a:spcAft>
                <a:spcPts val="300"/>
              </a:spcAft>
            </a:pPr>
            <a:r>
              <a:rPr sz="1200" b="0">
                <a:solidFill>
                  <a:srgbClr val="5B6372"/>
                </a:solidFill>
                <a:latin typeface="Arial"/>
              </a:rPr>
              <a:t>You also sit the Written Assessment (SAQ) and the Case Study on Day 5. Both open book.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FIVE-DAY ARC</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Capstone Across the Five Days</a:t>
            </a:r>
          </a:p>
        </p:txBody>
      </p:sp>
      <p:sp>
        <p:nvSpPr>
          <p:cNvPr id="6" name="Rectangle 5"/>
          <p:cNvSpPr/>
          <p:nvPr/>
        </p:nvSpPr>
        <p:spPr>
          <a:xfrm>
            <a:off x="777240"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78892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DAY 1 - choose the process, draft the charter, define the Y and the business case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404872"/>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78892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DAY 2 - SIPOC, VOC, CTQ flowdown, MSA and baseline capability on your data</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404872"/>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78892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DAY 3 - graphical analysis, hypothesis tests and regression to find your vital few Xs</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404872"/>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78892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DAY 4 - DOE, solution design, pilot plan, FMEA and your control plan</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404872"/>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78892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DAY 5 - consolidate the storyboard and present to the steering committee panel</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CHOOSE WELL - IT RUNS ALL WEEK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Choosing a Good Capstone Process - Today</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You can access the data</a:t>
            </a:r>
          </a:p>
          <a:p>
            <a:pPr algn="l">
              <a:spcAft>
                <a:spcPts val="300"/>
              </a:spcAft>
            </a:pPr>
            <a:r>
              <a:rPr sz="1200" b="0">
                <a:solidFill>
                  <a:srgbClr val="5B6372"/>
                </a:solidFill>
                <a:latin typeface="Arial"/>
              </a:rPr>
              <a:t>Existing measurements you can actually obtain this week. No data, no capstone.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Y is measurable</a:t>
            </a:r>
          </a:p>
          <a:p>
            <a:pPr algn="l">
              <a:spcAft>
                <a:spcPts val="300"/>
              </a:spcAft>
            </a:pPr>
            <a:r>
              <a:rPr sz="1200" b="0">
                <a:solidFill>
                  <a:srgbClr val="5B6372"/>
                </a:solidFill>
                <a:latin typeface="Arial"/>
              </a:rPr>
              <a:t>A continuous or countable output you can baseline - cycle time, yield, error rate, cost.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solution is not obvious</a:t>
            </a:r>
          </a:p>
          <a:p>
            <a:pPr algn="l">
              <a:spcAft>
                <a:spcPts val="300"/>
              </a:spcAft>
            </a:pPr>
            <a:r>
              <a:rPr sz="1200" b="0">
                <a:solidFill>
                  <a:srgbClr val="5B6372"/>
                </a:solidFill>
                <a:latin typeface="Arial"/>
              </a:rPr>
              <a:t>If you already know the fix, choose something else - you will learn nothing.</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Scope is a process, not a function</a:t>
            </a:r>
          </a:p>
          <a:p>
            <a:pPr algn="l">
              <a:spcAft>
                <a:spcPts val="300"/>
              </a:spcAft>
            </a:pPr>
            <a:r>
              <a:rPr sz="1200" b="0">
                <a:solidFill>
                  <a:srgbClr val="5B6372"/>
                </a:solidFill>
                <a:latin typeface="Arial"/>
              </a:rPr>
              <a:t>One process with a clear start and end. Not 'improve the supply chain'.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You have standing</a:t>
            </a:r>
          </a:p>
          <a:p>
            <a:pPr algn="l">
              <a:spcAft>
                <a:spcPts val="300"/>
              </a:spcAft>
            </a:pPr>
            <a:r>
              <a:rPr sz="1200" b="0">
                <a:solidFill>
                  <a:srgbClr val="5B6372"/>
                </a:solidFill>
                <a:latin typeface="Arial"/>
              </a:rPr>
              <a:t>A process you own, support or can influence. Not someone else's department.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It matters to someone</a:t>
            </a:r>
          </a:p>
          <a:p>
            <a:pPr algn="l">
              <a:spcAft>
                <a:spcPts val="300"/>
              </a:spcAft>
            </a:pPr>
            <a:r>
              <a:rPr sz="1200" b="0">
                <a:solidFill>
                  <a:srgbClr val="5B6372"/>
                </a:solidFill>
                <a:latin typeface="Arial"/>
              </a:rPr>
              <a:t>A named person would be pleased if it improved. That person is your sponsor.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CHARTER ON DAY 1</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Day 1 Capstone Charter - The Six Boxes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Problem statement</a:t>
            </a:r>
          </a:p>
          <a:p>
            <a:pPr algn="l">
              <a:spcAft>
                <a:spcPts val="300"/>
              </a:spcAft>
            </a:pPr>
            <a:r>
              <a:rPr sz="1200" b="0">
                <a:solidFill>
                  <a:srgbClr val="5B6372"/>
                </a:solidFill>
                <a:latin typeface="Arial"/>
              </a:rPr>
              <a:t>What, where, when, how big - in measurable terms. No cause, no blame, no solution.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Goal statement</a:t>
            </a:r>
          </a:p>
          <a:p>
            <a:pPr algn="l">
              <a:spcAft>
                <a:spcPts val="300"/>
              </a:spcAft>
            </a:pPr>
            <a:r>
              <a:rPr sz="1200" b="0">
                <a:solidFill>
                  <a:srgbClr val="5B6372"/>
                </a:solidFill>
                <a:latin typeface="Arial"/>
              </a:rPr>
              <a:t>From X to Y by when. Specific, measurable and agreed with the sponsor.</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Business case</a:t>
            </a:r>
          </a:p>
          <a:p>
            <a:pPr algn="l">
              <a:spcAft>
                <a:spcPts val="300"/>
              </a:spcAft>
            </a:pPr>
            <a:r>
              <a:rPr sz="1200" b="0">
                <a:solidFill>
                  <a:srgbClr val="5B6372"/>
                </a:solidFill>
                <a:latin typeface="Arial"/>
              </a:rPr>
              <a:t>Why now, and what it is worth. Link to COPQ or to a strategic objective.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Scope</a:t>
            </a:r>
          </a:p>
          <a:p>
            <a:pPr algn="l">
              <a:spcAft>
                <a:spcPts val="300"/>
              </a:spcAft>
            </a:pPr>
            <a:r>
              <a:rPr sz="1200" b="0">
                <a:solidFill>
                  <a:srgbClr val="5B6372"/>
                </a:solidFill>
                <a:latin typeface="Arial"/>
              </a:rPr>
              <a:t>In scope and explicitly out of scope. The out-of-scope list prevents most scope creep.</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Team and sponsor</a:t>
            </a:r>
          </a:p>
          <a:p>
            <a:pPr algn="l">
              <a:spcAft>
                <a:spcPts val="300"/>
              </a:spcAft>
            </a:pPr>
            <a:r>
              <a:rPr sz="1200" b="0">
                <a:solidFill>
                  <a:srgbClr val="5B6372"/>
                </a:solidFill>
                <a:latin typeface="Arial"/>
              </a:rPr>
              <a:t>Named sponsor, named process owner, named team members with time committed.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Milestones</a:t>
            </a:r>
          </a:p>
          <a:p>
            <a:pPr algn="l">
              <a:spcAft>
                <a:spcPts val="300"/>
              </a:spcAft>
            </a:pPr>
            <a:r>
              <a:rPr sz="1200" b="0">
                <a:solidFill>
                  <a:srgbClr val="5B6372"/>
                </a:solidFill>
                <a:latin typeface="Arial"/>
              </a:rPr>
              <a:t>The five tollgate dates. A charter without dates is an intention, not a plan.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DAY 5 - THE FINAL TOLLGATE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Day 5 Steering Committee Presentation</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Format</a:t>
            </a:r>
          </a:p>
          <a:p>
            <a:pPr algn="l">
              <a:spcAft>
                <a:spcPts val="300"/>
              </a:spcAft>
            </a:pPr>
            <a:r>
              <a:rPr sz="1200" b="0">
                <a:solidFill>
                  <a:srgbClr val="5B6372"/>
                </a:solidFill>
                <a:latin typeface="Arial"/>
              </a:rPr>
              <a:t>15 minutes of storyboard plus 10 minutes of challenge questions from the panel.</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Structure</a:t>
            </a:r>
          </a:p>
          <a:p>
            <a:pPr algn="l">
              <a:spcAft>
                <a:spcPts val="300"/>
              </a:spcAft>
            </a:pPr>
            <a:r>
              <a:rPr sz="1200" b="0">
                <a:solidFill>
                  <a:srgbClr val="5B6372"/>
                </a:solidFill>
                <a:latin typeface="Arial"/>
              </a:rPr>
              <a:t>One slide per DMAIC phase, showing the evidence that closed each tollgate.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data must be yours</a:t>
            </a:r>
          </a:p>
          <a:p>
            <a:pPr algn="l">
              <a:spcAft>
                <a:spcPts val="300"/>
              </a:spcAft>
            </a:pPr>
            <a:r>
              <a:rPr sz="1200" b="0">
                <a:solidFill>
                  <a:srgbClr val="5B6372"/>
                </a:solidFill>
                <a:latin typeface="Arial"/>
              </a:rPr>
              <a:t>Real numbers from your own process. Invented data is obvious and scores nothing.</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Defend the statistics</a:t>
            </a:r>
          </a:p>
          <a:p>
            <a:pPr algn="l">
              <a:spcAft>
                <a:spcPts val="300"/>
              </a:spcAft>
            </a:pPr>
            <a:r>
              <a:rPr sz="1200" b="0">
                <a:solidFill>
                  <a:srgbClr val="5B6372"/>
                </a:solidFill>
                <a:latin typeface="Arial"/>
              </a:rPr>
              <a:t>Expect to be asked why that test, that sample size, that confidence level.</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State the benefit</a:t>
            </a:r>
          </a:p>
          <a:p>
            <a:pPr algn="l">
              <a:spcAft>
                <a:spcPts val="300"/>
              </a:spcAft>
            </a:pPr>
            <a:r>
              <a:rPr sz="1200" b="0">
                <a:solidFill>
                  <a:srgbClr val="5B6372"/>
                </a:solidFill>
                <a:latin typeface="Arial"/>
              </a:rPr>
              <a:t>A quantified benefit with the assumptions visible, as Finance would want to see it.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Name the risks</a:t>
            </a:r>
          </a:p>
          <a:p>
            <a:pPr algn="l">
              <a:spcAft>
                <a:spcPts val="300"/>
              </a:spcAft>
            </a:pPr>
            <a:r>
              <a:rPr sz="1200" b="0">
                <a:solidFill>
                  <a:srgbClr val="5B6372"/>
                </a:solidFill>
                <a:latin typeface="Arial"/>
              </a:rPr>
              <a:t>A credible presentation names what could still go wrong and how control handles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ASSESSMENT CRITERIA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Your Capstone Is Judged</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Correct tool selection</a:t>
            </a:r>
          </a:p>
          <a:p>
            <a:pPr algn="l">
              <a:spcAft>
                <a:spcPts val="300"/>
              </a:spcAft>
            </a:pPr>
            <a:r>
              <a:rPr sz="1200" b="0">
                <a:solidFill>
                  <a:srgbClr val="5B6372"/>
                </a:solidFill>
                <a:latin typeface="Arial"/>
              </a:rPr>
              <a:t>Did you choose the right tool for the data type and the question asked?</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Sound execution</a:t>
            </a:r>
          </a:p>
          <a:p>
            <a:pPr algn="l">
              <a:spcAft>
                <a:spcPts val="300"/>
              </a:spcAft>
            </a:pPr>
            <a:r>
              <a:rPr sz="1200" b="0">
                <a:solidFill>
                  <a:srgbClr val="5B6372"/>
                </a:solidFill>
                <a:latin typeface="Arial"/>
              </a:rPr>
              <a:t>Assumptions checked, sample sizes justified, conclusions supported by the output.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clear causal chain</a:t>
            </a:r>
          </a:p>
          <a:p>
            <a:pPr algn="l">
              <a:spcAft>
                <a:spcPts val="300"/>
              </a:spcAft>
            </a:pPr>
            <a:r>
              <a:rPr sz="1200" b="0">
                <a:solidFill>
                  <a:srgbClr val="5B6372"/>
                </a:solidFill>
                <a:latin typeface="Arial"/>
              </a:rPr>
              <a:t>The Xs you improved are demonstrably the Xs your analysis proved mattered.</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workable control plan</a:t>
            </a:r>
          </a:p>
          <a:p>
            <a:pPr algn="l">
              <a:spcAft>
                <a:spcPts val="300"/>
              </a:spcAft>
            </a:pPr>
            <a:r>
              <a:rPr sz="1200" b="0">
                <a:solidFill>
                  <a:srgbClr val="5B6372"/>
                </a:solidFill>
                <a:latin typeface="Arial"/>
              </a:rPr>
              <a:t>Something the process owner could genuinely run after you leave.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defensible benefit</a:t>
            </a:r>
          </a:p>
          <a:p>
            <a:pPr algn="l">
              <a:spcAft>
                <a:spcPts val="300"/>
              </a:spcAft>
            </a:pPr>
            <a:r>
              <a:rPr sz="1200" b="0">
                <a:solidFill>
                  <a:srgbClr val="5B6372"/>
                </a:solidFill>
                <a:latin typeface="Arial"/>
              </a:rPr>
              <a:t>A calculation a finance controller would sign, with assumptions declared.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Presentation under challenge</a:t>
            </a:r>
          </a:p>
          <a:p>
            <a:pPr algn="l">
              <a:spcAft>
                <a:spcPts val="300"/>
              </a:spcAft>
            </a:pPr>
            <a:r>
              <a:rPr sz="1200" b="0">
                <a:solidFill>
                  <a:srgbClr val="5B6372"/>
                </a:solidFill>
                <a:latin typeface="Arial"/>
              </a:rPr>
              <a:t>Held your position on evidence, and conceded gracefully where evidence was thin.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DMAIC AT ALTITUDE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You know DMAIC. Now you have to be able to teach it.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next slides recap all five phases at the depth a Black Belt needs to mentor Green Belts through them, run their tollgates, and recognise each phase's characteristic failure mode.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FIVE PHASES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DMAIC Roadmap</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Charter and business case</a:t>
            </a:r>
          </a:p>
          <a:p>
            <a:pPr>
              <a:spcAft>
                <a:spcPts val="600"/>
              </a:spcAft>
            </a:pPr>
            <a:r>
              <a:rPr sz="1100">
                <a:solidFill>
                  <a:srgbClr val="161B26"/>
                </a:solidFill>
                <a:latin typeface="Arial"/>
              </a:rPr>
              <a:t>•  Voice of the customer</a:t>
            </a:r>
          </a:p>
          <a:p>
            <a:pPr>
              <a:spcAft>
                <a:spcPts val="600"/>
              </a:spcAft>
            </a:pPr>
            <a:r>
              <a:rPr sz="1100">
                <a:solidFill>
                  <a:srgbClr val="161B26"/>
                </a:solidFill>
                <a:latin typeface="Arial"/>
              </a:rPr>
              <a:t>•  CTQ flowdown</a:t>
            </a:r>
          </a:p>
          <a:p>
            <a:pPr>
              <a:spcAft>
                <a:spcPts val="600"/>
              </a:spcAft>
            </a:pPr>
            <a:r>
              <a:rPr sz="1100">
                <a:solidFill>
                  <a:srgbClr val="161B26"/>
                </a:solidFill>
                <a:latin typeface="Arial"/>
              </a:rPr>
              <a:t>•  SIPOC and scope</a:t>
            </a:r>
          </a:p>
          <a:p>
            <a:pPr>
              <a:spcAft>
                <a:spcPts val="600"/>
              </a:spcAft>
            </a:pPr>
            <a:r>
              <a:rPr sz="1100">
                <a:solidFill>
                  <a:srgbClr val="161B26"/>
                </a:solidFill>
                <a:latin typeface="Arial"/>
              </a:rPr>
              <a:t>•  Team and sponsor</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Operational definitions</a:t>
            </a:r>
          </a:p>
          <a:p>
            <a:pPr>
              <a:spcAft>
                <a:spcPts val="600"/>
              </a:spcAft>
            </a:pPr>
            <a:r>
              <a:rPr sz="1100">
                <a:solidFill>
                  <a:srgbClr val="161B26"/>
                </a:solidFill>
                <a:latin typeface="Arial"/>
              </a:rPr>
              <a:t>•  Data collection plan</a:t>
            </a:r>
          </a:p>
          <a:p>
            <a:pPr>
              <a:spcAft>
                <a:spcPts val="600"/>
              </a:spcAft>
            </a:pPr>
            <a:r>
              <a:rPr sz="1100">
                <a:solidFill>
                  <a:srgbClr val="161B26"/>
                </a:solidFill>
                <a:latin typeface="Arial"/>
              </a:rPr>
              <a:t>•  Measurement system analysis</a:t>
            </a:r>
          </a:p>
          <a:p>
            <a:pPr>
              <a:spcAft>
                <a:spcPts val="600"/>
              </a:spcAft>
            </a:pPr>
            <a:r>
              <a:rPr sz="1100">
                <a:solidFill>
                  <a:srgbClr val="161B26"/>
                </a:solidFill>
                <a:latin typeface="Arial"/>
              </a:rPr>
              <a:t>•  Baseline capability</a:t>
            </a:r>
          </a:p>
          <a:p>
            <a:pPr>
              <a:spcAft>
                <a:spcPts val="600"/>
              </a:spcAft>
            </a:pPr>
            <a:r>
              <a:rPr sz="1100">
                <a:solidFill>
                  <a:srgbClr val="161B26"/>
                </a:solidFill>
                <a:latin typeface="Arial"/>
              </a:rPr>
              <a:t>•  Process mapping</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Graphical analysis</a:t>
            </a:r>
          </a:p>
          <a:p>
            <a:pPr>
              <a:spcAft>
                <a:spcPts val="600"/>
              </a:spcAft>
            </a:pPr>
            <a:r>
              <a:rPr sz="1100">
                <a:solidFill>
                  <a:srgbClr val="161B26"/>
                </a:solidFill>
                <a:latin typeface="Arial"/>
              </a:rPr>
              <a:t>•  Root cause hypotheses</a:t>
            </a:r>
          </a:p>
          <a:p>
            <a:pPr>
              <a:spcAft>
                <a:spcPts val="600"/>
              </a:spcAft>
            </a:pPr>
            <a:r>
              <a:rPr sz="1100">
                <a:solidFill>
                  <a:srgbClr val="161B26"/>
                </a:solidFill>
                <a:latin typeface="Arial"/>
              </a:rPr>
              <a:t>•  Hypothesis testing</a:t>
            </a:r>
          </a:p>
          <a:p>
            <a:pPr>
              <a:spcAft>
                <a:spcPts val="600"/>
              </a:spcAft>
            </a:pPr>
            <a:r>
              <a:rPr sz="1100">
                <a:solidFill>
                  <a:srgbClr val="161B26"/>
                </a:solidFill>
                <a:latin typeface="Arial"/>
              </a:rPr>
              <a:t>•  Regression and ANOVA</a:t>
            </a:r>
          </a:p>
          <a:p>
            <a:pPr>
              <a:spcAft>
                <a:spcPts val="600"/>
              </a:spcAft>
            </a:pPr>
            <a:r>
              <a:rPr sz="1100">
                <a:solidFill>
                  <a:srgbClr val="161B26"/>
                </a:solidFill>
                <a:latin typeface="Arial"/>
              </a:rPr>
              <a:t>•  Vital few Xs proven</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Solution generation</a:t>
            </a:r>
          </a:p>
          <a:p>
            <a:pPr>
              <a:spcAft>
                <a:spcPts val="600"/>
              </a:spcAft>
            </a:pPr>
            <a:r>
              <a:rPr sz="1100">
                <a:solidFill>
                  <a:srgbClr val="161B26"/>
                </a:solidFill>
                <a:latin typeface="Arial"/>
              </a:rPr>
              <a:t>•  Design of experiments</a:t>
            </a:r>
          </a:p>
          <a:p>
            <a:pPr>
              <a:spcAft>
                <a:spcPts val="600"/>
              </a:spcAft>
            </a:pPr>
            <a:r>
              <a:rPr sz="1100">
                <a:solidFill>
                  <a:srgbClr val="161B26"/>
                </a:solidFill>
                <a:latin typeface="Arial"/>
              </a:rPr>
              <a:t>•  Pilot and validate</a:t>
            </a:r>
          </a:p>
          <a:p>
            <a:pPr>
              <a:spcAft>
                <a:spcPts val="600"/>
              </a:spcAft>
            </a:pPr>
            <a:r>
              <a:rPr sz="1100">
                <a:solidFill>
                  <a:srgbClr val="161B26"/>
                </a:solidFill>
                <a:latin typeface="Arial"/>
              </a:rPr>
              <a:t>•  FMEA on the solution</a:t>
            </a:r>
          </a:p>
          <a:p>
            <a:pPr>
              <a:spcAft>
                <a:spcPts val="600"/>
              </a:spcAft>
            </a:pPr>
            <a:r>
              <a:rPr sz="1100">
                <a:solidFill>
                  <a:srgbClr val="161B26"/>
                </a:solidFill>
                <a:latin typeface="Arial"/>
              </a:rPr>
              <a:t>•  Implementation plan</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Control plan</a:t>
            </a:r>
          </a:p>
          <a:p>
            <a:pPr>
              <a:spcAft>
                <a:spcPts val="600"/>
              </a:spcAft>
            </a:pPr>
            <a:r>
              <a:rPr sz="1100">
                <a:solidFill>
                  <a:srgbClr val="161B26"/>
                </a:solidFill>
                <a:latin typeface="Arial"/>
              </a:rPr>
              <a:t>•  Statistical process control</a:t>
            </a:r>
          </a:p>
          <a:p>
            <a:pPr>
              <a:spcAft>
                <a:spcPts val="600"/>
              </a:spcAft>
            </a:pPr>
            <a:r>
              <a:rPr sz="1100">
                <a:solidFill>
                  <a:srgbClr val="161B26"/>
                </a:solidFill>
                <a:latin typeface="Arial"/>
              </a:rPr>
              <a:t>•  Standard work and training</a:t>
            </a:r>
          </a:p>
          <a:p>
            <a:pPr>
              <a:spcAft>
                <a:spcPts val="600"/>
              </a:spcAft>
            </a:pPr>
            <a:r>
              <a:rPr sz="1100">
                <a:solidFill>
                  <a:srgbClr val="161B26"/>
                </a:solidFill>
                <a:latin typeface="Arial"/>
              </a:rPr>
              <a:t>•  Handover to process owner</a:t>
            </a:r>
          </a:p>
          <a:p>
            <a:pPr>
              <a:spcAft>
                <a:spcPts val="600"/>
              </a:spcAft>
            </a:pPr>
            <a:r>
              <a:rPr sz="1100">
                <a:solidFill>
                  <a:srgbClr val="161B26"/>
                </a:solidFill>
                <a:latin typeface="Arial"/>
              </a:rPr>
              <a:t>•  Benefit realisation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1 - DEFINE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Purpose, Tools, Tollgate, Failure Mode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Purpose</a:t>
            </a:r>
          </a:p>
          <a:p>
            <a:pPr algn="l">
              <a:spcAft>
                <a:spcPts val="300"/>
              </a:spcAft>
            </a:pPr>
            <a:r>
              <a:rPr sz="1200" b="0">
                <a:solidFill>
                  <a:srgbClr val="5B6372"/>
                </a:solidFill>
                <a:latin typeface="Arial"/>
              </a:rPr>
              <a:t>Establish what problem is being solved, for whom, worth how much, and within what boundary.</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Core tools</a:t>
            </a:r>
          </a:p>
          <a:p>
            <a:pPr algn="l">
              <a:spcAft>
                <a:spcPts val="300"/>
              </a:spcAft>
            </a:pPr>
            <a:r>
              <a:rPr sz="1200" b="0">
                <a:solidFill>
                  <a:srgbClr val="5B6372"/>
                </a:solidFill>
                <a:latin typeface="Arial"/>
              </a:rPr>
              <a:t>Project charter, VOC capture, Kano, CTQ tree, SIPOC, stakeholder analysis, RACI.</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Tollgate deliverable</a:t>
            </a:r>
          </a:p>
          <a:p>
            <a:pPr algn="l">
              <a:spcAft>
                <a:spcPts val="300"/>
              </a:spcAft>
            </a:pPr>
            <a:r>
              <a:rPr sz="1200" b="0">
                <a:solidFill>
                  <a:srgbClr val="5B6372"/>
                </a:solidFill>
                <a:latin typeface="Arial"/>
              </a:rPr>
              <a:t>A signed charter with a measurable Y, an agreed scope and a Finance-acknowledged business case.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Failure mode</a:t>
            </a:r>
          </a:p>
          <a:p>
            <a:pPr algn="l">
              <a:spcAft>
                <a:spcPts val="300"/>
              </a:spcAft>
            </a:pPr>
            <a:r>
              <a:rPr sz="1200" b="0">
                <a:solidFill>
                  <a:srgbClr val="5B6372"/>
                </a:solidFill>
                <a:latin typeface="Arial"/>
              </a:rPr>
              <a:t>A vague problem statement that contains a cause or a solution - guarantees a wandering project.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Mentoring cue</a:t>
            </a:r>
          </a:p>
          <a:p>
            <a:pPr algn="l">
              <a:spcAft>
                <a:spcPts val="300"/>
              </a:spcAft>
            </a:pPr>
            <a:r>
              <a:rPr sz="1200" b="0">
                <a:solidFill>
                  <a:srgbClr val="5B6372"/>
                </a:solidFill>
                <a:latin typeface="Arial"/>
              </a:rPr>
              <a:t>Green Belts write goals like 'improve quality'. Push until it reads 'from 88.7 pct to 95.0 pct by Q3'.</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Time share</a:t>
            </a:r>
          </a:p>
          <a:p>
            <a:pPr algn="l">
              <a:spcAft>
                <a:spcPts val="300"/>
              </a:spcAft>
            </a:pPr>
            <a:r>
              <a:rPr sz="1200" b="0">
                <a:solidFill>
                  <a:srgbClr val="5B6372"/>
                </a:solidFill>
                <a:latin typeface="Arial"/>
              </a:rPr>
              <a:t>Roughly 15 pct of project effort. Rushing Define costs three times as much in Analyze.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PHASE 2 - MEASURE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Purpose, Tools, Tollgate, Failure Mode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Purpose</a:t>
            </a:r>
          </a:p>
          <a:p>
            <a:pPr algn="l">
              <a:spcAft>
                <a:spcPts val="300"/>
              </a:spcAft>
            </a:pPr>
            <a:r>
              <a:rPr sz="1200" b="0">
                <a:solidFill>
                  <a:srgbClr val="5B6372"/>
                </a:solidFill>
                <a:latin typeface="Arial"/>
              </a:rPr>
              <a:t>Prove the measurement system is trustworthy, then establish an honest baseline of the Y.</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Core tools</a:t>
            </a:r>
          </a:p>
          <a:p>
            <a:pPr algn="l">
              <a:spcAft>
                <a:spcPts val="300"/>
              </a:spcAft>
            </a:pPr>
            <a:r>
              <a:rPr sz="1200" b="0">
                <a:solidFill>
                  <a:srgbClr val="5B6372"/>
                </a:solidFill>
                <a:latin typeface="Arial"/>
              </a:rPr>
              <a:t>Operational definitions, data collection plan, MSA and Gage R and R, capability study, detailed process map.</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Tollgate deliverable</a:t>
            </a:r>
          </a:p>
          <a:p>
            <a:pPr algn="l">
              <a:spcAft>
                <a:spcPts val="300"/>
              </a:spcAft>
            </a:pPr>
            <a:r>
              <a:rPr sz="1200" b="0">
                <a:solidFill>
                  <a:srgbClr val="5B6372"/>
                </a:solidFill>
                <a:latin typeface="Arial"/>
              </a:rPr>
              <a:t>A validated measurement system plus a baseline capability figure with its confidence interval.</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Failure mode</a:t>
            </a:r>
          </a:p>
          <a:p>
            <a:pPr algn="l">
              <a:spcAft>
                <a:spcPts val="300"/>
              </a:spcAft>
            </a:pPr>
            <a:r>
              <a:rPr sz="1200" b="0">
                <a:solidFill>
                  <a:srgbClr val="5B6372"/>
                </a:solidFill>
                <a:latin typeface="Arial"/>
              </a:rPr>
              <a:t>Skipping MSA. If the gauge is the source of variation, every later conclusion is wrong.</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Mentoring cue</a:t>
            </a:r>
          </a:p>
          <a:p>
            <a:pPr algn="l">
              <a:spcAft>
                <a:spcPts val="300"/>
              </a:spcAft>
            </a:pPr>
            <a:r>
              <a:rPr sz="1200" b="0">
                <a:solidFill>
                  <a:srgbClr val="5B6372"/>
                </a:solidFill>
                <a:latin typeface="Arial"/>
              </a:rPr>
              <a:t>Ask 'how do you know the data is right?' before you ever discuss what the data shows.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Time share</a:t>
            </a:r>
          </a:p>
          <a:p>
            <a:pPr algn="l">
              <a:spcAft>
                <a:spcPts val="300"/>
              </a:spcAft>
            </a:pPr>
            <a:r>
              <a:rPr sz="1200" b="0">
                <a:solidFill>
                  <a:srgbClr val="5B6372"/>
                </a:solidFill>
                <a:latin typeface="Arial"/>
              </a:rPr>
              <a:t>Roughly 25 pct of effort. This is where Green Belts most often need Black Belt rescue.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PHASE 3 - ANALYZE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Purpose, Tools, Tollgate, Failure Mode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Purpose</a:t>
            </a:r>
          </a:p>
          <a:p>
            <a:pPr algn="l">
              <a:spcAft>
                <a:spcPts val="300"/>
              </a:spcAft>
            </a:pPr>
            <a:r>
              <a:rPr sz="1200" b="0">
                <a:solidFill>
                  <a:srgbClr val="5B6372"/>
                </a:solidFill>
                <a:latin typeface="Arial"/>
              </a:rPr>
              <a:t>Move from a long list of suspected Xs to a short list proven by data to drive the Y.</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Core tools</a:t>
            </a:r>
          </a:p>
          <a:p>
            <a:pPr algn="l">
              <a:spcAft>
                <a:spcPts val="300"/>
              </a:spcAft>
            </a:pPr>
            <a:r>
              <a:rPr sz="1200" b="0">
                <a:solidFill>
                  <a:srgbClr val="5B6372"/>
                </a:solidFill>
                <a:latin typeface="Arial"/>
              </a:rPr>
              <a:t>Graphical analysis, fishbone, 5 Whys, hypothesis tests, ANOVA, regression, multi-vari studies.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Tollgate deliverable</a:t>
            </a:r>
          </a:p>
          <a:p>
            <a:pPr algn="l">
              <a:spcAft>
                <a:spcPts val="300"/>
              </a:spcAft>
            </a:pPr>
            <a:r>
              <a:rPr sz="1200" b="0">
                <a:solidFill>
                  <a:srgbClr val="5B6372"/>
                </a:solidFill>
                <a:latin typeface="Arial"/>
              </a:rPr>
              <a:t>Statistically validated root causes, with the p-values and effect sizes that justify them.</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Failure mode</a:t>
            </a:r>
          </a:p>
          <a:p>
            <a:pPr algn="l">
              <a:spcAft>
                <a:spcPts val="300"/>
              </a:spcAft>
            </a:pPr>
            <a:r>
              <a:rPr sz="1200" b="0">
                <a:solidFill>
                  <a:srgbClr val="5B6372"/>
                </a:solidFill>
                <a:latin typeface="Arial"/>
              </a:rPr>
              <a:t>Confirmation bias - testing only the cause the team already believed, and stopping there.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Mentoring cue</a:t>
            </a:r>
          </a:p>
          <a:p>
            <a:pPr algn="l">
              <a:spcAft>
                <a:spcPts val="300"/>
              </a:spcAft>
            </a:pPr>
            <a:r>
              <a:rPr sz="1200" b="0">
                <a:solidFill>
                  <a:srgbClr val="5B6372"/>
                </a:solidFill>
                <a:latin typeface="Arial"/>
              </a:rPr>
              <a:t>Insist on practical significance alongside statistical significance. A tiny proven effect is still tiny.</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Time share</a:t>
            </a:r>
          </a:p>
          <a:p>
            <a:pPr algn="l">
              <a:spcAft>
                <a:spcPts val="300"/>
              </a:spcAft>
            </a:pPr>
            <a:r>
              <a:rPr sz="1200" b="0">
                <a:solidFill>
                  <a:srgbClr val="5B6372"/>
                </a:solidFill>
                <a:latin typeface="Arial"/>
              </a:rPr>
              <a:t>Roughly 25 pct. This is the phase where the Black Belt's statistical ownership is most visible.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PHASE 4 - IMPROVE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 Purpose, Tools, Tollgate, Failure Mode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Purpose</a:t>
            </a:r>
          </a:p>
          <a:p>
            <a:pPr algn="l">
              <a:spcAft>
                <a:spcPts val="300"/>
              </a:spcAft>
            </a:pPr>
            <a:r>
              <a:rPr sz="1200" b="0">
                <a:solidFill>
                  <a:srgbClr val="5B6372"/>
                </a:solidFill>
                <a:latin typeface="Arial"/>
              </a:rPr>
              <a:t>Design, test and prove solutions that move the vital few Xs, and therefore move the Y.</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Core tools</a:t>
            </a:r>
          </a:p>
          <a:p>
            <a:pPr algn="l">
              <a:spcAft>
                <a:spcPts val="300"/>
              </a:spcAft>
            </a:pPr>
            <a:r>
              <a:rPr sz="1200" b="0">
                <a:solidFill>
                  <a:srgbClr val="5B6372"/>
                </a:solidFill>
                <a:latin typeface="Arial"/>
              </a:rPr>
              <a:t>Design of experiments, response surface, solution selection matrix, pilot design, FMEA, poka-yoke.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Tollgate deliverable</a:t>
            </a:r>
          </a:p>
          <a:p>
            <a:pPr algn="l">
              <a:spcAft>
                <a:spcPts val="300"/>
              </a:spcAft>
            </a:pPr>
            <a:r>
              <a:rPr sz="1200" b="0">
                <a:solidFill>
                  <a:srgbClr val="5B6372"/>
                </a:solidFill>
                <a:latin typeface="Arial"/>
              </a:rPr>
              <a:t>Piloted solution with before-and-after data proving the Y improved, plus a full implementation plan.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Failure mode</a:t>
            </a:r>
          </a:p>
          <a:p>
            <a:pPr algn="l">
              <a:spcAft>
                <a:spcPts val="300"/>
              </a:spcAft>
            </a:pPr>
            <a:r>
              <a:rPr sz="1200" b="0">
                <a:solidFill>
                  <a:srgbClr val="5B6372"/>
                </a:solidFill>
                <a:latin typeface="Arial"/>
              </a:rPr>
              <a:t>Implementing without a pilot, then discovering the side effects in production at full scale.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Mentoring cue</a:t>
            </a:r>
          </a:p>
          <a:p>
            <a:pPr algn="l">
              <a:spcAft>
                <a:spcPts val="300"/>
              </a:spcAft>
            </a:pPr>
            <a:r>
              <a:rPr sz="1200" b="0">
                <a:solidFill>
                  <a:srgbClr val="5B6372"/>
                </a:solidFill>
                <a:latin typeface="Arial"/>
              </a:rPr>
              <a:t>Always ask what else this change touches. Optimising one Y at the cost of another is common.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Time share</a:t>
            </a:r>
          </a:p>
          <a:p>
            <a:pPr algn="l">
              <a:spcAft>
                <a:spcPts val="300"/>
              </a:spcAft>
            </a:pPr>
            <a:r>
              <a:rPr sz="1200" b="0">
                <a:solidFill>
                  <a:srgbClr val="5B6372"/>
                </a:solidFill>
                <a:latin typeface="Arial"/>
              </a:rPr>
              <a:t>Roughly 20 pct. Tempting to start here on day one - resist it, and stop your Green Belts too.</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PHASE 5 - CONTROL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 Purpose, Tools, Tollgate, Failure Mode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Purpose</a:t>
            </a:r>
          </a:p>
          <a:p>
            <a:pPr algn="l">
              <a:spcAft>
                <a:spcPts val="300"/>
              </a:spcAft>
            </a:pPr>
            <a:r>
              <a:rPr sz="1200" b="0">
                <a:solidFill>
                  <a:srgbClr val="5B6372"/>
                </a:solidFill>
                <a:latin typeface="Arial"/>
              </a:rPr>
              <a:t>Lock the gain in so the process cannot drift back after the project team disperses.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Core tools</a:t>
            </a:r>
          </a:p>
          <a:p>
            <a:pPr algn="l">
              <a:spcAft>
                <a:spcPts val="300"/>
              </a:spcAft>
            </a:pPr>
            <a:r>
              <a:rPr sz="1200" b="0">
                <a:solidFill>
                  <a:srgbClr val="5B6372"/>
                </a:solidFill>
                <a:latin typeface="Arial"/>
              </a:rPr>
              <a:t>Control plan, SPC charts, standard work, visual management, training plan, response plan, audit schedule.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Tollgate deliverable</a:t>
            </a:r>
          </a:p>
          <a:p>
            <a:pPr algn="l">
              <a:spcAft>
                <a:spcPts val="300"/>
              </a:spcAft>
            </a:pPr>
            <a:r>
              <a:rPr sz="1200" b="0">
                <a:solidFill>
                  <a:srgbClr val="5B6372"/>
                </a:solidFill>
                <a:latin typeface="Arial"/>
              </a:rPr>
              <a:t>Signed control plan, trained operators, live charts and a formal handover to the process owner.</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Failure mode</a:t>
            </a:r>
          </a:p>
          <a:p>
            <a:pPr algn="l">
              <a:spcAft>
                <a:spcPts val="300"/>
              </a:spcAft>
            </a:pPr>
            <a:r>
              <a:rPr sz="1200" b="0">
                <a:solidFill>
                  <a:srgbClr val="5B6372"/>
                </a:solidFill>
                <a:latin typeface="Arial"/>
              </a:rPr>
              <a:t>Handing over a control plan nobody was trained on - performance decays within one quarter.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Mentoring cue</a:t>
            </a:r>
          </a:p>
          <a:p>
            <a:pPr algn="l">
              <a:spcAft>
                <a:spcPts val="300"/>
              </a:spcAft>
            </a:pPr>
            <a:r>
              <a:rPr sz="1200" b="0">
                <a:solidFill>
                  <a:srgbClr val="5B6372"/>
                </a:solidFill>
                <a:latin typeface="Arial"/>
              </a:rPr>
              <a:t>Return at 3, 6 and 12 months. A gain that is not still there at 12 months was never a gain.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Time share</a:t>
            </a:r>
          </a:p>
          <a:p>
            <a:pPr algn="l">
              <a:spcAft>
                <a:spcPts val="300"/>
              </a:spcAft>
            </a:pPr>
            <a:r>
              <a:rPr sz="1200" b="0">
                <a:solidFill>
                  <a:srgbClr val="5B6372"/>
                </a:solidFill>
                <a:latin typeface="Arial"/>
              </a:rPr>
              <a:t>Roughly 15 pct. The most skipped phase and the reason most improvements silently reverse.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ROADMAP SELECTION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When DMAIC Is the Wrong Roadmap</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process does not exist</a:t>
            </a:r>
          </a:p>
          <a:p>
            <a:pPr algn="l">
              <a:spcAft>
                <a:spcPts val="300"/>
              </a:spcAft>
            </a:pPr>
            <a:r>
              <a:rPr sz="1200" b="0">
                <a:solidFill>
                  <a:srgbClr val="5B6372"/>
                </a:solidFill>
                <a:latin typeface="Arial"/>
              </a:rPr>
              <a:t>Use DMADV or DFSS. You cannot baseline a process that has never run.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cause and fix are known</a:t>
            </a:r>
          </a:p>
          <a:p>
            <a:pPr algn="l">
              <a:spcAft>
                <a:spcPts val="300"/>
              </a:spcAft>
            </a:pPr>
            <a:r>
              <a:rPr sz="1200" b="0">
                <a:solidFill>
                  <a:srgbClr val="5B6372"/>
                </a:solidFill>
                <a:latin typeface="Arial"/>
              </a:rPr>
              <a:t>Just do it. DMAIC on a known solution wastes months and burns sponsor goodwill.</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problem is pure waste and flow</a:t>
            </a:r>
          </a:p>
          <a:p>
            <a:pPr algn="l">
              <a:spcAft>
                <a:spcPts val="300"/>
              </a:spcAft>
            </a:pPr>
            <a:r>
              <a:rPr sz="1200" b="0">
                <a:solidFill>
                  <a:srgbClr val="5B6372"/>
                </a:solidFill>
                <a:latin typeface="Arial"/>
              </a:rPr>
              <a:t>A Kaizen event or value stream mapping workshop moves faster than full DMAIC.</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It is a capital or IT project</a:t>
            </a:r>
          </a:p>
          <a:p>
            <a:pPr algn="l">
              <a:spcAft>
                <a:spcPts val="300"/>
              </a:spcAft>
            </a:pPr>
            <a:r>
              <a:rPr sz="1200" b="0">
                <a:solidFill>
                  <a:srgbClr val="5B6372"/>
                </a:solidFill>
                <a:latin typeface="Arial"/>
              </a:rPr>
              <a:t>Use project management. DMAIC solves variation problems, not installation problems.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scope is a whole business</a:t>
            </a:r>
          </a:p>
          <a:p>
            <a:pPr algn="l">
              <a:spcAft>
                <a:spcPts val="300"/>
              </a:spcAft>
            </a:pPr>
            <a:r>
              <a:rPr sz="1200" b="0">
                <a:solidFill>
                  <a:srgbClr val="5B6372"/>
                </a:solidFill>
                <a:latin typeface="Arial"/>
              </a:rPr>
              <a:t>Too big. Decompose into chartered projects with individual measurable Ys.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There is no measurable output</a:t>
            </a:r>
          </a:p>
          <a:p>
            <a:pPr algn="l">
              <a:spcAft>
                <a:spcPts val="300"/>
              </a:spcAft>
            </a:pPr>
            <a:r>
              <a:rPr sz="1200" b="0">
                <a:solidFill>
                  <a:srgbClr val="5B6372"/>
                </a:solidFill>
                <a:latin typeface="Arial"/>
              </a:rPr>
              <a:t>Fix the measurement system first as a project in its own right, then run DMAIC.</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TOLLGATE GOVERNANCE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Black Belt runs the tollgate. The sponsor decides.</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tollgate is not a status update. It is a formal decision point where evidence is presented and the sponsor chooses: proceed, adjust the charter, or kill the project.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FIVE DECISION POINTS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Five Tollgates</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GATE D - is the problem worth solving and properly bounded?</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GATE M - can we trust the data, and what is the true baseline?</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GATE A - are the root causes statistically proven?</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GATE I - does the piloted solution actually move the Y?</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GATE C - is the gain locked in and formally handed over?</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GATE EVIDENCE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Evidence Closes Each Gate</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Gates D and M</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Problem and baseline</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D: signed charter, measurable Y, agreed scope</a:t>
            </a:r>
          </a:p>
          <a:p>
            <a:pPr>
              <a:spcAft>
                <a:spcPts val="700"/>
              </a:spcAft>
            </a:pPr>
            <a:r>
              <a:rPr sz="1200">
                <a:solidFill>
                  <a:srgbClr val="161B26"/>
                </a:solidFill>
                <a:latin typeface="Arial"/>
              </a:rPr>
              <a:t>•  D: business case acknowledged by Finance</a:t>
            </a:r>
          </a:p>
          <a:p>
            <a:pPr>
              <a:spcAft>
                <a:spcPts val="700"/>
              </a:spcAft>
            </a:pPr>
            <a:r>
              <a:rPr sz="1200">
                <a:solidFill>
                  <a:srgbClr val="161B26"/>
                </a:solidFill>
                <a:latin typeface="Arial"/>
              </a:rPr>
              <a:t>•  D: named sponsor, process owner and team</a:t>
            </a:r>
          </a:p>
          <a:p>
            <a:pPr>
              <a:spcAft>
                <a:spcPts val="700"/>
              </a:spcAft>
            </a:pPr>
            <a:r>
              <a:rPr sz="1200">
                <a:solidFill>
                  <a:srgbClr val="161B26"/>
                </a:solidFill>
                <a:latin typeface="Arial"/>
              </a:rPr>
              <a:t>•  M: MSA result showing an acceptable Gage R and R</a:t>
            </a:r>
          </a:p>
          <a:p>
            <a:pPr>
              <a:spcAft>
                <a:spcPts val="700"/>
              </a:spcAft>
            </a:pPr>
            <a:r>
              <a:rPr sz="1200">
                <a:solidFill>
                  <a:srgbClr val="161B26"/>
                </a:solidFill>
                <a:latin typeface="Arial"/>
              </a:rPr>
              <a:t>•  M: baseline capability with confidence interval</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Gates A and I</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Causes and solution</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A: prioritised cause list with test results</a:t>
            </a:r>
          </a:p>
          <a:p>
            <a:pPr>
              <a:spcAft>
                <a:spcPts val="700"/>
              </a:spcAft>
            </a:pPr>
            <a:r>
              <a:rPr sz="1200">
                <a:solidFill>
                  <a:srgbClr val="161B26"/>
                </a:solidFill>
                <a:latin typeface="Arial"/>
              </a:rPr>
              <a:t>•  A: p-values, effect sizes and practical significance</a:t>
            </a:r>
          </a:p>
          <a:p>
            <a:pPr>
              <a:spcAft>
                <a:spcPts val="700"/>
              </a:spcAft>
            </a:pPr>
            <a:r>
              <a:rPr sz="1200">
                <a:solidFill>
                  <a:srgbClr val="161B26"/>
                </a:solidFill>
                <a:latin typeface="Arial"/>
              </a:rPr>
              <a:t>•  A: the vital few Xs explicitly named</a:t>
            </a:r>
          </a:p>
          <a:p>
            <a:pPr>
              <a:spcAft>
                <a:spcPts val="700"/>
              </a:spcAft>
            </a:pPr>
            <a:r>
              <a:rPr sz="1200">
                <a:solidFill>
                  <a:srgbClr val="161B26"/>
                </a:solidFill>
                <a:latin typeface="Arial"/>
              </a:rPr>
              <a:t>•  I: pilot data showing the Y moved, with statistics</a:t>
            </a:r>
          </a:p>
          <a:p>
            <a:pPr>
              <a:spcAft>
                <a:spcPts val="700"/>
              </a:spcAft>
            </a:pPr>
            <a:r>
              <a:rPr sz="1200">
                <a:solidFill>
                  <a:srgbClr val="161B26"/>
                </a:solidFill>
                <a:latin typeface="Arial"/>
              </a:rPr>
              <a:t>•  I: FMEA on the new process and an implementation plan</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Gate C</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Sustainment</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C: signed control plan with reaction rules</a:t>
            </a:r>
          </a:p>
          <a:p>
            <a:pPr>
              <a:spcAft>
                <a:spcPts val="700"/>
              </a:spcAft>
            </a:pPr>
            <a:r>
              <a:rPr sz="1200">
                <a:solidFill>
                  <a:srgbClr val="161B26"/>
                </a:solidFill>
                <a:latin typeface="Arial"/>
              </a:rPr>
              <a:t>•  C: live SPC charts owned by the process owner</a:t>
            </a:r>
          </a:p>
          <a:p>
            <a:pPr>
              <a:spcAft>
                <a:spcPts val="700"/>
              </a:spcAft>
            </a:pPr>
            <a:r>
              <a:rPr sz="1200">
                <a:solidFill>
                  <a:srgbClr val="161B26"/>
                </a:solidFill>
                <a:latin typeface="Arial"/>
              </a:rPr>
              <a:t>•  C: standard work updated and operators trained</a:t>
            </a:r>
          </a:p>
          <a:p>
            <a:pPr>
              <a:spcAft>
                <a:spcPts val="700"/>
              </a:spcAft>
            </a:pPr>
            <a:r>
              <a:rPr sz="1200">
                <a:solidFill>
                  <a:srgbClr val="161B26"/>
                </a:solidFill>
                <a:latin typeface="Arial"/>
              </a:rPr>
              <a:t>•  C: benefit validated and signed by Finance</a:t>
            </a:r>
          </a:p>
          <a:p>
            <a:pPr>
              <a:spcAft>
                <a:spcPts val="700"/>
              </a:spcAft>
            </a:pPr>
            <a:r>
              <a:rPr sz="1200">
                <a:solidFill>
                  <a:srgbClr val="161B26"/>
                </a:solidFill>
                <a:latin typeface="Arial"/>
              </a:rPr>
              <a:t>•  C: formal handover minute and 3-6-12 month review dates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SIGN-OFF AUTHORITY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Who Signs Off What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Executive sponsor</a:t>
            </a:r>
          </a:p>
          <a:p>
            <a:pPr algn="l">
              <a:spcAft>
                <a:spcPts val="300"/>
              </a:spcAft>
            </a:pPr>
            <a:r>
              <a:rPr sz="1200" b="0">
                <a:solidFill>
                  <a:srgbClr val="5B6372"/>
                </a:solidFill>
                <a:latin typeface="Arial"/>
              </a:rPr>
              <a:t>The gate decision itself: proceed, adjust or kill. Signs the charter and the closure.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Process owner</a:t>
            </a:r>
          </a:p>
          <a:p>
            <a:pPr algn="l">
              <a:spcAft>
                <a:spcPts val="300"/>
              </a:spcAft>
            </a:pPr>
            <a:r>
              <a:rPr sz="1200" b="0">
                <a:solidFill>
                  <a:srgbClr val="5B6372"/>
                </a:solidFill>
                <a:latin typeface="Arial"/>
              </a:rPr>
              <a:t>Accepts the control plan and the standard work at Gate C. Owns it thereafter.</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Finance controller</a:t>
            </a:r>
          </a:p>
          <a:p>
            <a:pPr algn="l">
              <a:spcAft>
                <a:spcPts val="300"/>
              </a:spcAft>
            </a:pPr>
            <a:r>
              <a:rPr sz="1200" b="0">
                <a:solidFill>
                  <a:srgbClr val="5B6372"/>
                </a:solidFill>
                <a:latin typeface="Arial"/>
              </a:rPr>
              <a:t>Validates the business case at Gate D and the realised benefit at Gate C.</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Master Black Belt</a:t>
            </a:r>
          </a:p>
          <a:p>
            <a:pPr algn="l">
              <a:spcAft>
                <a:spcPts val="300"/>
              </a:spcAft>
            </a:pPr>
            <a:r>
              <a:rPr sz="1200" b="0">
                <a:solidFill>
                  <a:srgbClr val="5B6372"/>
                </a:solidFill>
                <a:latin typeface="Arial"/>
              </a:rPr>
              <a:t>Assures the methodology - particularly the MSA at Gate M and the statistics at Gate A.</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Black Belt</a:t>
            </a:r>
          </a:p>
          <a:p>
            <a:pPr algn="l">
              <a:spcAft>
                <a:spcPts val="300"/>
              </a:spcAft>
            </a:pPr>
            <a:r>
              <a:rPr sz="1200" b="0">
                <a:solidFill>
                  <a:srgbClr val="5B6372"/>
                </a:solidFill>
                <a:latin typeface="Arial"/>
              </a:rPr>
              <a:t>Assembles the evidence, runs the meeting, frames the decision. Does not vote on it.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Quality or regulatory</a:t>
            </a:r>
          </a:p>
          <a:p>
            <a:pPr algn="l">
              <a:spcAft>
                <a:spcPts val="300"/>
              </a:spcAft>
            </a:pPr>
            <a:r>
              <a:rPr sz="1200" b="0">
                <a:solidFill>
                  <a:srgbClr val="5B6372"/>
                </a:solidFill>
                <a:latin typeface="Arial"/>
              </a:rPr>
              <a:t>Signs where a change touches a validated or regulated process - common at Meridian.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GATE DISCIPLINE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Running a Tollgate That Actually Decides Something</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Circulate evidence early</a:t>
            </a:r>
          </a:p>
          <a:p>
            <a:pPr algn="l">
              <a:spcAft>
                <a:spcPts val="300"/>
              </a:spcAft>
            </a:pPr>
            <a:r>
              <a:rPr sz="1200" b="0">
                <a:solidFill>
                  <a:srgbClr val="5B6372"/>
                </a:solidFill>
                <a:latin typeface="Arial"/>
              </a:rPr>
              <a:t>Pre-read 48 hours ahead. A gate is not the first time the sponsor sees the data.</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Open with the decision</a:t>
            </a:r>
          </a:p>
          <a:p>
            <a:pPr algn="l">
              <a:spcAft>
                <a:spcPts val="300"/>
              </a:spcAft>
            </a:pPr>
            <a:r>
              <a:rPr sz="1200" b="0">
                <a:solidFill>
                  <a:srgbClr val="5B6372"/>
                </a:solidFill>
                <a:latin typeface="Arial"/>
              </a:rPr>
              <a:t>State the decision being asked for in the first minute, not the last.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Show the gaps honestly</a:t>
            </a:r>
          </a:p>
          <a:p>
            <a:pPr algn="l">
              <a:spcAft>
                <a:spcPts val="300"/>
              </a:spcAft>
            </a:pPr>
            <a:r>
              <a:rPr sz="1200" b="0">
                <a:solidFill>
                  <a:srgbClr val="5B6372"/>
                </a:solidFill>
                <a:latin typeface="Arial"/>
              </a:rPr>
              <a:t>Name what is incomplete. A sponsor who is surprised later stops trusting you.</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Allow the kill option</a:t>
            </a:r>
          </a:p>
          <a:p>
            <a:pPr algn="l">
              <a:spcAft>
                <a:spcPts val="300"/>
              </a:spcAft>
            </a:pPr>
            <a:r>
              <a:rPr sz="1200" b="0">
                <a:solidFill>
                  <a:srgbClr val="5B6372"/>
                </a:solidFill>
                <a:latin typeface="Arial"/>
              </a:rPr>
              <a:t>If kill is never available, the gate is theatre and everybody knows it.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Minute the decision</a:t>
            </a:r>
          </a:p>
          <a:p>
            <a:pPr algn="l">
              <a:spcAft>
                <a:spcPts val="300"/>
              </a:spcAft>
            </a:pPr>
            <a:r>
              <a:rPr sz="1200" b="0">
                <a:solidFill>
                  <a:srgbClr val="5B6372"/>
                </a:solidFill>
                <a:latin typeface="Arial"/>
              </a:rPr>
              <a:t>Decision, owner, date and conditions recorded. Verbal approval evaporates.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Re-baseline the charter</a:t>
            </a:r>
          </a:p>
          <a:p>
            <a:pPr algn="l">
              <a:spcAft>
                <a:spcPts val="300"/>
              </a:spcAft>
            </a:pPr>
            <a:r>
              <a:rPr sz="1200" b="0">
                <a:solidFill>
                  <a:srgbClr val="5B6372"/>
                </a:solidFill>
                <a:latin typeface="Arial"/>
              </a:rPr>
              <a:t>Scope, timing or benefit changes get written into the charter at the gate.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THE DECISION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Legitimate Gate Outcomes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Proceed</a:t>
            </a:r>
          </a:p>
          <a:p>
            <a:pPr algn="l">
              <a:spcAft>
                <a:spcPts val="300"/>
              </a:spcAft>
            </a:pPr>
            <a:r>
              <a:rPr sz="1200" b="0">
                <a:solidFill>
                  <a:srgbClr val="5B6372"/>
                </a:solidFill>
                <a:latin typeface="Arial"/>
              </a:rPr>
              <a:t>Evidence is sufficient. Resource confirmed for the next phase and the next gate date set.</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Adjust</a:t>
            </a:r>
          </a:p>
          <a:p>
            <a:pPr algn="l">
              <a:spcAft>
                <a:spcPts val="300"/>
              </a:spcAft>
            </a:pPr>
            <a:r>
              <a:rPr sz="1200" b="0">
                <a:solidFill>
                  <a:srgbClr val="5B6372"/>
                </a:solidFill>
                <a:latin typeface="Arial"/>
              </a:rPr>
              <a:t>Scope, target, timing or resource is re-baselined into the charter, then the project continues.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Kill</a:t>
            </a:r>
          </a:p>
          <a:p>
            <a:pPr algn="l">
              <a:spcAft>
                <a:spcPts val="300"/>
              </a:spcAft>
            </a:pPr>
            <a:r>
              <a:rPr sz="1200" b="0">
                <a:solidFill>
                  <a:srgbClr val="5B6372"/>
                </a:solidFill>
                <a:latin typeface="Arial"/>
              </a:rPr>
              <a:t>The problem is smaller than believed, the data does not exist, or priorities have moved 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Killing is not failure</a:t>
            </a:r>
          </a:p>
          <a:p>
            <a:pPr algn="l">
              <a:spcAft>
                <a:spcPts val="300"/>
              </a:spcAft>
            </a:pPr>
            <a:r>
              <a:rPr sz="1200" b="0">
                <a:solidFill>
                  <a:srgbClr val="5B6372"/>
                </a:solidFill>
                <a:latin typeface="Arial"/>
              </a:rPr>
              <a:t>A project killed at Gate M has cost weeks. The same project killed at Gate C has cost months.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recycle option</a:t>
            </a:r>
          </a:p>
          <a:p>
            <a:pPr algn="l">
              <a:spcAft>
                <a:spcPts val="300"/>
              </a:spcAft>
            </a:pPr>
            <a:r>
              <a:rPr sz="1200" b="0">
                <a:solidFill>
                  <a:srgbClr val="5B6372"/>
                </a:solidFill>
                <a:latin typeface="Arial"/>
              </a:rPr>
              <a:t>Sometimes the answer is 'go back to Measure' - an adjust decision, not a proceed.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Track kill rate</a:t>
            </a:r>
          </a:p>
          <a:p>
            <a:pPr algn="l">
              <a:spcAft>
                <a:spcPts val="300"/>
              </a:spcAft>
            </a:pPr>
            <a:r>
              <a:rPr sz="1200" b="0">
                <a:solidFill>
                  <a:srgbClr val="5B6372"/>
                </a:solidFill>
                <a:latin typeface="Arial"/>
              </a:rPr>
              <a:t>A portfolio with a zero pct kill rate is not being screened honestly at the gates.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MODULE CHECKPOINT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Foundations - What You Should Now Be Able to Do</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Explain Six Sigma three ways</a:t>
            </a:r>
          </a:p>
          <a:p>
            <a:pPr algn="l">
              <a:spcAft>
                <a:spcPts val="300"/>
              </a:spcAft>
            </a:pPr>
            <a:r>
              <a:rPr sz="1200" b="0">
                <a:solidFill>
                  <a:srgbClr val="5B6372"/>
                </a:solidFill>
                <a:latin typeface="Arial"/>
              </a:rPr>
              <a:t>As a metric, as a method and as a management philosophy, to three different audiences.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Compute a sigma level</a:t>
            </a:r>
          </a:p>
          <a:p>
            <a:pPr algn="l">
              <a:spcAft>
                <a:spcPts val="300"/>
              </a:spcAft>
            </a:pPr>
            <a:r>
              <a:rPr sz="1200" b="0">
                <a:solidFill>
                  <a:srgbClr val="5B6372"/>
                </a:solidFill>
                <a:latin typeface="Arial"/>
              </a:rPr>
              <a:t>Yield to DPMO to Z to sigma level, declaring the 1.5 shift assumption every time.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State your own role boundary</a:t>
            </a:r>
          </a:p>
          <a:p>
            <a:pPr algn="l">
              <a:spcAft>
                <a:spcPts val="300"/>
              </a:spcAft>
            </a:pPr>
            <a:r>
              <a:rPr sz="1200" b="0">
                <a:solidFill>
                  <a:srgbClr val="5B6372"/>
                </a:solidFill>
                <a:latin typeface="Arial"/>
              </a:rPr>
              <a:t>The five things you now own that a Green Belt does not.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Score a project hopper</a:t>
            </a:r>
          </a:p>
          <a:p>
            <a:pPr algn="l">
              <a:spcAft>
                <a:spcPts val="300"/>
              </a:spcAft>
            </a:pPr>
            <a:r>
              <a:rPr sz="1200" b="0">
                <a:solidFill>
                  <a:srgbClr val="5B6372"/>
                </a:solidFill>
                <a:latin typeface="Arial"/>
              </a:rPr>
              <a:t>Build and defend a weighted scoring matrix with a sponsor in the room.</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Quantify COPQ at scale</a:t>
            </a:r>
          </a:p>
          <a:p>
            <a:pPr algn="l">
              <a:spcAft>
                <a:spcPts val="300"/>
              </a:spcAft>
            </a:pPr>
            <a:r>
              <a:rPr sz="1200" b="0">
                <a:solidFill>
                  <a:srgbClr val="5B6372"/>
                </a:solidFill>
                <a:latin typeface="Arial"/>
              </a:rPr>
              <a:t>Roll benefit up from project to programme without double counting.</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Run a tollgate</a:t>
            </a:r>
          </a:p>
          <a:p>
            <a:pPr algn="l">
              <a:spcAft>
                <a:spcPts val="300"/>
              </a:spcAft>
            </a:pPr>
            <a:r>
              <a:rPr sz="1200" b="0">
                <a:solidFill>
                  <a:srgbClr val="5B6372"/>
                </a:solidFill>
                <a:latin typeface="Arial"/>
              </a:rPr>
              <a:t>Assemble the evidence, frame the decision and let the sponsor decide.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YOUR NEXT ACTION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Choose your capstone process before we break.</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One real process, one measurable Y, one named sponsor. Everything you learn for the rest of the week gets applied to it. Bring what data you can access.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FOUNDATIONS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Select and Charter Your Capstone Project</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This is the most important lab of the course — everything you build for the next five days attaches to the project you select here. Screen candidate projects the way a Black Belt does: against strategic fit, financial benefit, data availability and risk. Then write the charter that will govern the work.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scored project selection matrix and a signed-off capstone project charter.</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Portfolio screening, strategic alignment, COPQ estimate, project charter, sponsor agreement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Select and Charter Your Capstone…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Select and Charter Your Capstone Project</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10</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Choose your capstone process. Strongly preferred: a real process from your own workplace where you can obtain data. Fallback: the Meridian Medical Devices scenario.</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List at least five candidate improvement projects within that process or business area. Write each as a PROBLEM, never as a solution.</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Build a project selection matrix. Score each candidate 1-5 on: strategic fit, annualised financial benefit, data availability, scope manageability, sponsor commitment and technical risk.</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Weight the criteria — strategic fit and financial benefit usually carry the highest weight — and compute a weighted total for each candidate.</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Reject any candidate that is a solution in disguise ('deploy a new MES'), has no accessible data, or has no named sponsor. Record WHY each was rejected.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Select and Charter Your Capstone…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Select and Charter Your Capstone Project</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6-10 OF 10</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Select your capstone project — the highest weighted score that survives the rejection filters.</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Estimate the Cost of Poor Quality for the selected project: scrap, rework, warranty, expedite, lost margin and capacity consumed. Annualise it.</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Write the charter: business case, problem statement, goal statement (SMART), scope (in/out), preliminary Y, team, sponsor, milestones and expected benefit.</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Write your problem statement to the four-part test: the process, the time period, the measurable gap and the business impact — with no cause and no solution in it.</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Identify your sponsor and record what you need from them. Where possible, obtain real sign-off before Day 2.</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Select and Charter Your Capstone Project</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 weighted selection matrix with at least five scored candidates, a documented rejection rationale, an annualised COPQ figure, and a complete charter whose problem statement contains no cause and no solution.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FOUNDATIONS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Portfolio Selection, Strategy Alignment and the Black Belt Role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A Green Belt is handed a project; a Black Belt decides which projects exist. Practise the portfolio view — trace every candidate up to a business objective, balance the portfolio across DMAIC maturity and risk, and articulate what you as Black Belt own that a Green Belt does not.</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strategy-to-project traceability map and a Black Belt accountability charter.</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Hoshin alignment, portfolio balance, belt role matrix, mentoring model, tollgate governance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Portfolio Selection, Strategy…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Portfolio Selection, Strategy Alignment and the Black Belt Role</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1-4 OF 8</a:t>
            </a:r>
          </a:p>
        </p:txBody>
      </p:sp>
      <p:sp>
        <p:nvSpPr>
          <p:cNvPr id="7" name="Rectangle 6"/>
          <p:cNvSpPr/>
          <p:nvPr/>
        </p:nvSpPr>
        <p:spPr>
          <a:xfrm>
            <a:off x="777240" y="212140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3351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3351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Write down your organisation's top three business objectives for the current year (or Meridian's: OTIF to 95%, warranty cost down 30%, yield parity across plants).</a:t>
            </a:r>
          </a:p>
        </p:txBody>
      </p:sp>
      <p:sp>
        <p:nvSpPr>
          <p:cNvPr id="12" name="Rectangle 11"/>
          <p:cNvSpPr/>
          <p:nvPr/>
        </p:nvSpPr>
        <p:spPr>
          <a:xfrm>
            <a:off x="777240" y="315239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15239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36613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36613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20725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Map each of your five candidate projects from Lab 1 to the objective it serves. Any project that maps to nothing is a candidate for cancellation.</a:t>
            </a:r>
          </a:p>
        </p:txBody>
      </p:sp>
      <p:sp>
        <p:nvSpPr>
          <p:cNvPr id="17" name="Rectangle 16"/>
          <p:cNvSpPr/>
          <p:nvPr/>
        </p:nvSpPr>
        <p:spPr>
          <a:xfrm>
            <a:off x="777240" y="418337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418337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439711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439711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423824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Build the belt responsibility matrix: White, Yellow, Green, Black, Master Black Belt and Champion. For each, record who leads, who analyses, who mentors and who sponsors.</a:t>
            </a:r>
          </a:p>
        </p:txBody>
      </p:sp>
      <p:sp>
        <p:nvSpPr>
          <p:cNvPr id="22" name="Rectangle 21"/>
          <p:cNvSpPr/>
          <p:nvPr/>
        </p:nvSpPr>
        <p:spPr>
          <a:xfrm>
            <a:off x="777240" y="521436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521436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542810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542810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526922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List the five things a Black Belt does that a Green Belt does not — lead a portfolio, own advanced statistics, mentor Green Belts, run tollgates, validate benefits with Finance.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Portfolio Selection, Strategy…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Portfolio Selection, Strategy Alignment and the Black Belt Role</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5-8 OF 8</a:t>
            </a:r>
          </a:p>
        </p:txBody>
      </p:sp>
      <p:sp>
        <p:nvSpPr>
          <p:cNvPr id="7" name="Rectangle 6"/>
          <p:cNvSpPr/>
          <p:nvPr/>
        </p:nvSpPr>
        <p:spPr>
          <a:xfrm>
            <a:off x="777240" y="212140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3351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3351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11" name="TextBox 10"/>
          <p:cNvSpPr txBox="1"/>
          <p:nvPr/>
        </p:nvSpPr>
        <p:spPr>
          <a:xfrm>
            <a:off x="1700784" y="217627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Assess portfolio balance: are all your projects in one phase, one plant or one function? A healthy portfolio is spread across risk and time-to-benefit.</a:t>
            </a:r>
          </a:p>
        </p:txBody>
      </p:sp>
      <p:sp>
        <p:nvSpPr>
          <p:cNvPr id="12" name="Rectangle 11"/>
          <p:cNvSpPr/>
          <p:nvPr/>
        </p:nvSpPr>
        <p:spPr>
          <a:xfrm>
            <a:off x="777240" y="315239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15239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36613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36613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6" name="TextBox 15"/>
          <p:cNvSpPr txBox="1"/>
          <p:nvPr/>
        </p:nvSpPr>
        <p:spPr>
          <a:xfrm>
            <a:off x="1700784" y="320725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Identify which of your candidate projects should be delegated to a Green Belt under your mentorship rather than led by you. Record the reasoning.</a:t>
            </a:r>
          </a:p>
        </p:txBody>
      </p:sp>
      <p:sp>
        <p:nvSpPr>
          <p:cNvPr id="17" name="Rectangle 16"/>
          <p:cNvSpPr/>
          <p:nvPr/>
        </p:nvSpPr>
        <p:spPr>
          <a:xfrm>
            <a:off x="777240" y="418337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418337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439711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439711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21" name="TextBox 20"/>
          <p:cNvSpPr txBox="1"/>
          <p:nvPr/>
        </p:nvSpPr>
        <p:spPr>
          <a:xfrm>
            <a:off x="1700784" y="423824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Define the tollgate cadence for your capstone: what evidence closes Define, Measure, Analyze, Improve and Control, and who signs each one off.</a:t>
            </a:r>
          </a:p>
        </p:txBody>
      </p:sp>
      <p:sp>
        <p:nvSpPr>
          <p:cNvPr id="22" name="Rectangle 21"/>
          <p:cNvSpPr/>
          <p:nvPr/>
        </p:nvSpPr>
        <p:spPr>
          <a:xfrm>
            <a:off x="777240" y="521436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521436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542810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542810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6" name="TextBox 25"/>
          <p:cNvSpPr txBox="1"/>
          <p:nvPr/>
        </p:nvSpPr>
        <p:spPr>
          <a:xfrm>
            <a:off x="1700784" y="526922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Write your Black Belt accountability charter — what you own, what you delegate, what you escalate.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Portfolio Selection, Strategy Alignment and the Black Belt Role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candidate project traces to a named business objective, your belt matrix distinguishes Black from Green Belt accountability, and your capstone has a defined five-tollgate governance plan.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FOUNDATIONS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DMAIC at Depth — Recap, Y = f(X) and Baseline Sigma for Your Project</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A thorough recap of the DMAIC roadmap — not a skim, because you must be able to mentor Green Belts through it. Then apply it: express your capstone problem as Y = f(X), and convert your baseline defect data into DPMO and a sigma level so improvement can be proven numerically at the end.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DMAIC tollgate map, a Y = f(X) model and a baseline DPMO / sigma level for your capstone.</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DMAIC roadmap, tollgate deliverables, Y = f(X), DPU, DPO, DPMO, sigma level, sigma shift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DMAIC at Depth — Recap, Y = f(X) and…</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DMAIC at Depth — Recap, Y = f(X) and Baseline Sigma for Your Project</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9</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each DMAIC phase in full: its purpose, its core tools, its tollgate deliverable and the most common way teams fail in it.</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For each phase, write the one question that phase answers — Define: what problem? Measure: how big? Analyze: why? Improve: what fix? Control: how do we hold it?</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Write your capstone project Y — the single output metric your customer actually feels. It must be measurable and it must already have data.</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Brainstorm at least twelve candidate Xs that could drive that Y. Classify each as controllable, noise or SOP-governed.</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Write the relationship formally as Y = f(X1, X2, ... Xn), and mark which Xs you can experiment on later in the DOE labs.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DMAIC at Depth — Recap, Y = f(X) and…</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DMAIC at Depth — Recap, Y = f(X) and Baseline Sigma for Your Project</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6-9 OF 9</a:t>
            </a:r>
          </a:p>
        </p:txBody>
      </p:sp>
      <p:sp>
        <p:nvSpPr>
          <p:cNvPr id="7" name="Rectangle 6"/>
          <p:cNvSpPr/>
          <p:nvPr/>
        </p:nvSpPr>
        <p:spPr>
          <a:xfrm>
            <a:off x="777240" y="212140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3351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3351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Collect or estimate your baseline: units processed, defects observed and opportunities per unit over a defined recent period.</a:t>
            </a:r>
          </a:p>
        </p:txBody>
      </p:sp>
      <p:sp>
        <p:nvSpPr>
          <p:cNvPr id="12" name="Rectangle 11"/>
          <p:cNvSpPr/>
          <p:nvPr/>
        </p:nvSpPr>
        <p:spPr>
          <a:xfrm>
            <a:off x="777240" y="315239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15239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36613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36613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20725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Calculate DPU, DPO and DPMO. Show the formulas: DPU = defects/units; DPO = defects/(units x opportunities); DPMO = DPO x 1,000,000.</a:t>
            </a:r>
          </a:p>
        </p:txBody>
      </p:sp>
      <p:sp>
        <p:nvSpPr>
          <p:cNvPr id="17" name="Rectangle 16"/>
          <p:cNvSpPr/>
          <p:nvPr/>
        </p:nvSpPr>
        <p:spPr>
          <a:xfrm>
            <a:off x="777240" y="418337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418337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439711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439711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423824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Convert DPMO to a baseline sigma level using the conversion table, and state whether the 1.5-sigma long-term shift is included.</a:t>
            </a:r>
          </a:p>
        </p:txBody>
      </p:sp>
      <p:sp>
        <p:nvSpPr>
          <p:cNvPr id="22" name="Rectangle 21"/>
          <p:cNvSpPr/>
          <p:nvPr/>
        </p:nvSpPr>
        <p:spPr>
          <a:xfrm>
            <a:off x="777240" y="521436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521436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542810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542810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526922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Record this baseline in your capstone pack — every improvement claim on Day 5 is measured against this number.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DMAIC at Depth — Recap, Y = f(X) and Baseline Sigma for Your Project</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can explain all five DMAIC tollgates without notes, your Y is a measurable customer-facing output with at least twelve classified Xs, and your baseline DPMO and sigma level are calculated from real counts.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DEFINE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Define at Black Belt Depth — Charter, Stakeholders &amp; Change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VOC recap · Advanced CTQ flowdown · Charter governance · Stakeholder &amp; resistance analysis · Change leadership</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12%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Define (1)</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VOC, affinity and Kano — in depth</a:t>
            </a:r>
          </a:p>
          <a:p>
            <a:pPr algn="l">
              <a:spcAft>
                <a:spcPts val="300"/>
              </a:spcAft>
            </a:pPr>
            <a:r>
              <a:rPr sz="1100" b="0">
                <a:solidFill>
                  <a:srgbClr val="5B6372"/>
                </a:solidFill>
                <a:latin typeface="Arial"/>
              </a:rPr>
              <a:t>Re-derive VOC capture, affinity clustering and Kano classification in full — you must be able to teach these, not just use them.</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CTQ trees — in depth</a:t>
            </a:r>
          </a:p>
          <a:p>
            <a:pPr algn="l">
              <a:spcAft>
                <a:spcPts val="300"/>
              </a:spcAft>
            </a:pPr>
            <a:r>
              <a:rPr sz="1100" b="0">
                <a:solidFill>
                  <a:srgbClr val="5B6372"/>
                </a:solidFill>
                <a:latin typeface="Arial"/>
              </a:rPr>
              <a:t>Build the CTQ tree from need to driver to measurable requirement, with targets, specification limits and defect definitions.</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CTQ flowdown</a:t>
            </a:r>
          </a:p>
          <a:p>
            <a:pPr algn="l">
              <a:spcAft>
                <a:spcPts val="300"/>
              </a:spcAft>
            </a:pPr>
            <a:r>
              <a:rPr sz="1100" b="0">
                <a:solidFill>
                  <a:srgbClr val="5B6372"/>
                </a:solidFill>
                <a:latin typeface="Arial"/>
              </a:rPr>
              <a:t>Cascade a business-level Y down through sub-Ys to the process Xs a team can actually control.</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Charter governance</a:t>
            </a:r>
          </a:p>
          <a:p>
            <a:pPr algn="l">
              <a:spcAft>
                <a:spcPts val="300"/>
              </a:spcAft>
            </a:pPr>
            <a:r>
              <a:rPr sz="1100" b="0">
                <a:solidFill>
                  <a:srgbClr val="5B6372"/>
                </a:solidFill>
                <a:latin typeface="Arial"/>
              </a:rPr>
              <a:t>The charter is a living contract — re-baselined at each tollgate, not written once and filed.</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Stakeholder analysis</a:t>
            </a:r>
          </a:p>
          <a:p>
            <a:pPr algn="l">
              <a:spcAft>
                <a:spcPts val="300"/>
              </a:spcAft>
            </a:pPr>
            <a:r>
              <a:rPr sz="1100" b="0">
                <a:solidFill>
                  <a:srgbClr val="5B6372"/>
                </a:solidFill>
                <a:latin typeface="Arial"/>
              </a:rPr>
              <a:t>Map influence against support, then plan a specific move for every high-influence, low-support stakeholder.</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Resistance management</a:t>
            </a:r>
          </a:p>
          <a:p>
            <a:pPr algn="l">
              <a:spcAft>
                <a:spcPts val="300"/>
              </a:spcAft>
            </a:pPr>
            <a:r>
              <a:rPr sz="1100" b="0">
                <a:solidFill>
                  <a:srgbClr val="5B6372"/>
                </a:solidFill>
                <a:latin typeface="Arial"/>
              </a:rPr>
              <a:t>Resistance is data. Diagnose whether it is technical, political or cultural before responding.</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Change leadership</a:t>
            </a:r>
          </a:p>
          <a:p>
            <a:pPr algn="l">
              <a:spcAft>
                <a:spcPts val="300"/>
              </a:spcAft>
            </a:pPr>
            <a:r>
              <a:rPr sz="1100" b="0">
                <a:solidFill>
                  <a:srgbClr val="5B6372"/>
                </a:solidFill>
                <a:latin typeface="Arial"/>
              </a:rPr>
              <a:t>ADKAR and Kotter — Awareness, Desire, Knowledge, Ability, Reinforcement across the project life.</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Communication planning</a:t>
            </a:r>
          </a:p>
          <a:p>
            <a:pPr algn="l">
              <a:spcAft>
                <a:spcPts val="300"/>
              </a:spcAft>
            </a:pPr>
            <a:r>
              <a:rPr sz="1100" b="0">
                <a:solidFill>
                  <a:srgbClr val="5B6372"/>
                </a:solidFill>
                <a:latin typeface="Arial"/>
              </a:rPr>
              <a:t>Different audiences need different messages at different cadences — plan it, do not improvise.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12%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Define (2)</a:t>
            </a:r>
          </a:p>
        </p:txBody>
      </p:sp>
      <p:sp>
        <p:nvSpPr>
          <p:cNvPr id="6" name="Rectangle 5"/>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4206240"/>
          </a:xfrm>
          <a:prstGeom prst="rect">
            <a:avLst/>
          </a:prstGeom>
          <a:noFill/>
        </p:spPr>
        <p:txBody>
          <a:bodyPr wrap="square" anchor="ctr">
            <a:spAutoFit/>
          </a:bodyPr>
          <a:lstStyle/>
          <a:p>
            <a:pPr algn="l">
              <a:spcAft>
                <a:spcPts val="300"/>
              </a:spcAft>
            </a:pPr>
            <a:r>
              <a:rPr sz="1500" b="1">
                <a:solidFill>
                  <a:srgbClr val="161B26"/>
                </a:solidFill>
                <a:latin typeface="Arial"/>
              </a:rPr>
              <a:t>Mentoring Green Belts</a:t>
            </a:r>
          </a:p>
          <a:p>
            <a:pPr algn="l">
              <a:spcAft>
                <a:spcPts val="300"/>
              </a:spcAft>
            </a:pPr>
            <a:r>
              <a:rPr sz="1100" b="0">
                <a:solidFill>
                  <a:srgbClr val="5B6372"/>
                </a:solidFill>
                <a:latin typeface="Arial"/>
              </a:rPr>
              <a:t>The Black Belt coaches Green Belt project definition rather than doing it for them.</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DEFINE AT BLACK BELT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Define decides whether the project is worth doing at all</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Green Belt writes a charter. A Black Belt negotiates the charter, cascades the business Y to controllable Xs, reads the political terrain and leads the change. Same tools, higher altitude.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this phase delivers at Black Belt level</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charter that survives contact</a:t>
            </a:r>
          </a:p>
          <a:p>
            <a:pPr algn="l">
              <a:spcAft>
                <a:spcPts val="300"/>
              </a:spcAft>
            </a:pPr>
            <a:r>
              <a:rPr sz="1200" b="0">
                <a:solidFill>
                  <a:srgbClr val="5B6372"/>
                </a:solidFill>
                <a:latin typeface="Arial"/>
              </a:rPr>
              <a:t>Business case, problem, goal, scope and team, negotiated with the sponsor and re-baselined at every tollgate.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validated CTQ flowdown</a:t>
            </a:r>
          </a:p>
          <a:p>
            <a:pPr algn="l">
              <a:spcAft>
                <a:spcPts val="300"/>
              </a:spcAft>
            </a:pPr>
            <a:r>
              <a:rPr sz="1200" b="0">
                <a:solidFill>
                  <a:srgbClr val="5B6372"/>
                </a:solidFill>
                <a:latin typeface="Arial"/>
              </a:rPr>
              <a:t>Business Y cascaded through sub-Ys to the process Xs a team can actually change.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stakeholder and influence map</a:t>
            </a:r>
          </a:p>
          <a:p>
            <a:pPr algn="l">
              <a:spcAft>
                <a:spcPts val="300"/>
              </a:spcAft>
            </a:pPr>
            <a:r>
              <a:rPr sz="1200" b="0">
                <a:solidFill>
                  <a:srgbClr val="5B6372"/>
                </a:solidFill>
                <a:latin typeface="Arial"/>
              </a:rPr>
              <a:t>Influence versus support, with a named move for every high-influence blocker.</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resistance diagnosis</a:t>
            </a:r>
          </a:p>
          <a:p>
            <a:pPr algn="l">
              <a:spcAft>
                <a:spcPts val="300"/>
              </a:spcAft>
            </a:pPr>
            <a:r>
              <a:rPr sz="1200" b="0">
                <a:solidFill>
                  <a:srgbClr val="5B6372"/>
                </a:solidFill>
                <a:latin typeface="Arial"/>
              </a:rPr>
              <a:t>Technical, political or cultural - each demands a different response.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change leadership plan</a:t>
            </a:r>
          </a:p>
          <a:p>
            <a:pPr algn="l">
              <a:spcAft>
                <a:spcPts val="300"/>
              </a:spcAft>
            </a:pPr>
            <a:r>
              <a:rPr sz="1200" b="0">
                <a:solidFill>
                  <a:srgbClr val="5B6372"/>
                </a:solidFill>
                <a:latin typeface="Arial"/>
              </a:rPr>
              <a:t>ADKAR at the individual level, Kotter at the organisation level.</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mentoring plan for the Green Belts</a:t>
            </a:r>
          </a:p>
          <a:p>
            <a:pPr algn="l">
              <a:spcAft>
                <a:spcPts val="300"/>
              </a:spcAft>
            </a:pPr>
            <a:r>
              <a:rPr sz="1200" b="0">
                <a:solidFill>
                  <a:srgbClr val="5B6372"/>
                </a:solidFill>
                <a:latin typeface="Arial"/>
              </a:rPr>
              <a:t>You will coach two to four GB charters through Define while running your own.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Green Belt Define versus Black Belt Define</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GREEN BELT</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Runs one project inside a process</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Uses the charter template as given</a:t>
            </a:r>
          </a:p>
          <a:p>
            <a:pPr>
              <a:spcAft>
                <a:spcPts val="700"/>
              </a:spcAft>
            </a:pPr>
            <a:r>
              <a:rPr sz="1200">
                <a:solidFill>
                  <a:srgbClr val="161B26"/>
                </a:solidFill>
                <a:latin typeface="Arial"/>
              </a:rPr>
              <a:t>•  Collects VOC for one product or service</a:t>
            </a:r>
          </a:p>
          <a:p>
            <a:pPr>
              <a:spcAft>
                <a:spcPts val="700"/>
              </a:spcAft>
            </a:pPr>
            <a:r>
              <a:rPr sz="1200">
                <a:solidFill>
                  <a:srgbClr val="161B26"/>
                </a:solidFill>
                <a:latin typeface="Arial"/>
              </a:rPr>
              <a:t>•  Builds one CTQ tree</a:t>
            </a:r>
          </a:p>
          <a:p>
            <a:pPr>
              <a:spcAft>
                <a:spcPts val="700"/>
              </a:spcAft>
            </a:pPr>
            <a:r>
              <a:rPr sz="1200">
                <a:solidFill>
                  <a:srgbClr val="161B26"/>
                </a:solidFill>
                <a:latin typeface="Arial"/>
              </a:rPr>
              <a:t>•  Names the obvious stakeholders</a:t>
            </a:r>
          </a:p>
          <a:p>
            <a:pPr>
              <a:spcAft>
                <a:spcPts val="700"/>
              </a:spcAft>
            </a:pPr>
            <a:r>
              <a:rPr sz="1200">
                <a:solidFill>
                  <a:srgbClr val="161B26"/>
                </a:solidFill>
                <a:latin typeface="Arial"/>
              </a:rPr>
              <a:t>•  Escalates resistance to the sponsor</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BLACK BELT</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Runs a portfolio and coaches the belts</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Negotiates scope and benefit with the sponsor</a:t>
            </a:r>
          </a:p>
          <a:p>
            <a:pPr>
              <a:spcAft>
                <a:spcPts val="700"/>
              </a:spcAft>
            </a:pPr>
            <a:r>
              <a:rPr sz="1200">
                <a:solidFill>
                  <a:srgbClr val="161B26"/>
                </a:solidFill>
                <a:latin typeface="Arial"/>
              </a:rPr>
              <a:t>•  Segments customers and reconciles conflicting VOC</a:t>
            </a:r>
          </a:p>
          <a:p>
            <a:pPr>
              <a:spcAft>
                <a:spcPts val="700"/>
              </a:spcAft>
            </a:pPr>
            <a:r>
              <a:rPr sz="1200">
                <a:solidFill>
                  <a:srgbClr val="161B26"/>
                </a:solidFill>
                <a:latin typeface="Arial"/>
              </a:rPr>
              <a:t>•  Flows the business Y down to controllable Xs</a:t>
            </a:r>
          </a:p>
          <a:p>
            <a:pPr>
              <a:spcAft>
                <a:spcPts val="700"/>
              </a:spcAft>
            </a:pPr>
            <a:r>
              <a:rPr sz="1200">
                <a:solidFill>
                  <a:srgbClr val="161B26"/>
                </a:solidFill>
                <a:latin typeface="Arial"/>
              </a:rPr>
              <a:t>•  Maps influence, support and coalition paths</a:t>
            </a:r>
          </a:p>
          <a:p>
            <a:pPr>
              <a:spcAft>
                <a:spcPts val="700"/>
              </a:spcAft>
            </a:pPr>
            <a:r>
              <a:rPr sz="1200">
                <a:solidFill>
                  <a:srgbClr val="161B26"/>
                </a:solidFill>
                <a:latin typeface="Arial"/>
              </a:rPr>
              <a:t>•  Diagnoses and works the resistance directly</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MASTER BLACK BELT</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Owns the deployment</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Sets portfolio selection criteria</a:t>
            </a:r>
          </a:p>
          <a:p>
            <a:pPr>
              <a:spcAft>
                <a:spcPts val="700"/>
              </a:spcAft>
            </a:pPr>
            <a:r>
              <a:rPr sz="1200">
                <a:solidFill>
                  <a:srgbClr val="161B26"/>
                </a:solidFill>
                <a:latin typeface="Arial"/>
              </a:rPr>
              <a:t>•  Certifies charters before they start</a:t>
            </a:r>
          </a:p>
          <a:p>
            <a:pPr>
              <a:spcAft>
                <a:spcPts val="700"/>
              </a:spcAft>
            </a:pPr>
            <a:r>
              <a:rPr sz="1200">
                <a:solidFill>
                  <a:srgbClr val="161B26"/>
                </a:solidFill>
                <a:latin typeface="Arial"/>
              </a:rPr>
              <a:t>•  Audits benefit claims with Finance</a:t>
            </a:r>
          </a:p>
          <a:p>
            <a:pPr>
              <a:spcAft>
                <a:spcPts val="700"/>
              </a:spcAft>
            </a:pPr>
            <a:r>
              <a:rPr sz="1200">
                <a:solidFill>
                  <a:srgbClr val="161B26"/>
                </a:solidFill>
                <a:latin typeface="Arial"/>
              </a:rPr>
              <a:t>•  Coaches the Black Belts</a:t>
            </a:r>
          </a:p>
          <a:p>
            <a:pPr>
              <a:spcAft>
                <a:spcPts val="700"/>
              </a:spcAft>
            </a:pPr>
            <a:r>
              <a:rPr sz="1200">
                <a:solidFill>
                  <a:srgbClr val="161B26"/>
                </a:solidFill>
                <a:latin typeface="Arial"/>
              </a:rPr>
              <a:t>•  Owns the tollgate standard itself</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Define sequence you will run and teach</a:t>
            </a:r>
          </a:p>
        </p:txBody>
      </p:sp>
      <p:sp>
        <p:nvSpPr>
          <p:cNvPr id="6" name="Rectangle 5"/>
          <p:cNvSpPr/>
          <p:nvPr/>
        </p:nvSpPr>
        <p:spPr>
          <a:xfrm>
            <a:off x="777240"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Capture and segment the Voice of the Customer</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601468"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523744"/>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Cluster with affinity, classify with Kano</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4425696"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523744"/>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Build CTQ trees and flow the Y down to Xs</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6249924"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523744"/>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Draft charter, problem, goal, scope, business case</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8074152"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523744"/>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Map stakeholders, diagnose resistance, plan the change</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6" name="Rectangle 35"/>
          <p:cNvSpPr/>
          <p:nvPr/>
        </p:nvSpPr>
        <p:spPr>
          <a:xfrm>
            <a:off x="9898380"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523744"/>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Tollgate: sponsor signs, or the project is killed</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Medical Devices - the running case for this course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a:solidFill>
                  <a:srgbClr val="161B26"/>
                </a:solidFill>
                <a:latin typeface="Arial"/>
              </a:rPr>
              <a:t>•  Three plants: Singapore (HQ and pilot line), Penang (high volume), Suzhou (China domestic).</a:t>
            </a:r>
          </a:p>
          <a:p>
            <a:pPr>
              <a:spcAft>
                <a:spcPts val="1000"/>
              </a:spcAft>
            </a:pPr>
            <a:r>
              <a:rPr sz="1800">
                <a:solidFill>
                  <a:srgbClr val="161B26"/>
                </a:solidFill>
                <a:latin typeface="Arial"/>
              </a:rPr>
              <a:t>•  Six assembly lines building infusion pump assemblies for hospital and homecare customers.</a:t>
            </a:r>
          </a:p>
          <a:p>
            <a:pPr>
              <a:spcAft>
                <a:spcPts val="1000"/>
              </a:spcAft>
            </a:pPr>
            <a:r>
              <a:rPr sz="1800">
                <a:solidFill>
                  <a:srgbClr val="161B26"/>
                </a:solidFill>
                <a:latin typeface="Arial"/>
              </a:rPr>
              <a:t>•  Business pain: on-time in-full (OTIF) delivery is 87.4 percent against a customer commitment of 96 percent.</a:t>
            </a:r>
          </a:p>
          <a:p>
            <a:pPr>
              <a:spcAft>
                <a:spcPts val="1000"/>
              </a:spcAft>
            </a:pPr>
            <a:r>
              <a:rPr sz="1800">
                <a:solidFill>
                  <a:srgbClr val="161B26"/>
                </a:solidFill>
                <a:latin typeface="Arial"/>
              </a:rPr>
              <a:t>•  First-pass yield sits at 91.2 percent group-wide, but Suzhou is 86.1 percent and Singapore is 95.0 percent.</a:t>
            </a:r>
          </a:p>
          <a:p>
            <a:pPr>
              <a:spcAft>
                <a:spcPts val="1000"/>
              </a:spcAft>
            </a:pPr>
            <a:r>
              <a:rPr sz="1800">
                <a:solidFill>
                  <a:srgbClr val="161B26"/>
                </a:solidFill>
                <a:latin typeface="Arial"/>
              </a:rPr>
              <a:t>•  Warranty returns cost SGD 3.4 million last year, of which 61 percent trace to two failure modes.</a:t>
            </a:r>
          </a:p>
          <a:p>
            <a:pPr>
              <a:spcAft>
                <a:spcPts val="1000"/>
              </a:spcAft>
            </a:pPr>
            <a:r>
              <a:rPr sz="1800">
                <a:solidFill>
                  <a:srgbClr val="161B26"/>
                </a:solidFill>
                <a:latin typeface="Arial"/>
              </a:rPr>
              <a:t>•  You will carry Meridian through every phase, and mirror it on your own capstone process.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RECAP IN DEPTH - VOC</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Voice of the Customer: you must be able to teach it, not just use it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Green Belts routinely collect VOC from whoever is easiest to reach. Your job is to make them segment, sample and capture verbatim before a single CTQ is written.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Two families of VOC sources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REACTIVE</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Arrives whether you ask or not</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Complaints and service desk tickets</a:t>
            </a:r>
          </a:p>
          <a:p>
            <a:pPr>
              <a:spcAft>
                <a:spcPts val="700"/>
              </a:spcAft>
            </a:pPr>
            <a:r>
              <a:rPr sz="1200">
                <a:solidFill>
                  <a:srgbClr val="161B26"/>
                </a:solidFill>
                <a:latin typeface="Arial"/>
              </a:rPr>
              <a:t>•  Warranty claims and field returns</a:t>
            </a:r>
          </a:p>
          <a:p>
            <a:pPr>
              <a:spcAft>
                <a:spcPts val="700"/>
              </a:spcAft>
            </a:pPr>
            <a:r>
              <a:rPr sz="1200">
                <a:solidFill>
                  <a:srgbClr val="161B26"/>
                </a:solidFill>
                <a:latin typeface="Arial"/>
              </a:rPr>
              <a:t>•  Credit notes, refunds, order cancellations</a:t>
            </a:r>
          </a:p>
          <a:p>
            <a:pPr>
              <a:spcAft>
                <a:spcPts val="700"/>
              </a:spcAft>
            </a:pPr>
            <a:r>
              <a:rPr sz="1200">
                <a:solidFill>
                  <a:srgbClr val="161B26"/>
                </a:solidFill>
                <a:latin typeface="Arial"/>
              </a:rPr>
              <a:t>•  Audit findings and regulatory observations</a:t>
            </a:r>
          </a:p>
          <a:p>
            <a:pPr>
              <a:spcAft>
                <a:spcPts val="700"/>
              </a:spcAft>
            </a:pPr>
            <a:r>
              <a:rPr sz="1200">
                <a:solidFill>
                  <a:srgbClr val="161B26"/>
                </a:solidFill>
                <a:latin typeface="Arial"/>
              </a:rPr>
              <a:t>•  Cheap and continuous, but biased to the angry</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PROACTIVE</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You must deliberately go and get it</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Structured surveys with a real sampling plan</a:t>
            </a:r>
          </a:p>
          <a:p>
            <a:pPr>
              <a:spcAft>
                <a:spcPts val="700"/>
              </a:spcAft>
            </a:pPr>
            <a:r>
              <a:rPr sz="1200">
                <a:solidFill>
                  <a:srgbClr val="161B26"/>
                </a:solidFill>
                <a:latin typeface="Arial"/>
              </a:rPr>
              <a:t>•  One-to-one interviews with buyers and users</a:t>
            </a:r>
          </a:p>
          <a:p>
            <a:pPr>
              <a:spcAft>
                <a:spcPts val="700"/>
              </a:spcAft>
            </a:pPr>
            <a:r>
              <a:rPr sz="1200">
                <a:solidFill>
                  <a:srgbClr val="161B26"/>
                </a:solidFill>
                <a:latin typeface="Arial"/>
              </a:rPr>
              <a:t>•  Focus groups of six to ten customers</a:t>
            </a:r>
          </a:p>
          <a:p>
            <a:pPr>
              <a:spcAft>
                <a:spcPts val="700"/>
              </a:spcAft>
            </a:pPr>
            <a:r>
              <a:rPr sz="1200">
                <a:solidFill>
                  <a:srgbClr val="161B26"/>
                </a:solidFill>
                <a:latin typeface="Arial"/>
              </a:rPr>
              <a:t>•  Gemba: watch a nurse actually set up the pump</a:t>
            </a:r>
          </a:p>
          <a:p>
            <a:pPr>
              <a:spcAft>
                <a:spcPts val="700"/>
              </a:spcAft>
            </a:pPr>
            <a:r>
              <a:rPr sz="1200">
                <a:solidFill>
                  <a:srgbClr val="161B26"/>
                </a:solidFill>
                <a:latin typeface="Arial"/>
              </a:rPr>
              <a:t>•  Costlier, but reaches the silent majority</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Customer segmentation - VOC is meaningless unsegmented</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Segment by customer type</a:t>
            </a:r>
          </a:p>
          <a:p>
            <a:pPr algn="l">
              <a:spcAft>
                <a:spcPts val="300"/>
              </a:spcAft>
            </a:pPr>
            <a:r>
              <a:rPr sz="1200" b="0">
                <a:solidFill>
                  <a:srgbClr val="5B6372"/>
                </a:solidFill>
                <a:latin typeface="Arial"/>
              </a:rPr>
              <a:t>Hospital procurement, ward nursing staff, homecare patients and distributors want different things.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Segment by geography</a:t>
            </a:r>
          </a:p>
          <a:p>
            <a:pPr algn="l">
              <a:spcAft>
                <a:spcPts val="300"/>
              </a:spcAft>
            </a:pPr>
            <a:r>
              <a:rPr sz="1200" b="0">
                <a:solidFill>
                  <a:srgbClr val="5B6372"/>
                </a:solidFill>
                <a:latin typeface="Arial"/>
              </a:rPr>
              <a:t>Singapore private hospitals, Malaysian public tenders and China distributors buy on different criteria.</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Segment by volume and value</a:t>
            </a:r>
          </a:p>
          <a:p>
            <a:pPr algn="l">
              <a:spcAft>
                <a:spcPts val="300"/>
              </a:spcAft>
            </a:pPr>
            <a:r>
              <a:rPr sz="1200" b="0">
                <a:solidFill>
                  <a:srgbClr val="5B6372"/>
                </a:solidFill>
                <a:latin typeface="Arial"/>
              </a:rPr>
              <a:t>The top 8 accounts are 62 percent of Meridian revenue. Weight their voice accordingly.</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Segment by lifecycle stage</a:t>
            </a:r>
          </a:p>
          <a:p>
            <a:pPr algn="l">
              <a:spcAft>
                <a:spcPts val="300"/>
              </a:spcAft>
            </a:pPr>
            <a:r>
              <a:rPr sz="1200" b="0">
                <a:solidFill>
                  <a:srgbClr val="5B6372"/>
                </a:solidFill>
                <a:latin typeface="Arial"/>
              </a:rPr>
              <a:t>A first-time buyer values setup simplicity; a five-year user values spare parts availability.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Watch for conflicting voices</a:t>
            </a:r>
          </a:p>
          <a:p>
            <a:pPr algn="l">
              <a:spcAft>
                <a:spcPts val="300"/>
              </a:spcAft>
            </a:pPr>
            <a:r>
              <a:rPr sz="1200" b="0">
                <a:solidFill>
                  <a:srgbClr val="5B6372"/>
                </a:solidFill>
                <a:latin typeface="Arial"/>
              </a:rPr>
              <a:t>Procurement wants lowest unit price; nursing wants fastest changeover. Both are real.</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Record the segment with the verbatim</a:t>
            </a:r>
          </a:p>
          <a:p>
            <a:pPr algn="l">
              <a:spcAft>
                <a:spcPts val="300"/>
              </a:spcAft>
            </a:pPr>
            <a:r>
              <a:rPr sz="1200" b="0">
                <a:solidFill>
                  <a:srgbClr val="5B6372"/>
                </a:solidFill>
                <a:latin typeface="Arial"/>
              </a:rPr>
              <a:t>An unattributed quote cannot be reconciled later when voices conflict.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Verbatim capture - the discipline that Green Belts skip</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CAPTURE VERBATIM</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Their words, not yours</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Write exactly what was said, in quotes</a:t>
            </a:r>
          </a:p>
          <a:p>
            <a:pPr>
              <a:spcAft>
                <a:spcPts val="700"/>
              </a:spcAft>
            </a:pPr>
            <a:r>
              <a:rPr sz="1200">
                <a:solidFill>
                  <a:srgbClr val="161B26"/>
                </a:solidFill>
                <a:latin typeface="Arial"/>
              </a:rPr>
              <a:t>•  Do not paraphrase into company language</a:t>
            </a:r>
          </a:p>
          <a:p>
            <a:pPr>
              <a:spcAft>
                <a:spcPts val="700"/>
              </a:spcAft>
            </a:pPr>
            <a:r>
              <a:rPr sz="1200">
                <a:solidFill>
                  <a:srgbClr val="161B26"/>
                </a:solidFill>
                <a:latin typeface="Arial"/>
              </a:rPr>
              <a:t>•  Record who said it, when, and in what role</a:t>
            </a:r>
          </a:p>
          <a:p>
            <a:pPr>
              <a:spcAft>
                <a:spcPts val="700"/>
              </a:spcAft>
            </a:pPr>
            <a:r>
              <a:rPr sz="1200">
                <a:solidFill>
                  <a:srgbClr val="161B26"/>
                </a:solidFill>
                <a:latin typeface="Arial"/>
              </a:rPr>
              <a:t>•  Keep the emotion - it signals severity</a:t>
            </a:r>
          </a:p>
          <a:p>
            <a:pPr>
              <a:spcAft>
                <a:spcPts val="700"/>
              </a:spcAft>
            </a:pPr>
            <a:r>
              <a:rPr sz="1200">
                <a:solidFill>
                  <a:srgbClr val="161B26"/>
                </a:solidFill>
                <a:latin typeface="Arial"/>
              </a:rPr>
              <a:t>•  One statement per card or row</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WHY IT MATTERS</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Paraphrase destroys evidence</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'Delivery is bad' loses which part is bad</a:t>
            </a:r>
          </a:p>
          <a:p>
            <a:pPr>
              <a:spcAft>
                <a:spcPts val="700"/>
              </a:spcAft>
            </a:pPr>
            <a:r>
              <a:rPr sz="1200">
                <a:solidFill>
                  <a:srgbClr val="161B26"/>
                </a:solidFill>
                <a:latin typeface="Arial"/>
              </a:rPr>
              <a:t>•  The team's bias enters at paraphrase time</a:t>
            </a:r>
          </a:p>
          <a:p>
            <a:pPr>
              <a:spcAft>
                <a:spcPts val="700"/>
              </a:spcAft>
            </a:pPr>
            <a:r>
              <a:rPr sz="1200">
                <a:solidFill>
                  <a:srgbClr val="161B26"/>
                </a:solidFill>
                <a:latin typeface="Arial"/>
              </a:rPr>
              <a:t>•  You cannot re-cluster paraphrased data</a:t>
            </a:r>
          </a:p>
          <a:p>
            <a:pPr>
              <a:spcAft>
                <a:spcPts val="700"/>
              </a:spcAft>
            </a:pPr>
            <a:r>
              <a:rPr sz="1200">
                <a:solidFill>
                  <a:srgbClr val="161B26"/>
                </a:solidFill>
                <a:latin typeface="Arial"/>
              </a:rPr>
              <a:t>•  Sponsors challenge summaries, not quotes</a:t>
            </a:r>
          </a:p>
          <a:p>
            <a:pPr>
              <a:spcAft>
                <a:spcPts val="700"/>
              </a:spcAft>
            </a:pPr>
            <a:r>
              <a:rPr sz="1200">
                <a:solidFill>
                  <a:srgbClr val="161B26"/>
                </a:solidFill>
                <a:latin typeface="Arial"/>
              </a:rPr>
              <a:t>•  Regulators want the source record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 VOC verbatims from four segments</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PROCUREMENT AND DISTRIBUTOR VOICE</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CLINICAL AND PATIENT VOICE</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'Two of the twelve pumps arrived, the rest slipped three weeks.'</a:t>
            </a:r>
          </a:p>
          <a:p>
            <a:pPr>
              <a:spcAft>
                <a:spcPts val="1000"/>
              </a:spcAft>
            </a:pPr>
            <a:r>
              <a:rPr sz="1500">
                <a:solidFill>
                  <a:srgbClr val="161B26"/>
                </a:solidFill>
                <a:latin typeface="Arial"/>
              </a:rPr>
              <a:t>•  'Nobody told me it was late - my ward planned around it.'</a:t>
            </a:r>
          </a:p>
          <a:p>
            <a:pPr>
              <a:spcAft>
                <a:spcPts val="1000"/>
              </a:spcAft>
            </a:pPr>
            <a:r>
              <a:rPr sz="1500">
                <a:solidFill>
                  <a:srgbClr val="161B26"/>
                </a:solidFill>
                <a:latin typeface="Arial"/>
              </a:rPr>
              <a:t>•  'Your Suzhou units fail calibration more often than Penang.'</a:t>
            </a:r>
          </a:p>
          <a:p>
            <a:pPr>
              <a:spcAft>
                <a:spcPts val="1000"/>
              </a:spcAft>
            </a:pPr>
            <a:r>
              <a:rPr sz="1300">
                <a:solidFill>
                  <a:srgbClr val="5B6372"/>
                </a:solidFill>
                <a:latin typeface="Arial"/>
              </a:rPr>
              <a:t>–  Source: 148 service tickets and 22 procurement interviews</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'Setting up the infusion set takes too many steps at 3am.'</a:t>
            </a:r>
          </a:p>
          <a:p>
            <a:pPr>
              <a:spcAft>
                <a:spcPts val="1000"/>
              </a:spcAft>
            </a:pPr>
            <a:r>
              <a:rPr sz="1500">
                <a:solidFill>
                  <a:srgbClr val="161B26"/>
                </a:solidFill>
                <a:latin typeface="Arial"/>
              </a:rPr>
              <a:t>•  'The alarm tone is indistinguishable from the next bed.'</a:t>
            </a:r>
          </a:p>
          <a:p>
            <a:pPr>
              <a:spcAft>
                <a:spcPts val="1000"/>
              </a:spcAft>
            </a:pPr>
            <a:r>
              <a:rPr sz="1500">
                <a:solidFill>
                  <a:srgbClr val="161B26"/>
                </a:solidFill>
                <a:latin typeface="Arial"/>
              </a:rPr>
              <a:t>•  'I need a spare battery door within 48 hours, not 3 weeks.'</a:t>
            </a:r>
          </a:p>
          <a:p>
            <a:pPr>
              <a:spcAft>
                <a:spcPts val="1000"/>
              </a:spcAft>
            </a:pPr>
            <a:r>
              <a:rPr sz="1300">
                <a:solidFill>
                  <a:srgbClr val="5B6372"/>
                </a:solidFill>
                <a:latin typeface="Arial"/>
              </a:rPr>
              <a:t>–  Source: 9 ward gemba visits and 31 homecare surveys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RECAP IN DEPTH - AFFINITY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affinity diagram turns 200 verbatims into 6 themes</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It is a silent, physical, team method. Run it wrong and you get the loudest person's categories. Run it right and the data speaks.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affinity method, done properly</a:t>
            </a:r>
          </a:p>
        </p:txBody>
      </p:sp>
      <p:sp>
        <p:nvSpPr>
          <p:cNvPr id="6" name="Rectangle 5"/>
          <p:cNvSpPr/>
          <p:nvPr/>
        </p:nvSpPr>
        <p:spPr>
          <a:xfrm>
            <a:off x="777240"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Write one verbatim per card - no editing, no merging</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601468"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523744"/>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Spread every card on the wall so all are visible</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4425696"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523744"/>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Cluster in SILENCE - anyone may move any card</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6249924"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523744"/>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Stop when movement settles; discuss only then</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8074152"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523744"/>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Name each cluster with a full sentence, not a noun</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6" name="Rectangle 35"/>
          <p:cNvSpPr/>
          <p:nvPr/>
        </p:nvSpPr>
        <p:spPr>
          <a:xfrm>
            <a:off x="9898380"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523744"/>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Check orphan cards - they are often the insight</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Naming clusters - weak versus strong</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WEAK NAMES</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Nouns that hide the meaning</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'Delivery'</a:t>
            </a:r>
          </a:p>
          <a:p>
            <a:pPr>
              <a:spcAft>
                <a:spcPts val="700"/>
              </a:spcAft>
            </a:pPr>
            <a:r>
              <a:rPr sz="1200">
                <a:solidFill>
                  <a:srgbClr val="161B26"/>
                </a:solidFill>
                <a:latin typeface="Arial"/>
              </a:rPr>
              <a:t>•  'Quality'</a:t>
            </a:r>
          </a:p>
          <a:p>
            <a:pPr>
              <a:spcAft>
                <a:spcPts val="700"/>
              </a:spcAft>
            </a:pPr>
            <a:r>
              <a:rPr sz="1200">
                <a:solidFill>
                  <a:srgbClr val="161B26"/>
                </a:solidFill>
                <a:latin typeface="Arial"/>
              </a:rPr>
              <a:t>•  'Communication'</a:t>
            </a:r>
          </a:p>
          <a:p>
            <a:pPr>
              <a:spcAft>
                <a:spcPts val="700"/>
              </a:spcAft>
            </a:pPr>
            <a:r>
              <a:rPr sz="1200">
                <a:solidFill>
                  <a:srgbClr val="161B26"/>
                </a:solidFill>
                <a:latin typeface="Arial"/>
              </a:rPr>
              <a:t>•  'Product issues'</a:t>
            </a:r>
          </a:p>
          <a:p>
            <a:pPr>
              <a:spcAft>
                <a:spcPts val="700"/>
              </a:spcAft>
            </a:pPr>
            <a:r>
              <a:rPr sz="1200">
                <a:solidFill>
                  <a:srgbClr val="161B26"/>
                </a:solidFill>
                <a:latin typeface="Arial"/>
              </a:rPr>
              <a:t>•  These could contain anything at all</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STRONG NAMES</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Full sentences that carry the finding</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'Orders arrive late and we are not told'</a:t>
            </a:r>
          </a:p>
          <a:p>
            <a:pPr>
              <a:spcAft>
                <a:spcPts val="700"/>
              </a:spcAft>
            </a:pPr>
            <a:r>
              <a:rPr sz="1200">
                <a:solidFill>
                  <a:srgbClr val="161B26"/>
                </a:solidFill>
                <a:latin typeface="Arial"/>
              </a:rPr>
              <a:t>•  'Suzhou units fail calibration more often'</a:t>
            </a:r>
          </a:p>
          <a:p>
            <a:pPr>
              <a:spcAft>
                <a:spcPts val="700"/>
              </a:spcAft>
            </a:pPr>
            <a:r>
              <a:rPr sz="1200">
                <a:solidFill>
                  <a:srgbClr val="161B26"/>
                </a:solidFill>
                <a:latin typeface="Arial"/>
              </a:rPr>
              <a:t>•  'Setup has too many steps for night shift'</a:t>
            </a:r>
          </a:p>
          <a:p>
            <a:pPr>
              <a:spcAft>
                <a:spcPts val="700"/>
              </a:spcAft>
            </a:pPr>
            <a:r>
              <a:rPr sz="1200">
                <a:solidFill>
                  <a:srgbClr val="161B26"/>
                </a:solidFill>
                <a:latin typeface="Arial"/>
              </a:rPr>
              <a:t>•  'Spare parts take weeks to reach the ward'</a:t>
            </a:r>
          </a:p>
          <a:p>
            <a:pPr>
              <a:spcAft>
                <a:spcPts val="700"/>
              </a:spcAft>
            </a:pPr>
            <a:r>
              <a:rPr sz="1200">
                <a:solidFill>
                  <a:srgbClr val="161B26"/>
                </a:solidFill>
                <a:latin typeface="Arial"/>
              </a:rPr>
              <a:t>•  A stranger can act on these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 the six affinity themes from 214 verbatims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Orders arrive late and unannounced</a:t>
            </a:r>
          </a:p>
          <a:p>
            <a:pPr algn="l">
              <a:spcAft>
                <a:spcPts val="300"/>
              </a:spcAft>
            </a:pPr>
            <a:r>
              <a:rPr sz="1200" b="0">
                <a:solidFill>
                  <a:srgbClr val="5B6372"/>
                </a:solidFill>
                <a:latin typeface="Arial"/>
              </a:rPr>
              <a:t>68 cards. Late delivery plus no proactive notification. Ties directly to OTIF.</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Partial shipments break ward planning</a:t>
            </a:r>
          </a:p>
          <a:p>
            <a:pPr algn="l">
              <a:spcAft>
                <a:spcPts val="300"/>
              </a:spcAft>
            </a:pPr>
            <a:r>
              <a:rPr sz="1200" b="0">
                <a:solidFill>
                  <a:srgbClr val="5B6372"/>
                </a:solidFill>
                <a:latin typeface="Arial"/>
              </a:rPr>
              <a:t>41 cards. In-full failure, distinct from the on-time failure.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Suzhou-built units fail calibration</a:t>
            </a:r>
          </a:p>
          <a:p>
            <a:pPr algn="l">
              <a:spcAft>
                <a:spcPts val="300"/>
              </a:spcAft>
            </a:pPr>
            <a:r>
              <a:rPr sz="1200" b="0">
                <a:solidFill>
                  <a:srgbClr val="5B6372"/>
                </a:solidFill>
                <a:latin typeface="Arial"/>
              </a:rPr>
              <a:t>37 cards. Plant-specific quality signal, not a design issue.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Setup takes too many steps</a:t>
            </a:r>
          </a:p>
          <a:p>
            <a:pPr algn="l">
              <a:spcAft>
                <a:spcPts val="300"/>
              </a:spcAft>
            </a:pPr>
            <a:r>
              <a:rPr sz="1200" b="0">
                <a:solidFill>
                  <a:srgbClr val="5B6372"/>
                </a:solidFill>
                <a:latin typeface="Arial"/>
              </a:rPr>
              <a:t>29 cards. Usability, mostly from night-shift nursing.</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Alarm tones are not distinguishable</a:t>
            </a:r>
          </a:p>
          <a:p>
            <a:pPr algn="l">
              <a:spcAft>
                <a:spcPts val="300"/>
              </a:spcAft>
            </a:pPr>
            <a:r>
              <a:rPr sz="1200" b="0">
                <a:solidFill>
                  <a:srgbClr val="5B6372"/>
                </a:solidFill>
                <a:latin typeface="Arial"/>
              </a:rPr>
              <a:t>22 cards. Safety-adjacent; escalate to the design authority.</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Spare parts lead time is weeks</a:t>
            </a:r>
          </a:p>
          <a:p>
            <a:pPr algn="l">
              <a:spcAft>
                <a:spcPts val="300"/>
              </a:spcAft>
            </a:pPr>
            <a:r>
              <a:rPr sz="1200" b="0">
                <a:solidFill>
                  <a:srgbClr val="5B6372"/>
                </a:solidFill>
                <a:latin typeface="Arial"/>
              </a:rPr>
              <a:t>17 cards. Aftermarket supply chain, likely a separate project.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RECAP IN DEPTH - KANO</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Kano tells you which requirements actually buy satisfaction</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Not all CTQs are equal. Meeting a Must-Be earns you nothing; missing one loses the account. A Black Belt must classify before prioritising.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five Kano categories in full</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MUST-BE</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Expected, unspoken</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Absence causes severe dissatisfaction</a:t>
            </a:r>
          </a:p>
          <a:p>
            <a:pPr>
              <a:spcAft>
                <a:spcPts val="700"/>
              </a:spcAft>
            </a:pPr>
            <a:r>
              <a:rPr sz="1200">
                <a:solidFill>
                  <a:srgbClr val="161B26"/>
                </a:solidFill>
                <a:latin typeface="Arial"/>
              </a:rPr>
              <a:t>•  Presence causes no satisfaction at all</a:t>
            </a:r>
          </a:p>
          <a:p>
            <a:pPr>
              <a:spcAft>
                <a:spcPts val="700"/>
              </a:spcAft>
            </a:pPr>
            <a:r>
              <a:rPr sz="1200">
                <a:solidFill>
                  <a:srgbClr val="161B26"/>
                </a:solidFill>
                <a:latin typeface="Arial"/>
              </a:rPr>
              <a:t>•  Pump must not over-deliver dose</a:t>
            </a:r>
          </a:p>
          <a:p>
            <a:pPr>
              <a:spcAft>
                <a:spcPts val="700"/>
              </a:spcAft>
            </a:pPr>
            <a:r>
              <a:rPr sz="1200">
                <a:solidFill>
                  <a:srgbClr val="161B26"/>
                </a:solidFill>
                <a:latin typeface="Arial"/>
              </a:rPr>
              <a:t>•  Sterile packaging must be intact</a:t>
            </a:r>
          </a:p>
          <a:p>
            <a:pPr>
              <a:spcAft>
                <a:spcPts val="700"/>
              </a:spcAft>
            </a:pPr>
            <a:r>
              <a:rPr sz="1200">
                <a:solidFill>
                  <a:srgbClr val="161B26"/>
                </a:solidFill>
                <a:latin typeface="Arial"/>
              </a:rPr>
              <a:t>•  You cannot win here - only lose</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ONE-DIMENSIONAL</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More is linearly better</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Satisfaction rises with performance</a:t>
            </a:r>
          </a:p>
          <a:p>
            <a:pPr>
              <a:spcAft>
                <a:spcPts val="700"/>
              </a:spcAft>
            </a:pPr>
            <a:r>
              <a:rPr sz="1200">
                <a:solidFill>
                  <a:srgbClr val="161B26"/>
                </a:solidFill>
                <a:latin typeface="Arial"/>
              </a:rPr>
              <a:t>•  Customers will state these openly</a:t>
            </a:r>
          </a:p>
          <a:p>
            <a:pPr>
              <a:spcAft>
                <a:spcPts val="700"/>
              </a:spcAft>
            </a:pPr>
            <a:r>
              <a:rPr sz="1200">
                <a:solidFill>
                  <a:srgbClr val="161B26"/>
                </a:solidFill>
                <a:latin typeface="Arial"/>
              </a:rPr>
              <a:t>•  OTIF percentage, delivery lead time</a:t>
            </a:r>
          </a:p>
          <a:p>
            <a:pPr>
              <a:spcAft>
                <a:spcPts val="700"/>
              </a:spcAft>
            </a:pPr>
            <a:r>
              <a:rPr sz="1200">
                <a:solidFill>
                  <a:srgbClr val="161B26"/>
                </a:solidFill>
                <a:latin typeface="Arial"/>
              </a:rPr>
              <a:t>•  Battery run time in hours</a:t>
            </a:r>
          </a:p>
          <a:p>
            <a:pPr>
              <a:spcAft>
                <a:spcPts val="700"/>
              </a:spcAft>
            </a:pPr>
            <a:r>
              <a:rPr sz="1200">
                <a:solidFill>
                  <a:srgbClr val="161B26"/>
                </a:solidFill>
                <a:latin typeface="Arial"/>
              </a:rPr>
              <a:t>•  Where most CTQs and projects sit</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DELIGHTER</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Unexpected, unasked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Presence delights; absence is unnoticed</a:t>
            </a:r>
          </a:p>
          <a:p>
            <a:pPr>
              <a:spcAft>
                <a:spcPts val="700"/>
              </a:spcAft>
            </a:pPr>
            <a:r>
              <a:rPr sz="1200">
                <a:solidFill>
                  <a:srgbClr val="161B26"/>
                </a:solidFill>
                <a:latin typeface="Arial"/>
              </a:rPr>
              <a:t>•  Customers cannot ask for these</a:t>
            </a:r>
          </a:p>
          <a:p>
            <a:pPr>
              <a:spcAft>
                <a:spcPts val="700"/>
              </a:spcAft>
            </a:pPr>
            <a:r>
              <a:rPr sz="1200">
                <a:solidFill>
                  <a:srgbClr val="161B26"/>
                </a:solidFill>
                <a:latin typeface="Arial"/>
              </a:rPr>
              <a:t>•  Auto-detection of the infusion set type</a:t>
            </a:r>
          </a:p>
          <a:p>
            <a:pPr>
              <a:spcAft>
                <a:spcPts val="700"/>
              </a:spcAft>
            </a:pPr>
            <a:r>
              <a:rPr sz="1200">
                <a:solidFill>
                  <a:srgbClr val="161B26"/>
                </a:solidFill>
                <a:latin typeface="Arial"/>
              </a:rPr>
              <a:t>•  Proactive delay alert before the due date</a:t>
            </a:r>
          </a:p>
          <a:p>
            <a:pPr>
              <a:spcAft>
                <a:spcPts val="700"/>
              </a:spcAft>
            </a:pPr>
            <a:r>
              <a:rPr sz="1200">
                <a:solidFill>
                  <a:srgbClr val="161B26"/>
                </a:solidFill>
                <a:latin typeface="Arial"/>
              </a:rPr>
              <a:t>•  Source of competitive differentiation</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two categories teams forget</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INDIFFERENT</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Customer does not care either way</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Neither presence nor absence moves satisfaction</a:t>
            </a:r>
          </a:p>
          <a:p>
            <a:pPr>
              <a:spcAft>
                <a:spcPts val="700"/>
              </a:spcAft>
            </a:pPr>
            <a:r>
              <a:rPr sz="1200">
                <a:solidFill>
                  <a:srgbClr val="161B26"/>
                </a:solidFill>
                <a:latin typeface="Arial"/>
              </a:rPr>
              <a:t>•  Often internally-invented features</a:t>
            </a:r>
          </a:p>
          <a:p>
            <a:pPr>
              <a:spcAft>
                <a:spcPts val="700"/>
              </a:spcAft>
            </a:pPr>
            <a:r>
              <a:rPr sz="1200">
                <a:solidFill>
                  <a:srgbClr val="161B26"/>
                </a:solidFill>
                <a:latin typeface="Arial"/>
              </a:rPr>
              <a:t>•  Meridian example: 14 configurable report layouts</a:t>
            </a:r>
          </a:p>
          <a:p>
            <a:pPr>
              <a:spcAft>
                <a:spcPts val="700"/>
              </a:spcAft>
            </a:pPr>
            <a:r>
              <a:rPr sz="1200">
                <a:solidFill>
                  <a:srgbClr val="161B26"/>
                </a:solidFill>
                <a:latin typeface="Arial"/>
              </a:rPr>
              <a:t>•  Nursing staff use exactly one of them</a:t>
            </a:r>
          </a:p>
          <a:p>
            <a:pPr>
              <a:spcAft>
                <a:spcPts val="700"/>
              </a:spcAft>
            </a:pPr>
            <a:r>
              <a:rPr sz="1200">
                <a:solidFill>
                  <a:srgbClr val="161B26"/>
                </a:solidFill>
                <a:latin typeface="Arial"/>
              </a:rPr>
              <a:t>•  Stop investing here - this is pure waste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REVERSE</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More of it makes it worse</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The feature actively harms satisfaction</a:t>
            </a:r>
          </a:p>
          <a:p>
            <a:pPr>
              <a:spcAft>
                <a:spcPts val="700"/>
              </a:spcAft>
            </a:pPr>
            <a:r>
              <a:rPr sz="1200">
                <a:solidFill>
                  <a:srgbClr val="161B26"/>
                </a:solidFill>
                <a:latin typeface="Arial"/>
              </a:rPr>
              <a:t>•  Meridian example: extra confirmation prompts</a:t>
            </a:r>
          </a:p>
          <a:p>
            <a:pPr>
              <a:spcAft>
                <a:spcPts val="700"/>
              </a:spcAft>
            </a:pPr>
            <a:r>
              <a:rPr sz="1200">
                <a:solidFill>
                  <a:srgbClr val="161B26"/>
                </a:solidFill>
                <a:latin typeface="Arial"/>
              </a:rPr>
              <a:t>•  Added for safety, hated at 3am on a ward</a:t>
            </a:r>
          </a:p>
          <a:p>
            <a:pPr>
              <a:spcAft>
                <a:spcPts val="700"/>
              </a:spcAft>
            </a:pPr>
            <a:r>
              <a:rPr sz="1200">
                <a:solidFill>
                  <a:srgbClr val="161B26"/>
                </a:solidFill>
                <a:latin typeface="Arial"/>
              </a:rPr>
              <a:t>•  Also: verbose alarm logs no one reads</a:t>
            </a:r>
          </a:p>
          <a:p>
            <a:pPr>
              <a:spcAft>
                <a:spcPts val="700"/>
              </a:spcAft>
            </a:pPr>
            <a:r>
              <a:rPr sz="1200">
                <a:solidFill>
                  <a:srgbClr val="161B26"/>
                </a:solidFill>
                <a:latin typeface="Arial"/>
              </a:rPr>
              <a:t>•  Removing these is a free improvement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Kano positioned - satisfaction against fulfilment</a:t>
            </a:r>
          </a:p>
        </p:txBody>
      </p:sp>
      <p:sp>
        <p:nvSpPr>
          <p:cNvPr id="6" name="Rectangle 5"/>
          <p:cNvSpPr/>
          <p:nvPr/>
        </p:nvSpPr>
        <p:spPr>
          <a:xfrm>
            <a:off x="228600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86000" y="1828800"/>
            <a:ext cx="73152" cy="18745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42032" y="2048256"/>
            <a:ext cx="3328416" cy="457200"/>
          </a:xfrm>
          <a:prstGeom prst="rect">
            <a:avLst/>
          </a:prstGeom>
          <a:noFill/>
        </p:spPr>
        <p:txBody>
          <a:bodyPr wrap="square" anchor="t">
            <a:spAutoFit/>
          </a:bodyPr>
          <a:lstStyle/>
          <a:p>
            <a:pPr algn="l">
              <a:spcAft>
                <a:spcPts val="400"/>
              </a:spcAft>
            </a:pPr>
            <a:r>
              <a:rPr sz="1600" b="1">
                <a:solidFill>
                  <a:srgbClr val="10B981"/>
                </a:solidFill>
                <a:latin typeface="Arial"/>
              </a:rPr>
              <a:t>DELIGHTER</a:t>
            </a:r>
          </a:p>
        </p:txBody>
      </p:sp>
      <p:sp>
        <p:nvSpPr>
          <p:cNvPr id="9" name="TextBox 8"/>
          <p:cNvSpPr txBox="1"/>
          <p:nvPr/>
        </p:nvSpPr>
        <p:spPr>
          <a:xfrm>
            <a:off x="254203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Absent and unnoticed. Present and it delights. Nonlinear upside. Meridian: proactive delay alert sent before the promised date.</a:t>
            </a:r>
          </a:p>
        </p:txBody>
      </p:sp>
      <p:sp>
        <p:nvSpPr>
          <p:cNvPr id="10" name="Rectangle 9"/>
          <p:cNvSpPr/>
          <p:nvPr/>
        </p:nvSpPr>
        <p:spPr>
          <a:xfrm>
            <a:off x="612648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126480" y="1828800"/>
            <a:ext cx="73152" cy="187451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2048256"/>
            <a:ext cx="3328416" cy="457200"/>
          </a:xfrm>
          <a:prstGeom prst="rect">
            <a:avLst/>
          </a:prstGeom>
          <a:noFill/>
        </p:spPr>
        <p:txBody>
          <a:bodyPr wrap="square" anchor="t">
            <a:spAutoFit/>
          </a:bodyPr>
          <a:lstStyle/>
          <a:p>
            <a:pPr algn="l">
              <a:spcAft>
                <a:spcPts val="400"/>
              </a:spcAft>
            </a:pPr>
            <a:r>
              <a:rPr sz="1600" b="1">
                <a:solidFill>
                  <a:srgbClr val="1F6FEB"/>
                </a:solidFill>
                <a:latin typeface="Arial"/>
              </a:rPr>
              <a:t>ONE-DIMENSIONAL</a:t>
            </a:r>
          </a:p>
        </p:txBody>
      </p:sp>
      <p:sp>
        <p:nvSpPr>
          <p:cNvPr id="13" name="TextBox 12"/>
          <p:cNvSpPr txBox="1"/>
          <p:nvPr/>
        </p:nvSpPr>
        <p:spPr>
          <a:xfrm>
            <a:off x="638251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Straight line from fulfilment to satisfaction. Meridian: OTIF percentage, first-pass yield, order lead time.</a:t>
            </a:r>
          </a:p>
        </p:txBody>
      </p:sp>
      <p:sp>
        <p:nvSpPr>
          <p:cNvPr id="14" name="Rectangle 13"/>
          <p:cNvSpPr/>
          <p:nvPr/>
        </p:nvSpPr>
        <p:spPr>
          <a:xfrm>
            <a:off x="228600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286000" y="3703319"/>
            <a:ext cx="73152"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42032" y="3922775"/>
            <a:ext cx="3328416" cy="457200"/>
          </a:xfrm>
          <a:prstGeom prst="rect">
            <a:avLst/>
          </a:prstGeom>
          <a:noFill/>
        </p:spPr>
        <p:txBody>
          <a:bodyPr wrap="square" anchor="t">
            <a:spAutoFit/>
          </a:bodyPr>
          <a:lstStyle/>
          <a:p>
            <a:pPr algn="l">
              <a:spcAft>
                <a:spcPts val="400"/>
              </a:spcAft>
            </a:pPr>
            <a:r>
              <a:rPr sz="1600" b="1">
                <a:solidFill>
                  <a:srgbClr val="F59E0B"/>
                </a:solidFill>
                <a:latin typeface="Arial"/>
              </a:rPr>
              <a:t>INDIFFERENT / REVERSE</a:t>
            </a:r>
          </a:p>
        </p:txBody>
      </p:sp>
      <p:sp>
        <p:nvSpPr>
          <p:cNvPr id="17" name="TextBox 16"/>
          <p:cNvSpPr txBox="1"/>
          <p:nvPr/>
        </p:nvSpPr>
        <p:spPr>
          <a:xfrm>
            <a:off x="254203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Flat or negative. Investment here returns nothing or actively harms. Meridian: 14 report layouts, extra prompts.</a:t>
            </a:r>
          </a:p>
        </p:txBody>
      </p:sp>
      <p:sp>
        <p:nvSpPr>
          <p:cNvPr id="18" name="Rectangle 17"/>
          <p:cNvSpPr/>
          <p:nvPr/>
        </p:nvSpPr>
        <p:spPr>
          <a:xfrm>
            <a:off x="612648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26480" y="3703319"/>
            <a:ext cx="73152" cy="1874519"/>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82512" y="3922775"/>
            <a:ext cx="3328416" cy="457200"/>
          </a:xfrm>
          <a:prstGeom prst="rect">
            <a:avLst/>
          </a:prstGeom>
          <a:noFill/>
        </p:spPr>
        <p:txBody>
          <a:bodyPr wrap="square" anchor="t">
            <a:spAutoFit/>
          </a:bodyPr>
          <a:lstStyle/>
          <a:p>
            <a:pPr algn="l">
              <a:spcAft>
                <a:spcPts val="400"/>
              </a:spcAft>
            </a:pPr>
            <a:r>
              <a:rPr sz="1600" b="1">
                <a:solidFill>
                  <a:srgbClr val="5B6372"/>
                </a:solidFill>
                <a:latin typeface="Arial"/>
              </a:rPr>
              <a:t>MUST-BE</a:t>
            </a:r>
          </a:p>
        </p:txBody>
      </p:sp>
      <p:sp>
        <p:nvSpPr>
          <p:cNvPr id="21" name="TextBox 20"/>
          <p:cNvSpPr txBox="1"/>
          <p:nvPr/>
        </p:nvSpPr>
        <p:spPr>
          <a:xfrm>
            <a:off x="638251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Curve saturates fast. Full compliance earns zero credit; any gap is catastrophic. Meridian: dose accuracy, sterile seal.</a:t>
            </a:r>
          </a:p>
        </p:txBody>
      </p:sp>
      <p:sp>
        <p:nvSpPr>
          <p:cNvPr id="22" name="TextBox 21"/>
          <p:cNvSpPr txBox="1"/>
          <p:nvPr/>
        </p:nvSpPr>
        <p:spPr>
          <a:xfrm>
            <a:off x="2286000" y="5687567"/>
            <a:ext cx="7680960" cy="365760"/>
          </a:xfrm>
          <a:prstGeom prst="rect">
            <a:avLst/>
          </a:prstGeom>
          <a:noFill/>
        </p:spPr>
        <p:txBody>
          <a:bodyPr wrap="square" anchor="t">
            <a:spAutoFit/>
          </a:bodyPr>
          <a:lstStyle/>
          <a:p>
            <a:pPr algn="ctr">
              <a:spcAft>
                <a:spcPts val="400"/>
              </a:spcAft>
            </a:pPr>
            <a:r>
              <a:rPr sz="1300" b="1">
                <a:solidFill>
                  <a:srgbClr val="161B26"/>
                </a:solidFill>
                <a:latin typeface="Arial"/>
              </a:rPr>
              <a:t>Degree of fulfilment  (low  -&gt;  high)</a:t>
            </a:r>
          </a:p>
        </p:txBody>
      </p:sp>
      <p:sp>
        <p:nvSpPr>
          <p:cNvPr id="23" name="TextBox 22"/>
          <p:cNvSpPr txBox="1"/>
          <p:nvPr/>
        </p:nvSpPr>
        <p:spPr>
          <a:xfrm>
            <a:off x="548640" y="3520439"/>
            <a:ext cx="1645920" cy="365760"/>
          </a:xfrm>
          <a:prstGeom prst="rect">
            <a:avLst/>
          </a:prstGeom>
          <a:noFill/>
        </p:spPr>
        <p:txBody>
          <a:bodyPr wrap="square" anchor="t">
            <a:spAutoFit/>
          </a:bodyPr>
          <a:lstStyle/>
          <a:p>
            <a:pPr algn="ctr">
              <a:spcAft>
                <a:spcPts val="400"/>
              </a:spcAft>
            </a:pPr>
            <a:r>
              <a:rPr sz="1300" b="1">
                <a:solidFill>
                  <a:srgbClr val="161B26"/>
                </a:solidFill>
                <a:latin typeface="Arial"/>
              </a:rPr>
              <a:t>Satisfaction</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Category migration - Kano decays over time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 feature enters the market as a DELIGHTER</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Competitors copy it; it becomes ONE-DIMENSIONAL</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Everyone has it; it becomes a MUST-BE</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Regulators or standards codify it as mandatory</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Your differentiation is gone - find the next delighter</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to run a Kano survey without corrupting it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Ask the functional question</a:t>
            </a:r>
          </a:p>
          <a:p>
            <a:pPr algn="l">
              <a:spcAft>
                <a:spcPts val="300"/>
              </a:spcAft>
            </a:pPr>
            <a:r>
              <a:rPr sz="1200" b="0">
                <a:solidFill>
                  <a:srgbClr val="5B6372"/>
                </a:solidFill>
                <a:latin typeface="Arial"/>
              </a:rPr>
              <a:t>'If the pump alerts you before a delivery is late, how do you feel?'</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Ask the dysfunctional question</a:t>
            </a:r>
          </a:p>
          <a:p>
            <a:pPr algn="l">
              <a:spcAft>
                <a:spcPts val="300"/>
              </a:spcAft>
            </a:pPr>
            <a:r>
              <a:rPr sz="1200" b="0">
                <a:solidFill>
                  <a:srgbClr val="5B6372"/>
                </a:solidFill>
                <a:latin typeface="Arial"/>
              </a:rPr>
              <a:t>'If the pump does NOT alert you before a delivery is late, how do you feel?'</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Use the same five-point scale</a:t>
            </a:r>
          </a:p>
          <a:p>
            <a:pPr algn="l">
              <a:spcAft>
                <a:spcPts val="300"/>
              </a:spcAft>
            </a:pPr>
            <a:r>
              <a:rPr sz="1200" b="0">
                <a:solidFill>
                  <a:srgbClr val="5B6372"/>
                </a:solidFill>
                <a:latin typeface="Arial"/>
              </a:rPr>
              <a:t>Like it / Expect it / Neutral / Live with it / Dislike it, on both questions.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Cross-tabulate to classify</a:t>
            </a:r>
          </a:p>
          <a:p>
            <a:pPr algn="l">
              <a:spcAft>
                <a:spcPts val="300"/>
              </a:spcAft>
            </a:pPr>
            <a:r>
              <a:rPr sz="1200" b="0">
                <a:solidFill>
                  <a:srgbClr val="5B6372"/>
                </a:solidFill>
                <a:latin typeface="Arial"/>
              </a:rPr>
              <a:t>The pair of answers maps to Must-Be, One-Dimensional, Delighter, Indifferent or Reverse.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Segment the results</a:t>
            </a:r>
          </a:p>
          <a:p>
            <a:pPr algn="l">
              <a:spcAft>
                <a:spcPts val="300"/>
              </a:spcAft>
            </a:pPr>
            <a:r>
              <a:rPr sz="1200" b="0">
                <a:solidFill>
                  <a:srgbClr val="5B6372"/>
                </a:solidFill>
                <a:latin typeface="Arial"/>
              </a:rPr>
              <a:t>Procurement and nursing will classify the same feature differently. Report both.</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Re-run every 18 to 24 months</a:t>
            </a:r>
          </a:p>
          <a:p>
            <a:pPr algn="l">
              <a:spcAft>
                <a:spcPts val="300"/>
              </a:spcAft>
            </a:pPr>
            <a:r>
              <a:rPr sz="1200" b="0">
                <a:solidFill>
                  <a:srgbClr val="5B6372"/>
                </a:solidFill>
                <a:latin typeface="Arial"/>
              </a:rPr>
              <a:t>Categories migrate. A two-year-old Kano study is misleading, not merely stale.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RECAP IN DEPTH - CTQ TREES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CTQ tree converts a feeling into a number with limits</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Need, then driver, then measurable requirement. Most weak Green Belt projects fail at the third level - they stop at a driver and call it a CTQ.</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three levels of the CTQ tree</a:t>
            </a:r>
          </a:p>
        </p:txBody>
      </p:sp>
      <p:sp>
        <p:nvSpPr>
          <p:cNvPr id="6" name="Rectangle 5"/>
          <p:cNvSpPr/>
          <p:nvPr/>
        </p:nvSpPr>
        <p:spPr>
          <a:xfrm>
            <a:off x="777240" y="2642616"/>
            <a:ext cx="3337560"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080260"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0802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3081528" cy="850392"/>
          </a:xfrm>
          <a:prstGeom prst="rect">
            <a:avLst/>
          </a:prstGeom>
          <a:noFill/>
        </p:spPr>
        <p:txBody>
          <a:bodyPr wrap="square" anchor="t">
            <a:spAutoFit/>
          </a:bodyPr>
          <a:lstStyle/>
          <a:p>
            <a:pPr algn="ctr">
              <a:spcAft>
                <a:spcPts val="400"/>
              </a:spcAft>
            </a:pPr>
            <a:r>
              <a:rPr sz="1300" b="0">
                <a:solidFill>
                  <a:srgbClr val="161B26"/>
                </a:solidFill>
                <a:latin typeface="Arial"/>
              </a:rPr>
              <a:t>NEED - the general requirement behind the verbatim</a:t>
            </a:r>
          </a:p>
        </p:txBody>
      </p:sp>
      <p:sp>
        <p:nvSpPr>
          <p:cNvPr id="11" name="TextBox 10"/>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4425696" y="2642616"/>
            <a:ext cx="3337560"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25696" y="2642616"/>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5728716"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728716"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4553712" y="3941064"/>
            <a:ext cx="3081528" cy="850392"/>
          </a:xfrm>
          <a:prstGeom prst="rect">
            <a:avLst/>
          </a:prstGeom>
          <a:noFill/>
        </p:spPr>
        <p:txBody>
          <a:bodyPr wrap="square" anchor="t">
            <a:spAutoFit/>
          </a:bodyPr>
          <a:lstStyle/>
          <a:p>
            <a:pPr algn="ctr">
              <a:spcAft>
                <a:spcPts val="400"/>
              </a:spcAft>
            </a:pPr>
            <a:r>
              <a:rPr sz="1300" b="0">
                <a:solidFill>
                  <a:srgbClr val="161B26"/>
                </a:solidFill>
                <a:latin typeface="Arial"/>
              </a:rPr>
              <a:t>DRIVER - the specific dimension that satisfies the need</a:t>
            </a:r>
          </a:p>
        </p:txBody>
      </p:sp>
      <p:sp>
        <p:nvSpPr>
          <p:cNvPr id="17" name="TextBox 16"/>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8074152" y="2642616"/>
            <a:ext cx="3337560"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074152" y="2642616"/>
            <a:ext cx="333756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9377172"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377172"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8202168" y="3941064"/>
            <a:ext cx="3081528" cy="850392"/>
          </a:xfrm>
          <a:prstGeom prst="rect">
            <a:avLst/>
          </a:prstGeom>
          <a:noFill/>
        </p:spPr>
        <p:txBody>
          <a:bodyPr wrap="square" anchor="t">
            <a:spAutoFit/>
          </a:bodyPr>
          <a:lstStyle/>
          <a:p>
            <a:pPr algn="ctr">
              <a:spcAft>
                <a:spcPts val="400"/>
              </a:spcAft>
            </a:pPr>
            <a:r>
              <a:rPr sz="1300" b="0">
                <a:solidFill>
                  <a:srgbClr val="161B26"/>
                </a:solidFill>
                <a:latin typeface="Arial"/>
              </a:rPr>
              <a:t>MEASURABLE REQUIREMENT - metric, target and limits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 one need drilled to three CTQs</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NEED</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What the customer requires</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'My order arrives complete',</a:t>
            </a:r>
          </a:p>
          <a:p>
            <a:pPr>
              <a:spcAft>
                <a:spcPts val="700"/>
              </a:spcAft>
            </a:pPr>
            <a:r>
              <a:rPr sz="1200">
                <a:solidFill>
                  <a:srgbClr val="161B26"/>
                </a:solidFill>
                <a:latin typeface="Arial"/>
              </a:rPr>
              <a:t>•  'on the date I was promised'</a:t>
            </a:r>
          </a:p>
          <a:p>
            <a:pPr>
              <a:spcAft>
                <a:spcPts val="700"/>
              </a:spcAft>
            </a:pPr>
            <a:r>
              <a:rPr sz="1200">
                <a:solidFill>
                  <a:srgbClr val="161B26"/>
                </a:solidFill>
                <a:latin typeface="Arial"/>
              </a:rPr>
              <a:t>•  Not measurable as written</a:t>
            </a:r>
          </a:p>
          <a:p>
            <a:pPr>
              <a:spcAft>
                <a:spcPts val="700"/>
              </a:spcAft>
            </a:pPr>
            <a:r>
              <a:rPr sz="1200">
                <a:solidFill>
                  <a:srgbClr val="161B26"/>
                </a:solidFill>
                <a:latin typeface="Arial"/>
              </a:rPr>
              <a:t>•  One need spawns several drivers</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DRIVERS</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dimensions that satisfy it</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Arrives on the promised date</a:t>
            </a:r>
          </a:p>
          <a:p>
            <a:pPr>
              <a:spcAft>
                <a:spcPts val="700"/>
              </a:spcAft>
            </a:pPr>
            <a:r>
              <a:rPr sz="1200">
                <a:solidFill>
                  <a:srgbClr val="161B26"/>
                </a:solidFill>
                <a:latin typeface="Arial"/>
              </a:rPr>
              <a:t>•  Arrives complete in quantity</a:t>
            </a:r>
          </a:p>
          <a:p>
            <a:pPr>
              <a:spcAft>
                <a:spcPts val="700"/>
              </a:spcAft>
            </a:pPr>
            <a:r>
              <a:rPr sz="1200">
                <a:solidFill>
                  <a:srgbClr val="161B26"/>
                </a:solidFill>
                <a:latin typeface="Arial"/>
              </a:rPr>
              <a:t>•  I am told early if it will slip</a:t>
            </a:r>
          </a:p>
          <a:p>
            <a:pPr>
              <a:spcAft>
                <a:spcPts val="700"/>
              </a:spcAft>
            </a:pPr>
            <a:r>
              <a:rPr sz="1200">
                <a:solidFill>
                  <a:srgbClr val="161B26"/>
                </a:solidFill>
                <a:latin typeface="Arial"/>
              </a:rPr>
              <a:t>•  Each driver becomes its own CTQ</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MEASURABLE REQUIREMENTS</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What we will actually measure</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OTIF pct, target 96, LSL 96</a:t>
            </a:r>
          </a:p>
          <a:p>
            <a:pPr>
              <a:spcAft>
                <a:spcPts val="700"/>
              </a:spcAft>
            </a:pPr>
            <a:r>
              <a:rPr sz="1200">
                <a:solidFill>
                  <a:srgbClr val="161B26"/>
                </a:solidFill>
                <a:latin typeface="Arial"/>
              </a:rPr>
              <a:t>•  Line-fill rate pct, target 99</a:t>
            </a:r>
          </a:p>
          <a:p>
            <a:pPr>
              <a:spcAft>
                <a:spcPts val="700"/>
              </a:spcAft>
            </a:pPr>
            <a:r>
              <a:rPr sz="1200">
                <a:solidFill>
                  <a:srgbClr val="161B26"/>
                </a:solidFill>
                <a:latin typeface="Arial"/>
              </a:rPr>
              <a:t>•  Delay notice hours before due date,</a:t>
            </a:r>
          </a:p>
          <a:p>
            <a:pPr>
              <a:spcAft>
                <a:spcPts val="700"/>
              </a:spcAft>
            </a:pPr>
            <a:r>
              <a:rPr sz="1200">
                <a:solidFill>
                  <a:srgbClr val="161B26"/>
                </a:solidFill>
                <a:latin typeface="Arial"/>
              </a:rPr>
              <a:t>•  target at least 48 hours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Every CTQ needs all five of these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metric with a unit</a:t>
            </a:r>
          </a:p>
          <a:p>
            <a:pPr algn="l">
              <a:spcAft>
                <a:spcPts val="300"/>
              </a:spcAft>
            </a:pPr>
            <a:r>
              <a:rPr sz="1200" b="0">
                <a:solidFill>
                  <a:srgbClr val="5B6372"/>
                </a:solidFill>
                <a:latin typeface="Arial"/>
              </a:rPr>
              <a:t>'OTIF percentage of order lines', not 'delivery performance'.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An operational definition</a:t>
            </a:r>
          </a:p>
          <a:p>
            <a:pPr algn="l">
              <a:spcAft>
                <a:spcPts val="300"/>
              </a:spcAft>
            </a:pPr>
            <a:r>
              <a:rPr sz="1200" b="0">
                <a:solidFill>
                  <a:srgbClr val="5B6372"/>
                </a:solidFill>
                <a:latin typeface="Arial"/>
              </a:rPr>
              <a:t>Exactly how it is measured, by whom, from which system, and when the clock starts and stops.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target</a:t>
            </a:r>
          </a:p>
          <a:p>
            <a:pPr algn="l">
              <a:spcAft>
                <a:spcPts val="300"/>
              </a:spcAft>
            </a:pPr>
            <a:r>
              <a:rPr sz="1200" b="0">
                <a:solidFill>
                  <a:srgbClr val="5B6372"/>
                </a:solidFill>
                <a:latin typeface="Arial"/>
              </a:rPr>
              <a:t>The value we are aiming for. Meridian OTIF target is 96.0 percent.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Specification limits</a:t>
            </a:r>
          </a:p>
          <a:p>
            <a:pPr algn="l">
              <a:spcAft>
                <a:spcPts val="300"/>
              </a:spcAft>
            </a:pPr>
            <a:r>
              <a:rPr sz="1200" b="0">
                <a:solidFill>
                  <a:srgbClr val="5B6372"/>
                </a:solidFill>
                <a:latin typeface="Arial"/>
              </a:rPr>
              <a:t>The customer's boundary of acceptability. LSL 96.0 percent; there is no upper limit here.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defect definition</a:t>
            </a:r>
          </a:p>
          <a:p>
            <a:pPr algn="l">
              <a:spcAft>
                <a:spcPts val="300"/>
              </a:spcAft>
            </a:pPr>
            <a:r>
              <a:rPr sz="1200" b="0">
                <a:solidFill>
                  <a:srgbClr val="5B6372"/>
                </a:solidFill>
                <a:latin typeface="Arial"/>
              </a:rPr>
              <a:t>The unambiguous statement of what counts as one defect. Here: one order line delivered late or short.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data source</a:t>
            </a:r>
          </a:p>
          <a:p>
            <a:pPr algn="l">
              <a:spcAft>
                <a:spcPts val="300"/>
              </a:spcAft>
            </a:pPr>
            <a:r>
              <a:rPr sz="1200" b="0">
                <a:solidFill>
                  <a:srgbClr val="5B6372"/>
                </a:solidFill>
                <a:latin typeface="Arial"/>
              </a:rPr>
              <a:t>Which system, which field, which report - so the Measure phase is not a rediscovery exercise.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Operational definitions - vague versus operational</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VAGUE</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Two people will measure differently</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'Delivered on time'</a:t>
            </a:r>
          </a:p>
          <a:p>
            <a:pPr>
              <a:spcAft>
                <a:spcPts val="700"/>
              </a:spcAft>
            </a:pPr>
            <a:r>
              <a:rPr sz="1200">
                <a:solidFill>
                  <a:srgbClr val="161B26"/>
                </a:solidFill>
                <a:latin typeface="Arial"/>
              </a:rPr>
              <a:t>•  'Pump works correctly'</a:t>
            </a:r>
          </a:p>
          <a:p>
            <a:pPr>
              <a:spcAft>
                <a:spcPts val="700"/>
              </a:spcAft>
            </a:pPr>
            <a:r>
              <a:rPr sz="1200">
                <a:solidFill>
                  <a:srgbClr val="161B26"/>
                </a:solidFill>
                <a:latin typeface="Arial"/>
              </a:rPr>
              <a:t>•  'Fast changeover'</a:t>
            </a:r>
          </a:p>
          <a:p>
            <a:pPr>
              <a:spcAft>
                <a:spcPts val="700"/>
              </a:spcAft>
            </a:pPr>
            <a:r>
              <a:rPr sz="1200">
                <a:solidFill>
                  <a:srgbClr val="161B26"/>
                </a:solidFill>
                <a:latin typeface="Arial"/>
              </a:rPr>
              <a:t>•  'Good yield'</a:t>
            </a:r>
          </a:p>
          <a:p>
            <a:pPr>
              <a:spcAft>
                <a:spcPts val="700"/>
              </a:spcAft>
            </a:pPr>
            <a:r>
              <a:rPr sz="1200">
                <a:solidFill>
                  <a:srgbClr val="161B26"/>
                </a:solidFill>
                <a:latin typeface="Arial"/>
              </a:rPr>
              <a:t>•  Every one of these is arguable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OPERATIONAL</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Two people get the same number</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'Goods receipt timestamp in SAP is on or before the confirmed delivery date on the order line'</a:t>
            </a:r>
          </a:p>
          <a:p>
            <a:pPr>
              <a:spcAft>
                <a:spcPts val="700"/>
              </a:spcAft>
            </a:pPr>
            <a:r>
              <a:rPr sz="1200">
                <a:solidFill>
                  <a:srgbClr val="161B26"/>
                </a:solidFill>
                <a:latin typeface="Arial"/>
              </a:rPr>
              <a:t>•  'Calibration test passes on first attempt, per procedure QC-114 revision 6'</a:t>
            </a:r>
          </a:p>
          <a:p>
            <a:pPr>
              <a:spcAft>
                <a:spcPts val="700"/>
              </a:spcAft>
            </a:pPr>
            <a:r>
              <a:rPr sz="1200">
                <a:solidFill>
                  <a:srgbClr val="161B26"/>
                </a:solidFill>
                <a:latin typeface="Arial"/>
              </a:rPr>
              <a:t>•  'Minutes from last good unit of run A to first good unit of run B'</a:t>
            </a:r>
          </a:p>
          <a:p>
            <a:pPr>
              <a:spcAft>
                <a:spcPts val="700"/>
              </a:spcAft>
            </a:pPr>
            <a:r>
              <a:rPr sz="1200">
                <a:solidFill>
                  <a:srgbClr val="161B26"/>
                </a:solidFill>
                <a:latin typeface="Arial"/>
              </a:rPr>
              <a:t>•  'Units passing all inline tests without rework, divided by units started'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Turning a CTQ into a defect rate</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Defect rate</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defects / units</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Meridian: 512 late lines out of 4,060 shipped lines = 12.6 pct defective</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DPMO</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(defects / (units x opportunities)) x 1,000,000</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Meridian pump build: 38 defects, 1,200 units, 14 opportunities = 2,262 DPMO</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First-pass yield</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units passing first time / units started</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Suzhou line 4: 861 of 1,000 pass without rework = 86.1 pct FPY</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If a CTQ cannot be reduced to a countable defect, it is not yet a CTQ.</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BLACK BELT ONLY - CTQ FLOWDOWN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CTQ flowdown is the Black Belt's defining Define skill</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sponsor hands you a business Y such as 'OTIF must reach 96 percent'. Nobody can work on a Y. Your job is to cascade it until you reach Xs a team can actually turn.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flowdown cascade, level by level</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BUSINESS Y - the number the sponsor is judged on</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SUB-Y - the operational components that sum to Y</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PROCESS Y - the output of one process step</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CONTROLLABLE X - a setting, method or input a team owns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Verify: Y = f(X). If you cannot state the function, keep going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 flowing OTIF down to controllable Xs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BUSINESS Y: OTIF = 87.4 pct</a:t>
            </a:r>
          </a:p>
          <a:p>
            <a:pPr algn="l">
              <a:spcAft>
                <a:spcPts val="300"/>
              </a:spcAft>
            </a:pPr>
            <a:r>
              <a:rPr sz="1200" b="0">
                <a:solidFill>
                  <a:srgbClr val="5B6372"/>
                </a:solidFill>
                <a:latin typeface="Arial"/>
              </a:rPr>
              <a:t>Target 96.0 pct. The sponsor's committed number to the top 8 hospital accounts.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SUB-Y 1: On-time = 91.2 pct</a:t>
            </a:r>
          </a:p>
          <a:p>
            <a:pPr algn="l">
              <a:spcAft>
                <a:spcPts val="300"/>
              </a:spcAft>
            </a:pPr>
            <a:r>
              <a:rPr sz="1200" b="0">
                <a:solidFill>
                  <a:srgbClr val="5B6372"/>
                </a:solidFill>
                <a:latin typeface="Arial"/>
              </a:rPr>
              <a:t>Order lines with goods receipt on or before the confirmed date.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SUB-Y 2: In-full = 95.8 pct</a:t>
            </a:r>
          </a:p>
          <a:p>
            <a:pPr algn="l">
              <a:spcAft>
                <a:spcPts val="300"/>
              </a:spcAft>
            </a:pPr>
            <a:r>
              <a:rPr sz="1200" b="0">
                <a:solidFill>
                  <a:srgbClr val="5B6372"/>
                </a:solidFill>
                <a:latin typeface="Arial"/>
              </a:rPr>
              <a:t>Order lines shipped at full ordered quantity, no partials.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PROCESS Y: Build cycle time</a:t>
            </a:r>
          </a:p>
          <a:p>
            <a:pPr algn="l">
              <a:spcAft>
                <a:spcPts val="300"/>
              </a:spcAft>
            </a:pPr>
            <a:r>
              <a:rPr sz="1200" b="0">
                <a:solidFill>
                  <a:srgbClr val="5B6372"/>
                </a:solidFill>
                <a:latin typeface="Arial"/>
              </a:rPr>
              <a:t>Days from works-order release to finished-goods putaway, per line.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PROCESS Y: First-pass yield</a:t>
            </a:r>
          </a:p>
          <a:p>
            <a:pPr algn="l">
              <a:spcAft>
                <a:spcPts val="300"/>
              </a:spcAft>
            </a:pPr>
            <a:r>
              <a:rPr sz="1200" b="0">
                <a:solidFill>
                  <a:srgbClr val="5B6372"/>
                </a:solidFill>
                <a:latin typeface="Arial"/>
              </a:rPr>
              <a:t>Units passing all inline tests without rework. Suzhou 86.1, Penang 92.4, Singapore 95.0.</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CONTROLLABLE Xs</a:t>
            </a:r>
          </a:p>
          <a:p>
            <a:pPr algn="l">
              <a:spcAft>
                <a:spcPts val="300"/>
              </a:spcAft>
            </a:pPr>
            <a:r>
              <a:rPr sz="1200" b="0">
                <a:solidFill>
                  <a:srgbClr val="5B6372"/>
                </a:solidFill>
                <a:latin typeface="Arial"/>
              </a:rPr>
              <a:t>Calibration interval, operator certification level, solder profile setpoint, kit-shortage rule.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flowdown as a ladder you climb DOWN</a:t>
            </a:r>
          </a:p>
        </p:txBody>
      </p:sp>
      <p:sp>
        <p:nvSpPr>
          <p:cNvPr id="6" name="Rectangle 5"/>
          <p:cNvSpPr/>
          <p:nvPr/>
        </p:nvSpPr>
        <p:spPr>
          <a:xfrm>
            <a:off x="914400" y="3754298"/>
            <a:ext cx="2432304" cy="177782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754298"/>
            <a:ext cx="243230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3973754"/>
            <a:ext cx="2212848" cy="548640"/>
          </a:xfrm>
          <a:prstGeom prst="rect">
            <a:avLst/>
          </a:prstGeom>
          <a:noFill/>
        </p:spPr>
        <p:txBody>
          <a:bodyPr wrap="square" anchor="t">
            <a:spAutoFit/>
          </a:bodyPr>
          <a:lstStyle/>
          <a:p>
            <a:pPr algn="ctr">
              <a:spcAft>
                <a:spcPts val="400"/>
              </a:spcAft>
            </a:pPr>
            <a:r>
              <a:rPr sz="1500" b="1">
                <a:solidFill>
                  <a:srgbClr val="1F6FEB"/>
                </a:solidFill>
                <a:latin typeface="Arial"/>
              </a:rPr>
              <a:t>CONTROLLABLE X</a:t>
            </a:r>
          </a:p>
        </p:txBody>
      </p:sp>
      <p:sp>
        <p:nvSpPr>
          <p:cNvPr id="9" name="TextBox 8"/>
          <p:cNvSpPr txBox="1"/>
          <p:nvPr/>
        </p:nvSpPr>
        <p:spPr>
          <a:xfrm>
            <a:off x="1042416" y="4558970"/>
            <a:ext cx="2176272" cy="863422"/>
          </a:xfrm>
          <a:prstGeom prst="rect">
            <a:avLst/>
          </a:prstGeom>
          <a:noFill/>
        </p:spPr>
        <p:txBody>
          <a:bodyPr wrap="square" anchor="t">
            <a:spAutoFit/>
          </a:bodyPr>
          <a:lstStyle/>
          <a:p>
            <a:pPr algn="ctr">
              <a:spcAft>
                <a:spcPts val="400"/>
              </a:spcAft>
            </a:pPr>
            <a:r>
              <a:rPr sz="1100" b="0">
                <a:solidFill>
                  <a:srgbClr val="5B6372"/>
                </a:solidFill>
                <a:latin typeface="Arial"/>
              </a:rPr>
              <a:t>Solder reflow peak temperature setpoint on Suzhou line 4. A technician can change this today.</a:t>
            </a:r>
          </a:p>
        </p:txBody>
      </p:sp>
      <p:sp>
        <p:nvSpPr>
          <p:cNvPr id="10" name="Rectangle 9"/>
          <p:cNvSpPr/>
          <p:nvPr/>
        </p:nvSpPr>
        <p:spPr>
          <a:xfrm>
            <a:off x="3547872" y="3173426"/>
            <a:ext cx="2432304" cy="235869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547872" y="3173426"/>
            <a:ext cx="243230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657600" y="3392882"/>
            <a:ext cx="2212848" cy="548640"/>
          </a:xfrm>
          <a:prstGeom prst="rect">
            <a:avLst/>
          </a:prstGeom>
          <a:noFill/>
        </p:spPr>
        <p:txBody>
          <a:bodyPr wrap="square" anchor="t">
            <a:spAutoFit/>
          </a:bodyPr>
          <a:lstStyle/>
          <a:p>
            <a:pPr algn="ctr">
              <a:spcAft>
                <a:spcPts val="400"/>
              </a:spcAft>
            </a:pPr>
            <a:r>
              <a:rPr sz="1500" b="1">
                <a:solidFill>
                  <a:srgbClr val="10B981"/>
                </a:solidFill>
                <a:latin typeface="Arial"/>
              </a:rPr>
              <a:t>PROCESS Y</a:t>
            </a:r>
          </a:p>
        </p:txBody>
      </p:sp>
      <p:sp>
        <p:nvSpPr>
          <p:cNvPr id="13" name="TextBox 12"/>
          <p:cNvSpPr txBox="1"/>
          <p:nvPr/>
        </p:nvSpPr>
        <p:spPr>
          <a:xfrm>
            <a:off x="3675888" y="3978098"/>
            <a:ext cx="2176272" cy="1444294"/>
          </a:xfrm>
          <a:prstGeom prst="rect">
            <a:avLst/>
          </a:prstGeom>
          <a:noFill/>
        </p:spPr>
        <p:txBody>
          <a:bodyPr wrap="square" anchor="t">
            <a:spAutoFit/>
          </a:bodyPr>
          <a:lstStyle/>
          <a:p>
            <a:pPr algn="ctr">
              <a:spcAft>
                <a:spcPts val="400"/>
              </a:spcAft>
            </a:pPr>
            <a:r>
              <a:rPr sz="1100" b="0">
                <a:solidFill>
                  <a:srgbClr val="5B6372"/>
                </a:solidFill>
                <a:latin typeface="Arial"/>
              </a:rPr>
              <a:t>First-pass yield on Suzhou line 4 - 86.1 pct against 95.0 pct at Singapore.</a:t>
            </a:r>
          </a:p>
        </p:txBody>
      </p:sp>
      <p:sp>
        <p:nvSpPr>
          <p:cNvPr id="14" name="Rectangle 13"/>
          <p:cNvSpPr/>
          <p:nvPr/>
        </p:nvSpPr>
        <p:spPr>
          <a:xfrm>
            <a:off x="6181344" y="2592553"/>
            <a:ext cx="2432304" cy="293956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181344" y="2592553"/>
            <a:ext cx="243230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291072" y="2812009"/>
            <a:ext cx="2212848" cy="548640"/>
          </a:xfrm>
          <a:prstGeom prst="rect">
            <a:avLst/>
          </a:prstGeom>
          <a:noFill/>
        </p:spPr>
        <p:txBody>
          <a:bodyPr wrap="square" anchor="t">
            <a:spAutoFit/>
          </a:bodyPr>
          <a:lstStyle/>
          <a:p>
            <a:pPr algn="ctr">
              <a:spcAft>
                <a:spcPts val="400"/>
              </a:spcAft>
            </a:pPr>
            <a:r>
              <a:rPr sz="1500" b="1">
                <a:solidFill>
                  <a:srgbClr val="7C3AED"/>
                </a:solidFill>
                <a:latin typeface="Arial"/>
              </a:rPr>
              <a:t>SUB-Y</a:t>
            </a:r>
          </a:p>
        </p:txBody>
      </p:sp>
      <p:sp>
        <p:nvSpPr>
          <p:cNvPr id="17" name="TextBox 16"/>
          <p:cNvSpPr txBox="1"/>
          <p:nvPr/>
        </p:nvSpPr>
        <p:spPr>
          <a:xfrm>
            <a:off x="6309360" y="3397225"/>
            <a:ext cx="2176272" cy="2025167"/>
          </a:xfrm>
          <a:prstGeom prst="rect">
            <a:avLst/>
          </a:prstGeom>
          <a:noFill/>
        </p:spPr>
        <p:txBody>
          <a:bodyPr wrap="square" anchor="t">
            <a:spAutoFit/>
          </a:bodyPr>
          <a:lstStyle/>
          <a:p>
            <a:pPr algn="ctr">
              <a:spcAft>
                <a:spcPts val="400"/>
              </a:spcAft>
            </a:pPr>
            <a:r>
              <a:rPr sz="1100" b="0">
                <a:solidFill>
                  <a:srgbClr val="5B6372"/>
                </a:solidFill>
                <a:latin typeface="Arial"/>
              </a:rPr>
              <a:t>In-full delivery rate - 95.8 pct, degraded by rework holding stock back.</a:t>
            </a:r>
          </a:p>
        </p:txBody>
      </p:sp>
      <p:sp>
        <p:nvSpPr>
          <p:cNvPr id="18" name="Rectangle 17"/>
          <p:cNvSpPr/>
          <p:nvPr/>
        </p:nvSpPr>
        <p:spPr>
          <a:xfrm>
            <a:off x="8814816" y="2011680"/>
            <a:ext cx="2432304"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814816" y="2011680"/>
            <a:ext cx="243230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924544" y="2231136"/>
            <a:ext cx="2212848" cy="548640"/>
          </a:xfrm>
          <a:prstGeom prst="rect">
            <a:avLst/>
          </a:prstGeom>
          <a:noFill/>
        </p:spPr>
        <p:txBody>
          <a:bodyPr wrap="square" anchor="t">
            <a:spAutoFit/>
          </a:bodyPr>
          <a:lstStyle/>
          <a:p>
            <a:pPr algn="ctr">
              <a:spcAft>
                <a:spcPts val="400"/>
              </a:spcAft>
            </a:pPr>
            <a:r>
              <a:rPr sz="1500" b="1">
                <a:solidFill>
                  <a:srgbClr val="F59E0B"/>
                </a:solidFill>
                <a:latin typeface="Arial"/>
              </a:rPr>
              <a:t>BUSINESS Y</a:t>
            </a:r>
          </a:p>
        </p:txBody>
      </p:sp>
      <p:sp>
        <p:nvSpPr>
          <p:cNvPr id="21" name="TextBox 20"/>
          <p:cNvSpPr txBox="1"/>
          <p:nvPr/>
        </p:nvSpPr>
        <p:spPr>
          <a:xfrm>
            <a:off x="8942832" y="2816352"/>
            <a:ext cx="2176272" cy="2606040"/>
          </a:xfrm>
          <a:prstGeom prst="rect">
            <a:avLst/>
          </a:prstGeom>
          <a:noFill/>
        </p:spPr>
        <p:txBody>
          <a:bodyPr wrap="square" anchor="t">
            <a:spAutoFit/>
          </a:bodyPr>
          <a:lstStyle/>
          <a:p>
            <a:pPr algn="ctr">
              <a:spcAft>
                <a:spcPts val="400"/>
              </a:spcAft>
            </a:pPr>
            <a:r>
              <a:rPr sz="1100" b="0">
                <a:solidFill>
                  <a:srgbClr val="5B6372"/>
                </a:solidFill>
                <a:latin typeface="Arial"/>
              </a:rPr>
              <a:t>OTIF at 87.4 pct against a 96.0 pct customer commitment. The sponsor's number.</a:t>
            </a:r>
          </a:p>
        </p:txBody>
      </p:sp>
      <p:cxnSp>
        <p:nvCxnSpPr>
          <p:cNvPr id="22" name="Connector 21"/>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Read it top down to find the lever; read it bottom up to prove the benefit to Finance.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Proving each level of the cascade arithmetically</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OTIF composition</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OTIF = on-time pct x in-full pct</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Meridian: 0.912 x 0.958 = 0.874 = 87.4 pct. The cascade reconciles.</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Yield rollup</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RTY = FPY1 x FPY2 x ... x FPYn</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Four Suzhou steps at 0.97, 0.96, 0.95, 0.975 gives RTY = 0.862</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Benefit trace</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Y gain = sum of sub-Y gains x contribution</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Lifting Suzhou FPY 86.1 to 93.0 pct adds an estimated 2.9 pts of OTIF</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If the arithmetic does not reconcile, the flowdown is wrong - not the data.</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Flowdown mistakes that kill projects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Stopping at a sub-Y</a:t>
            </a:r>
          </a:p>
          <a:p>
            <a:pPr algn="l">
              <a:spcAft>
                <a:spcPts val="300"/>
              </a:spcAft>
            </a:pPr>
            <a:r>
              <a:rPr sz="1200" b="0">
                <a:solidFill>
                  <a:srgbClr val="5B6372"/>
                </a:solidFill>
                <a:latin typeface="Arial"/>
              </a:rPr>
              <a:t>'Improve first-pass yield' is still a Y. Nobody can turn it. Keep cascading.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Jumping straight to a solution</a:t>
            </a:r>
          </a:p>
          <a:p>
            <a:pPr algn="l">
              <a:spcAft>
                <a:spcPts val="300"/>
              </a:spcAft>
            </a:pPr>
            <a:r>
              <a:rPr sz="1200" b="0">
                <a:solidFill>
                  <a:srgbClr val="5B6372"/>
                </a:solidFill>
                <a:latin typeface="Arial"/>
              </a:rPr>
              <a:t>'Buy a new reflow oven' is an answer, not an X. You have skipped Analyze.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Picking uncontrollable Xs</a:t>
            </a:r>
          </a:p>
          <a:p>
            <a:pPr algn="l">
              <a:spcAft>
                <a:spcPts val="300"/>
              </a:spcAft>
            </a:pPr>
            <a:r>
              <a:rPr sz="1200" b="0">
                <a:solidFill>
                  <a:srgbClr val="5B6372"/>
                </a:solidFill>
                <a:latin typeface="Arial"/>
              </a:rPr>
              <a:t>Customer order pattern and exchange rates are noise, not levers, for this team.</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Losing the arithmetic link</a:t>
            </a:r>
          </a:p>
          <a:p>
            <a:pPr algn="l">
              <a:spcAft>
                <a:spcPts val="300"/>
              </a:spcAft>
            </a:pPr>
            <a:r>
              <a:rPr sz="1200" b="0">
                <a:solidFill>
                  <a:srgbClr val="5B6372"/>
                </a:solidFill>
                <a:latin typeface="Arial"/>
              </a:rPr>
              <a:t>If a 10 pct gain in X cannot be traced to a number in Y, Finance will reject the benefit.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Cascading only one branch</a:t>
            </a:r>
          </a:p>
          <a:p>
            <a:pPr algn="l">
              <a:spcAft>
                <a:spcPts val="300"/>
              </a:spcAft>
            </a:pPr>
            <a:r>
              <a:rPr sz="1200" b="0">
                <a:solidFill>
                  <a:srgbClr val="5B6372"/>
                </a:solidFill>
                <a:latin typeface="Arial"/>
              </a:rPr>
              <a:t>OTIF failed on both on-time AND in-full. Chase one and you cap your result.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Not testing the assumed function</a:t>
            </a:r>
          </a:p>
          <a:p>
            <a:pPr algn="l">
              <a:spcAft>
                <a:spcPts val="300"/>
              </a:spcAft>
            </a:pPr>
            <a:r>
              <a:rPr sz="1200" b="0">
                <a:solidFill>
                  <a:srgbClr val="5B6372"/>
                </a:solidFill>
                <a:latin typeface="Arial"/>
              </a:rPr>
              <a:t>Y = f(X) is a hypothesis in Define. Analyze must confirm it statistically.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RECAP IN DEPTH - THE CHARTER</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charter is the contract between you and the sponsor</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Six elements: business case, problem statement, goal statement, scope, team and milestones. Every one of them is negotiated, not merely filled in.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six elements of a Six Sigma project charter</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Business case</a:t>
            </a:r>
          </a:p>
          <a:p>
            <a:pPr algn="l">
              <a:spcAft>
                <a:spcPts val="300"/>
              </a:spcAft>
            </a:pPr>
            <a:r>
              <a:rPr sz="1200" b="0">
                <a:solidFill>
                  <a:srgbClr val="5B6372"/>
                </a:solidFill>
                <a:latin typeface="Arial"/>
              </a:rPr>
              <a:t>Why this project, why now, and what it is worth. Must be Finance-validated, not team-estimated.</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Problem statement</a:t>
            </a:r>
          </a:p>
          <a:p>
            <a:pPr algn="l">
              <a:spcAft>
                <a:spcPts val="300"/>
              </a:spcAft>
            </a:pPr>
            <a:r>
              <a:rPr sz="1200" b="0">
                <a:solidFill>
                  <a:srgbClr val="5B6372"/>
                </a:solidFill>
                <a:latin typeface="Arial"/>
              </a:rPr>
              <a:t>What is wrong, where, since when, how big - with no cause and no solution in it.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Goal statement</a:t>
            </a:r>
          </a:p>
          <a:p>
            <a:pPr algn="l">
              <a:spcAft>
                <a:spcPts val="300"/>
              </a:spcAft>
            </a:pPr>
            <a:r>
              <a:rPr sz="1200" b="0">
                <a:solidFill>
                  <a:srgbClr val="5B6372"/>
                </a:solidFill>
                <a:latin typeface="Arial"/>
              </a:rPr>
              <a:t>SMART. From baseline to target by a date, expressed in the same metric as the problem.</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Scope in and out</a:t>
            </a:r>
          </a:p>
          <a:p>
            <a:pPr algn="l">
              <a:spcAft>
                <a:spcPts val="300"/>
              </a:spcAft>
            </a:pPr>
            <a:r>
              <a:rPr sz="1200" b="0">
                <a:solidFill>
                  <a:srgbClr val="5B6372"/>
                </a:solidFill>
                <a:latin typeface="Arial"/>
              </a:rPr>
              <a:t>Process start and stop, sites, product families, shifts - and an explicit out-of-scope list.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Team and roles</a:t>
            </a:r>
          </a:p>
          <a:p>
            <a:pPr algn="l">
              <a:spcAft>
                <a:spcPts val="300"/>
              </a:spcAft>
            </a:pPr>
            <a:r>
              <a:rPr sz="1200" b="0">
                <a:solidFill>
                  <a:srgbClr val="5B6372"/>
                </a:solidFill>
                <a:latin typeface="Arial"/>
              </a:rPr>
              <a:t>Sponsor, Black Belt, process owner, Green Belts, SMEs, Finance representative.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Milestones and tollgates</a:t>
            </a:r>
          </a:p>
          <a:p>
            <a:pPr algn="l">
              <a:spcAft>
                <a:spcPts val="300"/>
              </a:spcAft>
            </a:pPr>
            <a:r>
              <a:rPr sz="1200" b="0">
                <a:solidFill>
                  <a:srgbClr val="5B6372"/>
                </a:solidFill>
                <a:latin typeface="Arial"/>
              </a:rPr>
              <a:t>A date for each of D-M-A-I-C, and who chairs each tollgate review.</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four-part test for a problem statement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1. What is wrong?</a:t>
            </a:r>
          </a:p>
          <a:p>
            <a:pPr algn="l">
              <a:spcAft>
                <a:spcPts val="300"/>
              </a:spcAft>
            </a:pPr>
            <a:r>
              <a:rPr sz="1200" b="0">
                <a:solidFill>
                  <a:srgbClr val="5B6372"/>
                </a:solidFill>
                <a:latin typeface="Arial"/>
              </a:rPr>
              <a:t>The specific undesirable outcome, in the customer's terms. 'Order lines arrive late or short.'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2. Where and when?</a:t>
            </a:r>
          </a:p>
          <a:p>
            <a:pPr algn="l">
              <a:spcAft>
                <a:spcPts val="300"/>
              </a:spcAft>
            </a:pPr>
            <a:r>
              <a:rPr sz="1200" b="0">
                <a:solidFill>
                  <a:srgbClr val="5B6372"/>
                </a:solidFill>
                <a:latin typeface="Arial"/>
              </a:rPr>
              <a:t>Which process, site, product and period. 'Across all three plants, Jan to Dec 2025.'</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3. How big is the gap?</a:t>
            </a:r>
          </a:p>
          <a:p>
            <a:pPr algn="l">
              <a:spcAft>
                <a:spcPts val="300"/>
              </a:spcAft>
            </a:pPr>
            <a:r>
              <a:rPr sz="1200" b="0">
                <a:solidFill>
                  <a:srgbClr val="5B6372"/>
                </a:solidFill>
                <a:latin typeface="Arial"/>
              </a:rPr>
              <a:t>Baseline versus requirement, with the unit. 'OTIF 87.4 pct against a 96.0 pct commitment.'</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4. What does it cost?</a:t>
            </a:r>
          </a:p>
          <a:p>
            <a:pPr algn="l">
              <a:spcAft>
                <a:spcPts val="300"/>
              </a:spcAft>
            </a:pPr>
            <a:r>
              <a:rPr sz="1200" b="0">
                <a:solidFill>
                  <a:srgbClr val="5B6372"/>
                </a:solidFill>
                <a:latin typeface="Arial"/>
              </a:rPr>
              <a:t>Business consequence in money or risk. 'SGD 1.9 million in penalties and expedite freight.'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Problem statements - bad versus good</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BAD</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Fails the four-part test</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'Delivery performance is poor because Suzhou is slow.'</a:t>
            </a:r>
          </a:p>
          <a:p>
            <a:pPr>
              <a:spcAft>
                <a:spcPts val="700"/>
              </a:spcAft>
            </a:pPr>
            <a:r>
              <a:rPr sz="1200">
                <a:solidFill>
                  <a:srgbClr val="161B26"/>
                </a:solidFill>
                <a:latin typeface="Arial"/>
              </a:rPr>
              <a:t>•  Contains a CAUSE - that is Analyze's job</a:t>
            </a:r>
          </a:p>
          <a:p>
            <a:pPr>
              <a:spcAft>
                <a:spcPts val="700"/>
              </a:spcAft>
            </a:pPr>
            <a:r>
              <a:rPr sz="1200">
                <a:solidFill>
                  <a:srgbClr val="161B26"/>
                </a:solidFill>
                <a:latin typeface="Arial"/>
              </a:rPr>
              <a:t>•  'We need a new planning system.'</a:t>
            </a:r>
          </a:p>
          <a:p>
            <a:pPr>
              <a:spcAft>
                <a:spcPts val="700"/>
              </a:spcAft>
            </a:pPr>
            <a:r>
              <a:rPr sz="1200">
                <a:solidFill>
                  <a:srgbClr val="161B26"/>
                </a:solidFill>
                <a:latin typeface="Arial"/>
              </a:rPr>
              <a:t>•  Contains a SOLUTION in disguise</a:t>
            </a:r>
          </a:p>
          <a:p>
            <a:pPr>
              <a:spcAft>
                <a:spcPts val="700"/>
              </a:spcAft>
            </a:pPr>
            <a:r>
              <a:rPr sz="1200">
                <a:solidFill>
                  <a:srgbClr val="161B26"/>
                </a:solidFill>
                <a:latin typeface="Arial"/>
              </a:rPr>
              <a:t>•  'Customers are unhappy.'</a:t>
            </a:r>
          </a:p>
          <a:p>
            <a:pPr>
              <a:spcAft>
                <a:spcPts val="700"/>
              </a:spcAft>
            </a:pPr>
            <a:r>
              <a:rPr sz="1200">
                <a:solidFill>
                  <a:srgbClr val="161B26"/>
                </a:solidFill>
                <a:latin typeface="Arial"/>
              </a:rPr>
              <a:t>•  No metric, no baseline, no gap, no cost</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GOOD</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Passes all four parts</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'Between January and December 2025, OTIF delivery</a:t>
            </a:r>
          </a:p>
          <a:p>
            <a:pPr>
              <a:spcAft>
                <a:spcPts val="700"/>
              </a:spcAft>
            </a:pPr>
            <a:r>
              <a:rPr sz="1200">
                <a:solidFill>
                  <a:srgbClr val="161B26"/>
                </a:solidFill>
                <a:latin typeface="Arial"/>
              </a:rPr>
              <a:t>•  of infusion pump order lines from all three Meridian</a:t>
            </a:r>
          </a:p>
          <a:p>
            <a:pPr>
              <a:spcAft>
                <a:spcPts val="700"/>
              </a:spcAft>
            </a:pPr>
            <a:r>
              <a:rPr sz="1200">
                <a:solidFill>
                  <a:srgbClr val="161B26"/>
                </a:solidFill>
                <a:latin typeface="Arial"/>
              </a:rPr>
              <a:t>•  plants averaged 87.4 pct against a contracted 96.0 pct.</a:t>
            </a:r>
          </a:p>
          <a:p>
            <a:pPr>
              <a:spcAft>
                <a:spcPts val="700"/>
              </a:spcAft>
            </a:pPr>
            <a:r>
              <a:rPr sz="1200">
                <a:solidFill>
                  <a:srgbClr val="161B26"/>
                </a:solidFill>
                <a:latin typeface="Arial"/>
              </a:rPr>
              <a:t>•  The 8.6-point gap generated SGD 1.9 million in</a:t>
            </a:r>
          </a:p>
          <a:p>
            <a:pPr>
              <a:spcAft>
                <a:spcPts val="700"/>
              </a:spcAft>
            </a:pPr>
            <a:r>
              <a:rPr sz="1200">
                <a:solidFill>
                  <a:srgbClr val="161B26"/>
                </a:solidFill>
                <a:latin typeface="Arial"/>
              </a:rPr>
              <a:t>•  contractual penalties and expedite freight and placed</a:t>
            </a:r>
          </a:p>
          <a:p>
            <a:pPr>
              <a:spcAft>
                <a:spcPts val="700"/>
              </a:spcAft>
            </a:pPr>
            <a:r>
              <a:rPr sz="1200">
                <a:solidFill>
                  <a:srgbClr val="161B26"/>
                </a:solidFill>
                <a:latin typeface="Arial"/>
              </a:rPr>
              <a:t>•  two top-eight hospital accounts under review.'</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Goal statements - bad versus good</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BAD</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Unmeasurable or unbounded</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'Significantly improve delivery.'</a:t>
            </a:r>
          </a:p>
          <a:p>
            <a:pPr>
              <a:spcAft>
                <a:spcPts val="700"/>
              </a:spcAft>
            </a:pPr>
            <a:r>
              <a:rPr sz="1200">
                <a:solidFill>
                  <a:srgbClr val="161B26"/>
                </a:solidFill>
                <a:latin typeface="Arial"/>
              </a:rPr>
              <a:t>•  'Achieve world-class OTIF.'</a:t>
            </a:r>
          </a:p>
          <a:p>
            <a:pPr>
              <a:spcAft>
                <a:spcPts val="700"/>
              </a:spcAft>
            </a:pPr>
            <a:r>
              <a:rPr sz="1200">
                <a:solidFill>
                  <a:srgbClr val="161B26"/>
                </a:solidFill>
                <a:latin typeface="Arial"/>
              </a:rPr>
              <a:t>•  'Reduce lateness as much as possible.'</a:t>
            </a:r>
          </a:p>
          <a:p>
            <a:pPr>
              <a:spcAft>
                <a:spcPts val="700"/>
              </a:spcAft>
            </a:pPr>
            <a:r>
              <a:rPr sz="1200">
                <a:solidFill>
                  <a:srgbClr val="161B26"/>
                </a:solidFill>
                <a:latin typeface="Arial"/>
              </a:rPr>
              <a:t>•  'Fix the Suzhou plant by Q3.'</a:t>
            </a:r>
          </a:p>
          <a:p>
            <a:pPr>
              <a:spcAft>
                <a:spcPts val="700"/>
              </a:spcAft>
            </a:pPr>
            <a:r>
              <a:rPr sz="1200">
                <a:solidFill>
                  <a:srgbClr val="161B26"/>
                </a:solidFill>
                <a:latin typeface="Arial"/>
              </a:rPr>
              <a:t>•  None of these can be verified at Control</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GOOD</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Verifiable at the Control tollgate</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'Raise OTIF for infusion pump order lines from</a:t>
            </a:r>
          </a:p>
          <a:p>
            <a:pPr>
              <a:spcAft>
                <a:spcPts val="700"/>
              </a:spcAft>
            </a:pPr>
            <a:r>
              <a:rPr sz="1200">
                <a:solidFill>
                  <a:srgbClr val="161B26"/>
                </a:solidFill>
                <a:latin typeface="Arial"/>
              </a:rPr>
              <a:t>•  87.4 pct to at least 96.0 pct across all three</a:t>
            </a:r>
          </a:p>
          <a:p>
            <a:pPr>
              <a:spcAft>
                <a:spcPts val="700"/>
              </a:spcAft>
            </a:pPr>
            <a:r>
              <a:rPr sz="1200">
                <a:solidFill>
                  <a:srgbClr val="161B26"/>
                </a:solidFill>
                <a:latin typeface="Arial"/>
              </a:rPr>
              <a:t>•  plants by 31 December 2026, sustained for three</a:t>
            </a:r>
          </a:p>
          <a:p>
            <a:pPr>
              <a:spcAft>
                <a:spcPts val="700"/>
              </a:spcAft>
            </a:pPr>
            <a:r>
              <a:rPr sz="1200">
                <a:solidFill>
                  <a:srgbClr val="161B26"/>
                </a:solidFill>
                <a:latin typeface="Arial"/>
              </a:rPr>
              <a:t>•  consecutive months, delivering SGD 1.4 million</a:t>
            </a:r>
          </a:p>
          <a:p>
            <a:pPr>
              <a:spcAft>
                <a:spcPts val="700"/>
              </a:spcAft>
            </a:pPr>
            <a:r>
              <a:rPr sz="1200">
                <a:solidFill>
                  <a:srgbClr val="161B26"/>
                </a:solidFill>
                <a:latin typeface="Arial"/>
              </a:rPr>
              <a:t>•  in validated annualised benefit.'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charter - scope in and out</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0B981"/>
                </a:solidFill>
                <a:latin typeface="Arial"/>
              </a:rPr>
              <a:t>WHAT THIS PROJECT OWNS</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DC2C2C"/>
                </a:solidFill>
                <a:latin typeface="Arial"/>
              </a:rPr>
              <a:t>WHAT IT EXPLICITLY DOES NOT</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IN SCOPE</a:t>
            </a:r>
          </a:p>
          <a:p>
            <a:pPr>
              <a:spcAft>
                <a:spcPts val="1000"/>
              </a:spcAft>
            </a:pPr>
            <a:r>
              <a:rPr sz="1300">
                <a:solidFill>
                  <a:srgbClr val="5B6372"/>
                </a:solidFill>
                <a:latin typeface="Arial"/>
              </a:rPr>
              <a:t>–  Infusion pump assemblies - all six lines</a:t>
            </a:r>
          </a:p>
          <a:p>
            <a:pPr>
              <a:spcAft>
                <a:spcPts val="1000"/>
              </a:spcAft>
            </a:pPr>
            <a:r>
              <a:rPr sz="1300">
                <a:solidFill>
                  <a:srgbClr val="5B6372"/>
                </a:solidFill>
                <a:latin typeface="Arial"/>
              </a:rPr>
              <a:t>–  All three plants: Singapore, Penang, Suzhou</a:t>
            </a:r>
          </a:p>
          <a:p>
            <a:pPr>
              <a:spcAft>
                <a:spcPts val="1000"/>
              </a:spcAft>
            </a:pPr>
            <a:r>
              <a:rPr sz="1300">
                <a:solidFill>
                  <a:srgbClr val="5B6372"/>
                </a:solidFill>
                <a:latin typeface="Arial"/>
              </a:rPr>
              <a:t>–  Process from works-order release to goods receipt at customer</a:t>
            </a:r>
          </a:p>
          <a:p>
            <a:pPr>
              <a:spcAft>
                <a:spcPts val="1000"/>
              </a:spcAft>
            </a:pPr>
            <a:r>
              <a:rPr sz="1300">
                <a:solidFill>
                  <a:srgbClr val="5B6372"/>
                </a:solidFill>
                <a:latin typeface="Arial"/>
              </a:rPr>
              <a:t>–  Top eight hospital accounts plus two distributors</a:t>
            </a:r>
          </a:p>
          <a:p>
            <a:pPr>
              <a:spcAft>
                <a:spcPts val="1000"/>
              </a:spcAft>
            </a:pPr>
            <a:r>
              <a:rPr sz="1300">
                <a:solidFill>
                  <a:srgbClr val="5B6372"/>
                </a:solidFill>
                <a:latin typeface="Arial"/>
              </a:rPr>
              <a:t>–  All shifts, including night shift at Penang</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OUT OF SCOPE</a:t>
            </a:r>
          </a:p>
          <a:p>
            <a:pPr>
              <a:spcAft>
                <a:spcPts val="1000"/>
              </a:spcAft>
            </a:pPr>
            <a:r>
              <a:rPr sz="1300">
                <a:solidFill>
                  <a:srgbClr val="5B6372"/>
                </a:solidFill>
                <a:latin typeface="Arial"/>
              </a:rPr>
              <a:t>–  Spare parts and aftermarket supply - separate project</a:t>
            </a:r>
          </a:p>
          <a:p>
            <a:pPr>
              <a:spcAft>
                <a:spcPts val="1000"/>
              </a:spcAft>
            </a:pPr>
            <a:r>
              <a:rPr sz="1300">
                <a:solidFill>
                  <a:srgbClr val="5B6372"/>
                </a:solidFill>
                <a:latin typeface="Arial"/>
              </a:rPr>
              <a:t>–  Product design changes - owned by the design authority</a:t>
            </a:r>
          </a:p>
          <a:p>
            <a:pPr>
              <a:spcAft>
                <a:spcPts val="1000"/>
              </a:spcAft>
            </a:pPr>
            <a:r>
              <a:rPr sz="1300">
                <a:solidFill>
                  <a:srgbClr val="5B6372"/>
                </a:solidFill>
                <a:latin typeface="Arial"/>
              </a:rPr>
              <a:t>–  Syringe pump product family</a:t>
            </a:r>
          </a:p>
          <a:p>
            <a:pPr>
              <a:spcAft>
                <a:spcPts val="1000"/>
              </a:spcAft>
            </a:pPr>
            <a:r>
              <a:rPr sz="1300">
                <a:solidFill>
                  <a:srgbClr val="5B6372"/>
                </a:solidFill>
                <a:latin typeface="Arial"/>
              </a:rPr>
              <a:t>–  Supplier selection and contract renegotiation</a:t>
            </a:r>
          </a:p>
          <a:p>
            <a:pPr>
              <a:spcAft>
                <a:spcPts val="1000"/>
              </a:spcAft>
            </a:pPr>
            <a:r>
              <a:rPr sz="1300">
                <a:solidFill>
                  <a:srgbClr val="5B6372"/>
                </a:solidFill>
                <a:latin typeface="Arial"/>
              </a:rPr>
              <a:t>–  Anything upstream of the customer purchase order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Building the business case with Finance, not around them</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Hard benefit</a:t>
            </a:r>
          </a:p>
          <a:p>
            <a:pPr algn="l">
              <a:spcAft>
                <a:spcPts val="300"/>
              </a:spcAft>
            </a:pPr>
            <a:r>
              <a:rPr sz="1200" b="0">
                <a:solidFill>
                  <a:srgbClr val="5B6372"/>
                </a:solidFill>
                <a:latin typeface="Arial"/>
              </a:rPr>
              <a:t>Cash that leaves or stops leaving the P&amp;L. Penalties avoided, freight avoided, scrap avoided.</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Soft benefit</a:t>
            </a:r>
          </a:p>
          <a:p>
            <a:pPr algn="l">
              <a:spcAft>
                <a:spcPts val="300"/>
              </a:spcAft>
            </a:pPr>
            <a:r>
              <a:rPr sz="1200" b="0">
                <a:solidFill>
                  <a:srgbClr val="5B6372"/>
                </a:solidFill>
                <a:latin typeface="Arial"/>
              </a:rPr>
              <a:t>Capacity, time or risk released. Real, but do not claim it as savings without Finance agreeing.</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Cost avoidance</a:t>
            </a:r>
          </a:p>
          <a:p>
            <a:pPr algn="l">
              <a:spcAft>
                <a:spcPts val="300"/>
              </a:spcAft>
            </a:pPr>
            <a:r>
              <a:rPr sz="1200" b="0">
                <a:solidFill>
                  <a:srgbClr val="5B6372"/>
                </a:solidFill>
                <a:latin typeface="Arial"/>
              </a:rPr>
              <a:t>Spend that would have happened but now will not. Must be a committed, documented plan.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Get the CFO's rate card</a:t>
            </a:r>
          </a:p>
          <a:p>
            <a:pPr algn="l">
              <a:spcAft>
                <a:spcPts val="300"/>
              </a:spcAft>
            </a:pPr>
            <a:r>
              <a:rPr sz="1200" b="0">
                <a:solidFill>
                  <a:srgbClr val="5B6372"/>
                </a:solidFill>
                <a:latin typeface="Arial"/>
              </a:rPr>
              <a:t>Use Finance's own labour, freight and scrap rates or your number will be disputed.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Name a Finance signatory</a:t>
            </a:r>
          </a:p>
          <a:p>
            <a:pPr algn="l">
              <a:spcAft>
                <a:spcPts val="300"/>
              </a:spcAft>
            </a:pPr>
            <a:r>
              <a:rPr sz="1200" b="0">
                <a:solidFill>
                  <a:srgbClr val="5B6372"/>
                </a:solidFill>
                <a:latin typeface="Arial"/>
              </a:rPr>
              <a:t>One named person validates baseline and final benefit. Without this, benefits evaporate.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Meridian case</a:t>
            </a:r>
          </a:p>
          <a:p>
            <a:pPr algn="l">
              <a:spcAft>
                <a:spcPts val="300"/>
              </a:spcAft>
            </a:pPr>
            <a:r>
              <a:rPr sz="1200" b="0">
                <a:solidFill>
                  <a:srgbClr val="5B6372"/>
                </a:solidFill>
                <a:latin typeface="Arial"/>
              </a:rPr>
              <a:t>SGD 1.9 million exposure; validated addressable benefit SGD 1.4 million annualised.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BLACK BELT ONLY - CHARTER GOVERNANCE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charter is a living contract, not a form you file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It is re-baselined at every tollgate. A charter that has not changed by the Analyze gate usually means nobody has looked at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happens to the charter at each tollgate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DEFINE gate - sponsor approves scope, baseline and benefit</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MEASURE gate - baseline REVISED to the validated measurement</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ANALYZE gate - scope narrowed to the proven vital few Xs</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IMPROVE gate - benefit re-forecast from piloted results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CONTROL gate - benefit signed by Finance; charter closed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Legitimate re-baselining versus scope creep</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LEGITIMATE: measurement corrected</a:t>
            </a:r>
          </a:p>
          <a:p>
            <a:pPr algn="l">
              <a:spcAft>
                <a:spcPts val="300"/>
              </a:spcAft>
            </a:pPr>
            <a:r>
              <a:rPr sz="1200" b="0">
                <a:solidFill>
                  <a:srgbClr val="5B6372"/>
                </a:solidFill>
                <a:latin typeface="Arial"/>
              </a:rPr>
              <a:t>MSA shows the OTIF report double-counted partials. Baseline moves 87.4 to 89.1. Re-baseline.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LEGITIMATE: scope narrowed by data</a:t>
            </a:r>
          </a:p>
          <a:p>
            <a:pPr algn="l">
              <a:spcAft>
                <a:spcPts val="300"/>
              </a:spcAft>
            </a:pPr>
            <a:r>
              <a:rPr sz="1200" b="0">
                <a:solidFill>
                  <a:srgbClr val="5B6372"/>
                </a:solidFill>
                <a:latin typeface="Arial"/>
              </a:rPr>
              <a:t>Analyze proves 78 pct of the gap sits at Suzhou. Narrow the project. Re-baseline.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LEGITIMATE: external change</a:t>
            </a:r>
          </a:p>
          <a:p>
            <a:pPr algn="l">
              <a:spcAft>
                <a:spcPts val="300"/>
              </a:spcAft>
            </a:pPr>
            <a:r>
              <a:rPr sz="1200" b="0">
                <a:solidFill>
                  <a:srgbClr val="5B6372"/>
                </a:solidFill>
                <a:latin typeface="Arial"/>
              </a:rPr>
              <a:t>A top-eight account is lost. The benefit basis changed. Re-baseline or kill.</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CREEP: new problem added</a:t>
            </a:r>
          </a:p>
          <a:p>
            <a:pPr algn="l">
              <a:spcAft>
                <a:spcPts val="300"/>
              </a:spcAft>
            </a:pPr>
            <a:r>
              <a:rPr sz="1200" b="0">
                <a:solidFill>
                  <a:srgbClr val="5B6372"/>
                </a:solidFill>
                <a:latin typeface="Arial"/>
              </a:rPr>
              <a:t>'While you are there, also fix the syringe pump line.' That is a second charter.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CREEP: target quietly lowered</a:t>
            </a:r>
          </a:p>
          <a:p>
            <a:pPr algn="l">
              <a:spcAft>
                <a:spcPts val="300"/>
              </a:spcAft>
            </a:pPr>
            <a:r>
              <a:rPr sz="1200" b="0">
                <a:solidFill>
                  <a:srgbClr val="5B6372"/>
                </a:solidFill>
                <a:latin typeface="Arial"/>
              </a:rPr>
              <a:t>Target slides 96 to 93 with no data reason. This is failure being renamed success.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CREEP: date extended without cause</a:t>
            </a:r>
          </a:p>
          <a:p>
            <a:pPr algn="l">
              <a:spcAft>
                <a:spcPts val="300"/>
              </a:spcAft>
            </a:pPr>
            <a:r>
              <a:rPr sz="1200" b="0">
                <a:solidFill>
                  <a:srgbClr val="5B6372"/>
                </a:solidFill>
                <a:latin typeface="Arial"/>
              </a:rPr>
              <a:t>Every extension must be traded against a named constraint at the tollgate.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a Black Belt runs a tollgate review</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Circulate the pack 48 hours ahead</a:t>
            </a:r>
          </a:p>
          <a:p>
            <a:pPr algn="l">
              <a:spcAft>
                <a:spcPts val="300"/>
              </a:spcAft>
            </a:pPr>
            <a:r>
              <a:rPr sz="1200" b="0">
                <a:solidFill>
                  <a:srgbClr val="5B6372"/>
                </a:solidFill>
                <a:latin typeface="Arial"/>
              </a:rPr>
              <a:t>Nobody should first see your data in the room. Objections land before, not during.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Open with the charter as it stands</a:t>
            </a:r>
          </a:p>
          <a:p>
            <a:pPr algn="l">
              <a:spcAft>
                <a:spcPts val="300"/>
              </a:spcAft>
            </a:pPr>
            <a:r>
              <a:rPr sz="1200" b="0">
                <a:solidFill>
                  <a:srgbClr val="5B6372"/>
                </a:solidFill>
                <a:latin typeface="Arial"/>
              </a:rPr>
              <a:t>One slide: baseline, target, scope, benefit, and what has changed since last gate.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Show the evidence, not the effort</a:t>
            </a:r>
          </a:p>
          <a:p>
            <a:pPr algn="l">
              <a:spcAft>
                <a:spcPts val="300"/>
              </a:spcAft>
            </a:pPr>
            <a:r>
              <a:rPr sz="1200" b="0">
                <a:solidFill>
                  <a:srgbClr val="5B6372"/>
                </a:solidFill>
                <a:latin typeface="Arial"/>
              </a:rPr>
              <a:t>Sponsors do not fund activity. Show what the data now proves that it did not before.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State the decision you are asking for</a:t>
            </a:r>
          </a:p>
          <a:p>
            <a:pPr algn="l">
              <a:spcAft>
                <a:spcPts val="300"/>
              </a:spcAft>
            </a:pPr>
            <a:r>
              <a:rPr sz="1200" b="0">
                <a:solidFill>
                  <a:srgbClr val="5B6372"/>
                </a:solidFill>
                <a:latin typeface="Arial"/>
              </a:rPr>
              <a:t>Go, adjust or kill. Never let a tollgate end without an explicit sponsor decision.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Record and publish the decision</a:t>
            </a:r>
          </a:p>
          <a:p>
            <a:pPr algn="l">
              <a:spcAft>
                <a:spcPts val="300"/>
              </a:spcAft>
            </a:pPr>
            <a:r>
              <a:rPr sz="1200" b="0">
                <a:solidFill>
                  <a:srgbClr val="5B6372"/>
                </a:solidFill>
                <a:latin typeface="Arial"/>
              </a:rPr>
              <a:t>Written, circulated same day. Verbal approvals evaporate under pressure.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Be willing to recommend a kill</a:t>
            </a:r>
          </a:p>
          <a:p>
            <a:pPr algn="l">
              <a:spcAft>
                <a:spcPts val="300"/>
              </a:spcAft>
            </a:pPr>
            <a:r>
              <a:rPr sz="1200" b="0">
                <a:solidFill>
                  <a:srgbClr val="5B6372"/>
                </a:solidFill>
                <a:latin typeface="Arial"/>
              </a:rPr>
              <a:t>A Black Belt who has never killed a project is not testing hard enough.</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RECAP IN DEPTH - SIPOC</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SIPOC fixes the boundary before anyone argues about the middle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Build it right to left, starting from the customer. Teams that start at Suppliers map the process they wish they had.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Build SIPOC right to left</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 - Who receives the output? Name them.</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O - What exactly do they receive? Tie to CTQs.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 - The 4 to 7 high-level steps that produce it.</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I - What the process consumes to run those steps.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 - Who provides each input, internal or external.</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 SIPOC for the pump fulfilment process</a:t>
            </a:r>
          </a:p>
        </p:txBody>
      </p:sp>
      <p:sp>
        <p:nvSpPr>
          <p:cNvPr id="6" name="Rectangle 5"/>
          <p:cNvSpPr/>
          <p:nvPr/>
        </p:nvSpPr>
        <p:spPr>
          <a:xfrm>
            <a:off x="77724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828800"/>
            <a:ext cx="2009851"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S — Suppliers</a:t>
            </a:r>
          </a:p>
        </p:txBody>
      </p:sp>
      <p:sp>
        <p:nvSpPr>
          <p:cNvPr id="9" name="TextBox 8"/>
          <p:cNvSpPr txBox="1"/>
          <p:nvPr/>
        </p:nvSpPr>
        <p:spPr>
          <a:xfrm>
            <a:off x="923544" y="2560320"/>
            <a:ext cx="1717243" cy="2404872"/>
          </a:xfrm>
          <a:prstGeom prst="rect">
            <a:avLst/>
          </a:prstGeom>
          <a:noFill/>
        </p:spPr>
        <p:txBody>
          <a:bodyPr wrap="square">
            <a:spAutoFit/>
          </a:bodyPr>
          <a:lstStyle/>
          <a:p>
            <a:pPr>
              <a:spcAft>
                <a:spcPts val="700"/>
              </a:spcAft>
            </a:pPr>
            <a:r>
              <a:rPr sz="1200">
                <a:solidFill>
                  <a:srgbClr val="161B26"/>
                </a:solidFill>
                <a:latin typeface="Arial"/>
              </a:rPr>
              <a:t>•  Component suppliers</a:t>
            </a:r>
          </a:p>
          <a:p>
            <a:pPr>
              <a:spcAft>
                <a:spcPts val="700"/>
              </a:spcAft>
            </a:pPr>
            <a:r>
              <a:rPr sz="1200">
                <a:solidFill>
                  <a:srgbClr val="161B26"/>
                </a:solidFill>
                <a:latin typeface="Arial"/>
              </a:rPr>
              <a:t>•  Contract PCB assembler</a:t>
            </a:r>
          </a:p>
          <a:p>
            <a:pPr>
              <a:spcAft>
                <a:spcPts val="700"/>
              </a:spcAft>
            </a:pPr>
            <a:r>
              <a:rPr sz="1200">
                <a:solidFill>
                  <a:srgbClr val="161B26"/>
                </a:solidFill>
                <a:latin typeface="Arial"/>
              </a:rPr>
              <a:t>•  Sterile packaging vendor</a:t>
            </a:r>
          </a:p>
          <a:p>
            <a:pPr>
              <a:spcAft>
                <a:spcPts val="700"/>
              </a:spcAft>
            </a:pPr>
            <a:r>
              <a:rPr sz="1200">
                <a:solidFill>
                  <a:srgbClr val="161B26"/>
                </a:solidFill>
                <a:latin typeface="Arial"/>
              </a:rPr>
              <a:t>•  Planning (works orders)</a:t>
            </a:r>
          </a:p>
          <a:p>
            <a:pPr>
              <a:spcAft>
                <a:spcPts val="700"/>
              </a:spcAft>
            </a:pPr>
            <a:r>
              <a:rPr sz="1200">
                <a:solidFill>
                  <a:srgbClr val="161B26"/>
                </a:solidFill>
                <a:latin typeface="Arial"/>
              </a:rPr>
              <a:t>•  Freight forwarders</a:t>
            </a:r>
          </a:p>
        </p:txBody>
      </p:sp>
      <p:sp>
        <p:nvSpPr>
          <p:cNvPr id="10" name="TextBox 9"/>
          <p:cNvSpPr txBox="1"/>
          <p:nvPr/>
        </p:nvSpPr>
        <p:spPr>
          <a:xfrm>
            <a:off x="2787091"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11" name="Rectangle 10"/>
          <p:cNvSpPr/>
          <p:nvPr/>
        </p:nvSpPr>
        <p:spPr>
          <a:xfrm>
            <a:off x="2933395"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933395" y="1828800"/>
            <a:ext cx="2009851"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933395"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I — Inputs</a:t>
            </a:r>
          </a:p>
        </p:txBody>
      </p:sp>
      <p:sp>
        <p:nvSpPr>
          <p:cNvPr id="14" name="TextBox 13"/>
          <p:cNvSpPr txBox="1"/>
          <p:nvPr/>
        </p:nvSpPr>
        <p:spPr>
          <a:xfrm>
            <a:off x="3079699" y="2560320"/>
            <a:ext cx="1717243" cy="2404872"/>
          </a:xfrm>
          <a:prstGeom prst="rect">
            <a:avLst/>
          </a:prstGeom>
          <a:noFill/>
        </p:spPr>
        <p:txBody>
          <a:bodyPr wrap="square">
            <a:spAutoFit/>
          </a:bodyPr>
          <a:lstStyle/>
          <a:p>
            <a:pPr>
              <a:spcAft>
                <a:spcPts val="700"/>
              </a:spcAft>
            </a:pPr>
            <a:r>
              <a:rPr sz="1200">
                <a:solidFill>
                  <a:srgbClr val="161B26"/>
                </a:solidFill>
                <a:latin typeface="Arial"/>
              </a:rPr>
              <a:t>•  Purchase orders</a:t>
            </a:r>
          </a:p>
          <a:p>
            <a:pPr>
              <a:spcAft>
                <a:spcPts val="700"/>
              </a:spcAft>
            </a:pPr>
            <a:r>
              <a:rPr sz="1200">
                <a:solidFill>
                  <a:srgbClr val="161B26"/>
                </a:solidFill>
                <a:latin typeface="Arial"/>
              </a:rPr>
              <a:t>•  PCB sub-assemblies</a:t>
            </a:r>
          </a:p>
          <a:p>
            <a:pPr>
              <a:spcAft>
                <a:spcPts val="700"/>
              </a:spcAft>
            </a:pPr>
            <a:r>
              <a:rPr sz="1200">
                <a:solidFill>
                  <a:srgbClr val="161B26"/>
                </a:solidFill>
                <a:latin typeface="Arial"/>
              </a:rPr>
              <a:t>•  Pump housings and sets</a:t>
            </a:r>
          </a:p>
          <a:p>
            <a:pPr>
              <a:spcAft>
                <a:spcPts val="700"/>
              </a:spcAft>
            </a:pPr>
            <a:r>
              <a:rPr sz="1200">
                <a:solidFill>
                  <a:srgbClr val="161B26"/>
                </a:solidFill>
                <a:latin typeface="Arial"/>
              </a:rPr>
              <a:t>•  Works order schedule</a:t>
            </a:r>
          </a:p>
          <a:p>
            <a:pPr>
              <a:spcAft>
                <a:spcPts val="700"/>
              </a:spcAft>
            </a:pPr>
            <a:r>
              <a:rPr sz="1200">
                <a:solidFill>
                  <a:srgbClr val="161B26"/>
                </a:solidFill>
                <a:latin typeface="Arial"/>
              </a:rPr>
              <a:t>•  Calibration standards</a:t>
            </a:r>
          </a:p>
        </p:txBody>
      </p:sp>
      <p:sp>
        <p:nvSpPr>
          <p:cNvPr id="15" name="TextBox 14"/>
          <p:cNvSpPr txBox="1"/>
          <p:nvPr/>
        </p:nvSpPr>
        <p:spPr>
          <a:xfrm>
            <a:off x="4943246"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16" name="Rectangle 15"/>
          <p:cNvSpPr/>
          <p:nvPr/>
        </p:nvSpPr>
        <p:spPr>
          <a:xfrm>
            <a:off x="508955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089550" y="1828800"/>
            <a:ext cx="2009851"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8955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P — Process</a:t>
            </a:r>
          </a:p>
        </p:txBody>
      </p:sp>
      <p:sp>
        <p:nvSpPr>
          <p:cNvPr id="19" name="TextBox 18"/>
          <p:cNvSpPr txBox="1"/>
          <p:nvPr/>
        </p:nvSpPr>
        <p:spPr>
          <a:xfrm>
            <a:off x="5235854" y="2560320"/>
            <a:ext cx="1717243" cy="2404872"/>
          </a:xfrm>
          <a:prstGeom prst="rect">
            <a:avLst/>
          </a:prstGeom>
          <a:noFill/>
        </p:spPr>
        <p:txBody>
          <a:bodyPr wrap="square">
            <a:spAutoFit/>
          </a:bodyPr>
          <a:lstStyle/>
          <a:p>
            <a:pPr>
              <a:spcAft>
                <a:spcPts val="700"/>
              </a:spcAft>
            </a:pPr>
            <a:r>
              <a:rPr sz="1200">
                <a:solidFill>
                  <a:srgbClr val="161B26"/>
                </a:solidFill>
                <a:latin typeface="Arial"/>
              </a:rPr>
              <a:t>•  Release works order</a:t>
            </a:r>
          </a:p>
          <a:p>
            <a:pPr>
              <a:spcAft>
                <a:spcPts val="700"/>
              </a:spcAft>
            </a:pPr>
            <a:r>
              <a:rPr sz="1200">
                <a:solidFill>
                  <a:srgbClr val="161B26"/>
                </a:solidFill>
                <a:latin typeface="Arial"/>
              </a:rPr>
              <a:t>•  Build and assemble</a:t>
            </a:r>
          </a:p>
          <a:p>
            <a:pPr>
              <a:spcAft>
                <a:spcPts val="700"/>
              </a:spcAft>
            </a:pPr>
            <a:r>
              <a:rPr sz="1200">
                <a:solidFill>
                  <a:srgbClr val="161B26"/>
                </a:solidFill>
                <a:latin typeface="Arial"/>
              </a:rPr>
              <a:t>•  Calibrate and test</a:t>
            </a:r>
          </a:p>
          <a:p>
            <a:pPr>
              <a:spcAft>
                <a:spcPts val="700"/>
              </a:spcAft>
            </a:pPr>
            <a:r>
              <a:rPr sz="1200">
                <a:solidFill>
                  <a:srgbClr val="161B26"/>
                </a:solidFill>
                <a:latin typeface="Arial"/>
              </a:rPr>
              <a:t>•  Pack and label</a:t>
            </a:r>
          </a:p>
          <a:p>
            <a:pPr>
              <a:spcAft>
                <a:spcPts val="700"/>
              </a:spcAft>
            </a:pPr>
            <a:r>
              <a:rPr sz="1200">
                <a:solidFill>
                  <a:srgbClr val="161B26"/>
                </a:solidFill>
                <a:latin typeface="Arial"/>
              </a:rPr>
              <a:t>•  Ship and confirm</a:t>
            </a:r>
          </a:p>
        </p:txBody>
      </p:sp>
      <p:sp>
        <p:nvSpPr>
          <p:cNvPr id="20" name="TextBox 19"/>
          <p:cNvSpPr txBox="1"/>
          <p:nvPr/>
        </p:nvSpPr>
        <p:spPr>
          <a:xfrm>
            <a:off x="7099401"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21" name="Rectangle 20"/>
          <p:cNvSpPr/>
          <p:nvPr/>
        </p:nvSpPr>
        <p:spPr>
          <a:xfrm>
            <a:off x="7245705"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245705" y="1828800"/>
            <a:ext cx="2009851"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245705"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O — Outputs</a:t>
            </a:r>
          </a:p>
        </p:txBody>
      </p:sp>
      <p:sp>
        <p:nvSpPr>
          <p:cNvPr id="24" name="TextBox 23"/>
          <p:cNvSpPr txBox="1"/>
          <p:nvPr/>
        </p:nvSpPr>
        <p:spPr>
          <a:xfrm>
            <a:off x="7392009" y="2560320"/>
            <a:ext cx="1717243" cy="2404872"/>
          </a:xfrm>
          <a:prstGeom prst="rect">
            <a:avLst/>
          </a:prstGeom>
          <a:noFill/>
        </p:spPr>
        <p:txBody>
          <a:bodyPr wrap="square">
            <a:spAutoFit/>
          </a:bodyPr>
          <a:lstStyle/>
          <a:p>
            <a:pPr>
              <a:spcAft>
                <a:spcPts val="700"/>
              </a:spcAft>
            </a:pPr>
            <a:r>
              <a:rPr sz="1200">
                <a:solidFill>
                  <a:srgbClr val="161B26"/>
                </a:solidFill>
                <a:latin typeface="Arial"/>
              </a:rPr>
              <a:t>•  Calibrated pump units</a:t>
            </a:r>
          </a:p>
          <a:p>
            <a:pPr>
              <a:spcAft>
                <a:spcPts val="700"/>
              </a:spcAft>
            </a:pPr>
            <a:r>
              <a:rPr sz="1200">
                <a:solidFill>
                  <a:srgbClr val="161B26"/>
                </a:solidFill>
                <a:latin typeface="Arial"/>
              </a:rPr>
              <a:t>•  Certificate of conformity</a:t>
            </a:r>
          </a:p>
          <a:p>
            <a:pPr>
              <a:spcAft>
                <a:spcPts val="700"/>
              </a:spcAft>
            </a:pPr>
            <a:r>
              <a:rPr sz="1200">
                <a:solidFill>
                  <a:srgbClr val="161B26"/>
                </a:solidFill>
                <a:latin typeface="Arial"/>
              </a:rPr>
              <a:t>•  Packing list and ASN</a:t>
            </a:r>
          </a:p>
          <a:p>
            <a:pPr>
              <a:spcAft>
                <a:spcPts val="700"/>
              </a:spcAft>
            </a:pPr>
            <a:r>
              <a:rPr sz="1200">
                <a:solidFill>
                  <a:srgbClr val="161B26"/>
                </a:solidFill>
                <a:latin typeface="Arial"/>
              </a:rPr>
              <a:t>•  Delivery confirmation</a:t>
            </a:r>
          </a:p>
          <a:p>
            <a:pPr>
              <a:spcAft>
                <a:spcPts val="700"/>
              </a:spcAft>
            </a:pPr>
            <a:r>
              <a:rPr sz="1200">
                <a:solidFill>
                  <a:srgbClr val="161B26"/>
                </a:solidFill>
                <a:latin typeface="Arial"/>
              </a:rPr>
              <a:t>•  Goods receipt record</a:t>
            </a:r>
          </a:p>
        </p:txBody>
      </p:sp>
      <p:sp>
        <p:nvSpPr>
          <p:cNvPr id="25" name="TextBox 24"/>
          <p:cNvSpPr txBox="1"/>
          <p:nvPr/>
        </p:nvSpPr>
        <p:spPr>
          <a:xfrm>
            <a:off x="9255556"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26" name="Rectangle 25"/>
          <p:cNvSpPr/>
          <p:nvPr/>
        </p:nvSpPr>
        <p:spPr>
          <a:xfrm>
            <a:off x="940186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9401860" y="1828800"/>
            <a:ext cx="2009851" cy="566928"/>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40186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C — Customers</a:t>
            </a:r>
          </a:p>
        </p:txBody>
      </p:sp>
      <p:sp>
        <p:nvSpPr>
          <p:cNvPr id="29" name="TextBox 28"/>
          <p:cNvSpPr txBox="1"/>
          <p:nvPr/>
        </p:nvSpPr>
        <p:spPr>
          <a:xfrm>
            <a:off x="9548164" y="2560320"/>
            <a:ext cx="1717243" cy="2404872"/>
          </a:xfrm>
          <a:prstGeom prst="rect">
            <a:avLst/>
          </a:prstGeom>
          <a:noFill/>
        </p:spPr>
        <p:txBody>
          <a:bodyPr wrap="square">
            <a:spAutoFit/>
          </a:bodyPr>
          <a:lstStyle/>
          <a:p>
            <a:pPr>
              <a:spcAft>
                <a:spcPts val="700"/>
              </a:spcAft>
            </a:pPr>
            <a:r>
              <a:rPr sz="1200">
                <a:solidFill>
                  <a:srgbClr val="161B26"/>
                </a:solidFill>
                <a:latin typeface="Arial"/>
              </a:rPr>
              <a:t>•  Hospital biomed teams</a:t>
            </a:r>
          </a:p>
          <a:p>
            <a:pPr>
              <a:spcAft>
                <a:spcPts val="700"/>
              </a:spcAft>
            </a:pPr>
            <a:r>
              <a:rPr sz="1200">
                <a:solidFill>
                  <a:srgbClr val="161B26"/>
                </a:solidFill>
                <a:latin typeface="Arial"/>
              </a:rPr>
              <a:t>•  Ward nursing staff</a:t>
            </a:r>
          </a:p>
          <a:p>
            <a:pPr>
              <a:spcAft>
                <a:spcPts val="700"/>
              </a:spcAft>
            </a:pPr>
            <a:r>
              <a:rPr sz="1200">
                <a:solidFill>
                  <a:srgbClr val="161B26"/>
                </a:solidFill>
                <a:latin typeface="Arial"/>
              </a:rPr>
              <a:t>•  Homecare patients</a:t>
            </a:r>
          </a:p>
          <a:p>
            <a:pPr>
              <a:spcAft>
                <a:spcPts val="700"/>
              </a:spcAft>
            </a:pPr>
            <a:r>
              <a:rPr sz="1200">
                <a:solidFill>
                  <a:srgbClr val="161B26"/>
                </a:solidFill>
                <a:latin typeface="Arial"/>
              </a:rPr>
              <a:t>•  Distributors (MY, CN)</a:t>
            </a:r>
          </a:p>
          <a:p>
            <a:pPr>
              <a:spcAft>
                <a:spcPts val="700"/>
              </a:spcAft>
            </a:pPr>
            <a:r>
              <a:rPr sz="1200">
                <a:solidFill>
                  <a:srgbClr val="161B26"/>
                </a:solidFill>
                <a:latin typeface="Arial"/>
              </a:rPr>
              <a:t>•  Meridian service desk</a:t>
            </a:r>
          </a:p>
        </p:txBody>
      </p:sp>
      <p:sp>
        <p:nvSpPr>
          <p:cNvPr id="30" name="TextBox 29"/>
          <p:cNvSpPr txBox="1"/>
          <p:nvPr/>
        </p:nvSpPr>
        <p:spPr>
          <a:xfrm>
            <a:off x="777240" y="5532120"/>
            <a:ext cx="10634472" cy="457200"/>
          </a:xfrm>
          <a:prstGeom prst="rect">
            <a:avLst/>
          </a:prstGeom>
          <a:noFill/>
        </p:spPr>
        <p:txBody>
          <a:bodyPr wrap="square" anchor="t">
            <a:spAutoFit/>
          </a:bodyPr>
          <a:lstStyle/>
          <a:p>
            <a:pPr algn="ctr">
              <a:spcAft>
                <a:spcPts val="400"/>
              </a:spcAft>
            </a:pPr>
            <a:r>
              <a:rPr sz="1300" b="0">
                <a:solidFill>
                  <a:srgbClr val="5B6372"/>
                </a:solidFill>
                <a:latin typeface="Arial"/>
              </a:rPr>
              <a:t>Read left to right: suppliers provide the inputs, the process transforms them, and the outputs go to the customers.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discipline points a Black Belt must enforce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Fix the START and STOP explicitly</a:t>
            </a:r>
          </a:p>
          <a:p>
            <a:pPr algn="l">
              <a:spcAft>
                <a:spcPts val="300"/>
              </a:spcAft>
            </a:pPr>
            <a:r>
              <a:rPr sz="1200" b="0">
                <a:solidFill>
                  <a:srgbClr val="5B6372"/>
                </a:solidFill>
                <a:latin typeface="Arial"/>
              </a:rPr>
              <a:t>Meridian: starts at works-order release, stops at customer goods receipt. Written on the charter.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Keep the process to 4 to 7 steps</a:t>
            </a:r>
          </a:p>
          <a:p>
            <a:pPr algn="l">
              <a:spcAft>
                <a:spcPts val="300"/>
              </a:spcAft>
            </a:pPr>
            <a:r>
              <a:rPr sz="1200" b="0">
                <a:solidFill>
                  <a:srgbClr val="5B6372"/>
                </a:solidFill>
                <a:latin typeface="Arial"/>
              </a:rPr>
              <a:t>More than seven and you have drifted into a process map, which belongs in Measure.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Verb-noun for every step</a:t>
            </a:r>
          </a:p>
          <a:p>
            <a:pPr algn="l">
              <a:spcAft>
                <a:spcPts val="300"/>
              </a:spcAft>
            </a:pPr>
            <a:r>
              <a:rPr sz="1200" b="0">
                <a:solidFill>
                  <a:srgbClr val="5B6372"/>
                </a:solidFill>
                <a:latin typeface="Arial"/>
              </a:rPr>
              <a:t>'Calibrate and test', not 'Calibration'. Nouns hide who does what.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Outputs must tie to the CTQs</a:t>
            </a:r>
          </a:p>
          <a:p>
            <a:pPr algn="l">
              <a:spcAft>
                <a:spcPts val="300"/>
              </a:spcAft>
            </a:pPr>
            <a:r>
              <a:rPr sz="1200" b="0">
                <a:solidFill>
                  <a:srgbClr val="5B6372"/>
                </a:solidFill>
                <a:latin typeface="Arial"/>
              </a:rPr>
              <a:t>If an output has no CTQ, ask whether the customer values it at all.</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Name the customers as people</a:t>
            </a:r>
          </a:p>
          <a:p>
            <a:pPr algn="l">
              <a:spcAft>
                <a:spcPts val="300"/>
              </a:spcAft>
            </a:pPr>
            <a:r>
              <a:rPr sz="1200" b="0">
                <a:solidFill>
                  <a:srgbClr val="5B6372"/>
                </a:solidFill>
                <a:latin typeface="Arial"/>
              </a:rPr>
              <a:t>'Ward nursing staff', not 'the hospital'. You cannot interview an institution.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Do it in the room in 45 minutes</a:t>
            </a:r>
          </a:p>
          <a:p>
            <a:pPr algn="l">
              <a:spcAft>
                <a:spcPts val="300"/>
              </a:spcAft>
            </a:pPr>
            <a:r>
              <a:rPr sz="1200" b="0">
                <a:solidFill>
                  <a:srgbClr val="5B6372"/>
                </a:solidFill>
                <a:latin typeface="Arial"/>
              </a:rPr>
              <a:t>SIPOC is an alignment device. Perfecting it offline defeats its purpose.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INTERACTIVE TOOL - USED IN LAB 6</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Build your SIPOC online - alfredang.github.io/sipoc</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Open the SIPOC tool in your browser - no login or licence needed</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Name the process, then fix the START and STOP steps first</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Work right to left: Customers, Outputs, Process, Inputs, Suppliers</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Add 4 to 7 verb-noun process steps in the room with the team</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Export the SIPOC into your capstone project pack</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BLACK BELT ONLY - STAKEHOLDERS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Every project you lead will be decided by people, not by data</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You will map influence against support, and you will have a specific, named move for every person in the top-left quadrant.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Stakeholder grid - influence against support</a:t>
            </a:r>
          </a:p>
        </p:txBody>
      </p:sp>
      <p:sp>
        <p:nvSpPr>
          <p:cNvPr id="6" name="Rectangle 5"/>
          <p:cNvSpPr/>
          <p:nvPr/>
        </p:nvSpPr>
        <p:spPr>
          <a:xfrm>
            <a:off x="228600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86000" y="1828800"/>
            <a:ext cx="73152" cy="18745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42032" y="2048256"/>
            <a:ext cx="3328416" cy="457200"/>
          </a:xfrm>
          <a:prstGeom prst="rect">
            <a:avLst/>
          </a:prstGeom>
          <a:noFill/>
        </p:spPr>
        <p:txBody>
          <a:bodyPr wrap="square" anchor="t">
            <a:spAutoFit/>
          </a:bodyPr>
          <a:lstStyle/>
          <a:p>
            <a:pPr algn="l">
              <a:spcAft>
                <a:spcPts val="400"/>
              </a:spcAft>
            </a:pPr>
            <a:r>
              <a:rPr sz="1600" b="1">
                <a:solidFill>
                  <a:srgbClr val="10B981"/>
                </a:solidFill>
                <a:latin typeface="Arial"/>
              </a:rPr>
              <a:t>BLOCKERS - work these first</a:t>
            </a:r>
          </a:p>
        </p:txBody>
      </p:sp>
      <p:sp>
        <p:nvSpPr>
          <p:cNvPr id="9" name="TextBox 8"/>
          <p:cNvSpPr txBox="1"/>
          <p:nvPr/>
        </p:nvSpPr>
        <p:spPr>
          <a:xfrm>
            <a:off x="254203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influence, low support. Meridian: the Suzhou plant director, who reads this as an audit of his line. Meet privately, before any group session.</a:t>
            </a:r>
          </a:p>
        </p:txBody>
      </p:sp>
      <p:sp>
        <p:nvSpPr>
          <p:cNvPr id="10" name="Rectangle 9"/>
          <p:cNvSpPr/>
          <p:nvPr/>
        </p:nvSpPr>
        <p:spPr>
          <a:xfrm>
            <a:off x="612648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126480" y="1828800"/>
            <a:ext cx="73152" cy="187451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2048256"/>
            <a:ext cx="3328416" cy="457200"/>
          </a:xfrm>
          <a:prstGeom prst="rect">
            <a:avLst/>
          </a:prstGeom>
          <a:noFill/>
        </p:spPr>
        <p:txBody>
          <a:bodyPr wrap="square" anchor="t">
            <a:spAutoFit/>
          </a:bodyPr>
          <a:lstStyle/>
          <a:p>
            <a:pPr algn="l">
              <a:spcAft>
                <a:spcPts val="400"/>
              </a:spcAft>
            </a:pPr>
            <a:r>
              <a:rPr sz="1600" b="1">
                <a:solidFill>
                  <a:srgbClr val="1F6FEB"/>
                </a:solidFill>
                <a:latin typeface="Arial"/>
              </a:rPr>
              <a:t>CHAMPIONS - use their air cover</a:t>
            </a:r>
          </a:p>
        </p:txBody>
      </p:sp>
      <p:sp>
        <p:nvSpPr>
          <p:cNvPr id="13" name="TextBox 12"/>
          <p:cNvSpPr txBox="1"/>
          <p:nvPr/>
        </p:nvSpPr>
        <p:spPr>
          <a:xfrm>
            <a:off x="638251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influence, high support. Meridian: the VP Operations sponsor. Ask them to open the kickoff and to name the Finance signatory.</a:t>
            </a:r>
          </a:p>
        </p:txBody>
      </p:sp>
      <p:sp>
        <p:nvSpPr>
          <p:cNvPr id="14" name="Rectangle 13"/>
          <p:cNvSpPr/>
          <p:nvPr/>
        </p:nvSpPr>
        <p:spPr>
          <a:xfrm>
            <a:off x="228600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286000" y="3703319"/>
            <a:ext cx="73152"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42032" y="3922775"/>
            <a:ext cx="3328416" cy="457200"/>
          </a:xfrm>
          <a:prstGeom prst="rect">
            <a:avLst/>
          </a:prstGeom>
          <a:noFill/>
        </p:spPr>
        <p:txBody>
          <a:bodyPr wrap="square" anchor="t">
            <a:spAutoFit/>
          </a:bodyPr>
          <a:lstStyle/>
          <a:p>
            <a:pPr algn="l">
              <a:spcAft>
                <a:spcPts val="400"/>
              </a:spcAft>
            </a:pPr>
            <a:r>
              <a:rPr sz="1600" b="1">
                <a:solidFill>
                  <a:srgbClr val="F59E0B"/>
                </a:solidFill>
                <a:latin typeface="Arial"/>
              </a:rPr>
              <a:t>MONITOR - keep informed, cheaply</a:t>
            </a:r>
          </a:p>
        </p:txBody>
      </p:sp>
      <p:sp>
        <p:nvSpPr>
          <p:cNvPr id="17" name="TextBox 16"/>
          <p:cNvSpPr txBox="1"/>
          <p:nvPr/>
        </p:nvSpPr>
        <p:spPr>
          <a:xfrm>
            <a:off x="254203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influence, low support. Meridian: two distributor account managers. Newsletter cadence is enough.</a:t>
            </a:r>
          </a:p>
        </p:txBody>
      </p:sp>
      <p:sp>
        <p:nvSpPr>
          <p:cNvPr id="18" name="Rectangle 17"/>
          <p:cNvSpPr/>
          <p:nvPr/>
        </p:nvSpPr>
        <p:spPr>
          <a:xfrm>
            <a:off x="612648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26480" y="3703319"/>
            <a:ext cx="73152" cy="1874519"/>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82512" y="3922775"/>
            <a:ext cx="3328416" cy="457200"/>
          </a:xfrm>
          <a:prstGeom prst="rect">
            <a:avLst/>
          </a:prstGeom>
          <a:noFill/>
        </p:spPr>
        <p:txBody>
          <a:bodyPr wrap="square" anchor="t">
            <a:spAutoFit/>
          </a:bodyPr>
          <a:lstStyle/>
          <a:p>
            <a:pPr algn="l">
              <a:spcAft>
                <a:spcPts val="400"/>
              </a:spcAft>
            </a:pPr>
            <a:r>
              <a:rPr sz="1600" b="1">
                <a:solidFill>
                  <a:srgbClr val="5B6372"/>
                </a:solidFill>
                <a:latin typeface="Arial"/>
              </a:rPr>
              <a:t>SUPPORTERS - recruit as advocates</a:t>
            </a:r>
          </a:p>
        </p:txBody>
      </p:sp>
      <p:sp>
        <p:nvSpPr>
          <p:cNvPr id="21" name="TextBox 20"/>
          <p:cNvSpPr txBox="1"/>
          <p:nvPr/>
        </p:nvSpPr>
        <p:spPr>
          <a:xfrm>
            <a:off x="638251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influence, high support. Meridian: ward nursing leads and the Penang quality engineer. Give them the story to spread.</a:t>
            </a:r>
          </a:p>
        </p:txBody>
      </p:sp>
      <p:sp>
        <p:nvSpPr>
          <p:cNvPr id="22" name="TextBox 21"/>
          <p:cNvSpPr txBox="1"/>
          <p:nvPr/>
        </p:nvSpPr>
        <p:spPr>
          <a:xfrm>
            <a:off x="2286000" y="5687567"/>
            <a:ext cx="7680960" cy="365760"/>
          </a:xfrm>
          <a:prstGeom prst="rect">
            <a:avLst/>
          </a:prstGeom>
          <a:noFill/>
        </p:spPr>
        <p:txBody>
          <a:bodyPr wrap="square" anchor="t">
            <a:spAutoFit/>
          </a:bodyPr>
          <a:lstStyle/>
          <a:p>
            <a:pPr algn="ctr">
              <a:spcAft>
                <a:spcPts val="400"/>
              </a:spcAft>
            </a:pPr>
            <a:r>
              <a:rPr sz="1300" b="1">
                <a:solidFill>
                  <a:srgbClr val="161B26"/>
                </a:solidFill>
                <a:latin typeface="Arial"/>
              </a:rPr>
              <a:t>Support for the project  (low  -&gt;  high)</a:t>
            </a:r>
          </a:p>
        </p:txBody>
      </p:sp>
      <p:sp>
        <p:nvSpPr>
          <p:cNvPr id="23" name="TextBox 22"/>
          <p:cNvSpPr txBox="1"/>
          <p:nvPr/>
        </p:nvSpPr>
        <p:spPr>
          <a:xfrm>
            <a:off x="548640" y="3520439"/>
            <a:ext cx="1645920" cy="365760"/>
          </a:xfrm>
          <a:prstGeom prst="rect">
            <a:avLst/>
          </a:prstGeom>
          <a:noFill/>
        </p:spPr>
        <p:txBody>
          <a:bodyPr wrap="square" anchor="t">
            <a:spAutoFit/>
          </a:bodyPr>
          <a:lstStyle/>
          <a:p>
            <a:pPr algn="ctr">
              <a:spcAft>
                <a:spcPts val="400"/>
              </a:spcAft>
            </a:pPr>
            <a:r>
              <a:rPr sz="1300" b="1">
                <a:solidFill>
                  <a:srgbClr val="161B26"/>
                </a:solidFill>
                <a:latin typeface="Arial"/>
              </a:rPr>
              <a:t>Influence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stakeholder analysis method</a:t>
            </a:r>
          </a:p>
        </p:txBody>
      </p:sp>
      <p:sp>
        <p:nvSpPr>
          <p:cNvPr id="6" name="Rectangle 5"/>
          <p:cNvSpPr/>
          <p:nvPr/>
        </p:nvSpPr>
        <p:spPr>
          <a:xfrm>
            <a:off x="777240"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List everyone the change touches or who can stop it</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601468"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523744"/>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Rate influence: can they stop or accelerate this?</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4425696"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523744"/>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Rate current support: from -2 opposed to +2 advocating</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6249924"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523744"/>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Rate REQUIRED support - it is rarely +2 for everyone</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8074152"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523744"/>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Write a named action and owner for every gap</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6" name="Rectangle 35"/>
          <p:cNvSpPr/>
          <p:nvPr/>
        </p:nvSpPr>
        <p:spPr>
          <a:xfrm>
            <a:off x="9898380"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523744"/>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Re-score at every tollgate - positions move</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 the stakeholder moves that mattered</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Suzhou plant director</a:t>
            </a:r>
          </a:p>
          <a:p>
            <a:pPr algn="l">
              <a:spcAft>
                <a:spcPts val="300"/>
              </a:spcAft>
            </a:pPr>
            <a:r>
              <a:rPr sz="1200" b="0">
                <a:solidFill>
                  <a:srgbClr val="5B6372"/>
                </a:solidFill>
                <a:latin typeface="Arial"/>
              </a:rPr>
              <a:t>High influence, opposed. Move: private pre-brief, framed as capacity release, not defect hunting.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VP Operations (sponsor)</a:t>
            </a:r>
          </a:p>
          <a:p>
            <a:pPr algn="l">
              <a:spcAft>
                <a:spcPts val="300"/>
              </a:spcAft>
            </a:pPr>
            <a:r>
              <a:rPr sz="1200" b="0">
                <a:solidFill>
                  <a:srgbClr val="5B6372"/>
                </a:solidFill>
                <a:latin typeface="Arial"/>
              </a:rPr>
              <a:t>High influence, advocating. Move: ask them to open the kickoff and mandate data access.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Group Finance controller</a:t>
            </a:r>
          </a:p>
          <a:p>
            <a:pPr algn="l">
              <a:spcAft>
                <a:spcPts val="300"/>
              </a:spcAft>
            </a:pPr>
            <a:r>
              <a:rPr sz="1200" b="0">
                <a:solidFill>
                  <a:srgbClr val="5B6372"/>
                </a:solidFill>
                <a:latin typeface="Arial"/>
              </a:rPr>
              <a:t>High influence, neutral. Move: co-author the benefit method before any number is published.</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Penang production manager</a:t>
            </a:r>
          </a:p>
          <a:p>
            <a:pPr algn="l">
              <a:spcAft>
                <a:spcPts val="300"/>
              </a:spcAft>
            </a:pPr>
            <a:r>
              <a:rPr sz="1200" b="0">
                <a:solidFill>
                  <a:srgbClr val="5B6372"/>
                </a:solidFill>
                <a:latin typeface="Arial"/>
              </a:rPr>
              <a:t>Medium influence, supportive. Move: make him the benchmark story the others learn from.</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Ward nursing leads</a:t>
            </a:r>
          </a:p>
          <a:p>
            <a:pPr algn="l">
              <a:spcAft>
                <a:spcPts val="300"/>
              </a:spcAft>
            </a:pPr>
            <a:r>
              <a:rPr sz="1200" b="0">
                <a:solidFill>
                  <a:srgbClr val="5B6372"/>
                </a:solidFill>
                <a:latin typeface="Arial"/>
              </a:rPr>
              <a:t>Low influence, strongly supportive. Move: use their verbatims in every steering pack.</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IT / MES data owner</a:t>
            </a:r>
          </a:p>
          <a:p>
            <a:pPr algn="l">
              <a:spcAft>
                <a:spcPts val="300"/>
              </a:spcAft>
            </a:pPr>
            <a:r>
              <a:rPr sz="1200" b="0">
                <a:solidFill>
                  <a:srgbClr val="5B6372"/>
                </a:solidFill>
                <a:latin typeface="Arial"/>
              </a:rPr>
              <a:t>Low influence, neutral, but blocking. Move: get data access written into the charter itself.</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RACI - who does what on the project</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R - RESPONSIBLE</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Does the work</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Black Belt: analysis and facilitation</a:t>
            </a:r>
          </a:p>
          <a:p>
            <a:pPr>
              <a:spcAft>
                <a:spcPts val="700"/>
              </a:spcAft>
            </a:pPr>
            <a:r>
              <a:rPr sz="1200">
                <a:solidFill>
                  <a:srgbClr val="161B26"/>
                </a:solidFill>
                <a:latin typeface="Arial"/>
              </a:rPr>
              <a:t>•  Green Belts: data collection at each plant</a:t>
            </a:r>
          </a:p>
          <a:p>
            <a:pPr>
              <a:spcAft>
                <a:spcPts val="700"/>
              </a:spcAft>
            </a:pPr>
            <a:r>
              <a:rPr sz="1200">
                <a:solidFill>
                  <a:srgbClr val="161B26"/>
                </a:solidFill>
                <a:latin typeface="Arial"/>
              </a:rPr>
              <a:t>•  Process owner: implements the changes</a:t>
            </a:r>
          </a:p>
          <a:p>
            <a:pPr>
              <a:spcAft>
                <a:spcPts val="700"/>
              </a:spcAft>
            </a:pPr>
            <a:r>
              <a:rPr sz="1200">
                <a:solidFill>
                  <a:srgbClr val="161B26"/>
                </a:solidFill>
                <a:latin typeface="Arial"/>
              </a:rPr>
              <a:t>•  There can be several R's per task</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A - ACCOUNTABLE</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Owns the outcome</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Exactly ONE per task, always</a:t>
            </a:r>
          </a:p>
          <a:p>
            <a:pPr>
              <a:spcAft>
                <a:spcPts val="700"/>
              </a:spcAft>
            </a:pPr>
            <a:r>
              <a:rPr sz="1200">
                <a:solidFill>
                  <a:srgbClr val="161B26"/>
                </a:solidFill>
                <a:latin typeface="Arial"/>
              </a:rPr>
              <a:t>•  Sponsor is A for benefit realisation</a:t>
            </a:r>
          </a:p>
          <a:p>
            <a:pPr>
              <a:spcAft>
                <a:spcPts val="700"/>
              </a:spcAft>
            </a:pPr>
            <a:r>
              <a:rPr sz="1200">
                <a:solidFill>
                  <a:srgbClr val="161B26"/>
                </a:solidFill>
                <a:latin typeface="Arial"/>
              </a:rPr>
              <a:t>•  Process owner is A for sustained control</a:t>
            </a:r>
          </a:p>
          <a:p>
            <a:pPr>
              <a:spcAft>
                <a:spcPts val="700"/>
              </a:spcAft>
            </a:pPr>
            <a:r>
              <a:rPr sz="1200">
                <a:solidFill>
                  <a:srgbClr val="161B26"/>
                </a:solidFill>
                <a:latin typeface="Arial"/>
              </a:rPr>
              <a:t>•  If two people are A, nobody is</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C AND I</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Consulted and Informed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C: consulted BEFORE the decision</a:t>
            </a:r>
          </a:p>
          <a:p>
            <a:pPr>
              <a:spcAft>
                <a:spcPts val="700"/>
              </a:spcAft>
            </a:pPr>
            <a:r>
              <a:rPr sz="1200">
                <a:solidFill>
                  <a:srgbClr val="161B26"/>
                </a:solidFill>
                <a:latin typeface="Arial"/>
              </a:rPr>
              <a:t>•  Finance, Quality, Regulatory are usually C</a:t>
            </a:r>
          </a:p>
          <a:p>
            <a:pPr>
              <a:spcAft>
                <a:spcPts val="700"/>
              </a:spcAft>
            </a:pPr>
            <a:r>
              <a:rPr sz="1200">
                <a:solidFill>
                  <a:srgbClr val="161B26"/>
                </a:solidFill>
                <a:latin typeface="Arial"/>
              </a:rPr>
              <a:t>•  I: told AFTER the decision is made</a:t>
            </a:r>
          </a:p>
          <a:p>
            <a:pPr>
              <a:spcAft>
                <a:spcPts val="700"/>
              </a:spcAft>
            </a:pPr>
            <a:r>
              <a:rPr sz="1200">
                <a:solidFill>
                  <a:srgbClr val="161B26"/>
                </a:solidFill>
                <a:latin typeface="Arial"/>
              </a:rPr>
              <a:t>•  Confusing C with I creates most escalations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BLACK BELT ONLY - RESISTANCE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Resistance is data. Diagnose it before you respond to it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single most common Black Belt failure is answering a political objection with a technical argument. It never works, and it hardens the position.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kinds of resistance, three different responses</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TECHNICAL</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'I do not believe your data'</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Sounds like: sample too small, wrong period</a:t>
            </a:r>
          </a:p>
          <a:p>
            <a:pPr>
              <a:spcAft>
                <a:spcPts val="700"/>
              </a:spcAft>
            </a:pPr>
            <a:r>
              <a:rPr sz="1200">
                <a:solidFill>
                  <a:srgbClr val="161B26"/>
                </a:solidFill>
                <a:latin typeface="Arial"/>
              </a:rPr>
              <a:t>•  Root: genuine doubt about method or evidence</a:t>
            </a:r>
          </a:p>
          <a:p>
            <a:pPr>
              <a:spcAft>
                <a:spcPts val="700"/>
              </a:spcAft>
            </a:pPr>
            <a:r>
              <a:rPr sz="1200">
                <a:solidFill>
                  <a:srgbClr val="161B26"/>
                </a:solidFill>
                <a:latin typeface="Arial"/>
              </a:rPr>
              <a:t>•  RESPONSE: show the MSA, widen the sample,</a:t>
            </a:r>
          </a:p>
          <a:p>
            <a:pPr>
              <a:spcAft>
                <a:spcPts val="700"/>
              </a:spcAft>
            </a:pPr>
            <a:r>
              <a:rPr sz="1200">
                <a:solidFill>
                  <a:srgbClr val="161B26"/>
                </a:solidFill>
                <a:latin typeface="Arial"/>
              </a:rPr>
              <a:t>•  invite them to audit the data themselves</a:t>
            </a:r>
          </a:p>
          <a:p>
            <a:pPr>
              <a:spcAft>
                <a:spcPts val="700"/>
              </a:spcAft>
            </a:pPr>
            <a:r>
              <a:rPr sz="1200">
                <a:solidFill>
                  <a:srgbClr val="161B26"/>
                </a:solidFill>
                <a:latin typeface="Arial"/>
              </a:rPr>
              <a:t>•  This is the EASY one - and the rarest</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POLITICAL</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'This costs me something'</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Sounds like: 'wrong time', 'no resources'</a:t>
            </a:r>
          </a:p>
          <a:p>
            <a:pPr>
              <a:spcAft>
                <a:spcPts val="700"/>
              </a:spcAft>
            </a:pPr>
            <a:r>
              <a:rPr sz="1200">
                <a:solidFill>
                  <a:srgbClr val="161B26"/>
                </a:solidFill>
                <a:latin typeface="Arial"/>
              </a:rPr>
              <a:t>•  Root: budget, headcount, status or blame at risk</a:t>
            </a:r>
          </a:p>
          <a:p>
            <a:pPr>
              <a:spcAft>
                <a:spcPts val="700"/>
              </a:spcAft>
            </a:pPr>
            <a:r>
              <a:rPr sz="1200">
                <a:solidFill>
                  <a:srgbClr val="161B26"/>
                </a:solidFill>
                <a:latin typeface="Arial"/>
              </a:rPr>
              <a:t>•  RESPONSE: negotiate. Find what they gain.</a:t>
            </a:r>
          </a:p>
          <a:p>
            <a:pPr>
              <a:spcAft>
                <a:spcPts val="700"/>
              </a:spcAft>
            </a:pPr>
            <a:r>
              <a:rPr sz="1200">
                <a:solidFill>
                  <a:srgbClr val="161B26"/>
                </a:solidFill>
                <a:latin typeface="Arial"/>
              </a:rPr>
              <a:t>•  Trade scope, credit or timing. Use the sponsor.</a:t>
            </a:r>
          </a:p>
          <a:p>
            <a:pPr>
              <a:spcAft>
                <a:spcPts val="700"/>
              </a:spcAft>
            </a:pPr>
            <a:r>
              <a:rPr sz="1200">
                <a:solidFill>
                  <a:srgbClr val="161B26"/>
                </a:solidFill>
                <a:latin typeface="Arial"/>
              </a:rPr>
              <a:t>•  Never argue data at a political objection</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CULTURAL</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'That is not how we work here'</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Sounds like: 'we tried that in 2019'</a:t>
            </a:r>
          </a:p>
          <a:p>
            <a:pPr>
              <a:spcAft>
                <a:spcPts val="700"/>
              </a:spcAft>
            </a:pPr>
            <a:r>
              <a:rPr sz="1200">
                <a:solidFill>
                  <a:srgbClr val="161B26"/>
                </a:solidFill>
                <a:latin typeface="Arial"/>
              </a:rPr>
              <a:t>•  Root: identity, history, professional pride</a:t>
            </a:r>
          </a:p>
          <a:p>
            <a:pPr>
              <a:spcAft>
                <a:spcPts val="700"/>
              </a:spcAft>
            </a:pPr>
            <a:r>
              <a:rPr sz="1200">
                <a:solidFill>
                  <a:srgbClr val="161B26"/>
                </a:solidFill>
                <a:latin typeface="Arial"/>
              </a:rPr>
              <a:t>•  RESPONSE: slow down. Pilot small, show a local</a:t>
            </a:r>
          </a:p>
          <a:p>
            <a:pPr>
              <a:spcAft>
                <a:spcPts val="700"/>
              </a:spcAft>
            </a:pPr>
            <a:r>
              <a:rPr sz="1200">
                <a:solidFill>
                  <a:srgbClr val="161B26"/>
                </a:solidFill>
                <a:latin typeface="Arial"/>
              </a:rPr>
              <a:t>•  win, let a respected insider carry the story</a:t>
            </a:r>
          </a:p>
          <a:p>
            <a:pPr>
              <a:spcAft>
                <a:spcPts val="700"/>
              </a:spcAft>
            </a:pPr>
            <a:r>
              <a:rPr sz="1200">
                <a:solidFill>
                  <a:srgbClr val="161B26"/>
                </a:solidFill>
                <a:latin typeface="Arial"/>
              </a:rPr>
              <a:t>•  The slowest to shift, and the most durable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Diagnosing which one you are actually facing</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Listen to what they ask for</a:t>
            </a:r>
          </a:p>
          <a:p>
            <a:pPr algn="l">
              <a:spcAft>
                <a:spcPts val="300"/>
              </a:spcAft>
            </a:pPr>
            <a:r>
              <a:rPr sz="1200" b="0">
                <a:solidFill>
                  <a:srgbClr val="5B6372"/>
                </a:solidFill>
                <a:latin typeface="Arial"/>
              </a:rPr>
              <a:t>A request for more data is technical. A request for delay is usually political.</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Test with a hypothetical</a:t>
            </a:r>
          </a:p>
          <a:p>
            <a:pPr algn="l">
              <a:spcAft>
                <a:spcPts val="300"/>
              </a:spcAft>
            </a:pPr>
            <a:r>
              <a:rPr sz="1200" b="0">
                <a:solidFill>
                  <a:srgbClr val="5B6372"/>
                </a:solidFill>
                <a:latin typeface="Arial"/>
              </a:rPr>
              <a:t>'If the data were perfect, would you support it?' A no means it was never technical.</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Ask who else feels this way</a:t>
            </a:r>
          </a:p>
          <a:p>
            <a:pPr algn="l">
              <a:spcAft>
                <a:spcPts val="300"/>
              </a:spcAft>
            </a:pPr>
            <a:r>
              <a:rPr sz="1200" b="0">
                <a:solidFill>
                  <a:srgbClr val="5B6372"/>
                </a:solidFill>
                <a:latin typeface="Arial"/>
              </a:rPr>
              <a:t>A widely shared objection is cultural. A lone strong one is usually political.</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Check what they lose</a:t>
            </a:r>
          </a:p>
          <a:p>
            <a:pPr algn="l">
              <a:spcAft>
                <a:spcPts val="300"/>
              </a:spcAft>
            </a:pPr>
            <a:r>
              <a:rPr sz="1200" b="0">
                <a:solidFill>
                  <a:srgbClr val="5B6372"/>
                </a:solidFill>
                <a:latin typeface="Arial"/>
              </a:rPr>
              <a:t>Follow headcount, budget, autonomy and reputation. Political resistance always has a price tag.</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Notice the history</a:t>
            </a:r>
          </a:p>
          <a:p>
            <a:pPr algn="l">
              <a:spcAft>
                <a:spcPts val="300"/>
              </a:spcAft>
            </a:pPr>
            <a:r>
              <a:rPr sz="1200" b="0">
                <a:solidFill>
                  <a:srgbClr val="5B6372"/>
                </a:solidFill>
                <a:latin typeface="Arial"/>
              </a:rPr>
              <a:t>'We tried that in 2019' is a cultural scar. Find out what actually happened then.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Escalate last, not first</a:t>
            </a:r>
          </a:p>
          <a:p>
            <a:pPr algn="l">
              <a:spcAft>
                <a:spcPts val="300"/>
              </a:spcAft>
            </a:pPr>
            <a:r>
              <a:rPr sz="1200" b="0">
                <a:solidFill>
                  <a:srgbClr val="5B6372"/>
                </a:solidFill>
                <a:latin typeface="Arial"/>
              </a:rPr>
              <a:t>Escalation converts a technical or cultural objection into a permanent political one.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Resistance response grid - how hard to push</a:t>
            </a:r>
          </a:p>
        </p:txBody>
      </p:sp>
      <p:sp>
        <p:nvSpPr>
          <p:cNvPr id="6" name="Rectangle 5"/>
          <p:cNvSpPr/>
          <p:nvPr/>
        </p:nvSpPr>
        <p:spPr>
          <a:xfrm>
            <a:off x="228600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86000" y="1828800"/>
            <a:ext cx="73152" cy="18745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42032" y="2048256"/>
            <a:ext cx="3328416" cy="457200"/>
          </a:xfrm>
          <a:prstGeom prst="rect">
            <a:avLst/>
          </a:prstGeom>
          <a:noFill/>
        </p:spPr>
        <p:txBody>
          <a:bodyPr wrap="square" anchor="t">
            <a:spAutoFit/>
          </a:bodyPr>
          <a:lstStyle/>
          <a:p>
            <a:pPr algn="l">
              <a:spcAft>
                <a:spcPts val="400"/>
              </a:spcAft>
            </a:pPr>
            <a:r>
              <a:rPr sz="1600" b="1">
                <a:solidFill>
                  <a:srgbClr val="10B981"/>
                </a:solidFill>
                <a:latin typeface="Arial"/>
              </a:rPr>
              <a:t>NEGOTIATE OR PAUSE</a:t>
            </a:r>
          </a:p>
        </p:txBody>
      </p:sp>
      <p:sp>
        <p:nvSpPr>
          <p:cNvPr id="9" name="TextBox 8"/>
          <p:cNvSpPr txBox="1"/>
          <p:nvPr/>
        </p:nvSpPr>
        <p:spPr>
          <a:xfrm>
            <a:off x="254203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influence, strong resistance. Do not force this. Meet privately, find the trade, or delay the branch of scope that threatens them.</a:t>
            </a:r>
          </a:p>
        </p:txBody>
      </p:sp>
      <p:sp>
        <p:nvSpPr>
          <p:cNvPr id="10" name="Rectangle 9"/>
          <p:cNvSpPr/>
          <p:nvPr/>
        </p:nvSpPr>
        <p:spPr>
          <a:xfrm>
            <a:off x="612648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126480" y="1828800"/>
            <a:ext cx="73152" cy="187451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2048256"/>
            <a:ext cx="3328416" cy="457200"/>
          </a:xfrm>
          <a:prstGeom prst="rect">
            <a:avLst/>
          </a:prstGeom>
          <a:noFill/>
        </p:spPr>
        <p:txBody>
          <a:bodyPr wrap="square" anchor="t">
            <a:spAutoFit/>
          </a:bodyPr>
          <a:lstStyle/>
          <a:p>
            <a:pPr algn="l">
              <a:spcAft>
                <a:spcPts val="400"/>
              </a:spcAft>
            </a:pPr>
            <a:r>
              <a:rPr sz="1600" b="1">
                <a:solidFill>
                  <a:srgbClr val="1F6FEB"/>
                </a:solidFill>
                <a:latin typeface="Arial"/>
              </a:rPr>
              <a:t>CO-OPT AND CONVERT</a:t>
            </a:r>
          </a:p>
        </p:txBody>
      </p:sp>
      <p:sp>
        <p:nvSpPr>
          <p:cNvPr id="13" name="TextBox 12"/>
          <p:cNvSpPr txBox="1"/>
          <p:nvPr/>
        </p:nvSpPr>
        <p:spPr>
          <a:xfrm>
            <a:off x="638251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influence, mild resistance. Involve them in designing the pilot. Ownership converts more reliably than argument.</a:t>
            </a:r>
          </a:p>
        </p:txBody>
      </p:sp>
      <p:sp>
        <p:nvSpPr>
          <p:cNvPr id="14" name="Rectangle 13"/>
          <p:cNvSpPr/>
          <p:nvPr/>
        </p:nvSpPr>
        <p:spPr>
          <a:xfrm>
            <a:off x="228600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286000" y="3703319"/>
            <a:ext cx="73152"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42032" y="3922775"/>
            <a:ext cx="3328416" cy="457200"/>
          </a:xfrm>
          <a:prstGeom prst="rect">
            <a:avLst/>
          </a:prstGeom>
          <a:noFill/>
        </p:spPr>
        <p:txBody>
          <a:bodyPr wrap="square" anchor="t">
            <a:spAutoFit/>
          </a:bodyPr>
          <a:lstStyle/>
          <a:p>
            <a:pPr algn="l">
              <a:spcAft>
                <a:spcPts val="400"/>
              </a:spcAft>
            </a:pPr>
            <a:r>
              <a:rPr sz="1600" b="1">
                <a:solidFill>
                  <a:srgbClr val="F59E0B"/>
                </a:solidFill>
                <a:latin typeface="Arial"/>
              </a:rPr>
              <a:t>PROCEED AND MONITOR</a:t>
            </a:r>
          </a:p>
        </p:txBody>
      </p:sp>
      <p:sp>
        <p:nvSpPr>
          <p:cNvPr id="17" name="TextBox 16"/>
          <p:cNvSpPr txBox="1"/>
          <p:nvPr/>
        </p:nvSpPr>
        <p:spPr>
          <a:xfrm>
            <a:off x="254203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influence, strong resistance. Do not spend your capital here. Proceed, document, and revisit after the first visible win.</a:t>
            </a:r>
          </a:p>
        </p:txBody>
      </p:sp>
      <p:sp>
        <p:nvSpPr>
          <p:cNvPr id="18" name="Rectangle 17"/>
          <p:cNvSpPr/>
          <p:nvPr/>
        </p:nvSpPr>
        <p:spPr>
          <a:xfrm>
            <a:off x="612648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26480" y="3703319"/>
            <a:ext cx="73152" cy="1874519"/>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82512" y="3922775"/>
            <a:ext cx="3328416" cy="457200"/>
          </a:xfrm>
          <a:prstGeom prst="rect">
            <a:avLst/>
          </a:prstGeom>
          <a:noFill/>
        </p:spPr>
        <p:txBody>
          <a:bodyPr wrap="square" anchor="t">
            <a:spAutoFit/>
          </a:bodyPr>
          <a:lstStyle/>
          <a:p>
            <a:pPr algn="l">
              <a:spcAft>
                <a:spcPts val="400"/>
              </a:spcAft>
            </a:pPr>
            <a:r>
              <a:rPr sz="1600" b="1">
                <a:solidFill>
                  <a:srgbClr val="5B6372"/>
                </a:solidFill>
                <a:latin typeface="Arial"/>
              </a:rPr>
              <a:t>INFORM AND MOVE ON</a:t>
            </a:r>
          </a:p>
        </p:txBody>
      </p:sp>
      <p:sp>
        <p:nvSpPr>
          <p:cNvPr id="21" name="TextBox 20"/>
          <p:cNvSpPr txBox="1"/>
          <p:nvPr/>
        </p:nvSpPr>
        <p:spPr>
          <a:xfrm>
            <a:off x="638251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influence, mild resistance. Standard communication cadence. Most of it dissolves once results appear.</a:t>
            </a:r>
          </a:p>
        </p:txBody>
      </p:sp>
      <p:sp>
        <p:nvSpPr>
          <p:cNvPr id="22" name="TextBox 21"/>
          <p:cNvSpPr txBox="1"/>
          <p:nvPr/>
        </p:nvSpPr>
        <p:spPr>
          <a:xfrm>
            <a:off x="2286000" y="5687567"/>
            <a:ext cx="7680960" cy="365760"/>
          </a:xfrm>
          <a:prstGeom prst="rect">
            <a:avLst/>
          </a:prstGeom>
          <a:noFill/>
        </p:spPr>
        <p:txBody>
          <a:bodyPr wrap="square" anchor="t">
            <a:spAutoFit/>
          </a:bodyPr>
          <a:lstStyle/>
          <a:p>
            <a:pPr algn="ctr">
              <a:spcAft>
                <a:spcPts val="400"/>
              </a:spcAft>
            </a:pPr>
            <a:r>
              <a:rPr sz="1300" b="1">
                <a:solidFill>
                  <a:srgbClr val="161B26"/>
                </a:solidFill>
                <a:latin typeface="Arial"/>
              </a:rPr>
              <a:t>Their influence  (low  -&gt;  high)</a:t>
            </a:r>
          </a:p>
        </p:txBody>
      </p:sp>
      <p:sp>
        <p:nvSpPr>
          <p:cNvPr id="23" name="TextBox 22"/>
          <p:cNvSpPr txBox="1"/>
          <p:nvPr/>
        </p:nvSpPr>
        <p:spPr>
          <a:xfrm>
            <a:off x="548640" y="3520439"/>
            <a:ext cx="1645920" cy="365760"/>
          </a:xfrm>
          <a:prstGeom prst="rect">
            <a:avLst/>
          </a:prstGeom>
          <a:noFill/>
        </p:spPr>
        <p:txBody>
          <a:bodyPr wrap="square" anchor="t">
            <a:spAutoFit/>
          </a:bodyPr>
          <a:lstStyle/>
          <a:p>
            <a:pPr algn="ctr">
              <a:spcAft>
                <a:spcPts val="400"/>
              </a:spcAft>
            </a:pPr>
            <a:r>
              <a:rPr sz="1300" b="1">
                <a:solidFill>
                  <a:srgbClr val="161B26"/>
                </a:solidFill>
                <a:latin typeface="Arial"/>
              </a:rPr>
              <a:t>Strength of resistance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BLACK BELT ONLY - CHANGE LEADERSHIP</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Six Sigma delivers a solution. Change leadership delivers the result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Two frameworks: ADKAR for the individual, Kotter for the organisation. You need both, and they operate at different levels.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ADKAR - the individual change sequence</a:t>
            </a:r>
          </a:p>
        </p:txBody>
      </p:sp>
      <p:sp>
        <p:nvSpPr>
          <p:cNvPr id="6" name="Rectangle 5"/>
          <p:cNvSpPr/>
          <p:nvPr/>
        </p:nvSpPr>
        <p:spPr>
          <a:xfrm>
            <a:off x="914400" y="3870473"/>
            <a:ext cx="1905609" cy="166164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870473"/>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4089929"/>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A - AWARENESS</a:t>
            </a:r>
          </a:p>
        </p:txBody>
      </p:sp>
      <p:sp>
        <p:nvSpPr>
          <p:cNvPr id="9" name="TextBox 8"/>
          <p:cNvSpPr txBox="1"/>
          <p:nvPr/>
        </p:nvSpPr>
        <p:spPr>
          <a:xfrm>
            <a:off x="1042416" y="4675145"/>
            <a:ext cx="1649577" cy="747247"/>
          </a:xfrm>
          <a:prstGeom prst="rect">
            <a:avLst/>
          </a:prstGeom>
          <a:noFill/>
        </p:spPr>
        <p:txBody>
          <a:bodyPr wrap="square" anchor="t">
            <a:spAutoFit/>
          </a:bodyPr>
          <a:lstStyle/>
          <a:p>
            <a:pPr algn="ctr">
              <a:spcAft>
                <a:spcPts val="400"/>
              </a:spcAft>
            </a:pPr>
            <a:r>
              <a:rPr sz="1100" b="0">
                <a:solidFill>
                  <a:srgbClr val="5B6372"/>
                </a:solidFill>
                <a:latin typeface="Arial"/>
              </a:rPr>
              <a:t>They know WHY the change is needed. Meridian: show the OTIF gap and the two accounts under review.</a:t>
            </a:r>
          </a:p>
        </p:txBody>
      </p:sp>
      <p:sp>
        <p:nvSpPr>
          <p:cNvPr id="10" name="Rectangle 9"/>
          <p:cNvSpPr/>
          <p:nvPr/>
        </p:nvSpPr>
        <p:spPr>
          <a:xfrm>
            <a:off x="3021177" y="3405775"/>
            <a:ext cx="1905609" cy="21263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021177" y="3405775"/>
            <a:ext cx="19056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130905" y="3625231"/>
            <a:ext cx="1686153" cy="548640"/>
          </a:xfrm>
          <a:prstGeom prst="rect">
            <a:avLst/>
          </a:prstGeom>
          <a:noFill/>
        </p:spPr>
        <p:txBody>
          <a:bodyPr wrap="square" anchor="t">
            <a:spAutoFit/>
          </a:bodyPr>
          <a:lstStyle/>
          <a:p>
            <a:pPr algn="ctr">
              <a:spcAft>
                <a:spcPts val="400"/>
              </a:spcAft>
            </a:pPr>
            <a:r>
              <a:rPr sz="1500" b="1">
                <a:solidFill>
                  <a:srgbClr val="10B981"/>
                </a:solidFill>
                <a:latin typeface="Arial"/>
              </a:rPr>
              <a:t>D - DESIRE</a:t>
            </a:r>
          </a:p>
        </p:txBody>
      </p:sp>
      <p:sp>
        <p:nvSpPr>
          <p:cNvPr id="13" name="TextBox 12"/>
          <p:cNvSpPr txBox="1"/>
          <p:nvPr/>
        </p:nvSpPr>
        <p:spPr>
          <a:xfrm>
            <a:off x="3149193" y="4210447"/>
            <a:ext cx="1649577" cy="1211945"/>
          </a:xfrm>
          <a:prstGeom prst="rect">
            <a:avLst/>
          </a:prstGeom>
          <a:noFill/>
        </p:spPr>
        <p:txBody>
          <a:bodyPr wrap="square" anchor="t">
            <a:spAutoFit/>
          </a:bodyPr>
          <a:lstStyle/>
          <a:p>
            <a:pPr algn="ctr">
              <a:spcAft>
                <a:spcPts val="400"/>
              </a:spcAft>
            </a:pPr>
            <a:r>
              <a:rPr sz="1100" b="0">
                <a:solidFill>
                  <a:srgbClr val="5B6372"/>
                </a:solidFill>
                <a:latin typeface="Arial"/>
              </a:rPr>
              <a:t>They personally choose to participate. Answer 'what is in it for me?' honestly.</a:t>
            </a:r>
          </a:p>
        </p:txBody>
      </p:sp>
      <p:sp>
        <p:nvSpPr>
          <p:cNvPr id="14" name="Rectangle 13"/>
          <p:cNvSpPr/>
          <p:nvPr/>
        </p:nvSpPr>
        <p:spPr>
          <a:xfrm>
            <a:off x="5127954" y="2941077"/>
            <a:ext cx="1905609" cy="25910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127954" y="2941077"/>
            <a:ext cx="1905609"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237682" y="3160533"/>
            <a:ext cx="1686153" cy="548640"/>
          </a:xfrm>
          <a:prstGeom prst="rect">
            <a:avLst/>
          </a:prstGeom>
          <a:noFill/>
        </p:spPr>
        <p:txBody>
          <a:bodyPr wrap="square" anchor="t">
            <a:spAutoFit/>
          </a:bodyPr>
          <a:lstStyle/>
          <a:p>
            <a:pPr algn="ctr">
              <a:spcAft>
                <a:spcPts val="400"/>
              </a:spcAft>
            </a:pPr>
            <a:r>
              <a:rPr sz="1500" b="1">
                <a:solidFill>
                  <a:srgbClr val="7C3AED"/>
                </a:solidFill>
                <a:latin typeface="Arial"/>
              </a:rPr>
              <a:t>K - KNOWLEDGE</a:t>
            </a:r>
          </a:p>
        </p:txBody>
      </p:sp>
      <p:sp>
        <p:nvSpPr>
          <p:cNvPr id="17" name="TextBox 16"/>
          <p:cNvSpPr txBox="1"/>
          <p:nvPr/>
        </p:nvSpPr>
        <p:spPr>
          <a:xfrm>
            <a:off x="5255970" y="3745749"/>
            <a:ext cx="1649577" cy="1676643"/>
          </a:xfrm>
          <a:prstGeom prst="rect">
            <a:avLst/>
          </a:prstGeom>
          <a:noFill/>
        </p:spPr>
        <p:txBody>
          <a:bodyPr wrap="square" anchor="t">
            <a:spAutoFit/>
          </a:bodyPr>
          <a:lstStyle/>
          <a:p>
            <a:pPr algn="ctr">
              <a:spcAft>
                <a:spcPts val="400"/>
              </a:spcAft>
            </a:pPr>
            <a:r>
              <a:rPr sz="1100" b="0">
                <a:solidFill>
                  <a:srgbClr val="5B6372"/>
                </a:solidFill>
                <a:latin typeface="Arial"/>
              </a:rPr>
              <a:t>They know HOW. Training on the new calibration standard and the escalation rule.</a:t>
            </a:r>
          </a:p>
        </p:txBody>
      </p:sp>
      <p:sp>
        <p:nvSpPr>
          <p:cNvPr id="18" name="Rectangle 17"/>
          <p:cNvSpPr/>
          <p:nvPr/>
        </p:nvSpPr>
        <p:spPr>
          <a:xfrm>
            <a:off x="7234731" y="2476379"/>
            <a:ext cx="1905609" cy="30557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234731" y="2476379"/>
            <a:ext cx="1905609"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44459" y="2695835"/>
            <a:ext cx="1686153" cy="548640"/>
          </a:xfrm>
          <a:prstGeom prst="rect">
            <a:avLst/>
          </a:prstGeom>
          <a:noFill/>
        </p:spPr>
        <p:txBody>
          <a:bodyPr wrap="square" anchor="t">
            <a:spAutoFit/>
          </a:bodyPr>
          <a:lstStyle/>
          <a:p>
            <a:pPr algn="ctr">
              <a:spcAft>
                <a:spcPts val="400"/>
              </a:spcAft>
            </a:pPr>
            <a:r>
              <a:rPr sz="1500" b="1">
                <a:solidFill>
                  <a:srgbClr val="F59E0B"/>
                </a:solidFill>
                <a:latin typeface="Arial"/>
              </a:rPr>
              <a:t>A - ABILITY</a:t>
            </a:r>
          </a:p>
        </p:txBody>
      </p:sp>
      <p:sp>
        <p:nvSpPr>
          <p:cNvPr id="21" name="TextBox 20"/>
          <p:cNvSpPr txBox="1"/>
          <p:nvPr/>
        </p:nvSpPr>
        <p:spPr>
          <a:xfrm>
            <a:off x="7362747" y="3281051"/>
            <a:ext cx="1649577" cy="2141341"/>
          </a:xfrm>
          <a:prstGeom prst="rect">
            <a:avLst/>
          </a:prstGeom>
          <a:noFill/>
        </p:spPr>
        <p:txBody>
          <a:bodyPr wrap="square" anchor="t">
            <a:spAutoFit/>
          </a:bodyPr>
          <a:lstStyle/>
          <a:p>
            <a:pPr algn="ctr">
              <a:spcAft>
                <a:spcPts val="400"/>
              </a:spcAft>
            </a:pPr>
            <a:r>
              <a:rPr sz="1100" b="0">
                <a:solidFill>
                  <a:srgbClr val="5B6372"/>
                </a:solidFill>
                <a:latin typeface="Arial"/>
              </a:rPr>
              <a:t>They can actually do it in the real environment, under time pressure, on night shift.</a:t>
            </a:r>
          </a:p>
        </p:txBody>
      </p:sp>
      <p:sp>
        <p:nvSpPr>
          <p:cNvPr id="22" name="Rectangle 21"/>
          <p:cNvSpPr/>
          <p:nvPr/>
        </p:nvSpPr>
        <p:spPr>
          <a:xfrm>
            <a:off x="9341508" y="2011680"/>
            <a:ext cx="1905609"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9341508" y="2011680"/>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451236" y="2231136"/>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R - REINFORCEMENT</a:t>
            </a:r>
          </a:p>
        </p:txBody>
      </p:sp>
      <p:sp>
        <p:nvSpPr>
          <p:cNvPr id="25" name="TextBox 24"/>
          <p:cNvSpPr txBox="1"/>
          <p:nvPr/>
        </p:nvSpPr>
        <p:spPr>
          <a:xfrm>
            <a:off x="9469524" y="2816352"/>
            <a:ext cx="1649577" cy="2606040"/>
          </a:xfrm>
          <a:prstGeom prst="rect">
            <a:avLst/>
          </a:prstGeom>
          <a:noFill/>
        </p:spPr>
        <p:txBody>
          <a:bodyPr wrap="square" anchor="t">
            <a:spAutoFit/>
          </a:bodyPr>
          <a:lstStyle/>
          <a:p>
            <a:pPr algn="ctr">
              <a:spcAft>
                <a:spcPts val="400"/>
              </a:spcAft>
            </a:pPr>
            <a:r>
              <a:rPr sz="1100" b="0">
                <a:solidFill>
                  <a:srgbClr val="5B6372"/>
                </a:solidFill>
                <a:latin typeface="Arial"/>
              </a:rPr>
              <a:t>It sticks. Audits, metrics on the board, recognition, and consequence for drift.</a:t>
            </a:r>
          </a:p>
        </p:txBody>
      </p:sp>
      <p:cxnSp>
        <p:nvCxnSpPr>
          <p:cNvPr id="26" name="Connector 25"/>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ADKAR is sequential. Diagnose which letter a person is stuck on - and fix THAT one only.</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Using ADKAR as a diagnostic, not a checklist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Stuck at Awareness</a:t>
            </a:r>
          </a:p>
          <a:p>
            <a:pPr algn="l">
              <a:spcAft>
                <a:spcPts val="300"/>
              </a:spcAft>
            </a:pPr>
            <a:r>
              <a:rPr sz="1200" b="0">
                <a:solidFill>
                  <a:srgbClr val="5B6372"/>
                </a:solidFill>
                <a:latin typeface="Arial"/>
              </a:rPr>
              <a:t>They say 'what problem?' Fix: share the customer verbatims and the OTIF trend, not the solution.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Stuck at Desire</a:t>
            </a:r>
          </a:p>
          <a:p>
            <a:pPr algn="l">
              <a:spcAft>
                <a:spcPts val="300"/>
              </a:spcAft>
            </a:pPr>
            <a:r>
              <a:rPr sz="1200" b="0">
                <a:solidFill>
                  <a:srgbClr val="5B6372"/>
                </a:solidFill>
                <a:latin typeface="Arial"/>
              </a:rPr>
              <a:t>They understand and still will not move. Fix: this is political. Negotiate, do not re-explain.</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Stuck at Knowledge</a:t>
            </a:r>
          </a:p>
          <a:p>
            <a:pPr algn="l">
              <a:spcAft>
                <a:spcPts val="300"/>
              </a:spcAft>
            </a:pPr>
            <a:r>
              <a:rPr sz="1200" b="0">
                <a:solidFill>
                  <a:srgbClr val="5B6372"/>
                </a:solidFill>
                <a:latin typeface="Arial"/>
              </a:rPr>
              <a:t>Willing but unsure how. Fix: training, work instructions, a job aid at the station.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Stuck at Ability</a:t>
            </a:r>
          </a:p>
          <a:p>
            <a:pPr algn="l">
              <a:spcAft>
                <a:spcPts val="300"/>
              </a:spcAft>
            </a:pPr>
            <a:r>
              <a:rPr sz="1200" b="0">
                <a:solidFill>
                  <a:srgbClr val="5B6372"/>
                </a:solidFill>
                <a:latin typeface="Arial"/>
              </a:rPr>
              <a:t>Trained but cannot perform in practice. Fix: coaching at the line, tooling, time, or workload relief.</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Stuck at Reinforcement</a:t>
            </a:r>
          </a:p>
          <a:p>
            <a:pPr algn="l">
              <a:spcAft>
                <a:spcPts val="300"/>
              </a:spcAft>
            </a:pPr>
            <a:r>
              <a:rPr sz="1200" b="0">
                <a:solidFill>
                  <a:srgbClr val="5B6372"/>
                </a:solidFill>
                <a:latin typeface="Arial"/>
              </a:rPr>
              <a:t>Did it for six weeks, then drifted. Fix: the Control plan and the response plan, not more training.</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Wrong fix, wasted effort</a:t>
            </a:r>
          </a:p>
          <a:p>
            <a:pPr algn="l">
              <a:spcAft>
                <a:spcPts val="300"/>
              </a:spcAft>
            </a:pPr>
            <a:r>
              <a:rPr sz="1200" b="0">
                <a:solidFill>
                  <a:srgbClr val="5B6372"/>
                </a:solidFill>
                <a:latin typeface="Arial"/>
              </a:rPr>
              <a:t>Training a person stuck on Desire is the classic and expensive Black Belt error.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Kotter's 8 steps - the organisational level</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1. Create urgency</a:t>
            </a:r>
          </a:p>
          <a:p>
            <a:pPr algn="l">
              <a:spcAft>
                <a:spcPts val="300"/>
              </a:spcAft>
            </a:pPr>
            <a:r>
              <a:rPr sz="1200" b="0">
                <a:solidFill>
                  <a:srgbClr val="5B6372"/>
                </a:solidFill>
                <a:latin typeface="Arial"/>
              </a:rPr>
              <a:t>Make the status quo feel more dangerous than the change. Two accounts under review does this.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2. Build a guiding coalition</a:t>
            </a:r>
          </a:p>
          <a:p>
            <a:pPr algn="l">
              <a:spcAft>
                <a:spcPts val="300"/>
              </a:spcAft>
            </a:pPr>
            <a:r>
              <a:rPr sz="1200" b="0">
                <a:solidFill>
                  <a:srgbClr val="5B6372"/>
                </a:solidFill>
                <a:latin typeface="Arial"/>
              </a:rPr>
              <a:t>Sponsor plus the three plant directors plus Finance. Authority AND credibility.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3. Form a strategic vision</a:t>
            </a:r>
          </a:p>
          <a:p>
            <a:pPr algn="l">
              <a:spcAft>
                <a:spcPts val="300"/>
              </a:spcAft>
            </a:pPr>
            <a:r>
              <a:rPr sz="1200" b="0">
                <a:solidFill>
                  <a:srgbClr val="5B6372"/>
                </a:solidFill>
                <a:latin typeface="Arial"/>
              </a:rPr>
              <a:t>'96 percent OTIF, every account, every month' - repeatable in one sentence.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4. Enlist a volunteer army</a:t>
            </a:r>
          </a:p>
          <a:p>
            <a:pPr algn="l">
              <a:spcAft>
                <a:spcPts val="300"/>
              </a:spcAft>
            </a:pPr>
            <a:r>
              <a:rPr sz="1200" b="0">
                <a:solidFill>
                  <a:srgbClr val="5B6372"/>
                </a:solidFill>
                <a:latin typeface="Arial"/>
              </a:rPr>
              <a:t>Green Belts and line champions at each plant carry it further than you can.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5. Enable action, remove barriers</a:t>
            </a:r>
          </a:p>
          <a:p>
            <a:pPr algn="l">
              <a:spcAft>
                <a:spcPts val="300"/>
              </a:spcAft>
            </a:pPr>
            <a:r>
              <a:rPr sz="1200" b="0">
                <a:solidFill>
                  <a:srgbClr val="5B6372"/>
                </a:solidFill>
                <a:latin typeface="Arial"/>
              </a:rPr>
              <a:t>Get the MES data access and the pilot line time authorised, in writing.</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6. Generate short-term wins</a:t>
            </a:r>
          </a:p>
          <a:p>
            <a:pPr algn="l">
              <a:spcAft>
                <a:spcPts val="300"/>
              </a:spcAft>
            </a:pPr>
            <a:r>
              <a:rPr sz="1200" b="0">
                <a:solidFill>
                  <a:srgbClr val="5B6372"/>
                </a:solidFill>
                <a:latin typeface="Arial"/>
              </a:rPr>
              <a:t>Penang line 2 pilot: FPY 92.4 to 96.1 in six weeks. Publish it everywhere.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Kotter steps 7 and 8 - where projects actually fail</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7. SUSTAIN ACCELERATION</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Do not declare victory early</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The pilot win is evidence, not completion</a:t>
            </a:r>
          </a:p>
          <a:p>
            <a:pPr>
              <a:spcAft>
                <a:spcPts val="700"/>
              </a:spcAft>
            </a:pPr>
            <a:r>
              <a:rPr sz="1200">
                <a:solidFill>
                  <a:srgbClr val="161B26"/>
                </a:solidFill>
                <a:latin typeface="Arial"/>
              </a:rPr>
              <a:t>•  Roll to Suzhou and Singapore lines next</a:t>
            </a:r>
          </a:p>
          <a:p>
            <a:pPr>
              <a:spcAft>
                <a:spcPts val="700"/>
              </a:spcAft>
            </a:pPr>
            <a:r>
              <a:rPr sz="1200">
                <a:solidFill>
                  <a:srgbClr val="161B26"/>
                </a:solidFill>
                <a:latin typeface="Arial"/>
              </a:rPr>
              <a:t>•  Keep the coalition meeting after the pilot</a:t>
            </a:r>
          </a:p>
          <a:p>
            <a:pPr>
              <a:spcAft>
                <a:spcPts val="700"/>
              </a:spcAft>
            </a:pPr>
            <a:r>
              <a:rPr sz="1200">
                <a:solidFill>
                  <a:srgbClr val="161B26"/>
                </a:solidFill>
                <a:latin typeface="Arial"/>
              </a:rPr>
              <a:t>•  Most programmes stop here and quietly decay</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8. INSTITUTE CHANGE</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Make it the new normal</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Rewrite the SOP and the training pack</a:t>
            </a:r>
          </a:p>
          <a:p>
            <a:pPr>
              <a:spcAft>
                <a:spcPts val="700"/>
              </a:spcAft>
            </a:pPr>
            <a:r>
              <a:rPr sz="1200">
                <a:solidFill>
                  <a:srgbClr val="161B26"/>
                </a:solidFill>
                <a:latin typeface="Arial"/>
              </a:rPr>
              <a:t>•  Put OTIF on the plant daily management board</a:t>
            </a:r>
          </a:p>
          <a:p>
            <a:pPr>
              <a:spcAft>
                <a:spcPts val="700"/>
              </a:spcAft>
            </a:pPr>
            <a:r>
              <a:rPr sz="1200">
                <a:solidFill>
                  <a:srgbClr val="161B26"/>
                </a:solidFill>
                <a:latin typeface="Arial"/>
              </a:rPr>
              <a:t>•  Build it into new-hire onboarding</a:t>
            </a:r>
          </a:p>
          <a:p>
            <a:pPr>
              <a:spcAft>
                <a:spcPts val="700"/>
              </a:spcAft>
            </a:pPr>
            <a:r>
              <a:rPr sz="1200">
                <a:solidFill>
                  <a:srgbClr val="161B26"/>
                </a:solidFill>
                <a:latin typeface="Arial"/>
              </a:rPr>
              <a:t>•  Change the metric people are measured on</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BLACK BELT ONLY - COMMUNICATION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Different audiences need different messages at different cadences</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communication plan is a table with five columns, and it is written in Define - not improvised in Improve when the resistance arrives.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five columns of a communication plan</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AUDIENCE - who exactly, by name or role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MESSAGE - what they need to know and to do</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CHANNEL - the medium that reaches them</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FREQUENCY - the cadence, fixed in advance</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OWNER - one named person, not 'the team'</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 the communication plan in practice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Steering committee</a:t>
            </a:r>
          </a:p>
          <a:p>
            <a:pPr algn="l">
              <a:spcAft>
                <a:spcPts val="300"/>
              </a:spcAft>
            </a:pPr>
            <a:r>
              <a:rPr sz="1200" b="0">
                <a:solidFill>
                  <a:srgbClr val="5B6372"/>
                </a:solidFill>
                <a:latin typeface="Arial"/>
              </a:rPr>
              <a:t>Benefit, risk, decisions needed. One-page pack plus 30-min review. Monthly. Owner: Black Belt.</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Plant directors</a:t>
            </a:r>
          </a:p>
          <a:p>
            <a:pPr algn="l">
              <a:spcAft>
                <a:spcPts val="300"/>
              </a:spcAft>
            </a:pPr>
            <a:r>
              <a:rPr sz="1200" b="0">
                <a:solidFill>
                  <a:srgbClr val="5B6372"/>
                </a:solidFill>
                <a:latin typeface="Arial"/>
              </a:rPr>
              <a:t>Site-level data, resource asks, what changes for them. Site visit. Fortnightly. Owner: sponsor.</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Line supervisors</a:t>
            </a:r>
          </a:p>
          <a:p>
            <a:pPr algn="l">
              <a:spcAft>
                <a:spcPts val="300"/>
              </a:spcAft>
            </a:pPr>
            <a:r>
              <a:rPr sz="1200" b="0">
                <a:solidFill>
                  <a:srgbClr val="5B6372"/>
                </a:solidFill>
                <a:latin typeface="Arial"/>
              </a:rPr>
              <a:t>What changes at the station and when. Shift huddle. Weekly. Owner: process owner.</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Operators (3 shifts)</a:t>
            </a:r>
          </a:p>
          <a:p>
            <a:pPr algn="l">
              <a:spcAft>
                <a:spcPts val="300"/>
              </a:spcAft>
            </a:pPr>
            <a:r>
              <a:rPr sz="1200" b="0">
                <a:solidFill>
                  <a:srgbClr val="5B6372"/>
                </a:solidFill>
                <a:latin typeface="Arial"/>
              </a:rPr>
              <a:t>The new standard, and why it matters to the patient. Board plus toolbox talk. Weekly.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Finance</a:t>
            </a:r>
          </a:p>
          <a:p>
            <a:pPr algn="l">
              <a:spcAft>
                <a:spcPts val="300"/>
              </a:spcAft>
            </a:pPr>
            <a:r>
              <a:rPr sz="1200" b="0">
                <a:solidFill>
                  <a:srgbClr val="5B6372"/>
                </a:solidFill>
                <a:latin typeface="Arial"/>
              </a:rPr>
              <a:t>Baseline method, benefit calculation, validation status. Working session. At each tollgate.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Customers (top 8)</a:t>
            </a:r>
          </a:p>
          <a:p>
            <a:pPr algn="l">
              <a:spcAft>
                <a:spcPts val="300"/>
              </a:spcAft>
            </a:pPr>
            <a:r>
              <a:rPr sz="1200" b="0">
                <a:solidFill>
                  <a:srgbClr val="5B6372"/>
                </a:solidFill>
                <a:latin typeface="Arial"/>
              </a:rPr>
              <a:t>Recovery plan and improvement trend, no internal detail. Account review. Quarterly.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BLACK BELT ONLY - MENTORING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You will coach two to four Green Belt charters while running your own</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temptation is to rewrite their charter for them. Do that once and you own their project forever. Coach with questions instead.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Green Belt Define mistakes to watch for</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Solution in disguise</a:t>
            </a:r>
          </a:p>
          <a:p>
            <a:pPr algn="l">
              <a:spcAft>
                <a:spcPts val="300"/>
              </a:spcAft>
            </a:pPr>
            <a:r>
              <a:rPr sz="1200" b="0">
                <a:solidFill>
                  <a:srgbClr val="5B6372"/>
                </a:solidFill>
                <a:latin typeface="Arial"/>
              </a:rPr>
              <a:t>'Implement a new scheduling system' is an answer, not a problem. Send them back to the data.</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Scope creep at birth</a:t>
            </a:r>
          </a:p>
          <a:p>
            <a:pPr algn="l">
              <a:spcAft>
                <a:spcPts val="300"/>
              </a:spcAft>
            </a:pPr>
            <a:r>
              <a:rPr sz="1200" b="0">
                <a:solidFill>
                  <a:srgbClr val="5B6372"/>
                </a:solidFill>
                <a:latin typeface="Arial"/>
              </a:rPr>
              <a:t>A charter covering three processes and two sites will finish none of them. Cut it on day one.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Unmeasurable CTQs</a:t>
            </a:r>
          </a:p>
          <a:p>
            <a:pPr algn="l">
              <a:spcAft>
                <a:spcPts val="300"/>
              </a:spcAft>
            </a:pPr>
            <a:r>
              <a:rPr sz="1200" b="0">
                <a:solidFill>
                  <a:srgbClr val="5B6372"/>
                </a:solidFill>
                <a:latin typeface="Arial"/>
              </a:rPr>
              <a:t>'Improve communication' has no metric, no target, no defect definition. It is not a CTQ.</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Cause in the problem statement</a:t>
            </a:r>
          </a:p>
          <a:p>
            <a:pPr algn="l">
              <a:spcAft>
                <a:spcPts val="300"/>
              </a:spcAft>
            </a:pPr>
            <a:r>
              <a:rPr sz="1200" b="0">
                <a:solidFill>
                  <a:srgbClr val="5B6372"/>
                </a:solidFill>
                <a:latin typeface="Arial"/>
              </a:rPr>
              <a:t>'Late because Suzhou is slow' pre-decides Analyze and biases every subsequent step.</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Baseline taken on faith</a:t>
            </a:r>
          </a:p>
          <a:p>
            <a:pPr algn="l">
              <a:spcAft>
                <a:spcPts val="300"/>
              </a:spcAft>
            </a:pPr>
            <a:r>
              <a:rPr sz="1200" b="0">
                <a:solidFill>
                  <a:srgbClr val="5B6372"/>
                </a:solidFill>
                <a:latin typeface="Arial"/>
              </a:rPr>
              <a:t>The system report has never been validated. Measure will move the baseline - warn them now.</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No sponsor, or the wrong one</a:t>
            </a:r>
          </a:p>
          <a:p>
            <a:pPr algn="l">
              <a:spcAft>
                <a:spcPts val="300"/>
              </a:spcAft>
            </a:pPr>
            <a:r>
              <a:rPr sz="1200" b="0">
                <a:solidFill>
                  <a:srgbClr val="5B6372"/>
                </a:solidFill>
                <a:latin typeface="Arial"/>
              </a:rPr>
              <a:t>If the sponsor cannot authorise the change to the process, they are not the sponsor.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Coaching by question, not by correction</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INSTEAD OF TELLING</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You own it the moment you write it</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'Your problem statement is wrong.'</a:t>
            </a:r>
          </a:p>
          <a:p>
            <a:pPr>
              <a:spcAft>
                <a:spcPts val="700"/>
              </a:spcAft>
            </a:pPr>
            <a:r>
              <a:rPr sz="1200">
                <a:solidFill>
                  <a:srgbClr val="161B26"/>
                </a:solidFill>
                <a:latin typeface="Arial"/>
              </a:rPr>
              <a:t>•  'Change the target to 96 percent.'</a:t>
            </a:r>
          </a:p>
          <a:p>
            <a:pPr>
              <a:spcAft>
                <a:spcPts val="700"/>
              </a:spcAft>
            </a:pPr>
            <a:r>
              <a:rPr sz="1200">
                <a:solidFill>
                  <a:srgbClr val="161B26"/>
                </a:solidFill>
                <a:latin typeface="Arial"/>
              </a:rPr>
              <a:t>•  'Take Suzhou out of scope.'</a:t>
            </a:r>
          </a:p>
          <a:p>
            <a:pPr>
              <a:spcAft>
                <a:spcPts val="700"/>
              </a:spcAft>
            </a:pPr>
            <a:r>
              <a:rPr sz="1200">
                <a:solidFill>
                  <a:srgbClr val="161B26"/>
                </a:solidFill>
                <a:latin typeface="Arial"/>
              </a:rPr>
              <a:t>•  'Here, I have rewritten it for you.'</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ASK</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They own it, and they learn</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'How would you prove that gap to Finance?'</a:t>
            </a:r>
          </a:p>
          <a:p>
            <a:pPr>
              <a:spcAft>
                <a:spcPts val="700"/>
              </a:spcAft>
            </a:pPr>
            <a:r>
              <a:rPr sz="1200">
                <a:solidFill>
                  <a:srgbClr val="161B26"/>
                </a:solidFill>
                <a:latin typeface="Arial"/>
              </a:rPr>
              <a:t>•  'What does one defect look like, exactly?'</a:t>
            </a:r>
          </a:p>
          <a:p>
            <a:pPr>
              <a:spcAft>
                <a:spcPts val="700"/>
              </a:spcAft>
            </a:pPr>
            <a:r>
              <a:rPr sz="1200">
                <a:solidFill>
                  <a:srgbClr val="161B26"/>
                </a:solidFill>
                <a:latin typeface="Arial"/>
              </a:rPr>
              <a:t>•  'Which part of this could you finish in 90 days?'</a:t>
            </a:r>
          </a:p>
          <a:p>
            <a:pPr>
              <a:spcAft>
                <a:spcPts val="700"/>
              </a:spcAft>
            </a:pPr>
            <a:r>
              <a:rPr sz="1200">
                <a:solidFill>
                  <a:srgbClr val="161B26"/>
                </a:solidFill>
                <a:latin typeface="Arial"/>
              </a:rPr>
              <a:t>•  'Who has to agree, and have you asked them?'</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Define tollgate checklist you will apply</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VOC evidence exists</a:t>
            </a:r>
          </a:p>
          <a:p>
            <a:pPr algn="l">
              <a:spcAft>
                <a:spcPts val="300"/>
              </a:spcAft>
            </a:pPr>
            <a:r>
              <a:rPr sz="1200" b="0">
                <a:solidFill>
                  <a:srgbClr val="5B6372"/>
                </a:solidFill>
                <a:latin typeface="Arial"/>
              </a:rPr>
              <a:t>Real verbatims, segmented, from more than one channel. Not the team's opinion.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CTQs are measurable</a:t>
            </a:r>
          </a:p>
          <a:p>
            <a:pPr algn="l">
              <a:spcAft>
                <a:spcPts val="300"/>
              </a:spcAft>
            </a:pPr>
            <a:r>
              <a:rPr sz="1200" b="0">
                <a:solidFill>
                  <a:srgbClr val="5B6372"/>
                </a:solidFill>
                <a:latin typeface="Arial"/>
              </a:rPr>
              <a:t>Metric, operational definition, target, spec limits, defect definition, data source.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Flowdown reconciles</a:t>
            </a:r>
          </a:p>
          <a:p>
            <a:pPr algn="l">
              <a:spcAft>
                <a:spcPts val="300"/>
              </a:spcAft>
            </a:pPr>
            <a:r>
              <a:rPr sz="1200" b="0">
                <a:solidFill>
                  <a:srgbClr val="5B6372"/>
                </a:solidFill>
                <a:latin typeface="Arial"/>
              </a:rPr>
              <a:t>The business Y decomposes arithmetically to the Xs the team proposes to work 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Charter passes all four tests</a:t>
            </a:r>
          </a:p>
          <a:p>
            <a:pPr algn="l">
              <a:spcAft>
                <a:spcPts val="300"/>
              </a:spcAft>
            </a:pPr>
            <a:r>
              <a:rPr sz="1200" b="0">
                <a:solidFill>
                  <a:srgbClr val="5B6372"/>
                </a:solidFill>
                <a:latin typeface="Arial"/>
              </a:rPr>
              <a:t>Problem is testable, goal is SMART, scope is bounded, business case is Finance-validated.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Stakeholders are mapped</a:t>
            </a:r>
          </a:p>
          <a:p>
            <a:pPr algn="l">
              <a:spcAft>
                <a:spcPts val="300"/>
              </a:spcAft>
            </a:pPr>
            <a:r>
              <a:rPr sz="1200" b="0">
                <a:solidFill>
                  <a:srgbClr val="5B6372"/>
                </a:solidFill>
                <a:latin typeface="Arial"/>
              </a:rPr>
              <a:t>Every high-influence, low-support person has a named owner and a dated action.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Sponsor has decided</a:t>
            </a:r>
          </a:p>
          <a:p>
            <a:pPr algn="l">
              <a:spcAft>
                <a:spcPts val="300"/>
              </a:spcAft>
            </a:pPr>
            <a:r>
              <a:rPr sz="1200" b="0">
                <a:solidFill>
                  <a:srgbClr val="5B6372"/>
                </a:solidFill>
                <a:latin typeface="Arial"/>
              </a:rPr>
              <a:t>An explicit, recorded go, adjust or kill. Not 'looks good, carry 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DEFINE - CLOSE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If Define is wrong, everything downstream is precisely wrong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You can run flawless statistics on the wrong Y and deliver nothing. Spend the time here, negotiate hard, and be willing to recommend that the project should not run at all.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Define</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749808"/>
          </a:xfrm>
          <a:prstGeom prst="rect">
            <a:avLst/>
          </a:prstGeom>
          <a:noFill/>
        </p:spPr>
        <p:txBody>
          <a:bodyPr wrap="square" anchor="ctr">
            <a:spAutoFit/>
          </a:bodyPr>
          <a:lstStyle/>
          <a:p>
            <a:pPr algn="l">
              <a:spcAft>
                <a:spcPts val="300"/>
              </a:spcAft>
            </a:pPr>
            <a:r>
              <a:rPr sz="1500" b="1">
                <a:solidFill>
                  <a:srgbClr val="161B26"/>
                </a:solidFill>
                <a:latin typeface="Arial"/>
              </a:rPr>
              <a:t>Lab 4 — Voice of the Customer, Affinity and Kano — In Depth</a:t>
            </a:r>
          </a:p>
          <a:p>
            <a:pPr algn="l">
              <a:spcAft>
                <a:spcPts val="300"/>
              </a:spcAft>
            </a:pPr>
            <a:r>
              <a:rPr sz="1100" b="0">
                <a:solidFill>
                  <a:srgbClr val="5B6372"/>
                </a:solidFill>
                <a:latin typeface="Arial"/>
              </a:rPr>
              <a:t>A VOC log, an affinity diagram and a Kano classification for your capstone…  •  Data: lab-04-voc-affinity-kano.xlsx</a:t>
            </a:r>
          </a:p>
        </p:txBody>
      </p:sp>
      <p:sp>
        <p:nvSpPr>
          <p:cNvPr id="11" name="Rectangle 10"/>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312724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3044952"/>
            <a:ext cx="9482328" cy="749808"/>
          </a:xfrm>
          <a:prstGeom prst="rect">
            <a:avLst/>
          </a:prstGeom>
          <a:noFill/>
        </p:spPr>
        <p:txBody>
          <a:bodyPr wrap="square" anchor="ctr">
            <a:spAutoFit/>
          </a:bodyPr>
          <a:lstStyle/>
          <a:p>
            <a:pPr algn="l">
              <a:spcAft>
                <a:spcPts val="300"/>
              </a:spcAft>
            </a:pPr>
            <a:r>
              <a:rPr sz="1500" b="1">
                <a:solidFill>
                  <a:srgbClr val="161B26"/>
                </a:solidFill>
                <a:latin typeface="Arial"/>
              </a:rPr>
              <a:t>Lab 5 — CTQ Trees and CTQ Flowdown to Controllable Xs</a:t>
            </a:r>
          </a:p>
          <a:p>
            <a:pPr algn="l">
              <a:spcAft>
                <a:spcPts val="300"/>
              </a:spcAft>
            </a:pPr>
            <a:r>
              <a:rPr sz="1100" b="0">
                <a:solidFill>
                  <a:srgbClr val="5B6372"/>
                </a:solidFill>
                <a:latin typeface="Arial"/>
              </a:rPr>
              <a:t>A CTQ tree with targets and specification limits, plus a flowdown to controllable…  •  Data: lab-05-ctq-tree-flowdown.xlsx</a:t>
            </a:r>
          </a:p>
        </p:txBody>
      </p:sp>
      <p:sp>
        <p:nvSpPr>
          <p:cNvPr id="16" name="Rectangle 15"/>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27939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9482328" cy="749808"/>
          </a:xfrm>
          <a:prstGeom prst="rect">
            <a:avLst/>
          </a:prstGeom>
          <a:noFill/>
        </p:spPr>
        <p:txBody>
          <a:bodyPr wrap="square" anchor="ctr">
            <a:spAutoFit/>
          </a:bodyPr>
          <a:lstStyle/>
          <a:p>
            <a:pPr algn="l">
              <a:spcAft>
                <a:spcPts val="300"/>
              </a:spcAft>
            </a:pPr>
            <a:r>
              <a:rPr sz="1500" b="1">
                <a:solidFill>
                  <a:srgbClr val="161B26"/>
                </a:solidFill>
                <a:latin typeface="Arial"/>
              </a:rPr>
              <a:t>Lab 6 — SIPOC, Process Mapping and Scope Governance</a:t>
            </a:r>
          </a:p>
          <a:p>
            <a:pPr algn="l">
              <a:spcAft>
                <a:spcPts val="300"/>
              </a:spcAft>
            </a:pPr>
            <a:r>
              <a:rPr sz="1100" b="0">
                <a:solidFill>
                  <a:srgbClr val="5B6372"/>
                </a:solidFill>
                <a:latin typeface="Arial"/>
              </a:rPr>
              <a:t>A SIPOC, a detailed swimlane process map and a documented scope boundary.  •  Data: lab-06-sipoc-process-map.xlsx</a:t>
            </a:r>
          </a:p>
        </p:txBody>
      </p:sp>
      <p:sp>
        <p:nvSpPr>
          <p:cNvPr id="21" name="Rectangle 20"/>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5349240"/>
            <a:ext cx="9482328" cy="749808"/>
          </a:xfrm>
          <a:prstGeom prst="rect">
            <a:avLst/>
          </a:prstGeom>
          <a:noFill/>
        </p:spPr>
        <p:txBody>
          <a:bodyPr wrap="square" anchor="ctr">
            <a:spAutoFit/>
          </a:bodyPr>
          <a:lstStyle/>
          <a:p>
            <a:pPr algn="l">
              <a:spcAft>
                <a:spcPts val="300"/>
              </a:spcAft>
            </a:pPr>
            <a:r>
              <a:rPr sz="1500" b="1">
                <a:solidFill>
                  <a:srgbClr val="161B26"/>
                </a:solidFill>
                <a:latin typeface="Arial"/>
              </a:rPr>
              <a:t>Lab 7 — Stakeholder Analysis, Resistance Management and Change Leadership</a:t>
            </a:r>
          </a:p>
          <a:p>
            <a:pPr algn="l">
              <a:spcAft>
                <a:spcPts val="300"/>
              </a:spcAft>
            </a:pPr>
            <a:r>
              <a:rPr sz="1100" b="0">
                <a:solidFill>
                  <a:srgbClr val="5B6372"/>
                </a:solidFill>
                <a:latin typeface="Arial"/>
              </a:rPr>
              <a:t>A stakeholder influence/support map, a resistance diagnosis and an ADKAR change…  •  Data: lab-07-stakeholder-analysis.xlsx</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Voice of the Customer, Affinity and Kano — In Depth</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A full re-derivation of VOC, affinity clustering and Kano classification — taught to the depth at which you could run this session yourself for a Green Belt team. Then apply all three to your own capstone process.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VOC log, an affinity diagram and a Kano classification for your capstone customers.</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Reactive &amp; proactive VOC, verbatim capture, affinity clustering, Kano model, customer segmentation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Voice of the Customer, Affinity and…</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Voice of the Customer, Affinity and Kano — In Depth</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9</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the VOC sources in full: reactive (complaints, returns, warranty, escalations, social) and proactive (interviews, surveys, gemba, observation).</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Segment your capstone customers — internal and external. Different segments will give contradictory VOC, and that contradiction is itself data.</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Collect at least fifteen verbatim statements about your capstone process. Use the customer's own words; do not summarise them into your own.</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affinity diagram method: silent clustering first to avoid anchoring on the loudest voice, then name the clusters by consensus.</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Build the affinity diagram for your verbatims. Aim for five to eight named themes.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Voice of the Customer, Affinity and…</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Voice of the Customer, Affinity and Kano — In Depth</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6-9 OF 9</a:t>
            </a:r>
          </a:p>
        </p:txBody>
      </p:sp>
      <p:sp>
        <p:nvSpPr>
          <p:cNvPr id="7" name="Rectangle 6"/>
          <p:cNvSpPr/>
          <p:nvPr/>
        </p:nvSpPr>
        <p:spPr>
          <a:xfrm>
            <a:off x="777240" y="212140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3351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3351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Recap the Kano model in full: Must-Be, One-Dimensional, Delighter, Indifferent and Reverse — and how categories migrate over time as delighters become expectations.</a:t>
            </a:r>
          </a:p>
        </p:txBody>
      </p:sp>
      <p:sp>
        <p:nvSpPr>
          <p:cNvPr id="12" name="Rectangle 11"/>
          <p:cNvSpPr/>
          <p:nvPr/>
        </p:nvSpPr>
        <p:spPr>
          <a:xfrm>
            <a:off x="777240" y="315239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15239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36613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36613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20725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Classify each affinity theme against Kano. Note explicitly that Must-Be requirements can only ever cause dissatisfaction, never satisfaction.</a:t>
            </a:r>
          </a:p>
        </p:txBody>
      </p:sp>
      <p:sp>
        <p:nvSpPr>
          <p:cNvPr id="17" name="Rectangle 16"/>
          <p:cNvSpPr/>
          <p:nvPr/>
        </p:nvSpPr>
        <p:spPr>
          <a:xfrm>
            <a:off x="777240" y="418337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418337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439711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439711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423824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Identify the one or two themes that most drive your project Y, and record them as your CTQ candidates for the next lab.</a:t>
            </a:r>
          </a:p>
        </p:txBody>
      </p:sp>
      <p:sp>
        <p:nvSpPr>
          <p:cNvPr id="22" name="Rectangle 21"/>
          <p:cNvSpPr/>
          <p:nvPr/>
        </p:nvSpPr>
        <p:spPr>
          <a:xfrm>
            <a:off x="777240" y="521436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521436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542810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542810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526922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Note how you would coach a Green Belt through this exercise — what mistake would you expect them to make?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Voice of the Customer, Affinity and Kano — In Depth</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fifteen or more verbatims, every verbatim sits in a named affinity cluster, every cluster carries a Kano classification, and your CTQ candidates trace to specific verbatims.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CTQ Trees and CTQ Flowdown to Controllable Xs</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A customer need is not measurable; a CTQ is. Re-derive the CTQ tree in full, then go beyond Green Belt with CTQ FLOWDOWN — cascading a business-level Y through sub-Ys until you reach process Xs a team can actually control.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CTQ tree with targets and specification limits, plus a flowdown to controllable Xs.</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CTQ tree, need-driver-requirement, operational definitions, specification limits, Y-to-X cascade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CTQ Trees and CTQ Flowdown 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CTQ Trees and CTQ Flowdown to Controllable Xs</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9</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the CTQ tree structure in full: Need -&gt; Drivers -&gt; Measurable Requirements, with each level more specific than the last.</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Take your top VOC theme and drive it down: what is the need, what drives it, and what specifically must be measured?</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For each CTQ, write a complete operational definition — what is measured, by whom, with what instrument, at what point, and what counts as a defect.</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Set the target, the upper and lower specification limits, and the defect definition for each CTQ. A CTQ without limits cannot generate a defect count.</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Verify each CTQ against the customer: would they agree this number represents what they asked for?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CTQ Trees and CTQ Flowdown 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CTQ Trees and CTQ Flowdown to Controllable Xs</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6-9 OF 9</a:t>
            </a:r>
          </a:p>
        </p:txBody>
      </p:sp>
      <p:sp>
        <p:nvSpPr>
          <p:cNvPr id="7" name="Rectangle 6"/>
          <p:cNvSpPr/>
          <p:nvPr/>
        </p:nvSpPr>
        <p:spPr>
          <a:xfrm>
            <a:off x="777240" y="212140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3351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3351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Now flow down. Write your business-level Y (e.g. OTIF percentage) at the top of a cascade diagram.</a:t>
            </a:r>
          </a:p>
        </p:txBody>
      </p:sp>
      <p:sp>
        <p:nvSpPr>
          <p:cNvPr id="12" name="Rectangle 11"/>
          <p:cNvSpPr/>
          <p:nvPr/>
        </p:nvSpPr>
        <p:spPr>
          <a:xfrm>
            <a:off x="777240" y="315239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15239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36613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36613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20725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Break that Y into sub-Ys — the process-level outputs that roll up into it (pick accuracy, line yield, changeover time, carrier dwell).</a:t>
            </a:r>
          </a:p>
        </p:txBody>
      </p:sp>
      <p:sp>
        <p:nvSpPr>
          <p:cNvPr id="17" name="Rectangle 16"/>
          <p:cNvSpPr/>
          <p:nvPr/>
        </p:nvSpPr>
        <p:spPr>
          <a:xfrm>
            <a:off x="777240" y="418337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418337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439711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439711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423824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Break each sub-Y into the Xs that drive it. Continue until you reach Xs a team can directly control or experiment on.</a:t>
            </a:r>
          </a:p>
        </p:txBody>
      </p:sp>
      <p:sp>
        <p:nvSpPr>
          <p:cNvPr id="22" name="Rectangle 21"/>
          <p:cNvSpPr/>
          <p:nvPr/>
        </p:nvSpPr>
        <p:spPr>
          <a:xfrm>
            <a:off x="777240" y="521436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521436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542810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542810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526922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Mark on the cascade which Xs you will measure in Day 2, test statistically in Day 3, and experiment on in Day 4.</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CTQ Trees and CTQ Flowdown to Controllable Xs</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CTQ has an operational definition, a target and specification limits, and your flowdown reaches at least one layer of Xs that are directly controllable and testable.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and Scope Governance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Re-derive SIPOC and detailed process mapping in full, then apply them to bound your capstone. Scope creep kills more Black Belt projects than bad statistics — this lab builds the map that makes scope arguments objective.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SIPOC, a detailed swimlane process map and a documented scope boundary.</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SIPOC, process boundaries, swimlane mapping, handoff analysis, rework loops, scope control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SIPOC, Process Mapping and Scope…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and Scope Governance</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9</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SIPOC in full: Suppliers, Inputs, Process, Outputs, Customers — and why it is built right-to-left, starting from the customer.</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5532120" cy="568756"/>
          </a:xfrm>
          <a:prstGeom prst="rect">
            <a:avLst/>
          </a:prstGeom>
          <a:noFill/>
        </p:spPr>
        <p:txBody>
          <a:bodyPr wrap="square" anchor="ctr">
            <a:spAutoFit/>
          </a:bodyPr>
          <a:lstStyle/>
          <a:p>
            <a:pPr algn="l">
              <a:spcAft>
                <a:spcPts val="400"/>
              </a:spcAft>
            </a:pPr>
            <a:r>
              <a:rPr sz="1300" b="0">
                <a:solidFill>
                  <a:srgbClr val="161B26"/>
                </a:solidFill>
                <a:latin typeface="Arial"/>
              </a:rPr>
              <a:t>Open the online SIPOC tool and build the SIPOC for your capstone process at five to seven high-level steps. Agree the first and last step explicitly — that IS your scope.</a:t>
            </a:r>
          </a:p>
        </p:txBody>
      </p:sp>
      <p:sp>
        <p:nvSpPr>
          <p:cNvPr id="17" name="Rectangle 16"/>
          <p:cNvSpPr/>
          <p:nvPr/>
        </p:nvSpPr>
        <p:spPr>
          <a:xfrm>
            <a:off x="7360920" y="3055924"/>
            <a:ext cx="3931920" cy="45902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488936" y="3055924"/>
            <a:ext cx="3675887" cy="459028"/>
          </a:xfrm>
          <a:prstGeom prst="rect">
            <a:avLst/>
          </a:prstGeom>
          <a:noFill/>
        </p:spPr>
        <p:txBody>
          <a:bodyPr wrap="square" anchor="ctr">
            <a:spAutoFit/>
          </a:bodyPr>
          <a:lstStyle/>
          <a:p>
            <a:pPr algn="l">
              <a:spcAft>
                <a:spcPts val="400"/>
              </a:spcAft>
            </a:pPr>
            <a:r>
              <a:rPr sz="1000" b="0">
                <a:solidFill>
                  <a:srgbClr val="9CDCFE"/>
                </a:solidFill>
                <a:latin typeface="Arial"/>
              </a:rPr>
              <a:t>https://alfredang.github.io/sipoc/</a:t>
            </a:r>
          </a:p>
        </p:txBody>
      </p:sp>
      <p:sp>
        <p:nvSpPr>
          <p:cNvPr id="19" name="Rectangle 18"/>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3" name="TextBox 22"/>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process mapping symbols and conventions, and the difference between as-is and to-be maps.</a:t>
            </a:r>
          </a:p>
        </p:txBody>
      </p:sp>
      <p:sp>
        <p:nvSpPr>
          <p:cNvPr id="24" name="Rectangle 23"/>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8" name="TextBox 27"/>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Build a detailed swimlane map of your capstone process, with one lane per role or function.</a:t>
            </a:r>
          </a:p>
        </p:txBody>
      </p:sp>
      <p:sp>
        <p:nvSpPr>
          <p:cNvPr id="29" name="Rectangle 28"/>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3" name="TextBox 32"/>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Mark every handoff between lanes. Handoffs are where defects, delays and ownership gaps concentrate.</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SIPOC, Process Mapping and Scope…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and Scope Governance</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6-9 OF 9</a:t>
            </a:r>
          </a:p>
        </p:txBody>
      </p:sp>
      <p:sp>
        <p:nvSpPr>
          <p:cNvPr id="7" name="Rectangle 6"/>
          <p:cNvSpPr/>
          <p:nvPr/>
        </p:nvSpPr>
        <p:spPr>
          <a:xfrm>
            <a:off x="777240" y="212140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3351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3351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Mark every decision point, inspection, rework loop and queue. Count the rework loops — each is a hidden factory.</a:t>
            </a:r>
          </a:p>
        </p:txBody>
      </p:sp>
      <p:sp>
        <p:nvSpPr>
          <p:cNvPr id="12" name="Rectangle 11"/>
          <p:cNvSpPr/>
          <p:nvPr/>
        </p:nvSpPr>
        <p:spPr>
          <a:xfrm>
            <a:off x="777240" y="315239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15239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36613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36613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20725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Walk the process physically or through the system (gemba) and correct the map. The map in your head is never the map in reality.</a:t>
            </a:r>
          </a:p>
        </p:txBody>
      </p:sp>
      <p:sp>
        <p:nvSpPr>
          <p:cNvPr id="17" name="Rectangle 16"/>
          <p:cNvSpPr/>
          <p:nvPr/>
        </p:nvSpPr>
        <p:spPr>
          <a:xfrm>
            <a:off x="777240" y="418337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418337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439711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439711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423824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Compare your map against the charter scope. Anything on the map outside the scope boundary must be explicitly marked out-of-scope.</a:t>
            </a:r>
          </a:p>
        </p:txBody>
      </p:sp>
      <p:sp>
        <p:nvSpPr>
          <p:cNvPr id="22" name="Rectangle 21"/>
          <p:cNvSpPr/>
          <p:nvPr/>
        </p:nvSpPr>
        <p:spPr>
          <a:xfrm>
            <a:off x="777240" y="521436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521436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542810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542810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526922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Record the three questions you will ask when someone proposes expanding the scope mid-project.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and Scope Governance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SIPOC's first and last steps match your charter scope exactly, your swimlane map marks every handoff and rework loop, and the map has been validated by walking the actual process.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Stakeholder Analysis, Resistance Management and Change Leadership</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Black Belt projects fail on people far more often than on statistics. Map influence against support, diagnose resistance by type, and build an ADKAR-based change plan. This is Black-Belt-only material — the Green Belt course stops at RACI.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stakeholder influence/support map, a resistance diagnosis and an ADKAR change plan.</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Stakeholder mapping, RACI, influence-support grid, resistance types, ADKAR, Kotter, communication plan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Stakeholder Analysis, Resistance…</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Stakeholder Analysis, Resistance Management and Change Leadership</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9</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List every stakeholder in your capstone: sponsor, process owner, operators, support functions, customers, finance, and anyone who can veto.</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Build the RACI for your project — Responsible, Accountable, Consulted, Informed — and check there is exactly one Accountable per deliverable.</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Plot each stakeholder on an influence (high/low) versus support (supportive/neutral/resistant) grid.</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For every high-influence, low-support stakeholder, write a specific named action. 'Communicate more' is not an action.</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Diagnose resistance type for each resistant stakeholder: technical (they doubt the solution), political (they lose something), or cultural (it conflicts with how things are done).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Stakeholder Analysis, Resistance…</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Stakeholder Analysis, Resistance Management and Change Leadership</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6-9 OF 9</a:t>
            </a:r>
          </a:p>
        </p:txBody>
      </p:sp>
      <p:sp>
        <p:nvSpPr>
          <p:cNvPr id="7" name="Rectangle 6"/>
          <p:cNvSpPr/>
          <p:nvPr/>
        </p:nvSpPr>
        <p:spPr>
          <a:xfrm>
            <a:off x="777240" y="212140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3351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3351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Match the response to the type — technical resistance needs evidence, political needs negotiation, cultural needs leadership modelling.</a:t>
            </a:r>
          </a:p>
        </p:txBody>
      </p:sp>
      <p:sp>
        <p:nvSpPr>
          <p:cNvPr id="12" name="Rectangle 11"/>
          <p:cNvSpPr/>
          <p:nvPr/>
        </p:nvSpPr>
        <p:spPr>
          <a:xfrm>
            <a:off x="777240" y="315239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15239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36613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36613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20725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Build an ADKAR plan: how will you create Awareness, Desire, Knowledge, Ability and Reinforcement across the project life?</a:t>
            </a:r>
          </a:p>
        </p:txBody>
      </p:sp>
      <p:sp>
        <p:nvSpPr>
          <p:cNvPr id="17" name="Rectangle 16"/>
          <p:cNvSpPr/>
          <p:nvPr/>
        </p:nvSpPr>
        <p:spPr>
          <a:xfrm>
            <a:off x="777240" y="418337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418337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439711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439711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423824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Write the communication plan: audience, message, channel, frequency and owner. Sponsors, operators and customers need different messages.</a:t>
            </a:r>
          </a:p>
        </p:txBody>
      </p:sp>
      <p:sp>
        <p:nvSpPr>
          <p:cNvPr id="22" name="Rectangle 21"/>
          <p:cNvSpPr/>
          <p:nvPr/>
        </p:nvSpPr>
        <p:spPr>
          <a:xfrm>
            <a:off x="777240" y="521436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521436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542810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542810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526922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Identify the single stakeholder most likely to derail your capstone, and write your specific mitigation.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Stakeholder Analysis, Resistance Management and Change Leadership</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stakeholder is plotted on the influence/support grid, every high-influence resistor has a named action matched to a diagnosed resistance type, and your ADKAR plan covers all five elements.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Define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400">
                <a:solidFill>
                  <a:srgbClr val="161B26"/>
                </a:solidFill>
                <a:latin typeface="Arial"/>
              </a:rPr>
              <a:t>•  VOC, affinity and Kano — in depth — Re-derive VOC capture, affinity clustering and Kano classification in full — you must be able to teach these, not just use them.</a:t>
            </a:r>
          </a:p>
          <a:p>
            <a:pPr>
              <a:spcAft>
                <a:spcPts val="1000"/>
              </a:spcAft>
            </a:pPr>
            <a:r>
              <a:rPr sz="1400">
                <a:solidFill>
                  <a:srgbClr val="161B26"/>
                </a:solidFill>
                <a:latin typeface="Arial"/>
              </a:rPr>
              <a:t>•  CTQ trees — in depth — Build the CTQ tree from need to driver to measurable requirement, with targets, specification limits and defect definitions.</a:t>
            </a:r>
          </a:p>
          <a:p>
            <a:pPr>
              <a:spcAft>
                <a:spcPts val="1000"/>
              </a:spcAft>
            </a:pPr>
            <a:r>
              <a:rPr sz="1400">
                <a:solidFill>
                  <a:srgbClr val="161B26"/>
                </a:solidFill>
                <a:latin typeface="Arial"/>
              </a:rPr>
              <a:t>•  CTQ flowdown — Cascade a business-level Y down through sub-Ys to the process Xs a team can actually control.</a:t>
            </a:r>
          </a:p>
          <a:p>
            <a:pPr>
              <a:spcAft>
                <a:spcPts val="1000"/>
              </a:spcAft>
            </a:pPr>
            <a:r>
              <a:rPr sz="1400">
                <a:solidFill>
                  <a:srgbClr val="161B26"/>
                </a:solidFill>
                <a:latin typeface="Arial"/>
              </a:rPr>
              <a:t>•  Charter governance — The charter is a living contract — re-baselined at each tollgate, not written once and filed.</a:t>
            </a:r>
          </a:p>
          <a:p>
            <a:pPr>
              <a:spcAft>
                <a:spcPts val="1000"/>
              </a:spcAft>
            </a:pPr>
            <a:r>
              <a:rPr sz="1400">
                <a:solidFill>
                  <a:srgbClr val="161B26"/>
                </a:solidFill>
                <a:latin typeface="Arial"/>
              </a:rPr>
              <a:t>•  Stakeholder analysis — Map influence against support, then plan a specific move for every high-influence, low-support stakeholder.</a:t>
            </a:r>
          </a:p>
          <a:p>
            <a:pPr>
              <a:spcAft>
                <a:spcPts val="1000"/>
              </a:spcAft>
            </a:pPr>
            <a:r>
              <a:rPr sz="1400">
                <a:solidFill>
                  <a:srgbClr val="161B26"/>
                </a:solidFill>
                <a:latin typeface="Arial"/>
              </a:rPr>
              <a:t>•  Resistance management — Resistance is data. Diagnose whether it is technical, political or cultural before responding.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MEASURE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Measure at Black Belt Depth — Advanced Measurement Systems</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MSA recap · Attribute MSA &amp; Kappa · Nested &amp; destructive gauge studies · Capability for non-normal data · Sampling strategy</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16%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Measure (1)</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Process mapping &amp; VSM — in depth</a:t>
            </a:r>
          </a:p>
          <a:p>
            <a:pPr algn="l">
              <a:spcAft>
                <a:spcPts val="300"/>
              </a:spcAft>
            </a:pPr>
            <a:r>
              <a:rPr sz="1100" b="0">
                <a:solidFill>
                  <a:srgbClr val="5B6372"/>
                </a:solidFill>
                <a:latin typeface="Arial"/>
              </a:rPr>
              <a:t>Re-derive SIPOC, swimlane maps, value stream maps, takt time and the eight wastes in full.</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Data, sampling and sample size — in depth</a:t>
            </a:r>
          </a:p>
          <a:p>
            <a:pPr algn="l">
              <a:spcAft>
                <a:spcPts val="300"/>
              </a:spcAft>
            </a:pPr>
            <a:r>
              <a:rPr sz="1100" b="0">
                <a:solidFill>
                  <a:srgbClr val="5B6372"/>
                </a:solidFill>
                <a:latin typeface="Arial"/>
              </a:rPr>
              <a:t>Data types, operational definitions, sampling schemes and sample size formulas re-derived from first principles.</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Continuous Gage R&amp;R — in depth</a:t>
            </a:r>
          </a:p>
          <a:p>
            <a:pPr algn="l">
              <a:spcAft>
                <a:spcPts val="300"/>
              </a:spcAft>
            </a:pPr>
            <a:r>
              <a:rPr sz="1100" b="0">
                <a:solidFill>
                  <a:srgbClr val="5B6372"/>
                </a:solidFill>
                <a:latin typeface="Arial"/>
              </a:rPr>
              <a:t>Full treatment of accuracy, repeatability, reproducibility, linearity, stability and %study variation.</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Yield, DPMO and capability — in depth</a:t>
            </a:r>
          </a:p>
          <a:p>
            <a:pPr algn="l">
              <a:spcAft>
                <a:spcPts val="300"/>
              </a:spcAft>
            </a:pPr>
            <a:r>
              <a:rPr sz="1100" b="0">
                <a:solidFill>
                  <a:srgbClr val="5B6372"/>
                </a:solidFill>
                <a:latin typeface="Arial"/>
              </a:rPr>
              <a:t>Classic yield, FPY, RTY, DPU, DPO, DPMO, sigma level and baseline Cp/Cpk, worked end to end.</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Attribute MSA</a:t>
            </a:r>
          </a:p>
          <a:p>
            <a:pPr algn="l">
              <a:spcAft>
                <a:spcPts val="300"/>
              </a:spcAft>
            </a:pPr>
            <a:r>
              <a:rPr sz="1100" b="0">
                <a:solidFill>
                  <a:srgbClr val="5B6372"/>
                </a:solidFill>
                <a:latin typeface="Arial"/>
              </a:rPr>
              <a:t>When the measurement is a judgement (pass/fail, grade), Gage R&amp;R does not apply — attribute agreement does.</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Kappa analysis</a:t>
            </a:r>
          </a:p>
          <a:p>
            <a:pPr algn="l">
              <a:spcAft>
                <a:spcPts val="300"/>
              </a:spcAft>
            </a:pPr>
            <a:r>
              <a:rPr sz="1100" b="0">
                <a:solidFill>
                  <a:srgbClr val="5B6372"/>
                </a:solidFill>
                <a:latin typeface="Arial"/>
              </a:rPr>
              <a:t>Cohen's and Fleiss' Kappa quantify inspector agreement beyond chance. Kappa &gt;= 0.75 is acceptable.</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Nested gauge studies</a:t>
            </a:r>
          </a:p>
          <a:p>
            <a:pPr algn="l">
              <a:spcAft>
                <a:spcPts val="300"/>
              </a:spcAft>
            </a:pPr>
            <a:r>
              <a:rPr sz="1100" b="0">
                <a:solidFill>
                  <a:srgbClr val="5B6372"/>
                </a:solidFill>
                <a:latin typeface="Arial"/>
              </a:rPr>
              <a:t>When parts cannot be measured twice by every operator, the crossed study is invalid — nest it.</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Destructive testing MSA</a:t>
            </a:r>
          </a:p>
          <a:p>
            <a:pPr algn="l">
              <a:spcAft>
                <a:spcPts val="300"/>
              </a:spcAft>
            </a:pPr>
            <a:r>
              <a:rPr sz="1100" b="0">
                <a:solidFill>
                  <a:srgbClr val="5B6372"/>
                </a:solidFill>
                <a:latin typeface="Arial"/>
              </a:rPr>
              <a:t>If measuring destroys the part, use near-identical part pairs and a nested design.</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16%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Measure (2)</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Non-normal capability</a:t>
            </a:r>
          </a:p>
          <a:p>
            <a:pPr algn="l">
              <a:spcAft>
                <a:spcPts val="300"/>
              </a:spcAft>
            </a:pPr>
            <a:r>
              <a:rPr sz="1100" b="0">
                <a:solidFill>
                  <a:srgbClr val="5B6372"/>
                </a:solidFill>
                <a:latin typeface="Arial"/>
              </a:rPr>
              <a:t>Cp/Cpk assume normality. For non-normal data, transform (Box-Cox) or fit the correct distribution.</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Ppk vs Cpk</a:t>
            </a:r>
          </a:p>
          <a:p>
            <a:pPr algn="l">
              <a:spcAft>
                <a:spcPts val="300"/>
              </a:spcAft>
            </a:pPr>
            <a:r>
              <a:rPr sz="1100" b="0">
                <a:solidFill>
                  <a:srgbClr val="5B6372"/>
                </a:solidFill>
                <a:latin typeface="Arial"/>
              </a:rPr>
              <a:t>Cpk uses within-subgroup variation; Ppk uses total variation. Reporting the wrong one flatters the process.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Sampling strategy at scale</a:t>
            </a:r>
          </a:p>
          <a:p>
            <a:pPr algn="l">
              <a:spcAft>
                <a:spcPts val="300"/>
              </a:spcAft>
            </a:pPr>
            <a:r>
              <a:rPr sz="1100" b="0">
                <a:solidFill>
                  <a:srgbClr val="5B6372"/>
                </a:solidFill>
                <a:latin typeface="Arial"/>
              </a:rPr>
              <a:t>Stratified and rational subgrouping decide what the control chart can even detect later.</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MEASURE - BLACK BELT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Black Belt owns the integrity of the number</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Green Belts learn to measure. Black Belts learn when the measurement itself is lying, and how to prove it before a single improvement is funded.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Measure delivers at Black Belt level</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mentor-grade recap</a:t>
            </a:r>
          </a:p>
          <a:p>
            <a:pPr algn="l">
              <a:spcAft>
                <a:spcPts val="300"/>
              </a:spcAft>
            </a:pPr>
            <a:r>
              <a:rPr sz="1200" b="0">
                <a:solidFill>
                  <a:srgbClr val="5B6372"/>
                </a:solidFill>
                <a:latin typeface="Arial"/>
              </a:rPr>
              <a:t>You must be able to teach mapping, VSM, sampling and Gage R&amp;R to your Green Belts.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Attribute MSA and Kappa</a:t>
            </a:r>
          </a:p>
          <a:p>
            <a:pPr algn="l">
              <a:spcAft>
                <a:spcPts val="300"/>
              </a:spcAft>
            </a:pPr>
            <a:r>
              <a:rPr sz="1200" b="0">
                <a:solidFill>
                  <a:srgbClr val="5B6372"/>
                </a:solidFill>
                <a:latin typeface="Arial"/>
              </a:rPr>
              <a:t>Judgement data needs agreement analysis, not Gage R&amp;R. Most inspection is judgement.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Nested and destructive studies</a:t>
            </a:r>
          </a:p>
          <a:p>
            <a:pPr algn="l">
              <a:spcAft>
                <a:spcPts val="300"/>
              </a:spcAft>
            </a:pPr>
            <a:r>
              <a:rPr sz="1200" b="0">
                <a:solidFill>
                  <a:srgbClr val="5B6372"/>
                </a:solidFill>
                <a:latin typeface="Arial"/>
              </a:rPr>
              <a:t>Crossed Gage R&amp;R is invalid when measuring destroys the part.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Non-normal capability</a:t>
            </a:r>
          </a:p>
          <a:p>
            <a:pPr algn="l">
              <a:spcAft>
                <a:spcPts val="300"/>
              </a:spcAft>
            </a:pPr>
            <a:r>
              <a:rPr sz="1200" b="0">
                <a:solidFill>
                  <a:srgbClr val="5B6372"/>
                </a:solidFill>
                <a:latin typeface="Arial"/>
              </a:rPr>
              <a:t>Anderson-Darling, Box-Cox, Johnson and distribution fitting for skewed data.</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Cp vs Cpk vs Pp vs Ppk</a:t>
            </a:r>
          </a:p>
          <a:p>
            <a:pPr algn="l">
              <a:spcAft>
                <a:spcPts val="300"/>
              </a:spcAft>
            </a:pPr>
            <a:r>
              <a:rPr sz="1200" b="0">
                <a:solidFill>
                  <a:srgbClr val="5B6372"/>
                </a:solidFill>
                <a:latin typeface="Arial"/>
              </a:rPr>
              <a:t>Short-term against long-term variation, and which one you may honestly report.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Rational subgrouping</a:t>
            </a:r>
          </a:p>
          <a:p>
            <a:pPr algn="l">
              <a:spcAft>
                <a:spcPts val="300"/>
              </a:spcAft>
            </a:pPr>
            <a:r>
              <a:rPr sz="1200" b="0">
                <a:solidFill>
                  <a:srgbClr val="5B6372"/>
                </a:solidFill>
                <a:latin typeface="Arial"/>
              </a:rPr>
              <a:t>The subgrouping decision made here fixes what your control chart can ever detect.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Green Belt Measure vs Black Belt Measure</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Green Belt scope</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Apply the standard toolkit</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Map the process and compute a baseline</a:t>
            </a:r>
          </a:p>
          <a:p>
            <a:pPr>
              <a:spcAft>
                <a:spcPts val="700"/>
              </a:spcAft>
            </a:pPr>
            <a:r>
              <a:rPr sz="1200">
                <a:solidFill>
                  <a:srgbClr val="161B26"/>
                </a:solidFill>
                <a:latin typeface="Arial"/>
              </a:rPr>
              <a:t>•  Run a continuous Gage R&amp;R on a gauge</a:t>
            </a:r>
          </a:p>
          <a:p>
            <a:pPr>
              <a:spcAft>
                <a:spcPts val="700"/>
              </a:spcAft>
            </a:pPr>
            <a:r>
              <a:rPr sz="1200">
                <a:solidFill>
                  <a:srgbClr val="161B26"/>
                </a:solidFill>
                <a:latin typeface="Arial"/>
              </a:rPr>
              <a:t>•  Assume the data is roughly normal</a:t>
            </a:r>
          </a:p>
          <a:p>
            <a:pPr>
              <a:spcAft>
                <a:spcPts val="700"/>
              </a:spcAft>
            </a:pPr>
            <a:r>
              <a:rPr sz="1200">
                <a:solidFill>
                  <a:srgbClr val="161B26"/>
                </a:solidFill>
                <a:latin typeface="Arial"/>
              </a:rPr>
              <a:t>•  Report Cpk from the software output</a:t>
            </a:r>
          </a:p>
          <a:p>
            <a:pPr>
              <a:spcAft>
                <a:spcPts val="700"/>
              </a:spcAft>
            </a:pPr>
            <a:r>
              <a:rPr sz="1200">
                <a:solidFill>
                  <a:srgbClr val="161B26"/>
                </a:solidFill>
                <a:latin typeface="Arial"/>
              </a:rPr>
              <a:t>•  Sample size from the standard formula</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Black Belt scope</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Judge, adapt and defend the method</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Choose the RIGHT MSA for the data type</a:t>
            </a:r>
          </a:p>
          <a:p>
            <a:pPr>
              <a:spcAft>
                <a:spcPts val="700"/>
              </a:spcAft>
            </a:pPr>
            <a:r>
              <a:rPr sz="1200">
                <a:solidFill>
                  <a:srgbClr val="161B26"/>
                </a:solidFill>
                <a:latin typeface="Arial"/>
              </a:rPr>
              <a:t>•  Design nested studies for destructive tests</a:t>
            </a:r>
          </a:p>
          <a:p>
            <a:pPr>
              <a:spcAft>
                <a:spcPts val="700"/>
              </a:spcAft>
            </a:pPr>
            <a:r>
              <a:rPr sz="1200">
                <a:solidFill>
                  <a:srgbClr val="161B26"/>
                </a:solidFill>
                <a:latin typeface="Arial"/>
              </a:rPr>
              <a:t>•  Test normality and transform or fit correctly</a:t>
            </a:r>
          </a:p>
          <a:p>
            <a:pPr>
              <a:spcAft>
                <a:spcPts val="700"/>
              </a:spcAft>
            </a:pPr>
            <a:r>
              <a:rPr sz="1200">
                <a:solidFill>
                  <a:srgbClr val="161B26"/>
                </a:solidFill>
                <a:latin typeface="Arial"/>
              </a:rPr>
              <a:t>•  Separate short-term from long-term capability</a:t>
            </a:r>
          </a:p>
          <a:p>
            <a:pPr>
              <a:spcAft>
                <a:spcPts val="700"/>
              </a:spcAft>
            </a:pPr>
            <a:r>
              <a:rPr sz="1200">
                <a:solidFill>
                  <a:srgbClr val="161B26"/>
                </a:solidFill>
                <a:latin typeface="Arial"/>
              </a:rPr>
              <a:t>•  Design the subgrouping strategy deliberately</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Mentoring scope</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Teach and audit others</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Spot a Green Belt's invalid Gage R&amp;R design</a:t>
            </a:r>
          </a:p>
          <a:p>
            <a:pPr>
              <a:spcAft>
                <a:spcPts val="700"/>
              </a:spcAft>
            </a:pPr>
            <a:r>
              <a:rPr sz="1200">
                <a:solidFill>
                  <a:srgbClr val="161B26"/>
                </a:solidFill>
                <a:latin typeface="Arial"/>
              </a:rPr>
              <a:t>•  Challenge an inflated opportunity count</a:t>
            </a:r>
          </a:p>
          <a:p>
            <a:pPr>
              <a:spcAft>
                <a:spcPts val="700"/>
              </a:spcAft>
            </a:pPr>
            <a:r>
              <a:rPr sz="1200">
                <a:solidFill>
                  <a:srgbClr val="161B26"/>
                </a:solidFill>
                <a:latin typeface="Arial"/>
              </a:rPr>
              <a:t>•  Catch Cpk reported on an unstable process</a:t>
            </a:r>
          </a:p>
          <a:p>
            <a:pPr>
              <a:spcAft>
                <a:spcPts val="700"/>
              </a:spcAft>
            </a:pPr>
            <a:r>
              <a:rPr sz="1200">
                <a:solidFill>
                  <a:srgbClr val="161B26"/>
                </a:solidFill>
                <a:latin typeface="Arial"/>
              </a:rPr>
              <a:t>•  Review data collection plans before launch</a:t>
            </a:r>
          </a:p>
          <a:p>
            <a:pPr>
              <a:spcAft>
                <a:spcPts val="700"/>
              </a:spcAft>
            </a:pPr>
            <a:r>
              <a:rPr sz="1200">
                <a:solidFill>
                  <a:srgbClr val="161B26"/>
                </a:solidFill>
                <a:latin typeface="Arial"/>
              </a:rPr>
              <a:t>•  Sign off the tollgate measurement evidence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Black Belt Measure sequence</a:t>
            </a:r>
          </a:p>
        </p:txBody>
      </p:sp>
      <p:sp>
        <p:nvSpPr>
          <p:cNvPr id="6" name="Rectangle 5"/>
          <p:cNvSpPr/>
          <p:nvPr/>
        </p:nvSpPr>
        <p:spPr>
          <a:xfrm>
            <a:off x="77724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78892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Map the process and the value stream in full detail</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601468"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404872"/>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78892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Define the data: type, operational definition, collection plan</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4425696"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404872"/>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78892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Design the sampling and subgrouping strategy</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6249924"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404872"/>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78892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Validate the measurement system with the CORRECT MSA method</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8074152"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404872"/>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78892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Test the distribution before computing any capability index</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6" name="Rectangle 35"/>
          <p:cNvSpPr/>
          <p:nvPr/>
        </p:nvSpPr>
        <p:spPr>
          <a:xfrm>
            <a:off x="989838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404872"/>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78892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Report baseline yield, DPMO, sigma and honest capability</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MEASURE - BLACK BELT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Recap in depth: the process map</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You will mentor Green Belts through this. That means knowing not just how to draw it, but every way a map goes wrong and how to challenge one.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process mapping symbols</a:t>
            </a:r>
          </a:p>
        </p:txBody>
      </p:sp>
      <p:pic>
        <p:nvPicPr>
          <p:cNvPr id="6" name="Picture 5" descr="process-symbols.png"/>
          <p:cNvPicPr>
            <a:picLocks noChangeAspect="1"/>
          </p:cNvPicPr>
          <p:nvPr/>
        </p:nvPicPr>
        <p:blipFill>
          <a:blip r:embed="rId2"/>
          <a:stretch>
            <a:fillRect/>
          </a:stretch>
        </p:blipFill>
        <p:spPr>
          <a:xfrm>
            <a:off x="1976439" y="1737360"/>
            <a:ext cx="8238816" cy="4160520"/>
          </a:xfrm>
          <a:prstGeom prst="rect">
            <a:avLst/>
          </a:prstGeom>
        </p:spPr>
      </p:pic>
      <p:sp>
        <p:nvSpPr>
          <p:cNvPr id="7" name="TextBox 6"/>
          <p:cNvSpPr txBox="1"/>
          <p:nvPr/>
        </p:nvSpPr>
        <p:spPr>
          <a:xfrm>
            <a:off x="777240" y="6007608"/>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Oval = start/stop. Rectangle = activity. Diamond = decision. D-shape = delay. Document shape = paperwork produced.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to build a defensible process map</a:t>
            </a:r>
          </a:p>
        </p:txBody>
      </p:sp>
      <p:sp>
        <p:nvSpPr>
          <p:cNvPr id="6" name="Rectangle 5"/>
          <p:cNvSpPr/>
          <p:nvPr/>
        </p:nvSpPr>
        <p:spPr>
          <a:xfrm>
            <a:off x="77724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78892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Agree the start and stop boundary in writing with the process owner</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601468"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404872"/>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78892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Walk the process physically on every shift that runs it</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4425696"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404872"/>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78892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Capture each step with the people who actually do the work</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6249924"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404872"/>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78892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Sequence, then add every decision, delay and rework loop</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8074152"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404872"/>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78892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Validate against a second shift and a second site</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6" name="Rectangle 35"/>
          <p:cNvSpPr/>
          <p:nvPr/>
        </p:nvSpPr>
        <p:spPr>
          <a:xfrm>
            <a:off x="989838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404872"/>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78892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Load the data: touch time, queue time, defect rate, headcount</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Swimlane (deployment) process map</a:t>
            </a:r>
          </a:p>
        </p:txBody>
      </p:sp>
      <p:pic>
        <p:nvPicPr>
          <p:cNvPr id="6" name="Picture 5" descr="swimlane-map.png"/>
          <p:cNvPicPr>
            <a:picLocks noChangeAspect="1"/>
          </p:cNvPicPr>
          <p:nvPr/>
        </p:nvPicPr>
        <p:blipFill>
          <a:blip r:embed="rId2"/>
          <a:stretch>
            <a:fillRect/>
          </a:stretch>
        </p:blipFill>
        <p:spPr>
          <a:xfrm>
            <a:off x="1445015" y="1737360"/>
            <a:ext cx="9301665" cy="4160520"/>
          </a:xfrm>
          <a:prstGeom prst="rect">
            <a:avLst/>
          </a:prstGeom>
        </p:spPr>
      </p:pic>
      <p:sp>
        <p:nvSpPr>
          <p:cNvPr id="7" name="TextBox 6"/>
          <p:cNvSpPr txBox="1"/>
          <p:nvPr/>
        </p:nvSpPr>
        <p:spPr>
          <a:xfrm>
            <a:off x="777240" y="6007608"/>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Each horizontal lane is one role or system. Every lane crossing is a handoff: a queue, a re-entry and a chance to lose context.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Suzhou: swimlanes in pump final assembly</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THE FLOW</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DC2C2C"/>
                </a:solidFill>
                <a:latin typeface="Arial"/>
              </a:rPr>
              <a:t>WHAT THE MAP REVEALED</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Planning releases the work order to the line</a:t>
            </a:r>
          </a:p>
          <a:p>
            <a:pPr>
              <a:spcAft>
                <a:spcPts val="1000"/>
              </a:spcAft>
            </a:pPr>
            <a:r>
              <a:rPr sz="1300">
                <a:solidFill>
                  <a:srgbClr val="5B6372"/>
                </a:solidFill>
                <a:latin typeface="Arial"/>
              </a:rPr>
              <a:t>–  Handoff 1 to Kitting for component pick</a:t>
            </a:r>
          </a:p>
          <a:p>
            <a:pPr>
              <a:spcAft>
                <a:spcPts val="1000"/>
              </a:spcAft>
            </a:pPr>
            <a:r>
              <a:rPr sz="1500">
                <a:solidFill>
                  <a:srgbClr val="161B26"/>
                </a:solidFill>
                <a:latin typeface="Arial"/>
              </a:rPr>
              <a:t>•  Kitting stages the assembly kit at the line head</a:t>
            </a:r>
          </a:p>
          <a:p>
            <a:pPr>
              <a:spcAft>
                <a:spcPts val="1000"/>
              </a:spcAft>
            </a:pPr>
            <a:r>
              <a:rPr sz="1300">
                <a:solidFill>
                  <a:srgbClr val="5B6372"/>
                </a:solidFill>
                <a:latin typeface="Arial"/>
              </a:rPr>
              <a:t>–  Handoff 2 to Assembly cell 3</a:t>
            </a:r>
          </a:p>
          <a:p>
            <a:pPr>
              <a:spcAft>
                <a:spcPts val="1000"/>
              </a:spcAft>
            </a:pPr>
            <a:r>
              <a:rPr sz="1500">
                <a:solidFill>
                  <a:srgbClr val="161B26"/>
                </a:solidFill>
                <a:latin typeface="Arial"/>
              </a:rPr>
              <a:t>•  Assembly builds, then calls Test</a:t>
            </a:r>
          </a:p>
          <a:p>
            <a:pPr>
              <a:spcAft>
                <a:spcPts val="1000"/>
              </a:spcAft>
            </a:pPr>
            <a:r>
              <a:rPr sz="1300">
                <a:solidFill>
                  <a:srgbClr val="5B6372"/>
                </a:solidFill>
                <a:latin typeface="Arial"/>
              </a:rPr>
              <a:t>–  Handoff 3 to Functional Test, then to QA release</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Eleven lane crossings per work order</a:t>
            </a:r>
          </a:p>
          <a:p>
            <a:pPr>
              <a:spcAft>
                <a:spcPts val="1000"/>
              </a:spcAft>
            </a:pPr>
            <a:r>
              <a:rPr sz="1300">
                <a:solidFill>
                  <a:srgbClr val="5B6372"/>
                </a:solidFill>
                <a:latin typeface="Arial"/>
              </a:rPr>
              <a:t>–  Average queue at each crossing: 25 to 190 minutes</a:t>
            </a:r>
          </a:p>
          <a:p>
            <a:pPr>
              <a:spcAft>
                <a:spcPts val="1000"/>
              </a:spcAft>
            </a:pPr>
            <a:r>
              <a:rPr sz="1500">
                <a:solidFill>
                  <a:srgbClr val="161B26"/>
                </a:solidFill>
                <a:latin typeface="Arial"/>
              </a:rPr>
              <a:t>•  Touch time across all steps: about 71 minutes</a:t>
            </a:r>
          </a:p>
          <a:p>
            <a:pPr>
              <a:spcAft>
                <a:spcPts val="1000"/>
              </a:spcAft>
            </a:pPr>
            <a:r>
              <a:rPr sz="1300">
                <a:solidFill>
                  <a:srgbClr val="5B6372"/>
                </a:solidFill>
                <a:latin typeface="Arial"/>
              </a:rPr>
              <a:t>–  Everything else is waiting for the next lane</a:t>
            </a:r>
          </a:p>
          <a:p>
            <a:pPr>
              <a:spcAft>
                <a:spcPts val="1000"/>
              </a:spcAft>
            </a:pPr>
            <a:r>
              <a:rPr sz="1500">
                <a:solidFill>
                  <a:srgbClr val="161B26"/>
                </a:solidFill>
                <a:latin typeface="Arial"/>
              </a:rPr>
              <a:t>•  First-pass yield 88.4 percent on the pump line</a:t>
            </a:r>
          </a:p>
          <a:p>
            <a:pPr>
              <a:spcAft>
                <a:spcPts val="1000"/>
              </a:spcAft>
            </a:pPr>
            <a:r>
              <a:rPr sz="1300">
                <a:solidFill>
                  <a:srgbClr val="5B6372"/>
                </a:solidFill>
                <a:latin typeface="Arial"/>
              </a:rPr>
              <a:t>–  Most failures are found at Test, three lanes late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Value-added analysis - the three categories</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Value-Added</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customer would pay for it</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Physically transforms the product</a:t>
            </a:r>
          </a:p>
          <a:p>
            <a:pPr>
              <a:spcAft>
                <a:spcPts val="700"/>
              </a:spcAft>
            </a:pPr>
            <a:r>
              <a:rPr sz="1200">
                <a:solidFill>
                  <a:srgbClr val="161B26"/>
                </a:solidFill>
                <a:latin typeface="Arial"/>
              </a:rPr>
              <a:t>•  Done right the first time</a:t>
            </a:r>
          </a:p>
          <a:p>
            <a:pPr>
              <a:spcAft>
                <a:spcPts val="700"/>
              </a:spcAft>
            </a:pPr>
            <a:r>
              <a:rPr sz="1200">
                <a:solidFill>
                  <a:srgbClr val="161B26"/>
                </a:solidFill>
                <a:latin typeface="Arial"/>
              </a:rPr>
              <a:t>•  Meridian: assembly, calibration, sterile pack</a:t>
            </a:r>
          </a:p>
          <a:p>
            <a:pPr>
              <a:spcAft>
                <a:spcPts val="700"/>
              </a:spcAft>
            </a:pPr>
            <a:r>
              <a:rPr sz="1200">
                <a:solidFill>
                  <a:srgbClr val="161B26"/>
                </a:solidFill>
                <a:latin typeface="Arial"/>
              </a:rPr>
              <a:t>•  Typically 5 to 20 percent of steps</a:t>
            </a:r>
          </a:p>
          <a:p>
            <a:pPr>
              <a:spcAft>
                <a:spcPts val="700"/>
              </a:spcAft>
            </a:pPr>
            <a:r>
              <a:rPr sz="1200">
                <a:solidFill>
                  <a:srgbClr val="161B26"/>
                </a:solidFill>
                <a:latin typeface="Arial"/>
              </a:rPr>
              <a:t>•  Protect and speed these up</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Business-Value-Added</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Required but not customer value</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Design History File records, lot traceability</a:t>
            </a:r>
          </a:p>
          <a:p>
            <a:pPr>
              <a:spcAft>
                <a:spcPts val="700"/>
              </a:spcAft>
            </a:pPr>
            <a:r>
              <a:rPr sz="1200">
                <a:solidFill>
                  <a:srgbClr val="161B26"/>
                </a:solidFill>
                <a:latin typeface="Arial"/>
              </a:rPr>
              <a:t>•  IEC 60601 test evidence, regulatory retention</a:t>
            </a:r>
          </a:p>
          <a:p>
            <a:pPr>
              <a:spcAft>
                <a:spcPts val="700"/>
              </a:spcAft>
            </a:pPr>
            <a:r>
              <a:rPr sz="1200">
                <a:solidFill>
                  <a:srgbClr val="161B26"/>
                </a:solidFill>
                <a:latin typeface="Arial"/>
              </a:rPr>
              <a:t>•  In medical devices BVA is large and legitimate</a:t>
            </a:r>
          </a:p>
          <a:p>
            <a:pPr>
              <a:spcAft>
                <a:spcPts val="700"/>
              </a:spcAft>
            </a:pPr>
            <a:r>
              <a:rPr sz="1200">
                <a:solidFill>
                  <a:srgbClr val="161B26"/>
                </a:solidFill>
                <a:latin typeface="Arial"/>
              </a:rPr>
              <a:t>•  Meridian: DHR completion, sterilisation records</a:t>
            </a:r>
          </a:p>
          <a:p>
            <a:pPr>
              <a:spcAft>
                <a:spcPts val="700"/>
              </a:spcAft>
            </a:pPr>
            <a:r>
              <a:rPr sz="1200">
                <a:solidFill>
                  <a:srgbClr val="161B26"/>
                </a:solidFill>
                <a:latin typeface="Arial"/>
              </a:rPr>
              <a:t>•  Streamline it - you may not delete it</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Non-Value-Added</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Pure waste, delete it</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Inspection, rework, transport, waiting</a:t>
            </a:r>
          </a:p>
          <a:p>
            <a:pPr>
              <a:spcAft>
                <a:spcPts val="700"/>
              </a:spcAft>
            </a:pPr>
            <a:r>
              <a:rPr sz="1200">
                <a:solidFill>
                  <a:srgbClr val="161B26"/>
                </a:solidFill>
                <a:latin typeface="Arial"/>
              </a:rPr>
              <a:t>•  Meridian: triple inspection before Test</a:t>
            </a:r>
          </a:p>
          <a:p>
            <a:pPr>
              <a:spcAft>
                <a:spcPts val="700"/>
              </a:spcAft>
            </a:pPr>
            <a:r>
              <a:rPr sz="1200">
                <a:solidFill>
                  <a:srgbClr val="161B26"/>
                </a:solidFill>
                <a:latin typeface="Arial"/>
              </a:rPr>
              <a:t>•  Typically 60 to 90 percent of lead time</a:t>
            </a:r>
          </a:p>
          <a:p>
            <a:pPr>
              <a:spcAft>
                <a:spcPts val="700"/>
              </a:spcAft>
            </a:pPr>
            <a:r>
              <a:rPr sz="1200">
                <a:solidFill>
                  <a:srgbClr val="161B26"/>
                </a:solidFill>
                <a:latin typeface="Arial"/>
              </a:rPr>
              <a:t>•  This is your improvement opportunity</a:t>
            </a:r>
          </a:p>
          <a:p>
            <a:pPr>
              <a:spcAft>
                <a:spcPts val="700"/>
              </a:spcAft>
            </a:pPr>
            <a:r>
              <a:rPr sz="1200">
                <a:solidFill>
                  <a:srgbClr val="161B26"/>
                </a:solidFill>
                <a:latin typeface="Arial"/>
              </a:rPr>
              <a:t>•  Attack it first - it is free capacity</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MEASURE - BLACK BELT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value stream map is the Black Belt's system view</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process map shows the work. A value stream map shows the work, the signals that trigger it, and the time the customer actually waits.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 complete value stream map</a:t>
            </a:r>
          </a:p>
        </p:txBody>
      </p:sp>
      <p:pic>
        <p:nvPicPr>
          <p:cNvPr id="6" name="Picture 5" descr="vsm-full.png"/>
          <p:cNvPicPr>
            <a:picLocks noChangeAspect="1"/>
          </p:cNvPicPr>
          <p:nvPr/>
        </p:nvPicPr>
        <p:blipFill>
          <a:blip r:embed="rId2"/>
          <a:stretch>
            <a:fillRect/>
          </a:stretch>
        </p:blipFill>
        <p:spPr>
          <a:xfrm>
            <a:off x="1682323" y="1737360"/>
            <a:ext cx="8827049" cy="4160520"/>
          </a:xfrm>
          <a:prstGeom prst="rect">
            <a:avLst/>
          </a:prstGeom>
        </p:spPr>
      </p:pic>
      <p:sp>
        <p:nvSpPr>
          <p:cNvPr id="7" name="TextBox 6"/>
          <p:cNvSpPr txBox="1"/>
          <p:nvPr/>
        </p:nvSpPr>
        <p:spPr>
          <a:xfrm>
            <a:off x="777240" y="6007608"/>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Information flow right to left across the top, material flow left to right along the bottom, and the ladder carrying the timeline.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VSM icons</a:t>
            </a:r>
          </a:p>
        </p:txBody>
      </p:sp>
      <p:pic>
        <p:nvPicPr>
          <p:cNvPr id="6" name="Picture 5" descr="vsm-icons.png"/>
          <p:cNvPicPr>
            <a:picLocks noChangeAspect="1"/>
          </p:cNvPicPr>
          <p:nvPr/>
        </p:nvPicPr>
        <p:blipFill>
          <a:blip r:embed="rId2"/>
          <a:stretch>
            <a:fillRect/>
          </a:stretch>
        </p:blipFill>
        <p:spPr>
          <a:xfrm>
            <a:off x="2100359" y="1737360"/>
            <a:ext cx="7990977" cy="4160520"/>
          </a:xfrm>
          <a:prstGeom prst="rect">
            <a:avLst/>
          </a:prstGeom>
        </p:spPr>
      </p:pic>
      <p:sp>
        <p:nvSpPr>
          <p:cNvPr id="7" name="TextBox 6"/>
          <p:cNvSpPr txBox="1"/>
          <p:nvPr/>
        </p:nvSpPr>
        <p:spPr>
          <a:xfrm>
            <a:off x="777240" y="6007608"/>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Use the standard icon set so any Lean practitioner in Singapore, Penang or Suzhou can read your map without a legend.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Building the Meridian pump value stream map</a:t>
            </a:r>
          </a:p>
        </p:txBody>
      </p:sp>
      <p:sp>
        <p:nvSpPr>
          <p:cNvPr id="6" name="Rectangle 5"/>
          <p:cNvSpPr/>
          <p:nvPr/>
        </p:nvSpPr>
        <p:spPr>
          <a:xfrm>
            <a:off x="77724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78892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Choose one product family: the 3-channel infusion pump, Suzhou line 4</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601468"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404872"/>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78892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Walk the stream backwards from finished goods to the component supplier</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4425696"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404872"/>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78892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Draw material flow with a data box under every process step</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6249924"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404872"/>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78892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Add information flow: MRP release, kanban pull, expedite calls</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8074152"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404872"/>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78892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Draw the ladder: process time below, wait time above</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6" name="Rectangle 35"/>
          <p:cNvSpPr/>
          <p:nvPr/>
        </p:nvSpPr>
        <p:spPr>
          <a:xfrm>
            <a:off x="989838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404872"/>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78892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Compute lead time, VA time and process cycle efficiency</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VSM timeline ladder - Meridian Suzhou line 4</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Value-added time</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Sum of the lower rungs</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Kitting 8 min + Assembly 44 min + Test 14 min + Pack 5 min = 71 minutes.</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Lead time</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Sum of the upper rungs plus VA</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Queues of 190 + 145 + 60 + 25 min plus 71 VA = 491 min, about 8.2 hours.</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Process cycle efficiency</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PCE = VA time / Lead time</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71 / 491 = 0.145, so 14.5 percent. Above the 10 percent typical but far from world class.</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World class discrete assembly runs above 25 percent PCE. The queues own the lead time, not the touch time.</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Takt time explained</a:t>
            </a:r>
          </a:p>
        </p:txBody>
      </p:sp>
      <p:pic>
        <p:nvPicPr>
          <p:cNvPr id="6" name="Picture 5" descr="takt-time.png"/>
          <p:cNvPicPr>
            <a:picLocks noChangeAspect="1"/>
          </p:cNvPicPr>
          <p:nvPr/>
        </p:nvPicPr>
        <p:blipFill>
          <a:blip r:embed="rId2"/>
          <a:stretch>
            <a:fillRect/>
          </a:stretch>
        </p:blipFill>
        <p:spPr>
          <a:xfrm>
            <a:off x="975207" y="1737360"/>
            <a:ext cx="10241280" cy="3367143"/>
          </a:xfrm>
          <a:prstGeom prst="rect">
            <a:avLst/>
          </a:prstGeom>
        </p:spPr>
      </p:pic>
      <p:sp>
        <p:nvSpPr>
          <p:cNvPr id="7" name="TextBox 6"/>
          <p:cNvSpPr txBox="1"/>
          <p:nvPr/>
        </p:nvSpPr>
        <p:spPr>
          <a:xfrm>
            <a:off x="777240" y="5214231"/>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Takt = available working time divided by customer demand for the same period. It is set by the customer, never by the process.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Takt time - Meridian worked example</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Available time</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2 shifts x 7.5 h x 3600 s</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Suzhou line 4 runs two productive shifts of 7.5 hours = 54,000 seconds per day.</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Takt time</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Takt = Available time / Demand</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Demand is 180 pumps per day. Takt = 54,000 / 180 = 300 seconds per pump.</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Interpretation</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One pump every 300 seconds</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Assembly cycle time is 44 min = 2,640 s across 9 stations = 293 s per station. Just inside takt.</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Use productive time only - exclude breaks, shift handover briefings and planned maintenance.</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eight wastes of Lean - DOWNTIME</a:t>
            </a:r>
          </a:p>
        </p:txBody>
      </p:sp>
      <p:sp>
        <p:nvSpPr>
          <p:cNvPr id="6" name="Oval 5"/>
          <p:cNvSpPr/>
          <p:nvPr/>
        </p:nvSpPr>
        <p:spPr>
          <a:xfrm>
            <a:off x="5157216" y="2724912"/>
            <a:ext cx="1865376" cy="1865376"/>
          </a:xfrm>
          <a:prstGeom prst="ellipse">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157216" y="2724912"/>
            <a:ext cx="1865376" cy="1865376"/>
          </a:xfrm>
          <a:prstGeom prst="rect">
            <a:avLst/>
          </a:prstGeom>
          <a:noFill/>
        </p:spPr>
        <p:txBody>
          <a:bodyPr wrap="square" anchor="ctr">
            <a:spAutoFit/>
          </a:bodyPr>
          <a:lstStyle/>
          <a:p>
            <a:pPr algn="ctr">
              <a:spcAft>
                <a:spcPts val="200"/>
              </a:spcAft>
            </a:pPr>
            <a:r>
              <a:rPr sz="1700" b="1">
                <a:solidFill>
                  <a:srgbClr val="DC2C2C"/>
                </a:solidFill>
                <a:latin typeface="Arial"/>
              </a:rPr>
              <a:t>DOWNTIME</a:t>
            </a:r>
          </a:p>
          <a:p>
            <a:pPr algn="ctr">
              <a:spcAft>
                <a:spcPts val="200"/>
              </a:spcAft>
            </a:pPr>
            <a:r>
              <a:rPr sz="1200" b="0">
                <a:solidFill>
                  <a:srgbClr val="5B6372"/>
                </a:solidFill>
                <a:latin typeface="Arial"/>
              </a:rPr>
              <a:t>8 wastes</a:t>
            </a:r>
          </a:p>
        </p:txBody>
      </p:sp>
      <p:sp>
        <p:nvSpPr>
          <p:cNvPr id="8" name="Oval 7"/>
          <p:cNvSpPr/>
          <p:nvPr/>
        </p:nvSpPr>
        <p:spPr>
          <a:xfrm>
            <a:off x="5477256" y="1404518"/>
            <a:ext cx="1225296" cy="12252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77256" y="1404518"/>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D</a:t>
            </a:r>
          </a:p>
          <a:p>
            <a:pPr algn="ctr">
              <a:spcAft>
                <a:spcPts val="100"/>
              </a:spcAft>
            </a:pPr>
            <a:r>
              <a:rPr sz="800" b="0">
                <a:solidFill>
                  <a:srgbClr val="FFFFFF"/>
                </a:solidFill>
                <a:latin typeface="Arial"/>
              </a:rPr>
              <a:t>Defects</a:t>
            </a:r>
          </a:p>
        </p:txBody>
      </p:sp>
      <p:sp>
        <p:nvSpPr>
          <p:cNvPr id="10" name="Oval 9"/>
          <p:cNvSpPr/>
          <p:nvPr/>
        </p:nvSpPr>
        <p:spPr>
          <a:xfrm>
            <a:off x="7519797" y="1884990"/>
            <a:ext cx="1225296" cy="12252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19797" y="1884990"/>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O</a:t>
            </a:r>
          </a:p>
          <a:p>
            <a:pPr algn="ctr">
              <a:spcAft>
                <a:spcPts val="100"/>
              </a:spcAft>
            </a:pPr>
            <a:r>
              <a:rPr sz="800" b="0">
                <a:solidFill>
                  <a:srgbClr val="FFFFFF"/>
                </a:solidFill>
                <a:latin typeface="Arial"/>
              </a:rPr>
              <a:t>Overproduction</a:t>
            </a:r>
          </a:p>
        </p:txBody>
      </p:sp>
      <p:sp>
        <p:nvSpPr>
          <p:cNvPr id="12" name="Oval 11"/>
          <p:cNvSpPr/>
          <p:nvPr/>
        </p:nvSpPr>
        <p:spPr>
          <a:xfrm>
            <a:off x="8365845" y="3044952"/>
            <a:ext cx="1225296" cy="12252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365845" y="3044952"/>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W</a:t>
            </a:r>
          </a:p>
          <a:p>
            <a:pPr algn="ctr">
              <a:spcAft>
                <a:spcPts val="100"/>
              </a:spcAft>
            </a:pPr>
            <a:r>
              <a:rPr sz="800" b="0">
                <a:solidFill>
                  <a:srgbClr val="FFFFFF"/>
                </a:solidFill>
                <a:latin typeface="Arial"/>
              </a:rPr>
              <a:t>Waiting</a:t>
            </a:r>
          </a:p>
        </p:txBody>
      </p:sp>
      <p:sp>
        <p:nvSpPr>
          <p:cNvPr id="14" name="Oval 13"/>
          <p:cNvSpPr/>
          <p:nvPr/>
        </p:nvSpPr>
        <p:spPr>
          <a:xfrm>
            <a:off x="7519797" y="4204913"/>
            <a:ext cx="1225296" cy="1225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519797" y="4204913"/>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N</a:t>
            </a:r>
          </a:p>
          <a:p>
            <a:pPr algn="ctr">
              <a:spcAft>
                <a:spcPts val="100"/>
              </a:spcAft>
            </a:pPr>
            <a:r>
              <a:rPr sz="800" b="0">
                <a:solidFill>
                  <a:srgbClr val="FFFFFF"/>
                </a:solidFill>
                <a:latin typeface="Arial"/>
              </a:rPr>
              <a:t>Non-utilised talent</a:t>
            </a:r>
          </a:p>
        </p:txBody>
      </p:sp>
      <p:sp>
        <p:nvSpPr>
          <p:cNvPr id="16" name="Oval 15"/>
          <p:cNvSpPr/>
          <p:nvPr/>
        </p:nvSpPr>
        <p:spPr>
          <a:xfrm>
            <a:off x="5477256" y="4685385"/>
            <a:ext cx="1225296" cy="12252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77256" y="4685385"/>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T</a:t>
            </a:r>
          </a:p>
          <a:p>
            <a:pPr algn="ctr">
              <a:spcAft>
                <a:spcPts val="100"/>
              </a:spcAft>
            </a:pPr>
            <a:r>
              <a:rPr sz="800" b="0">
                <a:solidFill>
                  <a:srgbClr val="FFFFFF"/>
                </a:solidFill>
                <a:latin typeface="Arial"/>
              </a:rPr>
              <a:t>Transport</a:t>
            </a:r>
          </a:p>
        </p:txBody>
      </p:sp>
      <p:sp>
        <p:nvSpPr>
          <p:cNvPr id="18" name="Oval 17"/>
          <p:cNvSpPr/>
          <p:nvPr/>
        </p:nvSpPr>
        <p:spPr>
          <a:xfrm>
            <a:off x="3434714" y="4204913"/>
            <a:ext cx="1225296" cy="12252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434714" y="4204913"/>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I</a:t>
            </a:r>
          </a:p>
          <a:p>
            <a:pPr algn="ctr">
              <a:spcAft>
                <a:spcPts val="100"/>
              </a:spcAft>
            </a:pPr>
            <a:r>
              <a:rPr sz="800" b="0">
                <a:solidFill>
                  <a:srgbClr val="FFFFFF"/>
                </a:solidFill>
                <a:latin typeface="Arial"/>
              </a:rPr>
              <a:t>Inventory</a:t>
            </a:r>
          </a:p>
        </p:txBody>
      </p:sp>
      <p:sp>
        <p:nvSpPr>
          <p:cNvPr id="20" name="Oval 19"/>
          <p:cNvSpPr/>
          <p:nvPr/>
        </p:nvSpPr>
        <p:spPr>
          <a:xfrm>
            <a:off x="2588666" y="3044952"/>
            <a:ext cx="1225296" cy="12252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588666" y="3044952"/>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M</a:t>
            </a:r>
          </a:p>
          <a:p>
            <a:pPr algn="ctr">
              <a:spcAft>
                <a:spcPts val="100"/>
              </a:spcAft>
            </a:pPr>
            <a:r>
              <a:rPr sz="800" b="0">
                <a:solidFill>
                  <a:srgbClr val="FFFFFF"/>
                </a:solidFill>
                <a:latin typeface="Arial"/>
              </a:rPr>
              <a:t>Motion</a:t>
            </a:r>
          </a:p>
        </p:txBody>
      </p:sp>
      <p:sp>
        <p:nvSpPr>
          <p:cNvPr id="22" name="Oval 21"/>
          <p:cNvSpPr/>
          <p:nvPr/>
        </p:nvSpPr>
        <p:spPr>
          <a:xfrm>
            <a:off x="3434714" y="1884990"/>
            <a:ext cx="1225296" cy="1225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434714" y="1884990"/>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E</a:t>
            </a:r>
          </a:p>
          <a:p>
            <a:pPr algn="ctr">
              <a:spcAft>
                <a:spcPts val="100"/>
              </a:spcAft>
            </a:pPr>
            <a:r>
              <a:rPr sz="800" b="0">
                <a:solidFill>
                  <a:srgbClr val="FFFFFF"/>
                </a:solidFill>
                <a:latin typeface="Arial"/>
              </a:rPr>
              <a:t>Extra-processing</a:t>
            </a:r>
          </a:p>
        </p:txBody>
      </p:sp>
      <p:sp>
        <p:nvSpPr>
          <p:cNvPr id="24" name="TextBox 23"/>
          <p:cNvSpPr txBox="1"/>
          <p:nvPr/>
        </p:nvSpPr>
        <p:spPr>
          <a:xfrm>
            <a:off x="777240" y="5852160"/>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Waste consumes capacity, cash and lead time while adding nothing the customer values.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DOWNTIME at Meridian Medical Devices</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D - Defects</a:t>
            </a:r>
          </a:p>
          <a:p>
            <a:pPr algn="l">
              <a:spcAft>
                <a:spcPts val="300"/>
              </a:spcAft>
            </a:pPr>
            <a:r>
              <a:rPr sz="1200" b="0">
                <a:solidFill>
                  <a:srgbClr val="5B6372"/>
                </a:solidFill>
                <a:latin typeface="Arial"/>
              </a:rPr>
              <a:t>Pump occlusion sensors failing functional test and returning to assembly for rework.</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O - Overproduction</a:t>
            </a:r>
          </a:p>
          <a:p>
            <a:pPr algn="l">
              <a:spcAft>
                <a:spcPts val="300"/>
              </a:spcAft>
            </a:pPr>
            <a:r>
              <a:rPr sz="1200" b="0">
                <a:solidFill>
                  <a:srgbClr val="5B6372"/>
                </a:solidFill>
                <a:latin typeface="Arial"/>
              </a:rPr>
              <a:t>Kitting a full day of assembly kits at 06:00 when only half will be consumed.</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W - Waiting</a:t>
            </a:r>
          </a:p>
          <a:p>
            <a:pPr algn="l">
              <a:spcAft>
                <a:spcPts val="300"/>
              </a:spcAft>
            </a:pPr>
            <a:r>
              <a:rPr sz="1200" b="0">
                <a:solidFill>
                  <a:srgbClr val="5B6372"/>
                </a:solidFill>
                <a:latin typeface="Arial"/>
              </a:rPr>
              <a:t>Built pumps queuing 145 minutes for a free functional test rig.</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N - Non-utilised talent</a:t>
            </a:r>
          </a:p>
          <a:p>
            <a:pPr algn="l">
              <a:spcAft>
                <a:spcPts val="300"/>
              </a:spcAft>
            </a:pPr>
            <a:r>
              <a:rPr sz="1200" b="0">
                <a:solidFill>
                  <a:srgbClr val="5B6372"/>
                </a:solidFill>
                <a:latin typeface="Arial"/>
              </a:rPr>
              <a:t>Station 6 operators know the fixture drifts, and were never asked.</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T - Transport</a:t>
            </a:r>
          </a:p>
          <a:p>
            <a:pPr algn="l">
              <a:spcAft>
                <a:spcPts val="300"/>
              </a:spcAft>
            </a:pPr>
            <a:r>
              <a:rPr sz="1200" b="0">
                <a:solidFill>
                  <a:srgbClr val="5B6372"/>
                </a:solidFill>
                <a:latin typeface="Arial"/>
              </a:rPr>
              <a:t>Sub-assemblies trucked between the Penang and Suzhou plants for calibration.</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I - Inventory</a:t>
            </a:r>
          </a:p>
          <a:p>
            <a:pPr algn="l">
              <a:spcAft>
                <a:spcPts val="300"/>
              </a:spcAft>
            </a:pPr>
            <a:r>
              <a:rPr sz="1200" b="0">
                <a:solidFill>
                  <a:srgbClr val="5B6372"/>
                </a:solidFill>
                <a:latin typeface="Arial"/>
              </a:rPr>
              <a:t>Six weeks of pressure sensors held against a single-source supply risk.</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M - Motion</a:t>
            </a:r>
          </a:p>
          <a:p>
            <a:pPr algn="l">
              <a:spcAft>
                <a:spcPts val="300"/>
              </a:spcAft>
            </a:pPr>
            <a:r>
              <a:rPr sz="1200" b="0">
                <a:solidFill>
                  <a:srgbClr val="5B6372"/>
                </a:solidFill>
                <a:latin typeface="Arial"/>
              </a:rPr>
              <a:t>Assemblers reaching behind the bench for the torque driver 400 times a shift.</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E - Extra-processing</a:t>
            </a:r>
          </a:p>
          <a:p>
            <a:pPr algn="l">
              <a:spcAft>
                <a:spcPts val="300"/>
              </a:spcAft>
            </a:pPr>
            <a:r>
              <a:rPr sz="1200" b="0">
                <a:solidFill>
                  <a:srgbClr val="5B6372"/>
                </a:solidFill>
                <a:latin typeface="Arial"/>
              </a:rPr>
              <a:t>Three manual inspections of the same solder joint before functional test.</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MEASURE - BLACK BELT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Data type decides the entire analysis path</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Choose the wrong data type and every tool downstream - MSA, capability, hypothesis test, control chart - is the wrong tool. This decision is made once, in Measure.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four measurement scales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Nominal</a:t>
            </a:r>
          </a:p>
          <a:p>
            <a:pPr algn="l">
              <a:spcAft>
                <a:spcPts val="300"/>
              </a:spcAft>
            </a:pPr>
            <a:r>
              <a:rPr sz="1200" b="0">
                <a:solidFill>
                  <a:srgbClr val="5B6372"/>
                </a:solidFill>
                <a:latin typeface="Arial"/>
              </a:rPr>
              <a:t>Named categories, no order. Defect type, carrier, plant. Only counts and modes are valid.</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Ordinal</a:t>
            </a:r>
          </a:p>
          <a:p>
            <a:pPr algn="l">
              <a:spcAft>
                <a:spcPts val="300"/>
              </a:spcAft>
            </a:pPr>
            <a:r>
              <a:rPr sz="1200" b="0">
                <a:solidFill>
                  <a:srgbClr val="5B6372"/>
                </a:solidFill>
                <a:latin typeface="Arial"/>
              </a:rPr>
              <a:t>Ordered categories, unequal gaps. Severity 1-5, cosmetic grade A-D. Median, not mean.</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Interval</a:t>
            </a:r>
          </a:p>
          <a:p>
            <a:pPr algn="l">
              <a:spcAft>
                <a:spcPts val="300"/>
              </a:spcAft>
            </a:pPr>
            <a:r>
              <a:rPr sz="1200" b="0">
                <a:solidFill>
                  <a:srgbClr val="5B6372"/>
                </a:solidFill>
                <a:latin typeface="Arial"/>
              </a:rPr>
              <a:t>Equal gaps, arbitrary zero. Degrees Celsius, calendar date. Differences valid, ratios not.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Ratio</a:t>
            </a:r>
          </a:p>
          <a:p>
            <a:pPr algn="l">
              <a:spcAft>
                <a:spcPts val="300"/>
              </a:spcAft>
            </a:pPr>
            <a:r>
              <a:rPr sz="1200" b="0">
                <a:solidFill>
                  <a:srgbClr val="5B6372"/>
                </a:solidFill>
                <a:latin typeface="Arial"/>
              </a:rPr>
              <a:t>Equal gaps, true zero. Time, weight, pressure, cost. Every statistic is valid.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Why Black Belts care</a:t>
            </a:r>
          </a:p>
          <a:p>
            <a:pPr algn="l">
              <a:spcAft>
                <a:spcPts val="300"/>
              </a:spcAft>
            </a:pPr>
            <a:r>
              <a:rPr sz="1200" b="0">
                <a:solidFill>
                  <a:srgbClr val="5B6372"/>
                </a:solidFill>
                <a:latin typeface="Arial"/>
              </a:rPr>
              <a:t>The scale caps which statistics are meaningful, whatever the software will compute.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classic error</a:t>
            </a:r>
          </a:p>
          <a:p>
            <a:pPr algn="l">
              <a:spcAft>
                <a:spcPts val="300"/>
              </a:spcAft>
            </a:pPr>
            <a:r>
              <a:rPr sz="1200" b="0">
                <a:solidFill>
                  <a:srgbClr val="5B6372"/>
                </a:solidFill>
                <a:latin typeface="Arial"/>
              </a:rPr>
              <a:t>Averaging an ordinal severity score. 'Mean severity 2.7' has no physical meaning.</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Continuous vs discrete data</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Continuous (variable)</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Any value on a real scale</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Infinitely divisible: 4.37 hours, 12.63 mL/h</a:t>
            </a:r>
          </a:p>
          <a:p>
            <a:pPr>
              <a:spcAft>
                <a:spcPts val="700"/>
              </a:spcAft>
            </a:pPr>
            <a:r>
              <a:rPr sz="1200">
                <a:solidFill>
                  <a:srgbClr val="161B26"/>
                </a:solidFill>
                <a:latin typeface="Arial"/>
              </a:rPr>
              <a:t>•  Far more information per data point</a:t>
            </a:r>
          </a:p>
          <a:p>
            <a:pPr>
              <a:spcAft>
                <a:spcPts val="700"/>
              </a:spcAft>
            </a:pPr>
            <a:r>
              <a:rPr sz="1200">
                <a:solidFill>
                  <a:srgbClr val="161B26"/>
                </a:solidFill>
                <a:latin typeface="Arial"/>
              </a:rPr>
              <a:t>•  Needs 20 to 30 points for a decent estimate</a:t>
            </a:r>
          </a:p>
          <a:p>
            <a:pPr>
              <a:spcAft>
                <a:spcPts val="700"/>
              </a:spcAft>
            </a:pPr>
            <a:r>
              <a:rPr sz="1200">
                <a:solidFill>
                  <a:srgbClr val="161B26"/>
                </a:solidFill>
                <a:latin typeface="Arial"/>
              </a:rPr>
              <a:t>•  Enables capability, t-tests, regression</a:t>
            </a:r>
          </a:p>
          <a:p>
            <a:pPr>
              <a:spcAft>
                <a:spcPts val="700"/>
              </a:spcAft>
            </a:pPr>
            <a:r>
              <a:rPr sz="1200">
                <a:solidFill>
                  <a:srgbClr val="161B26"/>
                </a:solidFill>
                <a:latin typeface="Arial"/>
              </a:rPr>
              <a:t>•  Meridian: flow rate, torque, test duration</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Discrete (attribute)</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Counts and categories</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Whole counts or categories: 3 defects, pass/fail</a:t>
            </a:r>
          </a:p>
          <a:p>
            <a:pPr>
              <a:spcAft>
                <a:spcPts val="700"/>
              </a:spcAft>
            </a:pPr>
            <a:r>
              <a:rPr sz="1200">
                <a:solidFill>
                  <a:srgbClr val="161B26"/>
                </a:solidFill>
                <a:latin typeface="Arial"/>
              </a:rPr>
              <a:t>•  Very little information per data point</a:t>
            </a:r>
          </a:p>
          <a:p>
            <a:pPr>
              <a:spcAft>
                <a:spcPts val="700"/>
              </a:spcAft>
            </a:pPr>
            <a:r>
              <a:rPr sz="1200">
                <a:solidFill>
                  <a:srgbClr val="161B26"/>
                </a:solidFill>
                <a:latin typeface="Arial"/>
              </a:rPr>
              <a:t>•  May need hundreds of points for the same precision</a:t>
            </a:r>
          </a:p>
          <a:p>
            <a:pPr>
              <a:spcAft>
                <a:spcPts val="700"/>
              </a:spcAft>
            </a:pPr>
            <a:r>
              <a:rPr sz="1200">
                <a:solidFill>
                  <a:srgbClr val="161B26"/>
                </a:solidFill>
                <a:latin typeface="Arial"/>
              </a:rPr>
              <a:t>•  Proportions, chi-square, attribute charts</a:t>
            </a:r>
          </a:p>
          <a:p>
            <a:pPr>
              <a:spcAft>
                <a:spcPts val="700"/>
              </a:spcAft>
            </a:pPr>
            <a:r>
              <a:rPr sz="1200">
                <a:solidFill>
                  <a:srgbClr val="161B26"/>
                </a:solidFill>
                <a:latin typeface="Arial"/>
              </a:rPr>
              <a:t>•  Meridian: pump passes or fails functional test</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The Black Belt move</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Convert up wherever possible</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Behind every pass/fail sits a measured value</a:t>
            </a:r>
          </a:p>
          <a:p>
            <a:pPr>
              <a:spcAft>
                <a:spcPts val="700"/>
              </a:spcAft>
            </a:pPr>
            <a:r>
              <a:rPr sz="1200">
                <a:solidFill>
                  <a:srgbClr val="161B26"/>
                </a:solidFill>
                <a:latin typeface="Arial"/>
              </a:rPr>
              <a:t>•  'Fail' hides the actual leak rate in mL/min</a:t>
            </a:r>
          </a:p>
          <a:p>
            <a:pPr>
              <a:spcAft>
                <a:spcPts val="700"/>
              </a:spcAft>
            </a:pPr>
            <a:r>
              <a:rPr sz="1200">
                <a:solidFill>
                  <a:srgbClr val="161B26"/>
                </a:solidFill>
                <a:latin typeface="Arial"/>
              </a:rPr>
              <a:t>•  Record the value, not just the verdict</a:t>
            </a:r>
          </a:p>
          <a:p>
            <a:pPr>
              <a:spcAft>
                <a:spcPts val="700"/>
              </a:spcAft>
            </a:pPr>
            <a:r>
              <a:rPr sz="1200">
                <a:solidFill>
                  <a:srgbClr val="161B26"/>
                </a:solidFill>
                <a:latin typeface="Arial"/>
              </a:rPr>
              <a:t>•  Sample size drops by an order of magnitude</a:t>
            </a:r>
          </a:p>
          <a:p>
            <a:pPr>
              <a:spcAft>
                <a:spcPts val="700"/>
              </a:spcAft>
            </a:pPr>
            <a:r>
              <a:rPr sz="1200">
                <a:solidFill>
                  <a:srgbClr val="161B26"/>
                </a:solidFill>
                <a:latin typeface="Arial"/>
              </a:rPr>
              <a:t>•  You also gain an early-warning signal</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Operational definitions - two people, one number</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test</a:t>
            </a:r>
          </a:p>
          <a:p>
            <a:pPr algn="l">
              <a:spcAft>
                <a:spcPts val="300"/>
              </a:spcAft>
            </a:pPr>
            <a:r>
              <a:rPr sz="1200" b="0">
                <a:solidFill>
                  <a:srgbClr val="5B6372"/>
                </a:solidFill>
                <a:latin typeface="Arial"/>
              </a:rPr>
              <a:t>Two trained people measure the same unit independently and record the same number.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Define the measure</a:t>
            </a:r>
          </a:p>
          <a:p>
            <a:pPr algn="l">
              <a:spcAft>
                <a:spcPts val="300"/>
              </a:spcAft>
            </a:pPr>
            <a:r>
              <a:rPr sz="1200" b="0">
                <a:solidFill>
                  <a:srgbClr val="5B6372"/>
                </a:solidFill>
                <a:latin typeface="Arial"/>
              </a:rPr>
              <a:t>'Occlusion alarm delay' means seconds from full occlusion to audible alarm.</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Define the method</a:t>
            </a:r>
          </a:p>
          <a:p>
            <a:pPr algn="l">
              <a:spcAft>
                <a:spcPts val="300"/>
              </a:spcAft>
            </a:pPr>
            <a:r>
              <a:rPr sz="1200" b="0">
                <a:solidFill>
                  <a:srgbClr val="5B6372"/>
                </a:solidFill>
                <a:latin typeface="Arial"/>
              </a:rPr>
              <a:t>Which rig, which firmware version, which ambient temperature, which rounding.</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Define the boundary</a:t>
            </a:r>
          </a:p>
          <a:p>
            <a:pPr algn="l">
              <a:spcAft>
                <a:spcPts val="300"/>
              </a:spcAft>
            </a:pPr>
            <a:r>
              <a:rPr sz="1200" b="0">
                <a:solidFill>
                  <a:srgbClr val="5B6372"/>
                </a:solidFill>
                <a:latin typeface="Arial"/>
              </a:rPr>
              <a:t>What is excluded: engineering builds, retest units, validation lots.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Define the decision</a:t>
            </a:r>
          </a:p>
          <a:p>
            <a:pPr algn="l">
              <a:spcAft>
                <a:spcPts val="300"/>
              </a:spcAft>
            </a:pPr>
            <a:r>
              <a:rPr sz="1200" b="0">
                <a:solidFill>
                  <a:srgbClr val="5B6372"/>
                </a:solidFill>
                <a:latin typeface="Arial"/>
              </a:rPr>
              <a:t>The exact criterion separating conforming from non-conforming.</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Pilot it first</a:t>
            </a:r>
          </a:p>
          <a:p>
            <a:pPr algn="l">
              <a:spcAft>
                <a:spcPts val="300"/>
              </a:spcAft>
            </a:pPr>
            <a:r>
              <a:rPr sz="1200" b="0">
                <a:solidFill>
                  <a:srgbClr val="5B6372"/>
                </a:solidFill>
                <a:latin typeface="Arial"/>
              </a:rPr>
              <a:t>Run it with two appraisers. If they disagree, the definition is not finished.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data collection plan - the columns that matter</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What</a:t>
            </a:r>
          </a:p>
          <a:p>
            <a:pPr algn="l">
              <a:spcAft>
                <a:spcPts val="300"/>
              </a:spcAft>
            </a:pPr>
            <a:r>
              <a:rPr sz="1200" b="0">
                <a:solidFill>
                  <a:srgbClr val="5B6372"/>
                </a:solidFill>
                <a:latin typeface="Arial"/>
              </a:rPr>
              <a:t>The exact measure and its units, tied to a written operational definition.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Who</a:t>
            </a:r>
          </a:p>
          <a:p>
            <a:pPr algn="l">
              <a:spcAft>
                <a:spcPts val="300"/>
              </a:spcAft>
            </a:pPr>
            <a:r>
              <a:rPr sz="1200" b="0">
                <a:solidFill>
                  <a:srgbClr val="5B6372"/>
                </a:solidFill>
                <a:latin typeface="Arial"/>
              </a:rPr>
              <a:t>The named person or automated system responsible for each observation.</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When</a:t>
            </a:r>
          </a:p>
          <a:p>
            <a:pPr algn="l">
              <a:spcAft>
                <a:spcPts val="300"/>
              </a:spcAft>
            </a:pPr>
            <a:r>
              <a:rPr sz="1200" b="0">
                <a:solidFill>
                  <a:srgbClr val="5B6372"/>
                </a:solidFill>
                <a:latin typeface="Arial"/>
              </a:rPr>
              <a:t>Frequency, timing and duration - and whether it spans all shifts and all lines.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How</a:t>
            </a:r>
          </a:p>
          <a:p>
            <a:pPr algn="l">
              <a:spcAft>
                <a:spcPts val="300"/>
              </a:spcAft>
            </a:pPr>
            <a:r>
              <a:rPr sz="1200" b="0">
                <a:solidFill>
                  <a:srgbClr val="5B6372"/>
                </a:solidFill>
                <a:latin typeface="Arial"/>
              </a:rPr>
              <a:t>Instrument, fixture, system field, check sheet, exact recording method.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Sample size</a:t>
            </a:r>
          </a:p>
          <a:p>
            <a:pPr algn="l">
              <a:spcAft>
                <a:spcPts val="300"/>
              </a:spcAft>
            </a:pPr>
            <a:r>
              <a:rPr sz="1200" b="0">
                <a:solidFill>
                  <a:srgbClr val="5B6372"/>
                </a:solidFill>
                <a:latin typeface="Arial"/>
              </a:rPr>
              <a:t>Calculated from a target precision, never chosen for convenience.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Stratification</a:t>
            </a:r>
          </a:p>
          <a:p>
            <a:pPr algn="l">
              <a:spcAft>
                <a:spcPts val="300"/>
              </a:spcAft>
            </a:pPr>
            <a:r>
              <a:rPr sz="1200" b="0">
                <a:solidFill>
                  <a:srgbClr val="5B6372"/>
                </a:solidFill>
                <a:latin typeface="Arial"/>
              </a:rPr>
              <a:t>Factors captured alongside each point: shift, line, operator, lot, plant.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Stratification factors you will wish you had recorded</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Plant and line</a:t>
            </a:r>
          </a:p>
          <a:p>
            <a:pPr algn="l">
              <a:spcAft>
                <a:spcPts val="300"/>
              </a:spcAft>
            </a:pPr>
            <a:r>
              <a:rPr sz="1200" b="0">
                <a:solidFill>
                  <a:srgbClr val="5B6372"/>
                </a:solidFill>
                <a:latin typeface="Arial"/>
              </a:rPr>
              <a:t>Singapore, Penang and Suzhou rarely behave as one population.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Shift and day of week</a:t>
            </a:r>
          </a:p>
          <a:p>
            <a:pPr algn="l">
              <a:spcAft>
                <a:spcPts val="300"/>
              </a:spcAft>
            </a:pPr>
            <a:r>
              <a:rPr sz="1200" b="0">
                <a:solidFill>
                  <a:srgbClr val="5B6372"/>
                </a:solidFill>
                <a:latin typeface="Arial"/>
              </a:rPr>
              <a:t>Night shift and Monday start-up are classic hidden strata.</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Operator and appraiser</a:t>
            </a:r>
          </a:p>
          <a:p>
            <a:pPr algn="l">
              <a:spcAft>
                <a:spcPts val="300"/>
              </a:spcAft>
            </a:pPr>
            <a:r>
              <a:rPr sz="1200" b="0">
                <a:solidFill>
                  <a:srgbClr val="5B6372"/>
                </a:solidFill>
                <a:latin typeface="Arial"/>
              </a:rPr>
              <a:t>Needed later to separate reproducibility from process variation.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Machine, fixture and tool ID</a:t>
            </a:r>
          </a:p>
          <a:p>
            <a:pPr algn="l">
              <a:spcAft>
                <a:spcPts val="300"/>
              </a:spcAft>
            </a:pPr>
            <a:r>
              <a:rPr sz="1200" b="0">
                <a:solidFill>
                  <a:srgbClr val="5B6372"/>
                </a:solidFill>
                <a:latin typeface="Arial"/>
              </a:rPr>
              <a:t>The only way to find a single drifting station.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Component lot and supplier</a:t>
            </a:r>
          </a:p>
          <a:p>
            <a:pPr algn="l">
              <a:spcAft>
                <a:spcPts val="300"/>
              </a:spcAft>
            </a:pPr>
            <a:r>
              <a:rPr sz="1200" b="0">
                <a:solidFill>
                  <a:srgbClr val="5B6372"/>
                </a:solidFill>
                <a:latin typeface="Arial"/>
              </a:rPr>
              <a:t>Incoming variation often explains the output variation.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Variant and firmware revision</a:t>
            </a:r>
          </a:p>
          <a:p>
            <a:pPr algn="l">
              <a:spcAft>
                <a:spcPts val="300"/>
              </a:spcAft>
            </a:pPr>
            <a:r>
              <a:rPr sz="1200" b="0">
                <a:solidFill>
                  <a:srgbClr val="5B6372"/>
                </a:solidFill>
                <a:latin typeface="Arial"/>
              </a:rPr>
              <a:t>Mixing variants creates artificial bi-modality in the histogram.</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MEASURE - BLACK BELT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Sampling is a design decision, not an afterthought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sampling scheme fixes what questions your data can ever answer. Get it wrong and no amount of clever analysis later can rescue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four probability sampling schemes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Simple random</a:t>
            </a:r>
          </a:p>
          <a:p>
            <a:pPr algn="l">
              <a:spcAft>
                <a:spcPts val="300"/>
              </a:spcAft>
            </a:pPr>
            <a:r>
              <a:rPr sz="1200" b="0">
                <a:solidFill>
                  <a:srgbClr val="5B6372"/>
                </a:solidFill>
                <a:latin typeface="Arial"/>
              </a:rPr>
              <a:t>Every unit has an equal chance. Use a generator, never operator intuition.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Stratified random</a:t>
            </a:r>
          </a:p>
          <a:p>
            <a:pPr algn="l">
              <a:spcAft>
                <a:spcPts val="300"/>
              </a:spcAft>
            </a:pPr>
            <a:r>
              <a:rPr sz="1200" b="0">
                <a:solidFill>
                  <a:srgbClr val="5B6372"/>
                </a:solidFill>
                <a:latin typeface="Arial"/>
              </a:rPr>
              <a:t>Split into homogeneous strata, sample within each. Best when strata differ.</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Systematic</a:t>
            </a:r>
          </a:p>
          <a:p>
            <a:pPr algn="l">
              <a:spcAft>
                <a:spcPts val="300"/>
              </a:spcAft>
            </a:pPr>
            <a:r>
              <a:rPr sz="1200" b="0">
                <a:solidFill>
                  <a:srgbClr val="5B6372"/>
                </a:solidFill>
                <a:latin typeface="Arial"/>
              </a:rPr>
              <a:t>Every Nth unit after a random start. Fails if a process cycle matches your interval.</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Cluster</a:t>
            </a:r>
          </a:p>
          <a:p>
            <a:pPr algn="l">
              <a:spcAft>
                <a:spcPts val="300"/>
              </a:spcAft>
            </a:pPr>
            <a:r>
              <a:rPr sz="1200" b="0">
                <a:solidFill>
                  <a:srgbClr val="5B6372"/>
                </a:solidFill>
                <a:latin typeface="Arial"/>
              </a:rPr>
              <a:t>Randomly select whole groups - a shift, a lot, a line - and measure all within.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Meridian choice</a:t>
            </a:r>
          </a:p>
          <a:p>
            <a:pPr algn="l">
              <a:spcAft>
                <a:spcPts val="300"/>
              </a:spcAft>
            </a:pPr>
            <a:r>
              <a:rPr sz="1200" b="0">
                <a:solidFill>
                  <a:srgbClr val="5B6372"/>
                </a:solidFill>
                <a:latin typeface="Arial"/>
              </a:rPr>
              <a:t>Stratify by plant then by shift: the three plants have different equipment ages.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Never</a:t>
            </a:r>
          </a:p>
          <a:p>
            <a:pPr algn="l">
              <a:spcAft>
                <a:spcPts val="300"/>
              </a:spcAft>
            </a:pPr>
            <a:r>
              <a:rPr sz="1200" b="0">
                <a:solidFill>
                  <a:srgbClr val="5B6372"/>
                </a:solidFill>
                <a:latin typeface="Arial"/>
              </a:rPr>
              <a:t>Convenience or judgement sampling. Selection probability is unknown, so bias is unmeasurable.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Sampling techniques</a:t>
            </a:r>
          </a:p>
        </p:txBody>
      </p:sp>
      <p:pic>
        <p:nvPicPr>
          <p:cNvPr id="6" name="Picture 5" descr="sampling-techniques.png"/>
          <p:cNvPicPr>
            <a:picLocks noChangeAspect="1"/>
          </p:cNvPicPr>
          <p:nvPr/>
        </p:nvPicPr>
        <p:blipFill>
          <a:blip r:embed="rId2"/>
          <a:stretch>
            <a:fillRect/>
          </a:stretch>
        </p:blipFill>
        <p:spPr>
          <a:xfrm>
            <a:off x="1746213" y="1737360"/>
            <a:ext cx="8699269" cy="4160520"/>
          </a:xfrm>
          <a:prstGeom prst="rect">
            <a:avLst/>
          </a:prstGeom>
        </p:spPr>
      </p:pic>
      <p:sp>
        <p:nvSpPr>
          <p:cNvPr id="7" name="TextBox 6"/>
          <p:cNvSpPr txBox="1"/>
          <p:nvPr/>
        </p:nvSpPr>
        <p:spPr>
          <a:xfrm>
            <a:off x="777240" y="6007608"/>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Only probability-based methods support statistical inference. Convenience and judgement sampling do not.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Sample size - CONTINUOUS data</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Formula</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n = (1.96 s / d)^2</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 = standard deviation, d = acceptable margin of error, 1.96 = 95 percent confidence z-value.</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Meridian example</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n = (1.96 x 0.42 / 0.15)^2</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Estimate mean pump flow-rate error within 0.15 mL/h; pilot of 25 units gave s = 0.42 mL/h.</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Result</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(5.488)^2 = 30.1 -&gt; n = 31</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Thirty-one pumps. Always round the calculated sample size UP, never down.</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Halving the margin of error d quadruples the required sample size. Precision is bought, not wished for.</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Sample size - DISCRETE data</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Formula</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n = (1.96/d)^2 x p(1-p)</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p = estimated proportion defective, d = margin of error on that proportion.</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Meridian example</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n = (1.96/0.02)^2 x 0.116 x 0.884</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Functional-test failure rate is about 11.6 percent; estimate it within +/- 2 percentage points.</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Result</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9604 x 0.1025 = 984.8 -&gt; n = 985</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985 pumps against 31 for the continuous measure. Attribute data is thirty times more expensive.</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This single comparison is the strongest argument for converting attribute measures to continuous ones.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MEASURE - BLACK BELT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Recap in depth: continuous Gage R&amp;R</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Total observed variation = true process variation + measurement system variation. Until you have split those two, every number you have is a guess with decimal places.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Sources of variation - the MSA tree</a:t>
            </a:r>
          </a:p>
        </p:txBody>
      </p:sp>
      <p:pic>
        <p:nvPicPr>
          <p:cNvPr id="6" name="Picture 5" descr="msa-variation-tree.png"/>
          <p:cNvPicPr>
            <a:picLocks noChangeAspect="1"/>
          </p:cNvPicPr>
          <p:nvPr/>
        </p:nvPicPr>
        <p:blipFill>
          <a:blip r:embed="rId2"/>
          <a:stretch>
            <a:fillRect/>
          </a:stretch>
        </p:blipFill>
        <p:spPr>
          <a:xfrm>
            <a:off x="1820934" y="1737360"/>
            <a:ext cx="8549826" cy="4160520"/>
          </a:xfrm>
          <a:prstGeom prst="rect">
            <a:avLst/>
          </a:prstGeom>
        </p:spPr>
      </p:pic>
      <p:sp>
        <p:nvSpPr>
          <p:cNvPr id="7" name="TextBox 6"/>
          <p:cNvSpPr txBox="1"/>
          <p:nvPr/>
        </p:nvSpPr>
        <p:spPr>
          <a:xfrm>
            <a:off x="777240" y="6007608"/>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Observed variation splits into true process variation and measurement system variation, which splits again into repeatability and reproducibility.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variation equation</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Total observed</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Var(total) = Var(process) + Var(MS)</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Variances add; standard deviations do not. Always work in variance terms.</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Measurement system</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Var(MS) = Var(repeat) + Var(reprod)</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Repeatability is the equipment. Reproducibility is the appraiser.</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Meridian flow rig</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Var(MS) = 0.0064 + 0.0021</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sigma(MS) = sqrt(0.0085) = 0.092 mL/h against a total sigma of 0.42 mL/h.</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Accuracy, linearity and stability</a:t>
            </a:r>
          </a:p>
        </p:txBody>
      </p:sp>
      <p:pic>
        <p:nvPicPr>
          <p:cNvPr id="6" name="Picture 5" descr="msa-accuracy.png"/>
          <p:cNvPicPr>
            <a:picLocks noChangeAspect="1"/>
          </p:cNvPicPr>
          <p:nvPr/>
        </p:nvPicPr>
        <p:blipFill>
          <a:blip r:embed="rId2"/>
          <a:stretch>
            <a:fillRect/>
          </a:stretch>
        </p:blipFill>
        <p:spPr>
          <a:xfrm>
            <a:off x="1860318" y="1737360"/>
            <a:ext cx="8471058" cy="4160520"/>
          </a:xfrm>
          <a:prstGeom prst="rect">
            <a:avLst/>
          </a:prstGeom>
        </p:spPr>
      </p:pic>
      <p:sp>
        <p:nvSpPr>
          <p:cNvPr id="7" name="TextBox 6"/>
          <p:cNvSpPr txBox="1"/>
          <p:nvPr/>
        </p:nvSpPr>
        <p:spPr>
          <a:xfrm>
            <a:off x="777240" y="6007608"/>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Accuracy is the offset from truth. Linearity is whether the offset changes across the range. Stability is whether it drifts over time.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Repeatability and reproducibility</a:t>
            </a:r>
          </a:p>
        </p:txBody>
      </p:sp>
      <p:pic>
        <p:nvPicPr>
          <p:cNvPr id="6" name="Picture 5" descr="msa-repeatability.png"/>
          <p:cNvPicPr>
            <a:picLocks noChangeAspect="1"/>
          </p:cNvPicPr>
          <p:nvPr/>
        </p:nvPicPr>
        <p:blipFill>
          <a:blip r:embed="rId2"/>
          <a:stretch>
            <a:fillRect/>
          </a:stretch>
        </p:blipFill>
        <p:spPr>
          <a:xfrm>
            <a:off x="1348157" y="1737360"/>
            <a:ext cx="9495380" cy="4160520"/>
          </a:xfrm>
          <a:prstGeom prst="rect">
            <a:avLst/>
          </a:prstGeom>
        </p:spPr>
      </p:pic>
      <p:sp>
        <p:nvSpPr>
          <p:cNvPr id="7" name="TextBox 6"/>
          <p:cNvSpPr txBox="1"/>
          <p:nvPr/>
        </p:nvSpPr>
        <p:spPr>
          <a:xfrm>
            <a:off x="777240" y="6007608"/>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Gage R&amp;R quantifies both components, so you know whether to fix the equipment or to retrain and re-standardise the people.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Repeatability vs Reproducibility</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Repeatability</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Equipment variation - EV</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SAME appraiser, SAME part, repeated trials</a:t>
            </a:r>
          </a:p>
          <a:p>
            <a:pPr>
              <a:spcAft>
                <a:spcPts val="700"/>
              </a:spcAft>
            </a:pPr>
            <a:r>
              <a:rPr sz="1200">
                <a:solidFill>
                  <a:srgbClr val="161B26"/>
                </a:solidFill>
                <a:latin typeface="Arial"/>
              </a:rPr>
              <a:t>•  Variation inherent in the device or fixture</a:t>
            </a:r>
          </a:p>
          <a:p>
            <a:pPr>
              <a:spcAft>
                <a:spcPts val="700"/>
              </a:spcAft>
            </a:pPr>
            <a:r>
              <a:rPr sz="1200">
                <a:solidFill>
                  <a:srgbClr val="161B26"/>
                </a:solidFill>
                <a:latin typeface="Arial"/>
              </a:rPr>
              <a:t>•  A poor result means the instrument is the problem</a:t>
            </a:r>
          </a:p>
          <a:p>
            <a:pPr>
              <a:spcAft>
                <a:spcPts val="700"/>
              </a:spcAft>
            </a:pPr>
            <a:r>
              <a:rPr sz="1200">
                <a:solidFill>
                  <a:srgbClr val="161B26"/>
                </a:solidFill>
                <a:latin typeface="Arial"/>
              </a:rPr>
              <a:t>•  Fix: better gauge, better fixture, finer resolution</a:t>
            </a:r>
          </a:p>
          <a:p>
            <a:pPr>
              <a:spcAft>
                <a:spcPts val="700"/>
              </a:spcAft>
            </a:pPr>
            <a:r>
              <a:rPr sz="1200">
                <a:solidFill>
                  <a:srgbClr val="161B26"/>
                </a:solidFill>
                <a:latin typeface="Arial"/>
              </a:rPr>
              <a:t>•  Meridian: one technician, one pump, three reads</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Reproducibility</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Appraiser variation - AV</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DIFFERENT appraisers, SAME part, same conditions</a:t>
            </a:r>
          </a:p>
          <a:p>
            <a:pPr>
              <a:spcAft>
                <a:spcPts val="700"/>
              </a:spcAft>
            </a:pPr>
            <a:r>
              <a:rPr sz="1200">
                <a:solidFill>
                  <a:srgbClr val="161B26"/>
                </a:solidFill>
                <a:latin typeface="Arial"/>
              </a:rPr>
              <a:t>•  Variation caused by who is doing the measuring</a:t>
            </a:r>
          </a:p>
          <a:p>
            <a:pPr>
              <a:spcAft>
                <a:spcPts val="700"/>
              </a:spcAft>
            </a:pPr>
            <a:r>
              <a:rPr sz="1200">
                <a:solidFill>
                  <a:srgbClr val="161B26"/>
                </a:solidFill>
                <a:latin typeface="Arial"/>
              </a:rPr>
              <a:t>•  A poor result means definition or training failed</a:t>
            </a:r>
          </a:p>
          <a:p>
            <a:pPr>
              <a:spcAft>
                <a:spcPts val="700"/>
              </a:spcAft>
            </a:pPr>
            <a:r>
              <a:rPr sz="1200">
                <a:solidFill>
                  <a:srgbClr val="161B26"/>
                </a:solidFill>
                <a:latin typeface="Arial"/>
              </a:rPr>
              <a:t>•  Fix: operational definitions, training, standard work</a:t>
            </a:r>
          </a:p>
          <a:p>
            <a:pPr>
              <a:spcAft>
                <a:spcPts val="700"/>
              </a:spcAft>
            </a:pPr>
            <a:r>
              <a:rPr sz="1200">
                <a:solidFill>
                  <a:srgbClr val="161B26"/>
                </a:solidFill>
                <a:latin typeface="Arial"/>
              </a:rPr>
              <a:t>•  Meridian: three technicians on the same 10 pumps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Designing a valid crossed Gage R&amp;R</a:t>
            </a:r>
          </a:p>
        </p:txBody>
      </p:sp>
      <p:sp>
        <p:nvSpPr>
          <p:cNvPr id="6" name="Rectangle 5"/>
          <p:cNvSpPr/>
          <p:nvPr/>
        </p:nvSpPr>
        <p:spPr>
          <a:xfrm>
            <a:off x="77724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Select 10 parts spanning the FULL range of real process variation</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601468"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Use 3 appraisers who normally perform this measurement</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4425696"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Each appraiser measures every part 3 times: 90 readings total</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6249924"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Randomise the order and blind the appraisers to prior readings</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8074152"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Run ANOVA to partition part, appraiser and interaction variance</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6" name="Rectangle 35"/>
          <p:cNvSpPr/>
          <p:nvPr/>
        </p:nvSpPr>
        <p:spPr>
          <a:xfrm>
            <a:off x="989838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Report %study variation, %tolerance, %contribution and ndc</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Design rules a Black Belt must enforce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Parts span the real range</a:t>
            </a:r>
          </a:p>
          <a:p>
            <a:pPr algn="l">
              <a:spcAft>
                <a:spcPts val="300"/>
              </a:spcAft>
            </a:pPr>
            <a:r>
              <a:rPr sz="1200" b="0">
                <a:solidFill>
                  <a:srgbClr val="5B6372"/>
                </a:solidFill>
                <a:latin typeface="Arial"/>
              </a:rPr>
              <a:t>Ten near-identical parts make any gauge look excellent. This is the top error.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Parts are NOT selected to spec</a:t>
            </a:r>
          </a:p>
          <a:p>
            <a:pPr algn="l">
              <a:spcAft>
                <a:spcPts val="300"/>
              </a:spcAft>
            </a:pPr>
            <a:r>
              <a:rPr sz="1200" b="0">
                <a:solidFill>
                  <a:srgbClr val="5B6372"/>
                </a:solidFill>
                <a:latin typeface="Arial"/>
              </a:rPr>
              <a:t>Sample from actual production output, not from a bin of known good units.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Appraisers are the real users</a:t>
            </a:r>
          </a:p>
          <a:p>
            <a:pPr algn="l">
              <a:spcAft>
                <a:spcPts val="300"/>
              </a:spcAft>
            </a:pPr>
            <a:r>
              <a:rPr sz="1200" b="0">
                <a:solidFill>
                  <a:srgbClr val="5B6372"/>
                </a:solidFill>
                <a:latin typeface="Arial"/>
              </a:rPr>
              <a:t>Studying engineers proves nothing about how night shift measures.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Randomise and blind</a:t>
            </a:r>
          </a:p>
          <a:p>
            <a:pPr algn="l">
              <a:spcAft>
                <a:spcPts val="300"/>
              </a:spcAft>
            </a:pPr>
            <a:r>
              <a:rPr sz="1200" b="0">
                <a:solidFill>
                  <a:srgbClr val="5B6372"/>
                </a:solidFill>
                <a:latin typeface="Arial"/>
              </a:rPr>
              <a:t>Otherwise trial 2 measures memory, not the gauge.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Ten by three by three</a:t>
            </a:r>
          </a:p>
          <a:p>
            <a:pPr algn="l">
              <a:spcAft>
                <a:spcPts val="300"/>
              </a:spcAft>
            </a:pPr>
            <a:r>
              <a:rPr sz="1200" b="0">
                <a:solidFill>
                  <a:srgbClr val="5B6372"/>
                </a:solidFill>
                <a:latin typeface="Arial"/>
              </a:rPr>
              <a:t>Fewer parts or trials collapses the degrees of freedom for the interaction term.</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ANOVA, not X-bar/R</a:t>
            </a:r>
          </a:p>
          <a:p>
            <a:pPr algn="l">
              <a:spcAft>
                <a:spcPts val="300"/>
              </a:spcAft>
            </a:pPr>
            <a:r>
              <a:rPr sz="1200" b="0">
                <a:solidFill>
                  <a:srgbClr val="5B6372"/>
                </a:solidFill>
                <a:latin typeface="Arial"/>
              </a:rPr>
              <a:t>The ANOVA method estimates the appraiser-by-part interaction. Range method cannot.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Gage R&amp;R metrics - the calculations</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 Study Variation</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%SV = 100 x sigma(MS) / sigma(total)</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Meridian: 100 x 0.092 / 0.42 = 21.9 percent. Marginal - usable with caution.</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 Tolerance</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%Tol = 100 x 6 sigma(MS) / (USL-LSL)</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Spec is +/- 1.0 mL/h so tolerance = 2.0. 100 x 0.552 / 2.0 = 27.6 percent. Marginal.</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Number of distinct categories</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ndc = 1.41 x sigma(part) / sigma(MS)</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sigma(part) = sqrt(0.42^2 - 0.092^2) = 0.410. ndc = 1.41 x 0.410/0.092 = 6.3 -&gt; 6.</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%Contribution is variance-based, so its thresholds are the SQUARES of the %SV thresholds: 1 and 9 percent.</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Gage R&amp;R acceptance rules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Under 10 percent</a:t>
            </a:r>
          </a:p>
          <a:p>
            <a:pPr algn="l">
              <a:spcAft>
                <a:spcPts val="300"/>
              </a:spcAft>
            </a:pPr>
            <a:r>
              <a:rPr sz="1200" b="0">
                <a:solidFill>
                  <a:srgbClr val="5B6372"/>
                </a:solidFill>
                <a:latin typeface="Arial"/>
              </a:rPr>
              <a:t>GOOD. Accept the measurement system for process improvement work.</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10 to 30 percent</a:t>
            </a:r>
          </a:p>
          <a:p>
            <a:pPr algn="l">
              <a:spcAft>
                <a:spcPts val="300"/>
              </a:spcAft>
            </a:pPr>
            <a:r>
              <a:rPr sz="1200" b="0">
                <a:solidFill>
                  <a:srgbClr val="5B6372"/>
                </a:solidFill>
                <a:latin typeface="Arial"/>
              </a:rPr>
              <a:t>MARGINAL. Acceptable only by cost, criticality and application judgement.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Over 30 percent</a:t>
            </a:r>
          </a:p>
          <a:p>
            <a:pPr algn="l">
              <a:spcAft>
                <a:spcPts val="300"/>
              </a:spcAft>
            </a:pPr>
            <a:r>
              <a:rPr sz="1200" b="0">
                <a:solidFill>
                  <a:srgbClr val="5B6372"/>
                </a:solidFill>
                <a:latin typeface="Arial"/>
              </a:rPr>
              <a:t>UNACCEPTABLE. Do not collect a baseline. Fix the system as a mini-project first.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ndc 5 or more</a:t>
            </a:r>
          </a:p>
          <a:p>
            <a:pPr algn="l">
              <a:spcAft>
                <a:spcPts val="300"/>
              </a:spcAft>
            </a:pPr>
            <a:r>
              <a:rPr sz="1200" b="0">
                <a:solidFill>
                  <a:srgbClr val="5B6372"/>
                </a:solidFill>
                <a:latin typeface="Arial"/>
              </a:rPr>
              <a:t>The system resolves at least 5 distinct levels of real part variation.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ndc under 5</a:t>
            </a:r>
          </a:p>
          <a:p>
            <a:pPr algn="l">
              <a:spcAft>
                <a:spcPts val="300"/>
              </a:spcAft>
            </a:pPr>
            <a:r>
              <a:rPr sz="1200" b="0">
                <a:solidFill>
                  <a:srgbClr val="5B6372"/>
                </a:solidFill>
                <a:latin typeface="Arial"/>
              </a:rPr>
              <a:t>The gauge cannot distinguish good parts from bad. Effectively a go/no-go device.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Meridian verdict</a:t>
            </a:r>
          </a:p>
          <a:p>
            <a:pPr algn="l">
              <a:spcAft>
                <a:spcPts val="300"/>
              </a:spcAft>
            </a:pPr>
            <a:r>
              <a:rPr sz="1200" b="0">
                <a:solidFill>
                  <a:srgbClr val="5B6372"/>
                </a:solidFill>
                <a:latin typeface="Arial"/>
              </a:rPr>
              <a:t>21.9 percent SV with ndc 6: usable for improvement, not for lot release.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Acting on a failing Gage R&amp;R</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Repeatability dominates</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equipment is the problem</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Improve gauge resolution or condition</a:t>
            </a:r>
          </a:p>
          <a:p>
            <a:pPr>
              <a:spcAft>
                <a:spcPts val="700"/>
              </a:spcAft>
            </a:pPr>
            <a:r>
              <a:rPr sz="1200">
                <a:solidFill>
                  <a:srgbClr val="161B26"/>
                </a:solidFill>
                <a:latin typeface="Arial"/>
              </a:rPr>
              <a:t>•  Add a fixture to standardise part positioning</a:t>
            </a:r>
          </a:p>
          <a:p>
            <a:pPr>
              <a:spcAft>
                <a:spcPts val="700"/>
              </a:spcAft>
            </a:pPr>
            <a:r>
              <a:rPr sz="1200">
                <a:solidFill>
                  <a:srgbClr val="161B26"/>
                </a:solidFill>
                <a:latin typeface="Arial"/>
              </a:rPr>
              <a:t>•  Service, recalibrate or replace the device</a:t>
            </a:r>
          </a:p>
          <a:p>
            <a:pPr>
              <a:spcAft>
                <a:spcPts val="700"/>
              </a:spcAft>
            </a:pPr>
            <a:r>
              <a:rPr sz="1200">
                <a:solidFill>
                  <a:srgbClr val="161B26"/>
                </a:solidFill>
                <a:latin typeface="Arial"/>
              </a:rPr>
              <a:t>•  Automate the reading where feasible</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Reproducibility dominates</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People or method are the problem</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Rewrite the operational definition first</a:t>
            </a:r>
          </a:p>
          <a:p>
            <a:pPr>
              <a:spcAft>
                <a:spcPts val="700"/>
              </a:spcAft>
            </a:pPr>
            <a:r>
              <a:rPr sz="1200">
                <a:solidFill>
                  <a:srgbClr val="161B26"/>
                </a:solidFill>
                <a:latin typeface="Arial"/>
              </a:rPr>
              <a:t>•  Retrain every appraiser to one written standard</a:t>
            </a:r>
          </a:p>
          <a:p>
            <a:pPr>
              <a:spcAft>
                <a:spcPts val="700"/>
              </a:spcAft>
            </a:pPr>
            <a:r>
              <a:rPr sz="1200">
                <a:solidFill>
                  <a:srgbClr val="161B26"/>
                </a:solidFill>
                <a:latin typeface="Arial"/>
              </a:rPr>
              <a:t>•  Add master reference samples and visual aids</a:t>
            </a:r>
          </a:p>
          <a:p>
            <a:pPr>
              <a:spcAft>
                <a:spcPts val="700"/>
              </a:spcAft>
            </a:pPr>
            <a:r>
              <a:rPr sz="1200">
                <a:solidFill>
                  <a:srgbClr val="161B26"/>
                </a:solidFill>
                <a:latin typeface="Arial"/>
              </a:rPr>
              <a:t>•  Create standard work for the measurement itself</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Interaction is significant</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Appraisers differ by part type</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One appraiser struggles only with small parts</a:t>
            </a:r>
          </a:p>
          <a:p>
            <a:pPr>
              <a:spcAft>
                <a:spcPts val="700"/>
              </a:spcAft>
            </a:pPr>
            <a:r>
              <a:rPr sz="1200">
                <a:solidFill>
                  <a:srgbClr val="161B26"/>
                </a:solidFill>
                <a:latin typeface="Arial"/>
              </a:rPr>
              <a:t>•  Usually a fixture or a visibility problem</a:t>
            </a:r>
          </a:p>
          <a:p>
            <a:pPr>
              <a:spcAft>
                <a:spcPts val="700"/>
              </a:spcAft>
            </a:pPr>
            <a:r>
              <a:rPr sz="1200">
                <a:solidFill>
                  <a:srgbClr val="161B26"/>
                </a:solidFill>
                <a:latin typeface="Arial"/>
              </a:rPr>
              <a:t>•  Look at the appraiser-by-part interaction plot</a:t>
            </a:r>
          </a:p>
          <a:p>
            <a:pPr>
              <a:spcAft>
                <a:spcPts val="700"/>
              </a:spcAft>
            </a:pPr>
            <a:r>
              <a:rPr sz="1200">
                <a:solidFill>
                  <a:srgbClr val="161B26"/>
                </a:solidFill>
                <a:latin typeface="Arial"/>
              </a:rPr>
              <a:t>•  Fix the physical setup, not the person</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MEASURE - BLACK BELT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BLACK BELT ONLY: when the measurement is a judgement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Most inspection in a medical device plant is a human deciding pass or fail. Gage R&amp;R computes variances - and a pass/fail verdict has no variance to compute.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Why continuous Gage R&amp;R fails on judgement data</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No continuous scale</a:t>
            </a:r>
          </a:p>
          <a:p>
            <a:pPr algn="l">
              <a:spcAft>
                <a:spcPts val="300"/>
              </a:spcAft>
            </a:pPr>
            <a:r>
              <a:rPr sz="1200" b="0">
                <a:solidFill>
                  <a:srgbClr val="5B6372"/>
                </a:solidFill>
                <a:latin typeface="Arial"/>
              </a:rPr>
              <a:t>Pass/fail has no mean and no standard deviation to partition.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ANOVA needs variance</a:t>
            </a:r>
          </a:p>
          <a:p>
            <a:pPr algn="l">
              <a:spcAft>
                <a:spcPts val="300"/>
              </a:spcAft>
            </a:pPr>
            <a:r>
              <a:rPr sz="1200" b="0">
                <a:solidFill>
                  <a:srgbClr val="5B6372"/>
                </a:solidFill>
                <a:latin typeface="Arial"/>
              </a:rPr>
              <a:t>The entire R&amp;R method rests on decomposing variance. There is none here.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Repeat reads are identical</a:t>
            </a:r>
          </a:p>
          <a:p>
            <a:pPr algn="l">
              <a:spcAft>
                <a:spcPts val="300"/>
              </a:spcAft>
            </a:pPr>
            <a:r>
              <a:rPr sz="1200" b="0">
                <a:solidFill>
                  <a:srgbClr val="5B6372"/>
                </a:solidFill>
                <a:latin typeface="Arial"/>
              </a:rPr>
              <a:t>An appraiser almost always repeats their own verdict - falsely reassuring.</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real risk is different</a:t>
            </a:r>
          </a:p>
          <a:p>
            <a:pPr algn="l">
              <a:spcAft>
                <a:spcPts val="300"/>
              </a:spcAft>
            </a:pPr>
            <a:r>
              <a:rPr sz="1200" b="0">
                <a:solidFill>
                  <a:srgbClr val="5B6372"/>
                </a:solidFill>
                <a:latin typeface="Arial"/>
              </a:rPr>
              <a:t>Not noise around a value, but systematically calling bad units good.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Right tool: agreement</a:t>
            </a:r>
          </a:p>
          <a:p>
            <a:pPr algn="l">
              <a:spcAft>
                <a:spcPts val="300"/>
              </a:spcAft>
            </a:pPr>
            <a:r>
              <a:rPr sz="1200" b="0">
                <a:solidFill>
                  <a:srgbClr val="5B6372"/>
                </a:solidFill>
                <a:latin typeface="Arial"/>
              </a:rPr>
              <a:t>Attribute agreement analysis counts matches, then corrects for chance.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Meridian relevance</a:t>
            </a:r>
          </a:p>
          <a:p>
            <a:pPr algn="l">
              <a:spcAft>
                <a:spcPts val="300"/>
              </a:spcAft>
            </a:pPr>
            <a:r>
              <a:rPr sz="1200" b="0">
                <a:solidFill>
                  <a:srgbClr val="5B6372"/>
                </a:solidFill>
                <a:latin typeface="Arial"/>
              </a:rPr>
              <a:t>Cosmetic grading, solder-joint judgement and label legibility are all judgement calls.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Continuous MSA vs Attribute MSA</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Continuous Gage R&amp;R</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For measured values</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Data: a number on a real scale</a:t>
            </a:r>
          </a:p>
          <a:p>
            <a:pPr>
              <a:spcAft>
                <a:spcPts val="700"/>
              </a:spcAft>
            </a:pPr>
            <a:r>
              <a:rPr sz="1200">
                <a:solidFill>
                  <a:srgbClr val="161B26"/>
                </a:solidFill>
                <a:latin typeface="Arial"/>
              </a:rPr>
              <a:t>•  Method: ANOVA variance decomposition</a:t>
            </a:r>
          </a:p>
          <a:p>
            <a:pPr>
              <a:spcAft>
                <a:spcPts val="700"/>
              </a:spcAft>
            </a:pPr>
            <a:r>
              <a:rPr sz="1200">
                <a:solidFill>
                  <a:srgbClr val="161B26"/>
                </a:solidFill>
                <a:latin typeface="Arial"/>
              </a:rPr>
              <a:t>•  Outputs: %SV, %Tolerance, %Contribution, ndc</a:t>
            </a:r>
          </a:p>
          <a:p>
            <a:pPr>
              <a:spcAft>
                <a:spcPts val="700"/>
              </a:spcAft>
            </a:pPr>
            <a:r>
              <a:rPr sz="1200">
                <a:solidFill>
                  <a:srgbClr val="161B26"/>
                </a:solidFill>
                <a:latin typeface="Arial"/>
              </a:rPr>
              <a:t>•  Design: 10 parts x 3 appraisers x 3 trials</a:t>
            </a:r>
          </a:p>
          <a:p>
            <a:pPr>
              <a:spcAft>
                <a:spcPts val="700"/>
              </a:spcAft>
            </a:pPr>
            <a:r>
              <a:rPr sz="1200">
                <a:solidFill>
                  <a:srgbClr val="161B26"/>
                </a:solidFill>
                <a:latin typeface="Arial"/>
              </a:rPr>
              <a:t>•  Meridian: pump flow rate in mL/h</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Attribute agreement</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For judgements and grades</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Data: a category - pass/fail, grade A to D</a:t>
            </a:r>
          </a:p>
          <a:p>
            <a:pPr>
              <a:spcAft>
                <a:spcPts val="700"/>
              </a:spcAft>
            </a:pPr>
            <a:r>
              <a:rPr sz="1200">
                <a:solidFill>
                  <a:srgbClr val="161B26"/>
                </a:solidFill>
                <a:latin typeface="Arial"/>
              </a:rPr>
              <a:t>•  Method: agreement counting plus Kappa</a:t>
            </a:r>
          </a:p>
          <a:p>
            <a:pPr>
              <a:spcAft>
                <a:spcPts val="700"/>
              </a:spcAft>
            </a:pPr>
            <a:r>
              <a:rPr sz="1200">
                <a:solidFill>
                  <a:srgbClr val="161B26"/>
                </a:solidFill>
                <a:latin typeface="Arial"/>
              </a:rPr>
              <a:t>•  Outputs: % agreement and Kappa statistics</a:t>
            </a:r>
          </a:p>
          <a:p>
            <a:pPr>
              <a:spcAft>
                <a:spcPts val="700"/>
              </a:spcAft>
            </a:pPr>
            <a:r>
              <a:rPr sz="1200">
                <a:solidFill>
                  <a:srgbClr val="161B26"/>
                </a:solidFill>
                <a:latin typeface="Arial"/>
              </a:rPr>
              <a:t>•  Design: 30 to 50 parts x 3 appraisers x 2-3 trials</a:t>
            </a:r>
          </a:p>
          <a:p>
            <a:pPr>
              <a:spcAft>
                <a:spcPts val="700"/>
              </a:spcAft>
            </a:pPr>
            <a:r>
              <a:rPr sz="1200">
                <a:solidFill>
                  <a:srgbClr val="161B26"/>
                </a:solidFill>
                <a:latin typeface="Arial"/>
              </a:rPr>
              <a:t>•  Meridian: solder joint accept or reject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Running an attribute agreement analysis</a:t>
            </a:r>
          </a:p>
        </p:txBody>
      </p:sp>
      <p:sp>
        <p:nvSpPr>
          <p:cNvPr id="6" name="Rectangle 5"/>
          <p:cNvSpPr/>
          <p:nvPr/>
        </p:nvSpPr>
        <p:spPr>
          <a:xfrm>
            <a:off x="77724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Select 30 to 50 parts, deliberately including borderline cases</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601468"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Establish the true standard for every part via an expert panel</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4425696"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Label parts with opaque random codes, no grouping or sequence</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6249924"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Each of 3 appraisers assesses every part 2 to 3 times</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8074152"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Fully randomise the order between every trial</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6" name="Rectangle 35"/>
          <p:cNvSpPr/>
          <p:nvPr/>
        </p:nvSpPr>
        <p:spPr>
          <a:xfrm>
            <a:off x="989838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Compute within, between and versus-standard agreement plus Kappa</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three agreement questions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Within-appraiser</a:t>
            </a:r>
          </a:p>
          <a:p>
            <a:pPr algn="l">
              <a:spcAft>
                <a:spcPts val="300"/>
              </a:spcAft>
            </a:pPr>
            <a:r>
              <a:rPr sz="1200" b="0">
                <a:solidFill>
                  <a:srgbClr val="5B6372"/>
                </a:solidFill>
                <a:latin typeface="Arial"/>
              </a:rPr>
              <a:t>Does one appraiser agree with THEMSELVES across repeated trials? Repeatability.</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Between-appraiser</a:t>
            </a:r>
          </a:p>
          <a:p>
            <a:pPr algn="l">
              <a:spcAft>
                <a:spcPts val="300"/>
              </a:spcAft>
            </a:pPr>
            <a:r>
              <a:rPr sz="1200" b="0">
                <a:solidFill>
                  <a:srgbClr val="5B6372"/>
                </a:solidFill>
                <a:latin typeface="Arial"/>
              </a:rPr>
              <a:t>Do the appraisers agree with EACH OTHER? Reproducibility.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Versus the standard</a:t>
            </a:r>
          </a:p>
          <a:p>
            <a:pPr algn="l">
              <a:spcAft>
                <a:spcPts val="300"/>
              </a:spcAft>
            </a:pPr>
            <a:r>
              <a:rPr sz="1200" b="0">
                <a:solidFill>
                  <a:srgbClr val="5B6372"/>
                </a:solidFill>
                <a:latin typeface="Arial"/>
              </a:rPr>
              <a:t>Does each appraiser agree with the KNOWN TRUTH? Accuracy - the one that matters.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All appraisers vs standard</a:t>
            </a:r>
          </a:p>
          <a:p>
            <a:pPr algn="l">
              <a:spcAft>
                <a:spcPts val="300"/>
              </a:spcAft>
            </a:pPr>
            <a:r>
              <a:rPr sz="1200" b="0">
                <a:solidFill>
                  <a:srgbClr val="5B6372"/>
                </a:solidFill>
                <a:latin typeface="Arial"/>
              </a:rPr>
              <a:t>Does the whole inspection team, collectively, get it right?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dangerous case</a:t>
            </a:r>
          </a:p>
          <a:p>
            <a:pPr algn="l">
              <a:spcAft>
                <a:spcPts val="300"/>
              </a:spcAft>
            </a:pPr>
            <a:r>
              <a:rPr sz="1200" b="0">
                <a:solidFill>
                  <a:srgbClr val="5B6372"/>
                </a:solidFill>
                <a:latin typeface="Arial"/>
              </a:rPr>
              <a:t>Perfect within and between agreement, poor versus standard: consistently wrong.</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Meridian example</a:t>
            </a:r>
          </a:p>
          <a:p>
            <a:pPr algn="l">
              <a:spcAft>
                <a:spcPts val="300"/>
              </a:spcAft>
            </a:pPr>
            <a:r>
              <a:rPr sz="1200" b="0">
                <a:solidFill>
                  <a:srgbClr val="5B6372"/>
                </a:solidFill>
                <a:latin typeface="Arial"/>
              </a:rPr>
              <a:t>Three solder inspectors agreed 96 percent with each other, 78 percent with the standard.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Diagnosing an attribute MSA result</a:t>
            </a:r>
          </a:p>
        </p:txBody>
      </p:sp>
      <p:sp>
        <p:nvSpPr>
          <p:cNvPr id="6" name="Rectangle 5"/>
          <p:cNvSpPr/>
          <p:nvPr/>
        </p:nvSpPr>
        <p:spPr>
          <a:xfrm>
            <a:off x="228600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86000" y="1828800"/>
            <a:ext cx="73152" cy="18745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42032" y="2048256"/>
            <a:ext cx="3328416" cy="457200"/>
          </a:xfrm>
          <a:prstGeom prst="rect">
            <a:avLst/>
          </a:prstGeom>
          <a:noFill/>
        </p:spPr>
        <p:txBody>
          <a:bodyPr wrap="square" anchor="t">
            <a:spAutoFit/>
          </a:bodyPr>
          <a:lstStyle/>
          <a:p>
            <a:pPr algn="l">
              <a:spcAft>
                <a:spcPts val="400"/>
              </a:spcAft>
            </a:pPr>
            <a:r>
              <a:rPr sz="1600" b="1">
                <a:solidFill>
                  <a:srgbClr val="10B981"/>
                </a:solidFill>
                <a:latin typeface="Arial"/>
              </a:rPr>
              <a:t>High between, high vs standard</a:t>
            </a:r>
          </a:p>
        </p:txBody>
      </p:sp>
      <p:sp>
        <p:nvSpPr>
          <p:cNvPr id="9" name="TextBox 8"/>
          <p:cNvSpPr txBox="1"/>
          <p:nvPr/>
        </p:nvSpPr>
        <p:spPr>
          <a:xfrm>
            <a:off x="254203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The measurement system works. Proceed to baseline data collection.</a:t>
            </a:r>
          </a:p>
        </p:txBody>
      </p:sp>
      <p:sp>
        <p:nvSpPr>
          <p:cNvPr id="10" name="Rectangle 9"/>
          <p:cNvSpPr/>
          <p:nvPr/>
        </p:nvSpPr>
        <p:spPr>
          <a:xfrm>
            <a:off x="612648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126480" y="1828800"/>
            <a:ext cx="73152" cy="187451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2048256"/>
            <a:ext cx="3328416" cy="457200"/>
          </a:xfrm>
          <a:prstGeom prst="rect">
            <a:avLst/>
          </a:prstGeom>
          <a:noFill/>
        </p:spPr>
        <p:txBody>
          <a:bodyPr wrap="square" anchor="t">
            <a:spAutoFit/>
          </a:bodyPr>
          <a:lstStyle/>
          <a:p>
            <a:pPr algn="l">
              <a:spcAft>
                <a:spcPts val="400"/>
              </a:spcAft>
            </a:pPr>
            <a:r>
              <a:rPr sz="1600" b="1">
                <a:solidFill>
                  <a:srgbClr val="1F6FEB"/>
                </a:solidFill>
                <a:latin typeface="Arial"/>
              </a:rPr>
              <a:t>High between, LOW vs standard</a:t>
            </a:r>
          </a:p>
        </p:txBody>
      </p:sp>
      <p:sp>
        <p:nvSpPr>
          <p:cNvPr id="13" name="TextBox 12"/>
          <p:cNvSpPr txBox="1"/>
          <p:nvPr/>
        </p:nvSpPr>
        <p:spPr>
          <a:xfrm>
            <a:off x="638251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Consistently wrong. The written criterion itself is incorrect or mis-taught. Fix the standard, then retrain everyone.</a:t>
            </a:r>
          </a:p>
        </p:txBody>
      </p:sp>
      <p:sp>
        <p:nvSpPr>
          <p:cNvPr id="14" name="Rectangle 13"/>
          <p:cNvSpPr/>
          <p:nvPr/>
        </p:nvSpPr>
        <p:spPr>
          <a:xfrm>
            <a:off x="228600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286000" y="3703319"/>
            <a:ext cx="73152"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42032" y="3922775"/>
            <a:ext cx="3328416" cy="457200"/>
          </a:xfrm>
          <a:prstGeom prst="rect">
            <a:avLst/>
          </a:prstGeom>
          <a:noFill/>
        </p:spPr>
        <p:txBody>
          <a:bodyPr wrap="square" anchor="t">
            <a:spAutoFit/>
          </a:bodyPr>
          <a:lstStyle/>
          <a:p>
            <a:pPr algn="l">
              <a:spcAft>
                <a:spcPts val="400"/>
              </a:spcAft>
            </a:pPr>
            <a:r>
              <a:rPr sz="1600" b="1">
                <a:solidFill>
                  <a:srgbClr val="F59E0B"/>
                </a:solidFill>
                <a:latin typeface="Arial"/>
              </a:rPr>
              <a:t>LOW between, high vs standard</a:t>
            </a:r>
          </a:p>
        </p:txBody>
      </p:sp>
      <p:sp>
        <p:nvSpPr>
          <p:cNvPr id="17" name="TextBox 16"/>
          <p:cNvSpPr txBox="1"/>
          <p:nvPr/>
        </p:nvSpPr>
        <p:spPr>
          <a:xfrm>
            <a:off x="254203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Averages out to truth by luck. Individual appraisers disagree - retrain and add reference samples.</a:t>
            </a:r>
          </a:p>
        </p:txBody>
      </p:sp>
      <p:sp>
        <p:nvSpPr>
          <p:cNvPr id="18" name="Rectangle 17"/>
          <p:cNvSpPr/>
          <p:nvPr/>
        </p:nvSpPr>
        <p:spPr>
          <a:xfrm>
            <a:off x="612648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26480" y="3703319"/>
            <a:ext cx="73152" cy="1874519"/>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82512" y="3922775"/>
            <a:ext cx="3328416" cy="457200"/>
          </a:xfrm>
          <a:prstGeom prst="rect">
            <a:avLst/>
          </a:prstGeom>
          <a:noFill/>
        </p:spPr>
        <p:txBody>
          <a:bodyPr wrap="square" anchor="t">
            <a:spAutoFit/>
          </a:bodyPr>
          <a:lstStyle/>
          <a:p>
            <a:pPr algn="l">
              <a:spcAft>
                <a:spcPts val="400"/>
              </a:spcAft>
            </a:pPr>
            <a:r>
              <a:rPr sz="1600" b="1">
                <a:solidFill>
                  <a:srgbClr val="5B6372"/>
                </a:solidFill>
                <a:latin typeface="Arial"/>
              </a:rPr>
              <a:t>LOW between, LOW vs standard</a:t>
            </a:r>
          </a:p>
        </p:txBody>
      </p:sp>
      <p:sp>
        <p:nvSpPr>
          <p:cNvPr id="21" name="TextBox 20"/>
          <p:cNvSpPr txBox="1"/>
          <p:nvPr/>
        </p:nvSpPr>
        <p:spPr>
          <a:xfrm>
            <a:off x="638251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No usable measurement system. Stop. Rebuild the definition, the boundary samples and the training.</a:t>
            </a:r>
          </a:p>
        </p:txBody>
      </p:sp>
      <p:sp>
        <p:nvSpPr>
          <p:cNvPr id="22" name="TextBox 21"/>
          <p:cNvSpPr txBox="1"/>
          <p:nvPr/>
        </p:nvSpPr>
        <p:spPr>
          <a:xfrm>
            <a:off x="2286000" y="5687567"/>
            <a:ext cx="7680960" cy="365760"/>
          </a:xfrm>
          <a:prstGeom prst="rect">
            <a:avLst/>
          </a:prstGeom>
          <a:noFill/>
        </p:spPr>
        <p:txBody>
          <a:bodyPr wrap="square" anchor="t">
            <a:spAutoFit/>
          </a:bodyPr>
          <a:lstStyle/>
          <a:p>
            <a:pPr algn="ctr">
              <a:spcAft>
                <a:spcPts val="400"/>
              </a:spcAft>
            </a:pPr>
            <a:r>
              <a:rPr sz="1300" b="1">
                <a:solidFill>
                  <a:srgbClr val="161B26"/>
                </a:solidFill>
                <a:latin typeface="Arial"/>
              </a:rPr>
              <a:t>Agreement with the standard (accuracy)</a:t>
            </a:r>
          </a:p>
        </p:txBody>
      </p:sp>
      <p:sp>
        <p:nvSpPr>
          <p:cNvPr id="23" name="TextBox 22"/>
          <p:cNvSpPr txBox="1"/>
          <p:nvPr/>
        </p:nvSpPr>
        <p:spPr>
          <a:xfrm>
            <a:off x="548640" y="3520439"/>
            <a:ext cx="1645920" cy="365760"/>
          </a:xfrm>
          <a:prstGeom prst="rect">
            <a:avLst/>
          </a:prstGeom>
          <a:noFill/>
        </p:spPr>
        <p:txBody>
          <a:bodyPr wrap="square" anchor="t">
            <a:spAutoFit/>
          </a:bodyPr>
          <a:lstStyle/>
          <a:p>
            <a:pPr algn="ctr">
              <a:spcAft>
                <a:spcPts val="400"/>
              </a:spcAft>
            </a:pPr>
            <a:r>
              <a:rPr sz="1300" b="1">
                <a:solidFill>
                  <a:srgbClr val="161B26"/>
                </a:solidFill>
                <a:latin typeface="Arial"/>
              </a:rPr>
              <a:t>Agreement between appraisers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MEASURE - BLACK BELT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Kappa: agreement after chance is removed</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Two inspectors flipping coins on a pass/fail decision agree half the time. Raw agreement rewards them for that. Kappa does not.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Cohen's Kappa - the chance correction</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Kappa</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K = (Po - Pe) / (1 - Pe)</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Po = observed proportion agreeing. Pe = proportion expected to agree by chance alone.</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Numerator</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Po - Pe</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Agreement actually achieved ABOVE what random guessing would deliver.</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Denominator</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1 - Pe</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The maximum agreement available above chance. So Kappa is the fraction of that maximum earned.</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K = 1 is perfect agreement. K = 0 is exactly chance. K below 0 means worse than random guessing.</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worked example - why 90 percent can be a poor Kappa</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The data</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100 solder joints, 2 inspectors</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Both said PASS on 88. Both said FAIL on 2. They disagreed on 10 joints.</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Observed agreement</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Po = (88 + 2)/100 = 0.90</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Ninety percent raw agreement. This is the number a manager will quote in a meeting.</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Expected by chance</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Pe = (0.93x0.95) + (0.07x0.05)</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Inspector A passed 93, B passed 95. Pe = 0.8835 + 0.0035 = 0.887.</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Now compute Kappa: K = (0.90 - 0.887) / (1 - 0.887) = 0.013 / 0.113 = 0.115. Effectively no real agreement.</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Why the Kappa collapsed at 90 percent agreement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base rate is extreme</a:t>
            </a:r>
          </a:p>
          <a:p>
            <a:pPr algn="l">
              <a:spcAft>
                <a:spcPts val="300"/>
              </a:spcAft>
            </a:pPr>
            <a:r>
              <a:rPr sz="1200" b="0">
                <a:solidFill>
                  <a:srgbClr val="5B6372"/>
                </a:solidFill>
                <a:latin typeface="Arial"/>
              </a:rPr>
              <a:t>93 to 95 percent of joints pass, so chance agreement alone is already 88.7 percent.</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90 percent is nearly free</a:t>
            </a:r>
          </a:p>
          <a:p>
            <a:pPr algn="l">
              <a:spcAft>
                <a:spcPts val="300"/>
              </a:spcAft>
            </a:pPr>
            <a:r>
              <a:rPr sz="1200" b="0">
                <a:solidFill>
                  <a:srgbClr val="5B6372"/>
                </a:solidFill>
                <a:latin typeface="Arial"/>
              </a:rPr>
              <a:t>Two inspectors who ALWAYS say pass would score 88 percent agreement.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Kappa exposes it</a:t>
            </a:r>
          </a:p>
          <a:p>
            <a:pPr algn="l">
              <a:spcAft>
                <a:spcPts val="300"/>
              </a:spcAft>
            </a:pPr>
            <a:r>
              <a:rPr sz="1200" b="0">
                <a:solidFill>
                  <a:srgbClr val="5B6372"/>
                </a:solidFill>
                <a:latin typeface="Arial"/>
              </a:rPr>
              <a:t>0.115 says the inspectors add almost nothing beyond a default 'pass' reflex.</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Where they disagree matters</a:t>
            </a:r>
          </a:p>
          <a:p>
            <a:pPr algn="l">
              <a:spcAft>
                <a:spcPts val="300"/>
              </a:spcAft>
            </a:pPr>
            <a:r>
              <a:rPr sz="1200" b="0">
                <a:solidFill>
                  <a:srgbClr val="5B6372"/>
                </a:solidFill>
                <a:latin typeface="Arial"/>
              </a:rPr>
              <a:t>All 10 disagreements sit on the defective joints - the only ones that count.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lesson</a:t>
            </a:r>
          </a:p>
          <a:p>
            <a:pPr algn="l">
              <a:spcAft>
                <a:spcPts val="300"/>
              </a:spcAft>
            </a:pPr>
            <a:r>
              <a:rPr sz="1200" b="0">
                <a:solidFill>
                  <a:srgbClr val="5B6372"/>
                </a:solidFill>
                <a:latin typeface="Arial"/>
              </a:rPr>
              <a:t>Never report raw agreement alone on a rare-event judgement. Always report Kappa.</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fix</a:t>
            </a:r>
          </a:p>
          <a:p>
            <a:pPr algn="l">
              <a:spcAft>
                <a:spcPts val="300"/>
              </a:spcAft>
            </a:pPr>
            <a:r>
              <a:rPr sz="1200" b="0">
                <a:solidFill>
                  <a:srgbClr val="5B6372"/>
                </a:solidFill>
                <a:latin typeface="Arial"/>
              </a:rPr>
              <a:t>Rebalance the study sample and retrain against physical boundary specimens.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Kappa acceptance criteria</a:t>
            </a:r>
          </a:p>
        </p:txBody>
      </p:sp>
      <p:sp>
        <p:nvSpPr>
          <p:cNvPr id="6" name="Rectangle 5"/>
          <p:cNvSpPr/>
          <p:nvPr/>
        </p:nvSpPr>
        <p:spPr>
          <a:xfrm>
            <a:off x="914400" y="3754298"/>
            <a:ext cx="2432304" cy="177782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754298"/>
            <a:ext cx="243230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3973754"/>
            <a:ext cx="2212848" cy="548640"/>
          </a:xfrm>
          <a:prstGeom prst="rect">
            <a:avLst/>
          </a:prstGeom>
          <a:noFill/>
        </p:spPr>
        <p:txBody>
          <a:bodyPr wrap="square" anchor="t">
            <a:spAutoFit/>
          </a:bodyPr>
          <a:lstStyle/>
          <a:p>
            <a:pPr algn="ctr">
              <a:spcAft>
                <a:spcPts val="400"/>
              </a:spcAft>
            </a:pPr>
            <a:r>
              <a:rPr sz="1500" b="1">
                <a:solidFill>
                  <a:srgbClr val="1F6FEB"/>
                </a:solidFill>
                <a:latin typeface="Arial"/>
              </a:rPr>
              <a:t>Below 0.40</a:t>
            </a:r>
          </a:p>
        </p:txBody>
      </p:sp>
      <p:sp>
        <p:nvSpPr>
          <p:cNvPr id="9" name="TextBox 8"/>
          <p:cNvSpPr txBox="1"/>
          <p:nvPr/>
        </p:nvSpPr>
        <p:spPr>
          <a:xfrm>
            <a:off x="1042416" y="4558970"/>
            <a:ext cx="2176272" cy="863422"/>
          </a:xfrm>
          <a:prstGeom prst="rect">
            <a:avLst/>
          </a:prstGeom>
          <a:noFill/>
        </p:spPr>
        <p:txBody>
          <a:bodyPr wrap="square" anchor="t">
            <a:spAutoFit/>
          </a:bodyPr>
          <a:lstStyle/>
          <a:p>
            <a:pPr algn="ctr">
              <a:spcAft>
                <a:spcPts val="400"/>
              </a:spcAft>
            </a:pPr>
            <a:r>
              <a:rPr sz="1100" b="0">
                <a:solidFill>
                  <a:srgbClr val="5B6372"/>
                </a:solidFill>
                <a:latin typeface="Arial"/>
              </a:rPr>
              <a:t>Poor. No usable agreement. Rebuild the whole measurement method.</a:t>
            </a:r>
          </a:p>
        </p:txBody>
      </p:sp>
      <p:sp>
        <p:nvSpPr>
          <p:cNvPr id="10" name="Rectangle 9"/>
          <p:cNvSpPr/>
          <p:nvPr/>
        </p:nvSpPr>
        <p:spPr>
          <a:xfrm>
            <a:off x="3547872" y="3173426"/>
            <a:ext cx="2432304" cy="235869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547872" y="3173426"/>
            <a:ext cx="243230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657600" y="3392882"/>
            <a:ext cx="2212848" cy="548640"/>
          </a:xfrm>
          <a:prstGeom prst="rect">
            <a:avLst/>
          </a:prstGeom>
          <a:noFill/>
        </p:spPr>
        <p:txBody>
          <a:bodyPr wrap="square" anchor="t">
            <a:spAutoFit/>
          </a:bodyPr>
          <a:lstStyle/>
          <a:p>
            <a:pPr algn="ctr">
              <a:spcAft>
                <a:spcPts val="400"/>
              </a:spcAft>
            </a:pPr>
            <a:r>
              <a:rPr sz="1500" b="1">
                <a:solidFill>
                  <a:srgbClr val="10B981"/>
                </a:solidFill>
                <a:latin typeface="Arial"/>
              </a:rPr>
              <a:t>0.40 to 0.75</a:t>
            </a:r>
          </a:p>
        </p:txBody>
      </p:sp>
      <p:sp>
        <p:nvSpPr>
          <p:cNvPr id="13" name="TextBox 12"/>
          <p:cNvSpPr txBox="1"/>
          <p:nvPr/>
        </p:nvSpPr>
        <p:spPr>
          <a:xfrm>
            <a:off x="3675888" y="3978098"/>
            <a:ext cx="2176272" cy="1444294"/>
          </a:xfrm>
          <a:prstGeom prst="rect">
            <a:avLst/>
          </a:prstGeom>
          <a:noFill/>
        </p:spPr>
        <p:txBody>
          <a:bodyPr wrap="square" anchor="t">
            <a:spAutoFit/>
          </a:bodyPr>
          <a:lstStyle/>
          <a:p>
            <a:pPr algn="ctr">
              <a:spcAft>
                <a:spcPts val="400"/>
              </a:spcAft>
            </a:pPr>
            <a:r>
              <a:rPr sz="1100" b="0">
                <a:solidFill>
                  <a:srgbClr val="5B6372"/>
                </a:solidFill>
                <a:latin typeface="Arial"/>
              </a:rPr>
              <a:t>Marginal. Act now: retrain, add boundary samples, rewrite the criterion.</a:t>
            </a:r>
          </a:p>
        </p:txBody>
      </p:sp>
      <p:sp>
        <p:nvSpPr>
          <p:cNvPr id="14" name="Rectangle 13"/>
          <p:cNvSpPr/>
          <p:nvPr/>
        </p:nvSpPr>
        <p:spPr>
          <a:xfrm>
            <a:off x="6181344" y="2592553"/>
            <a:ext cx="2432304" cy="293956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181344" y="2592553"/>
            <a:ext cx="243230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291072" y="2812009"/>
            <a:ext cx="2212848" cy="548640"/>
          </a:xfrm>
          <a:prstGeom prst="rect">
            <a:avLst/>
          </a:prstGeom>
          <a:noFill/>
        </p:spPr>
        <p:txBody>
          <a:bodyPr wrap="square" anchor="t">
            <a:spAutoFit/>
          </a:bodyPr>
          <a:lstStyle/>
          <a:p>
            <a:pPr algn="ctr">
              <a:spcAft>
                <a:spcPts val="400"/>
              </a:spcAft>
            </a:pPr>
            <a:r>
              <a:rPr sz="1500" b="1">
                <a:solidFill>
                  <a:srgbClr val="7C3AED"/>
                </a:solidFill>
                <a:latin typeface="Arial"/>
              </a:rPr>
              <a:t>0.75 to 0.90</a:t>
            </a:r>
          </a:p>
        </p:txBody>
      </p:sp>
      <p:sp>
        <p:nvSpPr>
          <p:cNvPr id="17" name="TextBox 16"/>
          <p:cNvSpPr txBox="1"/>
          <p:nvPr/>
        </p:nvSpPr>
        <p:spPr>
          <a:xfrm>
            <a:off x="6309360" y="3397225"/>
            <a:ext cx="2176272" cy="2025167"/>
          </a:xfrm>
          <a:prstGeom prst="rect">
            <a:avLst/>
          </a:prstGeom>
          <a:noFill/>
        </p:spPr>
        <p:txBody>
          <a:bodyPr wrap="square" anchor="t">
            <a:spAutoFit/>
          </a:bodyPr>
          <a:lstStyle/>
          <a:p>
            <a:pPr algn="ctr">
              <a:spcAft>
                <a:spcPts val="400"/>
              </a:spcAft>
            </a:pPr>
            <a:r>
              <a:rPr sz="1100" b="0">
                <a:solidFill>
                  <a:srgbClr val="5B6372"/>
                </a:solidFill>
                <a:latin typeface="Arial"/>
              </a:rPr>
              <a:t>Acceptable. Usable for improvement work, with monitoring.</a:t>
            </a:r>
          </a:p>
        </p:txBody>
      </p:sp>
      <p:sp>
        <p:nvSpPr>
          <p:cNvPr id="18" name="Rectangle 17"/>
          <p:cNvSpPr/>
          <p:nvPr/>
        </p:nvSpPr>
        <p:spPr>
          <a:xfrm>
            <a:off x="8814816" y="2011680"/>
            <a:ext cx="2432304"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814816" y="2011680"/>
            <a:ext cx="243230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924544" y="2231136"/>
            <a:ext cx="2212848" cy="548640"/>
          </a:xfrm>
          <a:prstGeom prst="rect">
            <a:avLst/>
          </a:prstGeom>
          <a:noFill/>
        </p:spPr>
        <p:txBody>
          <a:bodyPr wrap="square" anchor="t">
            <a:spAutoFit/>
          </a:bodyPr>
          <a:lstStyle/>
          <a:p>
            <a:pPr algn="ctr">
              <a:spcAft>
                <a:spcPts val="400"/>
              </a:spcAft>
            </a:pPr>
            <a:r>
              <a:rPr sz="1500" b="1">
                <a:solidFill>
                  <a:srgbClr val="F59E0B"/>
                </a:solidFill>
                <a:latin typeface="Arial"/>
              </a:rPr>
              <a:t>0.90 and above</a:t>
            </a:r>
          </a:p>
        </p:txBody>
      </p:sp>
      <p:sp>
        <p:nvSpPr>
          <p:cNvPr id="21" name="TextBox 20"/>
          <p:cNvSpPr txBox="1"/>
          <p:nvPr/>
        </p:nvSpPr>
        <p:spPr>
          <a:xfrm>
            <a:off x="8942832" y="2816352"/>
            <a:ext cx="2176272" cy="2606040"/>
          </a:xfrm>
          <a:prstGeom prst="rect">
            <a:avLst/>
          </a:prstGeom>
          <a:noFill/>
        </p:spPr>
        <p:txBody>
          <a:bodyPr wrap="square" anchor="t">
            <a:spAutoFit/>
          </a:bodyPr>
          <a:lstStyle/>
          <a:p>
            <a:pPr algn="ctr">
              <a:spcAft>
                <a:spcPts val="400"/>
              </a:spcAft>
            </a:pPr>
            <a:r>
              <a:rPr sz="1100" b="0">
                <a:solidFill>
                  <a:srgbClr val="5B6372"/>
                </a:solidFill>
                <a:latin typeface="Arial"/>
              </a:rPr>
              <a:t>Excellent. Suitable for lot release and regulatory decisions.</a:t>
            </a:r>
          </a:p>
        </p:txBody>
      </p:sp>
      <p:cxnSp>
        <p:nvCxnSpPr>
          <p:cNvPr id="22" name="Connector 21"/>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Six Sigma practice: below 0.75 you must act. At or above 0.90 the inspection system is genuinely reliable.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Cohen's Kappa vs Fleiss' Kappa</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Cohen's Kappa</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Exactly TWO raters</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Pairwise agreement between two appraisers</a:t>
            </a:r>
          </a:p>
          <a:p>
            <a:pPr>
              <a:spcAft>
                <a:spcPts val="700"/>
              </a:spcAft>
            </a:pPr>
            <a:r>
              <a:rPr sz="1200">
                <a:solidFill>
                  <a:srgbClr val="161B26"/>
                </a:solidFill>
                <a:latin typeface="Arial"/>
              </a:rPr>
              <a:t>•  Or one appraiser against the known standard</a:t>
            </a:r>
          </a:p>
          <a:p>
            <a:pPr>
              <a:spcAft>
                <a:spcPts val="700"/>
              </a:spcAft>
            </a:pPr>
            <a:r>
              <a:rPr sz="1200">
                <a:solidFill>
                  <a:srgbClr val="161B26"/>
                </a:solidFill>
                <a:latin typeface="Arial"/>
              </a:rPr>
              <a:t>•  Or one appraiser against themselves, trial 1 vs 2</a:t>
            </a:r>
          </a:p>
          <a:p>
            <a:pPr>
              <a:spcAft>
                <a:spcPts val="700"/>
              </a:spcAft>
            </a:pPr>
            <a:r>
              <a:rPr sz="1200">
                <a:solidFill>
                  <a:srgbClr val="161B26"/>
                </a:solidFill>
                <a:latin typeface="Arial"/>
              </a:rPr>
              <a:t>•  With 3 appraisers you get 3 pairwise Kappas</a:t>
            </a:r>
          </a:p>
          <a:p>
            <a:pPr>
              <a:spcAft>
                <a:spcPts val="700"/>
              </a:spcAft>
            </a:pPr>
            <a:r>
              <a:rPr sz="1200">
                <a:solidFill>
                  <a:srgbClr val="161B26"/>
                </a:solidFill>
                <a:latin typeface="Arial"/>
              </a:rPr>
              <a:t>•  Meridian: inspector A vs inspector B</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Fleiss' Kappa</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THREE OR MORE raters</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One overall statistic across the whole panel</a:t>
            </a:r>
          </a:p>
          <a:p>
            <a:pPr>
              <a:spcAft>
                <a:spcPts val="700"/>
              </a:spcAft>
            </a:pPr>
            <a:r>
              <a:rPr sz="1200">
                <a:solidFill>
                  <a:srgbClr val="161B26"/>
                </a:solidFill>
                <a:latin typeface="Arial"/>
              </a:rPr>
              <a:t>•  Handles a different rater set per item if needed</a:t>
            </a:r>
          </a:p>
          <a:p>
            <a:pPr>
              <a:spcAft>
                <a:spcPts val="700"/>
              </a:spcAft>
            </a:pPr>
            <a:r>
              <a:rPr sz="1200">
                <a:solidFill>
                  <a:srgbClr val="161B26"/>
                </a:solidFill>
                <a:latin typeface="Arial"/>
              </a:rPr>
              <a:t>•  Same 0 to 1 scale and same acceptance thresholds</a:t>
            </a:r>
          </a:p>
          <a:p>
            <a:pPr>
              <a:spcAft>
                <a:spcPts val="700"/>
              </a:spcAft>
            </a:pPr>
            <a:r>
              <a:rPr sz="1200">
                <a:solidFill>
                  <a:srgbClr val="161B26"/>
                </a:solidFill>
                <a:latin typeface="Arial"/>
              </a:rPr>
              <a:t>•  Reports team agreement, not pairwise agreement</a:t>
            </a:r>
          </a:p>
          <a:p>
            <a:pPr>
              <a:spcAft>
                <a:spcPts val="700"/>
              </a:spcAft>
            </a:pPr>
            <a:r>
              <a:rPr sz="1200">
                <a:solidFill>
                  <a:srgbClr val="161B26"/>
                </a:solidFill>
                <a:latin typeface="Arial"/>
              </a:rPr>
              <a:t>•  Meridian: all 3 solder inspectors together</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Weighted Kappa</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For ORDERED categories</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Used when categories have a natural order</a:t>
            </a:r>
          </a:p>
          <a:p>
            <a:pPr>
              <a:spcAft>
                <a:spcPts val="700"/>
              </a:spcAft>
            </a:pPr>
            <a:r>
              <a:rPr sz="1200">
                <a:solidFill>
                  <a:srgbClr val="161B26"/>
                </a:solidFill>
                <a:latin typeface="Arial"/>
              </a:rPr>
              <a:t>•  Grade A vs B disagreement penalised less than A vs D</a:t>
            </a:r>
          </a:p>
          <a:p>
            <a:pPr>
              <a:spcAft>
                <a:spcPts val="700"/>
              </a:spcAft>
            </a:pPr>
            <a:r>
              <a:rPr sz="1200">
                <a:solidFill>
                  <a:srgbClr val="161B26"/>
                </a:solidFill>
                <a:latin typeface="Arial"/>
              </a:rPr>
              <a:t>•  Essential for cosmetic grading scales</a:t>
            </a:r>
          </a:p>
          <a:p>
            <a:pPr>
              <a:spcAft>
                <a:spcPts val="700"/>
              </a:spcAft>
            </a:pPr>
            <a:r>
              <a:rPr sz="1200">
                <a:solidFill>
                  <a:srgbClr val="161B26"/>
                </a:solidFill>
                <a:latin typeface="Arial"/>
              </a:rPr>
              <a:t>•  Unweighted Kappa treats all errors as equal</a:t>
            </a:r>
          </a:p>
          <a:p>
            <a:pPr>
              <a:spcAft>
                <a:spcPts val="700"/>
              </a:spcAft>
            </a:pPr>
            <a:r>
              <a:rPr sz="1200">
                <a:solidFill>
                  <a:srgbClr val="161B26"/>
                </a:solidFill>
                <a:latin typeface="Arial"/>
              </a:rPr>
              <a:t>•  Meridian: enclosure cosmetic grade A to D</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Attribute MSA traps that a Black Belt must catch</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Reporting raw percent agreement with no Kappa - the single most common and most misleading error.</a:t>
            </a:r>
          </a:p>
          <a:p>
            <a:pPr>
              <a:spcAft>
                <a:spcPts val="1000"/>
              </a:spcAft>
            </a:pPr>
            <a:r>
              <a:rPr sz="2000">
                <a:solidFill>
                  <a:srgbClr val="161B26"/>
                </a:solidFill>
                <a:latin typeface="Arial"/>
              </a:rPr>
              <a:t>•  A study sample with 95 percent good units, which lets a lazy 'always pass' score above 90 percent.</a:t>
            </a:r>
          </a:p>
          <a:p>
            <a:pPr>
              <a:spcAft>
                <a:spcPts val="1000"/>
              </a:spcAft>
            </a:pPr>
            <a:r>
              <a:rPr sz="2000">
                <a:solidFill>
                  <a:srgbClr val="161B26"/>
                </a:solidFill>
                <a:latin typeface="Arial"/>
              </a:rPr>
              <a:t>•  Omitting the known standard, so you can prove consistency but never prove correctness.</a:t>
            </a:r>
          </a:p>
          <a:p>
            <a:pPr>
              <a:spcAft>
                <a:spcPts val="1000"/>
              </a:spcAft>
            </a:pPr>
            <a:r>
              <a:rPr sz="2000">
                <a:solidFill>
                  <a:srgbClr val="161B26"/>
                </a:solidFill>
                <a:latin typeface="Arial"/>
              </a:rPr>
              <a:t>•  Using only 20 parts, giving a Kappa confidence interval so wide the point estimate is meaningless.</a:t>
            </a:r>
          </a:p>
          <a:p>
            <a:pPr>
              <a:spcAft>
                <a:spcPts val="1000"/>
              </a:spcAft>
            </a:pPr>
            <a:r>
              <a:rPr sz="2000">
                <a:solidFill>
                  <a:srgbClr val="161B26"/>
                </a:solidFill>
                <a:latin typeface="Arial"/>
              </a:rPr>
              <a:t>•  Testing the day-shift engineers when the real inspection happens on night shift with different lighting.</a:t>
            </a:r>
          </a:p>
          <a:p>
            <a:pPr>
              <a:spcAft>
                <a:spcPts val="1000"/>
              </a:spcAft>
            </a:pPr>
            <a:r>
              <a:rPr sz="2000">
                <a:solidFill>
                  <a:srgbClr val="161B26"/>
                </a:solidFill>
                <a:latin typeface="Arial"/>
              </a:rPr>
              <a:t>•  Accepting Kappa 0.72 as 'close enough to 0.75' when the decision releases implanted-device components.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MEASURE - BLACK BELT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BLACK BELT ONLY: when measuring destroys the part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Leak testing to burst, peel strength, sterility, weld pull force. The part does not survive, so no appraiser can ever measure the same part twice. The crossed design is mathematically impossible.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Crossed vs Nested gauge study designs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Crossed design</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The standard Gage R&amp;R</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EVERY appraiser measures EVERY part</a:t>
            </a:r>
          </a:p>
          <a:p>
            <a:pPr>
              <a:spcAft>
                <a:spcPts val="700"/>
              </a:spcAft>
            </a:pPr>
            <a:r>
              <a:rPr sz="1200">
                <a:solidFill>
                  <a:srgbClr val="161B26"/>
                </a:solidFill>
                <a:latin typeface="Arial"/>
              </a:rPr>
              <a:t>•  Requires the part to survive measurement</a:t>
            </a:r>
          </a:p>
          <a:p>
            <a:pPr>
              <a:spcAft>
                <a:spcPts val="700"/>
              </a:spcAft>
            </a:pPr>
            <a:r>
              <a:rPr sz="1200">
                <a:solidFill>
                  <a:srgbClr val="161B26"/>
                </a:solidFill>
                <a:latin typeface="Arial"/>
              </a:rPr>
              <a:t>•  Estimates part, appraiser AND their interaction</a:t>
            </a:r>
          </a:p>
          <a:p>
            <a:pPr>
              <a:spcAft>
                <a:spcPts val="700"/>
              </a:spcAft>
            </a:pPr>
            <a:r>
              <a:rPr sz="1200">
                <a:solidFill>
                  <a:srgbClr val="161B26"/>
                </a:solidFill>
                <a:latin typeface="Arial"/>
              </a:rPr>
              <a:t>•  10 parts x 3 appraisers x 3 trials</a:t>
            </a:r>
          </a:p>
          <a:p>
            <a:pPr>
              <a:spcAft>
                <a:spcPts val="700"/>
              </a:spcAft>
            </a:pPr>
            <a:r>
              <a:rPr sz="1200">
                <a:solidFill>
                  <a:srgbClr val="161B26"/>
                </a:solidFill>
                <a:latin typeface="Arial"/>
              </a:rPr>
              <a:t>•  Meridian: pump flow rate, non-destructive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Nested design</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For destructive measurement</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Each part is measured by ONE appraiser, ONCE</a:t>
            </a:r>
          </a:p>
          <a:p>
            <a:pPr>
              <a:spcAft>
                <a:spcPts val="700"/>
              </a:spcAft>
            </a:pPr>
            <a:r>
              <a:rPr sz="1200">
                <a:solidFill>
                  <a:srgbClr val="161B26"/>
                </a:solidFill>
                <a:latin typeface="Arial"/>
              </a:rPr>
              <a:t>•  Parts are NESTED within appraiser or within batch</a:t>
            </a:r>
          </a:p>
          <a:p>
            <a:pPr>
              <a:spcAft>
                <a:spcPts val="700"/>
              </a:spcAft>
            </a:pPr>
            <a:r>
              <a:rPr sz="1200">
                <a:solidFill>
                  <a:srgbClr val="161B26"/>
                </a:solidFill>
                <a:latin typeface="Arial"/>
              </a:rPr>
              <a:t>•  Cannot estimate the appraiser-by-part interaction</a:t>
            </a:r>
          </a:p>
          <a:p>
            <a:pPr>
              <a:spcAft>
                <a:spcPts val="700"/>
              </a:spcAft>
            </a:pPr>
            <a:r>
              <a:rPr sz="1200">
                <a:solidFill>
                  <a:srgbClr val="161B26"/>
                </a:solidFill>
                <a:latin typeface="Arial"/>
              </a:rPr>
              <a:t>•  Relies on homogeneous batches as pseudo-repeats</a:t>
            </a:r>
          </a:p>
          <a:p>
            <a:pPr>
              <a:spcAft>
                <a:spcPts val="700"/>
              </a:spcAft>
            </a:pPr>
            <a:r>
              <a:rPr sz="1200">
                <a:solidFill>
                  <a:srgbClr val="161B26"/>
                </a:solidFill>
                <a:latin typeface="Arial"/>
              </a:rPr>
              <a:t>•  Meridian: seal peel strength, destructive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homogeneous batch assumption</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core idea</a:t>
            </a:r>
          </a:p>
          <a:p>
            <a:pPr algn="l">
              <a:spcAft>
                <a:spcPts val="300"/>
              </a:spcAft>
            </a:pPr>
            <a:r>
              <a:rPr sz="1200" b="0">
                <a:solidFill>
                  <a:srgbClr val="5B6372"/>
                </a:solidFill>
                <a:latin typeface="Arial"/>
              </a:rPr>
              <a:t>If parts within a batch are truly identical, different parts act as repeat measures.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How to build one</a:t>
            </a:r>
          </a:p>
          <a:p>
            <a:pPr algn="l">
              <a:spcAft>
                <a:spcPts val="300"/>
              </a:spcAft>
            </a:pPr>
            <a:r>
              <a:rPr sz="1200" b="0">
                <a:solidFill>
                  <a:srgbClr val="5B6372"/>
                </a:solidFill>
                <a:latin typeface="Arial"/>
              </a:rPr>
              <a:t>Consecutive units, one lot, one machine, one operator, one short time window.</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critical risk</a:t>
            </a:r>
          </a:p>
          <a:p>
            <a:pPr algn="l">
              <a:spcAft>
                <a:spcPts val="300"/>
              </a:spcAft>
            </a:pPr>
            <a:r>
              <a:rPr sz="1200" b="0">
                <a:solidFill>
                  <a:srgbClr val="5B6372"/>
                </a:solidFill>
                <a:latin typeface="Arial"/>
              </a:rPr>
              <a:t>Any real within-batch variation is counted as measurement repeatability.</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Consequence</a:t>
            </a:r>
          </a:p>
          <a:p>
            <a:pPr algn="l">
              <a:spcAft>
                <a:spcPts val="300"/>
              </a:spcAft>
            </a:pPr>
            <a:r>
              <a:rPr sz="1200" b="0">
                <a:solidFill>
                  <a:srgbClr val="5B6372"/>
                </a:solidFill>
                <a:latin typeface="Arial"/>
              </a:rPr>
              <a:t>Repeatability is CONFOUNDED with within-batch part variation and always overstated.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So the result is conservative</a:t>
            </a:r>
          </a:p>
          <a:p>
            <a:pPr algn="l">
              <a:spcAft>
                <a:spcPts val="300"/>
              </a:spcAft>
            </a:pPr>
            <a:r>
              <a:rPr sz="1200" b="0">
                <a:solidFill>
                  <a:srgbClr val="5B6372"/>
                </a:solidFill>
                <a:latin typeface="Arial"/>
              </a:rPr>
              <a:t>A nested study that passes is trustworthy. One that fails may be a false alarm.</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Meridian batches</a:t>
            </a:r>
          </a:p>
          <a:p>
            <a:pPr algn="l">
              <a:spcAft>
                <a:spcPts val="300"/>
              </a:spcAft>
            </a:pPr>
            <a:r>
              <a:rPr sz="1200" b="0">
                <a:solidFill>
                  <a:srgbClr val="5B6372"/>
                </a:solidFill>
                <a:latin typeface="Arial"/>
              </a:rPr>
              <a:t>Ten seal pouches from one sealer, one reel, one 5-minute window, per batch.</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Designing a nested destructive study at Meridian</a:t>
            </a:r>
          </a:p>
        </p:txBody>
      </p:sp>
      <p:sp>
        <p:nvSpPr>
          <p:cNvPr id="6" name="Rectangle 5"/>
          <p:cNvSpPr/>
          <p:nvPr/>
        </p:nvSpPr>
        <p:spPr>
          <a:xfrm>
            <a:off x="77724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Form 30 homogeneous batches of 3 sterile-barrier pouches each</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601468"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Confirm homogeneity: same sealer, reel, settings, 5-minute window</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4425696"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Assign each batch to ONE appraiser at random</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6249924"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That appraiser peel-tests all 3 pouches from their batches</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8074152"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Run a NESTED ANOVA: part within batch, batch within appraiser</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6" name="Rectangle 35"/>
          <p:cNvSpPr/>
          <p:nvPr/>
        </p:nvSpPr>
        <p:spPr>
          <a:xfrm>
            <a:off x="989838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Report %study variation, remembering repeatability is inflated</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Nested study - Meridian seal peel strength</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The design</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30 batches x 3 pouches, nested</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Ten batches per appraiser, three appraisers, 90 destructive peel tests in total.</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Repeatability estimate</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sigma(rep) = 0.31 N</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This is equipment noise PLUS true within-batch pouch variation. It cannot be separated.</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 Study variation</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100 x 0.34 / 1.08 = 31.5%</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sigma(MS) = 0.34 N against total 1.08 N. Above 30 percent - but the estimate is inflated.</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A nested result above 30 percent needs investigation of batch homogeneity BEFORE condemning the gauge.</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Other situations that force a nested design</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Consumed chemical assays</a:t>
            </a:r>
          </a:p>
          <a:p>
            <a:pPr algn="l">
              <a:spcAft>
                <a:spcPts val="300"/>
              </a:spcAft>
            </a:pPr>
            <a:r>
              <a:rPr sz="1200" b="0">
                <a:solidFill>
                  <a:srgbClr val="5B6372"/>
                </a:solidFill>
                <a:latin typeface="Arial"/>
              </a:rPr>
              <a:t>The aliquot is gone once it has been analysed. No second read exists.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Sterility and bioburden</a:t>
            </a:r>
          </a:p>
          <a:p>
            <a:pPr algn="l">
              <a:spcAft>
                <a:spcPts val="300"/>
              </a:spcAft>
            </a:pPr>
            <a:r>
              <a:rPr sz="1200" b="0">
                <a:solidFill>
                  <a:srgbClr val="5B6372"/>
                </a:solidFill>
                <a:latin typeface="Arial"/>
              </a:rPr>
              <a:t>The test article is destroyed by the test procedure itself.</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Pull-force testing</a:t>
            </a:r>
          </a:p>
          <a:p>
            <a:pPr algn="l">
              <a:spcAft>
                <a:spcPts val="300"/>
              </a:spcAft>
            </a:pPr>
            <a:r>
              <a:rPr sz="1200" b="0">
                <a:solidFill>
                  <a:srgbClr val="5B6372"/>
                </a:solidFill>
                <a:latin typeface="Arial"/>
              </a:rPr>
              <a:t>Weld, crimp and solder joints are broken in order to obtain the reading.</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Life and burst testing</a:t>
            </a:r>
          </a:p>
          <a:p>
            <a:pPr algn="l">
              <a:spcAft>
                <a:spcPts val="300"/>
              </a:spcAft>
            </a:pPr>
            <a:r>
              <a:rPr sz="1200" b="0">
                <a:solidFill>
                  <a:srgbClr val="5B6372"/>
                </a:solidFill>
                <a:latin typeface="Arial"/>
              </a:rPr>
              <a:t>The unit is deliberately taken to failure to get the number.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Altering measurements</a:t>
            </a:r>
          </a:p>
          <a:p>
            <a:pPr algn="l">
              <a:spcAft>
                <a:spcPts val="300"/>
              </a:spcAft>
            </a:pPr>
            <a:r>
              <a:rPr sz="1200" b="0">
                <a:solidFill>
                  <a:srgbClr val="5B6372"/>
                </a:solidFill>
                <a:latin typeface="Arial"/>
              </a:rPr>
              <a:t>Any test that meaningfully changes the part, even if it survives.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rule of thumb</a:t>
            </a:r>
          </a:p>
          <a:p>
            <a:pPr algn="l">
              <a:spcAft>
                <a:spcPts val="300"/>
              </a:spcAft>
            </a:pPr>
            <a:r>
              <a:rPr sz="1200" b="0">
                <a:solidFill>
                  <a:srgbClr val="5B6372"/>
                </a:solidFill>
                <a:latin typeface="Arial"/>
              </a:rPr>
              <a:t>If measuring twice would not give the same part, you need a nested design.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MEASURE - BLACK BELT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Recap in depth: yield, defects and sigma level</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Four different yield numbers can be computed from the same process. Three of them flatter you. A Black Belt insists on the fourth.</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DUDO - agree these four before computing anything</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 - Defect</a:t>
            </a:r>
          </a:p>
          <a:p>
            <a:pPr algn="l">
              <a:spcAft>
                <a:spcPts val="300"/>
              </a:spcAft>
            </a:pPr>
            <a:r>
              <a:rPr sz="1200" b="0">
                <a:solidFill>
                  <a:srgbClr val="5B6372"/>
                </a:solidFill>
                <a:latin typeface="Arial"/>
              </a:rPr>
              <a:t>Any single failure to meet a customer requirement - one CTQ unmet on one unit.</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U - Unit</a:t>
            </a:r>
          </a:p>
          <a:p>
            <a:pPr algn="l">
              <a:spcAft>
                <a:spcPts val="300"/>
              </a:spcAft>
            </a:pPr>
            <a:r>
              <a:rPr sz="1200" b="0">
                <a:solidFill>
                  <a:srgbClr val="5B6372"/>
                </a:solidFill>
                <a:latin typeface="Arial"/>
              </a:rPr>
              <a:t>The deliverable the customer receives. At Meridian: one infusion pump.</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 - Defect opportunity</a:t>
            </a:r>
          </a:p>
          <a:p>
            <a:pPr algn="l">
              <a:spcAft>
                <a:spcPts val="300"/>
              </a:spcAft>
            </a:pPr>
            <a:r>
              <a:rPr sz="1200" b="0">
                <a:solidFill>
                  <a:srgbClr val="5B6372"/>
                </a:solidFill>
                <a:latin typeface="Arial"/>
              </a:rPr>
              <a:t>Every distinct way one unit could fail. Count only realistic, inspected modes.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O - Observed defects</a:t>
            </a:r>
          </a:p>
          <a:p>
            <a:pPr algn="l">
              <a:spcAft>
                <a:spcPts val="300"/>
              </a:spcAft>
            </a:pPr>
            <a:r>
              <a:rPr sz="1200" b="0">
                <a:solidFill>
                  <a:srgbClr val="5B6372"/>
                </a:solidFill>
                <a:latin typeface="Arial"/>
              </a:rPr>
              <a:t>The actual defect count found in the sample you inspected.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Why opportunities matter</a:t>
            </a:r>
          </a:p>
          <a:p>
            <a:pPr algn="l">
              <a:spcAft>
                <a:spcPts val="300"/>
              </a:spcAft>
            </a:pPr>
            <a:r>
              <a:rPr sz="1200" b="0">
                <a:solidFill>
                  <a:srgbClr val="5B6372"/>
                </a:solidFill>
                <a:latin typeface="Arial"/>
              </a:rPr>
              <a:t>DPMO normalises complexity so a simple product compares fairly with a complex one.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Be conservative</a:t>
            </a:r>
          </a:p>
          <a:p>
            <a:pPr algn="l">
              <a:spcAft>
                <a:spcPts val="300"/>
              </a:spcAft>
            </a:pPr>
            <a:r>
              <a:rPr sz="1200" b="0">
                <a:solidFill>
                  <a:srgbClr val="5B6372"/>
                </a:solidFill>
                <a:latin typeface="Arial"/>
              </a:rPr>
              <a:t>Inflating the opportunity count flatters your sigma level. Auditors always check this.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Four ways to measure yield</a:t>
            </a:r>
          </a:p>
        </p:txBody>
      </p:sp>
      <p:sp>
        <p:nvSpPr>
          <p:cNvPr id="6" name="Rectangle 5"/>
          <p:cNvSpPr/>
          <p:nvPr/>
        </p:nvSpPr>
        <p:spPr>
          <a:xfrm>
            <a:off x="777240" y="1783080"/>
            <a:ext cx="246659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246659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064258" cy="457200"/>
          </a:xfrm>
          <a:prstGeom prst="rect">
            <a:avLst/>
          </a:prstGeom>
          <a:noFill/>
        </p:spPr>
        <p:txBody>
          <a:bodyPr wrap="square" anchor="t">
            <a:spAutoFit/>
          </a:bodyPr>
          <a:lstStyle/>
          <a:p>
            <a:pPr algn="l">
              <a:spcAft>
                <a:spcPts val="400"/>
              </a:spcAft>
            </a:pPr>
            <a:r>
              <a:rPr sz="1800" b="1">
                <a:solidFill>
                  <a:srgbClr val="1F6FEB"/>
                </a:solidFill>
                <a:latin typeface="Arial"/>
              </a:rPr>
              <a:t>Classic yield</a:t>
            </a:r>
          </a:p>
        </p:txBody>
      </p:sp>
      <p:sp>
        <p:nvSpPr>
          <p:cNvPr id="9" name="TextBox 8"/>
          <p:cNvSpPr txBox="1"/>
          <p:nvPr/>
        </p:nvSpPr>
        <p:spPr>
          <a:xfrm>
            <a:off x="978408" y="2532888"/>
            <a:ext cx="2064258" cy="457200"/>
          </a:xfrm>
          <a:prstGeom prst="rect">
            <a:avLst/>
          </a:prstGeom>
          <a:noFill/>
        </p:spPr>
        <p:txBody>
          <a:bodyPr wrap="square" anchor="t">
            <a:spAutoFit/>
          </a:bodyPr>
          <a:lstStyle/>
          <a:p>
            <a:pPr algn="l">
              <a:spcAft>
                <a:spcPts val="400"/>
              </a:spcAft>
            </a:pPr>
            <a:r>
              <a:rPr sz="1200" b="0">
                <a:solidFill>
                  <a:srgbClr val="5B6372"/>
                </a:solidFill>
                <a:latin typeface="Arial"/>
              </a:rPr>
              <a:t>Units out / units in</a:t>
            </a:r>
          </a:p>
        </p:txBody>
      </p:sp>
      <p:sp>
        <p:nvSpPr>
          <p:cNvPr id="10" name="TextBox 9"/>
          <p:cNvSpPr txBox="1"/>
          <p:nvPr/>
        </p:nvSpPr>
        <p:spPr>
          <a:xfrm>
            <a:off x="978408" y="3081528"/>
            <a:ext cx="2064258" cy="2743200"/>
          </a:xfrm>
          <a:prstGeom prst="rect">
            <a:avLst/>
          </a:prstGeom>
          <a:noFill/>
        </p:spPr>
        <p:txBody>
          <a:bodyPr wrap="square">
            <a:spAutoFit/>
          </a:bodyPr>
          <a:lstStyle/>
          <a:p>
            <a:pPr>
              <a:spcAft>
                <a:spcPts val="700"/>
              </a:spcAft>
            </a:pPr>
            <a:r>
              <a:rPr sz="1200">
                <a:solidFill>
                  <a:srgbClr val="161B26"/>
                </a:solidFill>
                <a:latin typeface="Arial"/>
              </a:rPr>
              <a:t>•  Counts anything that eventually shipped</a:t>
            </a:r>
          </a:p>
          <a:p>
            <a:pPr>
              <a:spcAft>
                <a:spcPts val="700"/>
              </a:spcAft>
            </a:pPr>
            <a:r>
              <a:rPr sz="1200">
                <a:solidFill>
                  <a:srgbClr val="161B26"/>
                </a:solidFill>
                <a:latin typeface="Arial"/>
              </a:rPr>
              <a:t>•  Rework and retest are completely invisible</a:t>
            </a:r>
          </a:p>
          <a:p>
            <a:pPr>
              <a:spcAft>
                <a:spcPts val="700"/>
              </a:spcAft>
            </a:pPr>
            <a:r>
              <a:rPr sz="1200">
                <a:solidFill>
                  <a:srgbClr val="161B26"/>
                </a:solidFill>
                <a:latin typeface="Arial"/>
              </a:rPr>
              <a:t>•  Always the most flattering number available</a:t>
            </a:r>
          </a:p>
          <a:p>
            <a:pPr>
              <a:spcAft>
                <a:spcPts val="700"/>
              </a:spcAft>
            </a:pPr>
            <a:r>
              <a:rPr sz="1200">
                <a:solidFill>
                  <a:srgbClr val="161B26"/>
                </a:solidFill>
                <a:latin typeface="Arial"/>
              </a:rPr>
              <a:t>•  Meridian pump line: 98.2 percent</a:t>
            </a:r>
          </a:p>
        </p:txBody>
      </p:sp>
      <p:sp>
        <p:nvSpPr>
          <p:cNvPr id="11" name="Rectangle 10"/>
          <p:cNvSpPr/>
          <p:nvPr/>
        </p:nvSpPr>
        <p:spPr>
          <a:xfrm>
            <a:off x="3499866" y="1783080"/>
            <a:ext cx="246659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499866" y="1783080"/>
            <a:ext cx="246659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701034" y="2039112"/>
            <a:ext cx="2064258" cy="457200"/>
          </a:xfrm>
          <a:prstGeom prst="rect">
            <a:avLst/>
          </a:prstGeom>
          <a:noFill/>
        </p:spPr>
        <p:txBody>
          <a:bodyPr wrap="square" anchor="t">
            <a:spAutoFit/>
          </a:bodyPr>
          <a:lstStyle/>
          <a:p>
            <a:pPr algn="l">
              <a:spcAft>
                <a:spcPts val="400"/>
              </a:spcAft>
            </a:pPr>
            <a:r>
              <a:rPr sz="1800" b="1">
                <a:solidFill>
                  <a:srgbClr val="10B981"/>
                </a:solidFill>
                <a:latin typeface="Arial"/>
              </a:rPr>
              <a:t>First pass yield</a:t>
            </a:r>
          </a:p>
        </p:txBody>
      </p:sp>
      <p:sp>
        <p:nvSpPr>
          <p:cNvPr id="14" name="TextBox 13"/>
          <p:cNvSpPr txBox="1"/>
          <p:nvPr/>
        </p:nvSpPr>
        <p:spPr>
          <a:xfrm>
            <a:off x="3701034" y="2532888"/>
            <a:ext cx="2064258" cy="457200"/>
          </a:xfrm>
          <a:prstGeom prst="rect">
            <a:avLst/>
          </a:prstGeom>
          <a:noFill/>
        </p:spPr>
        <p:txBody>
          <a:bodyPr wrap="square" anchor="t">
            <a:spAutoFit/>
          </a:bodyPr>
          <a:lstStyle/>
          <a:p>
            <a:pPr algn="l">
              <a:spcAft>
                <a:spcPts val="400"/>
              </a:spcAft>
            </a:pPr>
            <a:r>
              <a:rPr sz="1200" b="0">
                <a:solidFill>
                  <a:srgbClr val="5B6372"/>
                </a:solidFill>
                <a:latin typeface="Arial"/>
              </a:rPr>
              <a:t>Right first time at ONE step</a:t>
            </a:r>
          </a:p>
        </p:txBody>
      </p:sp>
      <p:sp>
        <p:nvSpPr>
          <p:cNvPr id="15" name="TextBox 14"/>
          <p:cNvSpPr txBox="1"/>
          <p:nvPr/>
        </p:nvSpPr>
        <p:spPr>
          <a:xfrm>
            <a:off x="3701034" y="3081528"/>
            <a:ext cx="2064258" cy="2743200"/>
          </a:xfrm>
          <a:prstGeom prst="rect">
            <a:avLst/>
          </a:prstGeom>
          <a:noFill/>
        </p:spPr>
        <p:txBody>
          <a:bodyPr wrap="square">
            <a:spAutoFit/>
          </a:bodyPr>
          <a:lstStyle/>
          <a:p>
            <a:pPr>
              <a:spcAft>
                <a:spcPts val="700"/>
              </a:spcAft>
            </a:pPr>
            <a:r>
              <a:rPr sz="1200">
                <a:solidFill>
                  <a:srgbClr val="161B26"/>
                </a:solidFill>
                <a:latin typeface="Arial"/>
              </a:rPr>
              <a:t>•  Units through with no rework or repair</a:t>
            </a:r>
          </a:p>
          <a:p>
            <a:pPr>
              <a:spcAft>
                <a:spcPts val="700"/>
              </a:spcAft>
            </a:pPr>
            <a:r>
              <a:rPr sz="1200">
                <a:solidFill>
                  <a:srgbClr val="161B26"/>
                </a:solidFill>
                <a:latin typeface="Arial"/>
              </a:rPr>
              <a:t>•  Computed step by step across the line</a:t>
            </a:r>
          </a:p>
          <a:p>
            <a:pPr>
              <a:spcAft>
                <a:spcPts val="700"/>
              </a:spcAft>
            </a:pPr>
            <a:r>
              <a:rPr sz="1200">
                <a:solidFill>
                  <a:srgbClr val="161B26"/>
                </a:solidFill>
                <a:latin typeface="Arial"/>
              </a:rPr>
              <a:t>•  Exposes rework at each individual station</a:t>
            </a:r>
          </a:p>
          <a:p>
            <a:pPr>
              <a:spcAft>
                <a:spcPts val="700"/>
              </a:spcAft>
            </a:pPr>
            <a:r>
              <a:rPr sz="1200">
                <a:solidFill>
                  <a:srgbClr val="161B26"/>
                </a:solidFill>
                <a:latin typeface="Arial"/>
              </a:rPr>
              <a:t>•  Meridian assembly step: 88.4 percent</a:t>
            </a:r>
          </a:p>
        </p:txBody>
      </p:sp>
      <p:sp>
        <p:nvSpPr>
          <p:cNvPr id="16" name="Rectangle 15"/>
          <p:cNvSpPr/>
          <p:nvPr/>
        </p:nvSpPr>
        <p:spPr>
          <a:xfrm>
            <a:off x="6222492" y="1783080"/>
            <a:ext cx="246659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22492" y="1783080"/>
            <a:ext cx="246659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23660" y="2039112"/>
            <a:ext cx="2064258" cy="457200"/>
          </a:xfrm>
          <a:prstGeom prst="rect">
            <a:avLst/>
          </a:prstGeom>
          <a:noFill/>
        </p:spPr>
        <p:txBody>
          <a:bodyPr wrap="square" anchor="t">
            <a:spAutoFit/>
          </a:bodyPr>
          <a:lstStyle/>
          <a:p>
            <a:pPr algn="l">
              <a:spcAft>
                <a:spcPts val="400"/>
              </a:spcAft>
            </a:pPr>
            <a:r>
              <a:rPr sz="1800" b="1">
                <a:solidFill>
                  <a:srgbClr val="7C3AED"/>
                </a:solidFill>
                <a:latin typeface="Arial"/>
              </a:rPr>
              <a:t>Rolled throughput yield</a:t>
            </a:r>
          </a:p>
        </p:txBody>
      </p:sp>
      <p:sp>
        <p:nvSpPr>
          <p:cNvPr id="19" name="TextBox 18"/>
          <p:cNvSpPr txBox="1"/>
          <p:nvPr/>
        </p:nvSpPr>
        <p:spPr>
          <a:xfrm>
            <a:off x="6423660" y="2532888"/>
            <a:ext cx="2064258" cy="457200"/>
          </a:xfrm>
          <a:prstGeom prst="rect">
            <a:avLst/>
          </a:prstGeom>
          <a:noFill/>
        </p:spPr>
        <p:txBody>
          <a:bodyPr wrap="square" anchor="t">
            <a:spAutoFit/>
          </a:bodyPr>
          <a:lstStyle/>
          <a:p>
            <a:pPr algn="l">
              <a:spcAft>
                <a:spcPts val="400"/>
              </a:spcAft>
            </a:pPr>
            <a:r>
              <a:rPr sz="1200" b="0">
                <a:solidFill>
                  <a:srgbClr val="5B6372"/>
                </a:solidFill>
                <a:latin typeface="Arial"/>
              </a:rPr>
              <a:t>Right first time ACROSS all steps</a:t>
            </a:r>
          </a:p>
        </p:txBody>
      </p:sp>
      <p:sp>
        <p:nvSpPr>
          <p:cNvPr id="20" name="TextBox 19"/>
          <p:cNvSpPr txBox="1"/>
          <p:nvPr/>
        </p:nvSpPr>
        <p:spPr>
          <a:xfrm>
            <a:off x="6423660" y="3081528"/>
            <a:ext cx="2064258" cy="2743200"/>
          </a:xfrm>
          <a:prstGeom prst="rect">
            <a:avLst/>
          </a:prstGeom>
          <a:noFill/>
        </p:spPr>
        <p:txBody>
          <a:bodyPr wrap="square">
            <a:spAutoFit/>
          </a:bodyPr>
          <a:lstStyle/>
          <a:p>
            <a:pPr>
              <a:spcAft>
                <a:spcPts val="700"/>
              </a:spcAft>
            </a:pPr>
            <a:r>
              <a:rPr sz="1200">
                <a:solidFill>
                  <a:srgbClr val="161B26"/>
                </a:solidFill>
                <a:latin typeface="Arial"/>
              </a:rPr>
              <a:t>•  RTY = FPY1 x FPY2 x ... x FPYn</a:t>
            </a:r>
          </a:p>
          <a:p>
            <a:pPr>
              <a:spcAft>
                <a:spcPts val="700"/>
              </a:spcAft>
            </a:pPr>
            <a:r>
              <a:rPr sz="1200">
                <a:solidFill>
                  <a:srgbClr val="161B26"/>
                </a:solidFill>
                <a:latin typeface="Arial"/>
              </a:rPr>
              <a:t>•  Probability a unit passes every step cleanly</a:t>
            </a:r>
          </a:p>
          <a:p>
            <a:pPr>
              <a:spcAft>
                <a:spcPts val="700"/>
              </a:spcAft>
            </a:pPr>
            <a:r>
              <a:rPr sz="1200">
                <a:solidFill>
                  <a:srgbClr val="161B26"/>
                </a:solidFill>
                <a:latin typeface="Arial"/>
              </a:rPr>
              <a:t>•  Falls fast as the step count rises</a:t>
            </a:r>
          </a:p>
          <a:p>
            <a:pPr>
              <a:spcAft>
                <a:spcPts val="700"/>
              </a:spcAft>
            </a:pPr>
            <a:r>
              <a:rPr sz="1200">
                <a:solidFill>
                  <a:srgbClr val="161B26"/>
                </a:solidFill>
                <a:latin typeface="Arial"/>
              </a:rPr>
              <a:t>•  Meridian pump line: 71.6 percent</a:t>
            </a:r>
          </a:p>
        </p:txBody>
      </p:sp>
      <p:sp>
        <p:nvSpPr>
          <p:cNvPr id="21" name="Rectangle 20"/>
          <p:cNvSpPr/>
          <p:nvPr/>
        </p:nvSpPr>
        <p:spPr>
          <a:xfrm>
            <a:off x="8945118" y="1783080"/>
            <a:ext cx="246659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8945118" y="1783080"/>
            <a:ext cx="2466594"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146286" y="2039112"/>
            <a:ext cx="2064258" cy="457200"/>
          </a:xfrm>
          <a:prstGeom prst="rect">
            <a:avLst/>
          </a:prstGeom>
          <a:noFill/>
        </p:spPr>
        <p:txBody>
          <a:bodyPr wrap="square" anchor="t">
            <a:spAutoFit/>
          </a:bodyPr>
          <a:lstStyle/>
          <a:p>
            <a:pPr algn="l">
              <a:spcAft>
                <a:spcPts val="400"/>
              </a:spcAft>
            </a:pPr>
            <a:r>
              <a:rPr sz="1800" b="1">
                <a:solidFill>
                  <a:srgbClr val="F59E0B"/>
                </a:solidFill>
                <a:latin typeface="Arial"/>
              </a:rPr>
              <a:t>Normalised yield</a:t>
            </a:r>
          </a:p>
        </p:txBody>
      </p:sp>
      <p:sp>
        <p:nvSpPr>
          <p:cNvPr id="24" name="TextBox 23"/>
          <p:cNvSpPr txBox="1"/>
          <p:nvPr/>
        </p:nvSpPr>
        <p:spPr>
          <a:xfrm>
            <a:off x="9146286" y="2532888"/>
            <a:ext cx="2064258" cy="457200"/>
          </a:xfrm>
          <a:prstGeom prst="rect">
            <a:avLst/>
          </a:prstGeom>
          <a:noFill/>
        </p:spPr>
        <p:txBody>
          <a:bodyPr wrap="square" anchor="t">
            <a:spAutoFit/>
          </a:bodyPr>
          <a:lstStyle/>
          <a:p>
            <a:pPr algn="l">
              <a:spcAft>
                <a:spcPts val="400"/>
              </a:spcAft>
            </a:pPr>
            <a:r>
              <a:rPr sz="1200" b="0">
                <a:solidFill>
                  <a:srgbClr val="5B6372"/>
                </a:solidFill>
                <a:latin typeface="Arial"/>
              </a:rPr>
              <a:t>The per-step average</a:t>
            </a:r>
          </a:p>
        </p:txBody>
      </p:sp>
      <p:sp>
        <p:nvSpPr>
          <p:cNvPr id="25" name="TextBox 24"/>
          <p:cNvSpPr txBox="1"/>
          <p:nvPr/>
        </p:nvSpPr>
        <p:spPr>
          <a:xfrm>
            <a:off x="9146286" y="3081528"/>
            <a:ext cx="2064258" cy="2743200"/>
          </a:xfrm>
          <a:prstGeom prst="rect">
            <a:avLst/>
          </a:prstGeom>
          <a:noFill/>
        </p:spPr>
        <p:txBody>
          <a:bodyPr wrap="square">
            <a:spAutoFit/>
          </a:bodyPr>
          <a:lstStyle/>
          <a:p>
            <a:pPr>
              <a:spcAft>
                <a:spcPts val="700"/>
              </a:spcAft>
            </a:pPr>
            <a:r>
              <a:rPr sz="1200">
                <a:solidFill>
                  <a:srgbClr val="161B26"/>
                </a:solidFill>
                <a:latin typeface="Arial"/>
              </a:rPr>
              <a:t>•  Ynorm = RTY^(1/n) for n steps</a:t>
            </a:r>
          </a:p>
          <a:p>
            <a:pPr>
              <a:spcAft>
                <a:spcPts val="700"/>
              </a:spcAft>
            </a:pPr>
            <a:r>
              <a:rPr sz="1200">
                <a:solidFill>
                  <a:srgbClr val="161B26"/>
                </a:solidFill>
                <a:latin typeface="Arial"/>
              </a:rPr>
              <a:t>•  The typical yield of an average step</a:t>
            </a:r>
          </a:p>
          <a:p>
            <a:pPr>
              <a:spcAft>
                <a:spcPts val="700"/>
              </a:spcAft>
            </a:pPr>
            <a:r>
              <a:rPr sz="1200">
                <a:solidFill>
                  <a:srgbClr val="161B26"/>
                </a:solidFill>
                <a:latin typeface="Arial"/>
              </a:rPr>
              <a:t>•  Useful for comparing lines of different lengths</a:t>
            </a:r>
          </a:p>
          <a:p>
            <a:pPr>
              <a:spcAft>
                <a:spcPts val="700"/>
              </a:spcAft>
            </a:pPr>
            <a:r>
              <a:rPr sz="1200">
                <a:solidFill>
                  <a:srgbClr val="161B26"/>
                </a:solidFill>
                <a:latin typeface="Arial"/>
              </a:rPr>
              <a:t>•  Meridian: 0.716^(1/6) = 94.6 percent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Rolled throughput yield - Meridian Suzhou line 4</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RTY formula</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RTY = FPY1 x FPY2 x ... x FPYn</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Multiply the first pass yield of every step in the chain.</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Six steps</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0.982 x 0.951 x 0.884 x 0.974 x 0.962 x 0.991</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Kitting, sub-assembly, main assembly, calibration, functional test, final pack.</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Result</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RTY = 0.716</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71.6 percent, against a classic yield of 98.2 percent. The 26.6 point gap is the hidden factory.</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Each step looks respectable. Only the product of them reveals what the customer experience really is.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DPU, DPO and DPMO</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DPU</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DPU = Defects / Units</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Average number of defects carried by each unit produced.</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DPO</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DPO = Defects / (Units x Opportunities)</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Defects per single opportunity, normalised for product complexity.</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DPMO</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DPMO = DPO x 1,000,000</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Scaled to a million opportunities so any two processes can be compared directly.</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DPMO - Meridian pump baseline</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Units and defects</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3,600 pumps, 486 defects</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One month of Suzhou line 4 output, with all defect records from every station.</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DPU and DPO</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DPU = 486/3600 = 0.135</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With 14 inspected opportunities per pump: DPO = 486 / (3600 x 14) = 0.00964.</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DPMO and sigma</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DPMO = 9,643</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Between 4 sigma (6,210) and 3.5 sigma (22,750). Meridian sits at about 3.84 sigma.</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The 1.5 sigma shift convention is built into these DPMO tables. State that assumption whenever you report sigma level.</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sigma scale - DPMO at each level</a:t>
            </a:r>
          </a:p>
        </p:txBody>
      </p:sp>
      <p:sp>
        <p:nvSpPr>
          <p:cNvPr id="6" name="Rectangle 5"/>
          <p:cNvSpPr/>
          <p:nvPr/>
        </p:nvSpPr>
        <p:spPr>
          <a:xfrm>
            <a:off x="914400" y="3947922"/>
            <a:ext cx="1554480" cy="15841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947922"/>
            <a:ext cx="155448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4167378"/>
            <a:ext cx="1335024" cy="548640"/>
          </a:xfrm>
          <a:prstGeom prst="rect">
            <a:avLst/>
          </a:prstGeom>
          <a:noFill/>
        </p:spPr>
        <p:txBody>
          <a:bodyPr wrap="square" anchor="t">
            <a:spAutoFit/>
          </a:bodyPr>
          <a:lstStyle/>
          <a:p>
            <a:pPr algn="ctr">
              <a:spcAft>
                <a:spcPts val="400"/>
              </a:spcAft>
            </a:pPr>
            <a:r>
              <a:rPr sz="1500" b="1">
                <a:solidFill>
                  <a:srgbClr val="1F6FEB"/>
                </a:solidFill>
                <a:latin typeface="Arial"/>
              </a:rPr>
              <a:t>1 sigma</a:t>
            </a:r>
          </a:p>
        </p:txBody>
      </p:sp>
      <p:sp>
        <p:nvSpPr>
          <p:cNvPr id="9" name="TextBox 8"/>
          <p:cNvSpPr txBox="1"/>
          <p:nvPr/>
        </p:nvSpPr>
        <p:spPr>
          <a:xfrm>
            <a:off x="1042416" y="4752594"/>
            <a:ext cx="1298448" cy="669798"/>
          </a:xfrm>
          <a:prstGeom prst="rect">
            <a:avLst/>
          </a:prstGeom>
          <a:noFill/>
        </p:spPr>
        <p:txBody>
          <a:bodyPr wrap="square" anchor="t">
            <a:spAutoFit/>
          </a:bodyPr>
          <a:lstStyle/>
          <a:p>
            <a:pPr algn="ctr">
              <a:spcAft>
                <a:spcPts val="400"/>
              </a:spcAft>
            </a:pPr>
            <a:r>
              <a:rPr sz="1100" b="0">
                <a:solidFill>
                  <a:srgbClr val="5B6372"/>
                </a:solidFill>
                <a:latin typeface="Arial"/>
              </a:rPr>
              <a:t>690,000 DPMO</a:t>
            </a:r>
          </a:p>
        </p:txBody>
      </p:sp>
      <p:sp>
        <p:nvSpPr>
          <p:cNvPr id="10" name="Rectangle 9"/>
          <p:cNvSpPr/>
          <p:nvPr/>
        </p:nvSpPr>
        <p:spPr>
          <a:xfrm>
            <a:off x="2670048" y="3560674"/>
            <a:ext cx="1554480" cy="19714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2670048" y="3560674"/>
            <a:ext cx="155448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779776" y="3780130"/>
            <a:ext cx="1335024" cy="548640"/>
          </a:xfrm>
          <a:prstGeom prst="rect">
            <a:avLst/>
          </a:prstGeom>
          <a:noFill/>
        </p:spPr>
        <p:txBody>
          <a:bodyPr wrap="square" anchor="t">
            <a:spAutoFit/>
          </a:bodyPr>
          <a:lstStyle/>
          <a:p>
            <a:pPr algn="ctr">
              <a:spcAft>
                <a:spcPts val="400"/>
              </a:spcAft>
            </a:pPr>
            <a:r>
              <a:rPr sz="1500" b="1">
                <a:solidFill>
                  <a:srgbClr val="10B981"/>
                </a:solidFill>
                <a:latin typeface="Arial"/>
              </a:rPr>
              <a:t>2 sigma</a:t>
            </a:r>
          </a:p>
        </p:txBody>
      </p:sp>
      <p:sp>
        <p:nvSpPr>
          <p:cNvPr id="13" name="TextBox 12"/>
          <p:cNvSpPr txBox="1"/>
          <p:nvPr/>
        </p:nvSpPr>
        <p:spPr>
          <a:xfrm>
            <a:off x="2798064" y="4365346"/>
            <a:ext cx="1298448" cy="1057046"/>
          </a:xfrm>
          <a:prstGeom prst="rect">
            <a:avLst/>
          </a:prstGeom>
          <a:noFill/>
        </p:spPr>
        <p:txBody>
          <a:bodyPr wrap="square" anchor="t">
            <a:spAutoFit/>
          </a:bodyPr>
          <a:lstStyle/>
          <a:p>
            <a:pPr algn="ctr">
              <a:spcAft>
                <a:spcPts val="400"/>
              </a:spcAft>
            </a:pPr>
            <a:r>
              <a:rPr sz="1100" b="0">
                <a:solidFill>
                  <a:srgbClr val="5B6372"/>
                </a:solidFill>
                <a:latin typeface="Arial"/>
              </a:rPr>
              <a:t>308,000 DPMO</a:t>
            </a:r>
          </a:p>
        </p:txBody>
      </p:sp>
      <p:sp>
        <p:nvSpPr>
          <p:cNvPr id="14" name="Rectangle 13"/>
          <p:cNvSpPr/>
          <p:nvPr/>
        </p:nvSpPr>
        <p:spPr>
          <a:xfrm>
            <a:off x="4425696" y="3173426"/>
            <a:ext cx="1554480" cy="235869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25696" y="3173426"/>
            <a:ext cx="155448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35424" y="3392882"/>
            <a:ext cx="1335024" cy="548640"/>
          </a:xfrm>
          <a:prstGeom prst="rect">
            <a:avLst/>
          </a:prstGeom>
          <a:noFill/>
        </p:spPr>
        <p:txBody>
          <a:bodyPr wrap="square" anchor="t">
            <a:spAutoFit/>
          </a:bodyPr>
          <a:lstStyle/>
          <a:p>
            <a:pPr algn="ctr">
              <a:spcAft>
                <a:spcPts val="400"/>
              </a:spcAft>
            </a:pPr>
            <a:r>
              <a:rPr sz="1500" b="1">
                <a:solidFill>
                  <a:srgbClr val="7C3AED"/>
                </a:solidFill>
                <a:latin typeface="Arial"/>
              </a:rPr>
              <a:t>3 sigma</a:t>
            </a:r>
          </a:p>
        </p:txBody>
      </p:sp>
      <p:sp>
        <p:nvSpPr>
          <p:cNvPr id="17" name="TextBox 16"/>
          <p:cNvSpPr txBox="1"/>
          <p:nvPr/>
        </p:nvSpPr>
        <p:spPr>
          <a:xfrm>
            <a:off x="4553712" y="3978098"/>
            <a:ext cx="1298448" cy="1444294"/>
          </a:xfrm>
          <a:prstGeom prst="rect">
            <a:avLst/>
          </a:prstGeom>
          <a:noFill/>
        </p:spPr>
        <p:txBody>
          <a:bodyPr wrap="square" anchor="t">
            <a:spAutoFit/>
          </a:bodyPr>
          <a:lstStyle/>
          <a:p>
            <a:pPr algn="ctr">
              <a:spcAft>
                <a:spcPts val="400"/>
              </a:spcAft>
            </a:pPr>
            <a:r>
              <a:rPr sz="1100" b="0">
                <a:solidFill>
                  <a:srgbClr val="5B6372"/>
                </a:solidFill>
                <a:latin typeface="Arial"/>
              </a:rPr>
              <a:t>66,800 DPMO</a:t>
            </a:r>
          </a:p>
        </p:txBody>
      </p:sp>
      <p:sp>
        <p:nvSpPr>
          <p:cNvPr id="18" name="Rectangle 17"/>
          <p:cNvSpPr/>
          <p:nvPr/>
        </p:nvSpPr>
        <p:spPr>
          <a:xfrm>
            <a:off x="6181344" y="2786177"/>
            <a:ext cx="1554480" cy="27459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81344" y="2786177"/>
            <a:ext cx="155448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291072" y="3005633"/>
            <a:ext cx="1335024" cy="548640"/>
          </a:xfrm>
          <a:prstGeom prst="rect">
            <a:avLst/>
          </a:prstGeom>
          <a:noFill/>
        </p:spPr>
        <p:txBody>
          <a:bodyPr wrap="square" anchor="t">
            <a:spAutoFit/>
          </a:bodyPr>
          <a:lstStyle/>
          <a:p>
            <a:pPr algn="ctr">
              <a:spcAft>
                <a:spcPts val="400"/>
              </a:spcAft>
            </a:pPr>
            <a:r>
              <a:rPr sz="1500" b="1">
                <a:solidFill>
                  <a:srgbClr val="F59E0B"/>
                </a:solidFill>
                <a:latin typeface="Arial"/>
              </a:rPr>
              <a:t>4 sigma</a:t>
            </a:r>
          </a:p>
        </p:txBody>
      </p:sp>
      <p:sp>
        <p:nvSpPr>
          <p:cNvPr id="21" name="TextBox 20"/>
          <p:cNvSpPr txBox="1"/>
          <p:nvPr/>
        </p:nvSpPr>
        <p:spPr>
          <a:xfrm>
            <a:off x="6309360" y="3590849"/>
            <a:ext cx="1298448" cy="1831543"/>
          </a:xfrm>
          <a:prstGeom prst="rect">
            <a:avLst/>
          </a:prstGeom>
          <a:noFill/>
        </p:spPr>
        <p:txBody>
          <a:bodyPr wrap="square" anchor="t">
            <a:spAutoFit/>
          </a:bodyPr>
          <a:lstStyle/>
          <a:p>
            <a:pPr algn="ctr">
              <a:spcAft>
                <a:spcPts val="400"/>
              </a:spcAft>
            </a:pPr>
            <a:r>
              <a:rPr sz="1100" b="0">
                <a:solidFill>
                  <a:srgbClr val="5B6372"/>
                </a:solidFill>
                <a:latin typeface="Arial"/>
              </a:rPr>
              <a:t>6,210 DPMO</a:t>
            </a:r>
          </a:p>
        </p:txBody>
      </p:sp>
      <p:sp>
        <p:nvSpPr>
          <p:cNvPr id="22" name="Rectangle 21"/>
          <p:cNvSpPr/>
          <p:nvPr/>
        </p:nvSpPr>
        <p:spPr>
          <a:xfrm>
            <a:off x="7936992" y="2398929"/>
            <a:ext cx="1554480" cy="313319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936992" y="2398929"/>
            <a:ext cx="155448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046720" y="2618385"/>
            <a:ext cx="1335024" cy="548640"/>
          </a:xfrm>
          <a:prstGeom prst="rect">
            <a:avLst/>
          </a:prstGeom>
          <a:noFill/>
        </p:spPr>
        <p:txBody>
          <a:bodyPr wrap="square" anchor="t">
            <a:spAutoFit/>
          </a:bodyPr>
          <a:lstStyle/>
          <a:p>
            <a:pPr algn="ctr">
              <a:spcAft>
                <a:spcPts val="400"/>
              </a:spcAft>
            </a:pPr>
            <a:r>
              <a:rPr sz="1500" b="1">
                <a:solidFill>
                  <a:srgbClr val="1F6FEB"/>
                </a:solidFill>
                <a:latin typeface="Arial"/>
              </a:rPr>
              <a:t>5 sigma</a:t>
            </a:r>
          </a:p>
        </p:txBody>
      </p:sp>
      <p:sp>
        <p:nvSpPr>
          <p:cNvPr id="25" name="TextBox 24"/>
          <p:cNvSpPr txBox="1"/>
          <p:nvPr/>
        </p:nvSpPr>
        <p:spPr>
          <a:xfrm>
            <a:off x="8065008" y="3203601"/>
            <a:ext cx="1298448" cy="2218791"/>
          </a:xfrm>
          <a:prstGeom prst="rect">
            <a:avLst/>
          </a:prstGeom>
          <a:noFill/>
        </p:spPr>
        <p:txBody>
          <a:bodyPr wrap="square" anchor="t">
            <a:spAutoFit/>
          </a:bodyPr>
          <a:lstStyle/>
          <a:p>
            <a:pPr algn="ctr">
              <a:spcAft>
                <a:spcPts val="400"/>
              </a:spcAft>
            </a:pPr>
            <a:r>
              <a:rPr sz="1100" b="0">
                <a:solidFill>
                  <a:srgbClr val="5B6372"/>
                </a:solidFill>
                <a:latin typeface="Arial"/>
              </a:rPr>
              <a:t>233 DPMO</a:t>
            </a:r>
          </a:p>
        </p:txBody>
      </p:sp>
      <p:sp>
        <p:nvSpPr>
          <p:cNvPr id="26" name="Rectangle 25"/>
          <p:cNvSpPr/>
          <p:nvPr/>
        </p:nvSpPr>
        <p:spPr>
          <a:xfrm>
            <a:off x="9692640" y="2011680"/>
            <a:ext cx="1554480"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9692640" y="2011680"/>
            <a:ext cx="155448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802368" y="2231136"/>
            <a:ext cx="1335024" cy="548640"/>
          </a:xfrm>
          <a:prstGeom prst="rect">
            <a:avLst/>
          </a:prstGeom>
          <a:noFill/>
        </p:spPr>
        <p:txBody>
          <a:bodyPr wrap="square" anchor="t">
            <a:spAutoFit/>
          </a:bodyPr>
          <a:lstStyle/>
          <a:p>
            <a:pPr algn="ctr">
              <a:spcAft>
                <a:spcPts val="400"/>
              </a:spcAft>
            </a:pPr>
            <a:r>
              <a:rPr sz="1500" b="1">
                <a:solidFill>
                  <a:srgbClr val="10B981"/>
                </a:solidFill>
                <a:latin typeface="Arial"/>
              </a:rPr>
              <a:t>6 sigma</a:t>
            </a:r>
          </a:p>
        </p:txBody>
      </p:sp>
      <p:sp>
        <p:nvSpPr>
          <p:cNvPr id="29" name="TextBox 28"/>
          <p:cNvSpPr txBox="1"/>
          <p:nvPr/>
        </p:nvSpPr>
        <p:spPr>
          <a:xfrm>
            <a:off x="9820656" y="2816352"/>
            <a:ext cx="1298448" cy="2606040"/>
          </a:xfrm>
          <a:prstGeom prst="rect">
            <a:avLst/>
          </a:prstGeom>
          <a:noFill/>
        </p:spPr>
        <p:txBody>
          <a:bodyPr wrap="square" anchor="t">
            <a:spAutoFit/>
          </a:bodyPr>
          <a:lstStyle/>
          <a:p>
            <a:pPr algn="ctr">
              <a:spcAft>
                <a:spcPts val="400"/>
              </a:spcAft>
            </a:pPr>
            <a:r>
              <a:rPr sz="1100" b="0">
                <a:solidFill>
                  <a:srgbClr val="5B6372"/>
                </a:solidFill>
                <a:latin typeface="Arial"/>
              </a:rPr>
              <a:t>3.4 DPMO</a:t>
            </a:r>
          </a:p>
        </p:txBody>
      </p:sp>
      <p:cxnSp>
        <p:nvCxnSpPr>
          <p:cNvPr id="30" name="Connector 29"/>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Each level is roughly a ten-fold defect reduction. Meridian at 3.84 sigma has two full levels to climb.</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MEASURE - BLACK BELT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BLACK BELT ONLY: capability when the data is not normal</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Cp, Cpk, Pp and Ppk all assume a normal distribution. Cycle times, leak rates and impurity levels almost never are. Running the index anyway produces a confident, wrong number.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normal distribution and the empirical rule</a:t>
            </a:r>
          </a:p>
        </p:txBody>
      </p:sp>
      <p:cxnSp>
        <p:nvCxnSpPr>
          <p:cNvPr id="6" name="Connector 5"/>
          <p:cNvCxnSpPr/>
          <p:nvPr/>
        </p:nvCxnSpPr>
        <p:spPr>
          <a:xfrm>
            <a:off x="1097280" y="5166360"/>
            <a:ext cx="996696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143000" y="5165161"/>
            <a:ext cx="82296" cy="27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225296" y="5164805"/>
            <a:ext cx="82296" cy="3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307592" y="5164352"/>
            <a:ext cx="82296" cy="4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389888" y="5163779"/>
            <a:ext cx="82296" cy="57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472184" y="5163057"/>
            <a:ext cx="82296" cy="72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554480" y="5162152"/>
            <a:ext cx="82296" cy="90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636776" y="5161023"/>
            <a:ext cx="82296" cy="112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719072" y="5159620"/>
            <a:ext cx="82296" cy="140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801368" y="5157887"/>
            <a:ext cx="82296" cy="173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883664" y="5155755"/>
            <a:ext cx="82296" cy="213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965960" y="5153145"/>
            <a:ext cx="82296" cy="26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048256" y="5149966"/>
            <a:ext cx="82296" cy="31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130552" y="5146113"/>
            <a:ext cx="82296" cy="38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212848" y="5141465"/>
            <a:ext cx="82296" cy="4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295144" y="5135885"/>
            <a:ext cx="82296" cy="558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377440" y="5129221"/>
            <a:ext cx="82295" cy="6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459735" y="5121300"/>
            <a:ext cx="82297" cy="79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542032" y="5111931"/>
            <a:ext cx="82296" cy="936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624328" y="5100907"/>
            <a:ext cx="82296" cy="1102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706624" y="5087999"/>
            <a:ext cx="82295" cy="129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2788919" y="5072961"/>
            <a:ext cx="82297" cy="1503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2871216" y="5055530"/>
            <a:ext cx="82296" cy="174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953512" y="5035430"/>
            <a:ext cx="82296" cy="20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035808" y="5012371"/>
            <a:ext cx="82296" cy="2305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118104" y="4986053"/>
            <a:ext cx="82296" cy="2631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3200400" y="4956174"/>
            <a:ext cx="82296" cy="298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3282696" y="4922430"/>
            <a:ext cx="82296" cy="3374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364992" y="4884524"/>
            <a:ext cx="82296" cy="3790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447288" y="4842171"/>
            <a:ext cx="82296" cy="423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3529584" y="4795108"/>
            <a:ext cx="82296" cy="4706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3611880" y="4743097"/>
            <a:ext cx="82296" cy="5201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694176" y="4685941"/>
            <a:ext cx="82296" cy="571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3776472" y="4623484"/>
            <a:ext cx="82296" cy="6245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3858768" y="4555628"/>
            <a:ext cx="82296" cy="678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941064" y="4482337"/>
            <a:ext cx="82296" cy="7329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4023360" y="4403648"/>
            <a:ext cx="82296" cy="786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4105656" y="4319678"/>
            <a:ext cx="82296" cy="8397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4187952" y="4230631"/>
            <a:ext cx="82296" cy="8904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4270248" y="4136806"/>
            <a:ext cx="82296" cy="9382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4352544" y="4038596"/>
            <a:ext cx="82296" cy="982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4434840" y="3936496"/>
            <a:ext cx="82296" cy="102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4517136" y="3831101"/>
            <a:ext cx="82296" cy="10539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4599432" y="3723102"/>
            <a:ext cx="82296" cy="10799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681728" y="3613285"/>
            <a:ext cx="82296" cy="10981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764024" y="3502525"/>
            <a:ext cx="82296" cy="11076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4846320" y="3391769"/>
            <a:ext cx="82296" cy="1107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928616" y="3282035"/>
            <a:ext cx="82296" cy="10973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5010912" y="3174387"/>
            <a:ext cx="82296" cy="107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5093208" y="3069929"/>
            <a:ext cx="82296" cy="10445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5175504" y="2969777"/>
            <a:ext cx="82296" cy="10015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5257800" y="2875046"/>
            <a:ext cx="82296" cy="947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5340096" y="2786830"/>
            <a:ext cx="82296" cy="8821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5422392" y="2706175"/>
            <a:ext cx="82296" cy="8065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5504688" y="2634067"/>
            <a:ext cx="82296" cy="721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5586984" y="2571403"/>
            <a:ext cx="82296" cy="62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5669280" y="2518982"/>
            <a:ext cx="82296" cy="524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751576" y="2477478"/>
            <a:ext cx="82296" cy="4150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5833872" y="2447435"/>
            <a:ext cx="82296" cy="3004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5916168" y="2429249"/>
            <a:ext cx="82296" cy="1818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5998464" y="2423160"/>
            <a:ext cx="82296" cy="60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6080760" y="2423160"/>
            <a:ext cx="82296" cy="60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6163056" y="2429249"/>
            <a:ext cx="82296" cy="1818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6245352" y="2447435"/>
            <a:ext cx="82296" cy="3004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6327648" y="2477478"/>
            <a:ext cx="82296" cy="4150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6409944" y="2518982"/>
            <a:ext cx="82296" cy="524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6492240" y="2571403"/>
            <a:ext cx="82296" cy="62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6574536" y="2634067"/>
            <a:ext cx="82296" cy="721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656832" y="2706175"/>
            <a:ext cx="82296" cy="8065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6739128" y="2786830"/>
            <a:ext cx="82296" cy="8821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6821424" y="2875046"/>
            <a:ext cx="82296" cy="947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6903720" y="2969777"/>
            <a:ext cx="82296" cy="10015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986016" y="3069929"/>
            <a:ext cx="82296" cy="10445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068312" y="3174387"/>
            <a:ext cx="82296" cy="107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150608" y="3282035"/>
            <a:ext cx="82296" cy="10973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232904" y="3391769"/>
            <a:ext cx="82296" cy="1107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7315200" y="3502525"/>
            <a:ext cx="82296" cy="11076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7397496" y="3613285"/>
            <a:ext cx="82296" cy="10981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7479792" y="3723102"/>
            <a:ext cx="82296" cy="10799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7562088" y="3831101"/>
            <a:ext cx="82296" cy="10539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7644384" y="3936496"/>
            <a:ext cx="82296" cy="102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7726680" y="4038596"/>
            <a:ext cx="82296" cy="982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7808976" y="4136806"/>
            <a:ext cx="82296" cy="9382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7891272" y="4230631"/>
            <a:ext cx="82296" cy="8904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7973568" y="4319678"/>
            <a:ext cx="82296" cy="8397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8055864" y="4403648"/>
            <a:ext cx="82296" cy="786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8138160" y="4482337"/>
            <a:ext cx="82296" cy="7329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8220456" y="4555628"/>
            <a:ext cx="82296" cy="678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8302752" y="4623484"/>
            <a:ext cx="82296" cy="6245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8385048" y="4685941"/>
            <a:ext cx="82296" cy="571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8467344" y="4743097"/>
            <a:ext cx="82296" cy="5201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549640" y="4795108"/>
            <a:ext cx="82296" cy="4706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8631936" y="4842171"/>
            <a:ext cx="82296" cy="423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8714232" y="4884524"/>
            <a:ext cx="82296" cy="3790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8796528" y="4922430"/>
            <a:ext cx="82296" cy="3374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8878824" y="4956174"/>
            <a:ext cx="82296" cy="298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8961120" y="4986053"/>
            <a:ext cx="82296" cy="2631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9043416" y="5012371"/>
            <a:ext cx="82296" cy="2305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9125712" y="5035430"/>
            <a:ext cx="82296" cy="20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9208008" y="5055530"/>
            <a:ext cx="82296" cy="174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9290304" y="5072961"/>
            <a:ext cx="82296" cy="1503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9372600" y="5087999"/>
            <a:ext cx="82296" cy="129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9454896" y="5100907"/>
            <a:ext cx="82296" cy="1102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9537192" y="5111931"/>
            <a:ext cx="82296" cy="936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9619488" y="5121300"/>
            <a:ext cx="82296" cy="79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9701784" y="5129221"/>
            <a:ext cx="82296" cy="6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9784080" y="5135885"/>
            <a:ext cx="82296" cy="558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9866376" y="5141465"/>
            <a:ext cx="82296" cy="4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9948672" y="5146113"/>
            <a:ext cx="82296" cy="38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10030968" y="5149966"/>
            <a:ext cx="82296" cy="31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10113264" y="5153145"/>
            <a:ext cx="82296" cy="26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10195560" y="5155755"/>
            <a:ext cx="82296" cy="213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10277856" y="5157887"/>
            <a:ext cx="82296" cy="173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10360152" y="5159620"/>
            <a:ext cx="82296" cy="140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10442448" y="5161023"/>
            <a:ext cx="82296" cy="112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10524744" y="5162152"/>
            <a:ext cx="82296" cy="90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10607040" y="5163057"/>
            <a:ext cx="82296" cy="72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10689336" y="5163779"/>
            <a:ext cx="82296" cy="57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10771632" y="5164352"/>
            <a:ext cx="82296" cy="4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10853928" y="5164805"/>
            <a:ext cx="82296" cy="3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10936224" y="5165161"/>
            <a:ext cx="82296" cy="27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2377440" y="5135885"/>
            <a:ext cx="0" cy="3047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205740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-3σ</a:t>
            </a:r>
          </a:p>
        </p:txBody>
      </p:sp>
      <p:cxnSp>
        <p:nvCxnSpPr>
          <p:cNvPr id="129" name="Connector 128"/>
          <p:cNvCxnSpPr/>
          <p:nvPr/>
        </p:nvCxnSpPr>
        <p:spPr>
          <a:xfrm flipV="1">
            <a:off x="3611880" y="4795108"/>
            <a:ext cx="0" cy="371252"/>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0" name="TextBox 129"/>
          <p:cNvSpPr txBox="1"/>
          <p:nvPr/>
        </p:nvSpPr>
        <p:spPr>
          <a:xfrm>
            <a:off x="329184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-2σ</a:t>
            </a:r>
          </a:p>
        </p:txBody>
      </p:sp>
      <p:cxnSp>
        <p:nvCxnSpPr>
          <p:cNvPr id="131" name="Connector 130"/>
          <p:cNvCxnSpPr/>
          <p:nvPr/>
        </p:nvCxnSpPr>
        <p:spPr>
          <a:xfrm flipV="1">
            <a:off x="4846320" y="3502525"/>
            <a:ext cx="0" cy="166383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452628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-1σ</a:t>
            </a:r>
          </a:p>
        </p:txBody>
      </p:sp>
      <p:cxnSp>
        <p:nvCxnSpPr>
          <p:cNvPr id="133" name="Connector 132"/>
          <p:cNvCxnSpPr/>
          <p:nvPr/>
        </p:nvCxnSpPr>
        <p:spPr>
          <a:xfrm flipV="1">
            <a:off x="6080760" y="2423160"/>
            <a:ext cx="0" cy="274320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4" name="TextBox 133"/>
          <p:cNvSpPr txBox="1"/>
          <p:nvPr/>
        </p:nvSpPr>
        <p:spPr>
          <a:xfrm>
            <a:off x="576072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μ</a:t>
            </a:r>
          </a:p>
        </p:txBody>
      </p:sp>
      <p:cxnSp>
        <p:nvCxnSpPr>
          <p:cNvPr id="135" name="Connector 134"/>
          <p:cNvCxnSpPr/>
          <p:nvPr/>
        </p:nvCxnSpPr>
        <p:spPr>
          <a:xfrm flipV="1">
            <a:off x="7315200" y="3502525"/>
            <a:ext cx="0" cy="166383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699516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+1σ</a:t>
            </a:r>
          </a:p>
        </p:txBody>
      </p:sp>
      <p:cxnSp>
        <p:nvCxnSpPr>
          <p:cNvPr id="137" name="Connector 136"/>
          <p:cNvCxnSpPr/>
          <p:nvPr/>
        </p:nvCxnSpPr>
        <p:spPr>
          <a:xfrm flipV="1">
            <a:off x="8549640" y="4795108"/>
            <a:ext cx="0" cy="371252"/>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8" name="TextBox 137"/>
          <p:cNvSpPr txBox="1"/>
          <p:nvPr/>
        </p:nvSpPr>
        <p:spPr>
          <a:xfrm>
            <a:off x="822960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+2σ</a:t>
            </a:r>
          </a:p>
        </p:txBody>
      </p:sp>
      <p:cxnSp>
        <p:nvCxnSpPr>
          <p:cNvPr id="139" name="Connector 138"/>
          <p:cNvCxnSpPr/>
          <p:nvPr/>
        </p:nvCxnSpPr>
        <p:spPr>
          <a:xfrm flipV="1">
            <a:off x="9784080" y="5135885"/>
            <a:ext cx="0" cy="3047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946404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+3σ</a:t>
            </a:r>
          </a:p>
        </p:txBody>
      </p:sp>
      <p:cxnSp>
        <p:nvCxnSpPr>
          <p:cNvPr id="141" name="Connector 140"/>
          <p:cNvCxnSpPr/>
          <p:nvPr/>
        </p:nvCxnSpPr>
        <p:spPr>
          <a:xfrm>
            <a:off x="2377440" y="2368296"/>
            <a:ext cx="0" cy="2798064"/>
          </a:xfrm>
          <a:prstGeom prst="line">
            <a:avLst/>
          </a:prstGeom>
          <a:ln w="22860">
            <a:solidFill>
              <a:srgbClr val="DC2C2C"/>
            </a:solidFill>
            <a:prstDash val="dash"/>
          </a:ln>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1920240" y="1929384"/>
            <a:ext cx="914400" cy="292608"/>
          </a:xfrm>
          <a:prstGeom prst="rect">
            <a:avLst/>
          </a:prstGeom>
          <a:noFill/>
        </p:spPr>
        <p:txBody>
          <a:bodyPr wrap="square" anchor="t">
            <a:spAutoFit/>
          </a:bodyPr>
          <a:lstStyle/>
          <a:p>
            <a:pPr algn="ctr">
              <a:spcAft>
                <a:spcPts val="400"/>
              </a:spcAft>
            </a:pPr>
            <a:r>
              <a:rPr sz="1200" b="1">
                <a:solidFill>
                  <a:srgbClr val="DC2C2C"/>
                </a:solidFill>
                <a:latin typeface="Arial"/>
              </a:rPr>
              <a:t>LSL</a:t>
            </a:r>
          </a:p>
        </p:txBody>
      </p:sp>
      <p:cxnSp>
        <p:nvCxnSpPr>
          <p:cNvPr id="143" name="Connector 142"/>
          <p:cNvCxnSpPr/>
          <p:nvPr/>
        </p:nvCxnSpPr>
        <p:spPr>
          <a:xfrm>
            <a:off x="9784080" y="2368296"/>
            <a:ext cx="0" cy="2798064"/>
          </a:xfrm>
          <a:prstGeom prst="line">
            <a:avLst/>
          </a:prstGeom>
          <a:ln w="22860">
            <a:solidFill>
              <a:srgbClr val="DC2C2C"/>
            </a:solidFill>
            <a:prstDash val="dash"/>
          </a:ln>
        </p:spPr>
        <p:style>
          <a:lnRef idx="2">
            <a:schemeClr val="accent1"/>
          </a:lnRef>
          <a:fillRef idx="0">
            <a:schemeClr val="accent1"/>
          </a:fillRef>
          <a:effectRef idx="1">
            <a:schemeClr val="accent1"/>
          </a:effectRef>
          <a:fontRef idx="minor">
            <a:schemeClr val="tx1"/>
          </a:fontRef>
        </p:style>
      </p:cxnSp>
      <p:sp>
        <p:nvSpPr>
          <p:cNvPr id="144" name="TextBox 143"/>
          <p:cNvSpPr txBox="1"/>
          <p:nvPr/>
        </p:nvSpPr>
        <p:spPr>
          <a:xfrm>
            <a:off x="9326880" y="1929384"/>
            <a:ext cx="914400" cy="292608"/>
          </a:xfrm>
          <a:prstGeom prst="rect">
            <a:avLst/>
          </a:prstGeom>
          <a:noFill/>
        </p:spPr>
        <p:txBody>
          <a:bodyPr wrap="square" anchor="t">
            <a:spAutoFit/>
          </a:bodyPr>
          <a:lstStyle/>
          <a:p>
            <a:pPr algn="ctr">
              <a:spcAft>
                <a:spcPts val="400"/>
              </a:spcAft>
            </a:pPr>
            <a:r>
              <a:rPr sz="1200" b="1">
                <a:solidFill>
                  <a:srgbClr val="DC2C2C"/>
                </a:solidFill>
                <a:latin typeface="Arial"/>
              </a:rPr>
              <a:t>USL</a:t>
            </a:r>
          </a:p>
        </p:txBody>
      </p:sp>
      <p:sp>
        <p:nvSpPr>
          <p:cNvPr id="145" name="TextBox 144"/>
          <p:cNvSpPr txBox="1"/>
          <p:nvPr/>
        </p:nvSpPr>
        <p:spPr>
          <a:xfrm>
            <a:off x="777240" y="5715000"/>
            <a:ext cx="10607040" cy="548640"/>
          </a:xfrm>
          <a:prstGeom prst="rect">
            <a:avLst/>
          </a:prstGeom>
          <a:noFill/>
        </p:spPr>
        <p:txBody>
          <a:bodyPr wrap="square" anchor="t">
            <a:spAutoFit/>
          </a:bodyPr>
          <a:lstStyle/>
          <a:p>
            <a:pPr algn="ctr">
              <a:spcAft>
                <a:spcPts val="400"/>
              </a:spcAft>
            </a:pPr>
            <a:r>
              <a:rPr sz="1400" b="0">
                <a:solidFill>
                  <a:srgbClr val="5B6372"/>
                </a:solidFill>
                <a:latin typeface="Arial"/>
              </a:rPr>
              <a:t>68.26 percent within +/-1 sigma, 95.46 percent within +/-2 sigma, 99.73 percent within +/-3 sigma. Capability indices depend entirely on this.</a:t>
            </a:r>
          </a:p>
        </p:txBody>
      </p:sp>
      <p:sp>
        <p:nvSpPr>
          <p:cNvPr id="146" name="TextBox 1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7" name="TextBox 1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8" name="TextBox 1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Why non-normality wrecks a capability index</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Cpk is a tail probability</a:t>
            </a:r>
          </a:p>
          <a:p>
            <a:pPr algn="l">
              <a:spcAft>
                <a:spcPts val="300"/>
              </a:spcAft>
            </a:pPr>
            <a:r>
              <a:rPr sz="1200" b="0">
                <a:solidFill>
                  <a:srgbClr val="5B6372"/>
                </a:solidFill>
                <a:latin typeface="Arial"/>
              </a:rPr>
              <a:t>It converts a distance in sigma into a defect rate using normal tails.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Skewed data has fatter tails</a:t>
            </a:r>
          </a:p>
          <a:p>
            <a:pPr algn="l">
              <a:spcAft>
                <a:spcPts val="300"/>
              </a:spcAft>
            </a:pPr>
            <a:r>
              <a:rPr sz="1200" b="0">
                <a:solidFill>
                  <a:srgbClr val="5B6372"/>
                </a:solidFill>
                <a:latin typeface="Arial"/>
              </a:rPr>
              <a:t>A right-skewed process produces far more high-side defects than Cpk predicts.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error is not small</a:t>
            </a:r>
          </a:p>
          <a:p>
            <a:pPr algn="l">
              <a:spcAft>
                <a:spcPts val="300"/>
              </a:spcAft>
            </a:pPr>
            <a:r>
              <a:rPr sz="1200" b="0">
                <a:solidFill>
                  <a:srgbClr val="5B6372"/>
                </a:solidFill>
                <a:latin typeface="Arial"/>
              </a:rPr>
              <a:t>A Cpk of 1.33 on lognormal data can hide a real defect rate ten times higher.</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Bounded data is never normal</a:t>
            </a:r>
          </a:p>
          <a:p>
            <a:pPr algn="l">
              <a:spcAft>
                <a:spcPts val="300"/>
              </a:spcAft>
            </a:pPr>
            <a:r>
              <a:rPr sz="1200" b="0">
                <a:solidFill>
                  <a:srgbClr val="5B6372"/>
                </a:solidFill>
                <a:latin typeface="Arial"/>
              </a:rPr>
              <a:t>Leak rate, impurity and cycle time are bounded at zero and skew right.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Software will not warn you</a:t>
            </a:r>
          </a:p>
          <a:p>
            <a:pPr algn="l">
              <a:spcAft>
                <a:spcPts val="300"/>
              </a:spcAft>
            </a:pPr>
            <a:r>
              <a:rPr sz="1200" b="0">
                <a:solidFill>
                  <a:srgbClr val="5B6372"/>
                </a:solidFill>
                <a:latin typeface="Arial"/>
              </a:rPr>
              <a:t>It computes Cpk on any column of numbers you give it, silently.</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Black Belt discipline</a:t>
            </a:r>
          </a:p>
          <a:p>
            <a:pPr algn="l">
              <a:spcAft>
                <a:spcPts val="300"/>
              </a:spcAft>
            </a:pPr>
            <a:r>
              <a:rPr sz="1200" b="0">
                <a:solidFill>
                  <a:srgbClr val="5B6372"/>
                </a:solidFill>
                <a:latin typeface="Arial"/>
              </a:rPr>
              <a:t>Test normality BEFORE computing any capability index. Every single time.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non-normal capability decision path</a:t>
            </a:r>
          </a:p>
        </p:txBody>
      </p:sp>
      <p:sp>
        <p:nvSpPr>
          <p:cNvPr id="6" name="Rectangle 5"/>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715768"/>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Plot the data: histogram, probability plot, and a time-ordered run chart</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715768"/>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Confirm stability first - capability on an unstable process is meaningless</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715768"/>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Run Anderson-Darling: p below 0.05 rejects normality</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715768"/>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Try a transformation: Box-Cox first, then Johnson if Box-Cox fails</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715768"/>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If no transform works, fit the correct distribution: Weibull, lognormal, exponential</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6" name="Rectangle 35"/>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715768"/>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Compute capability in that distribution and report in ORIGINAL units</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Anderson-Darling normality test</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The hypotheses</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H0: data is normal</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H1: data is not normal. AD is preferred because it weights the TAILS, which drive capability.</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The decision rule</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p &lt; 0.05 -&gt; reject normality</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p at or above 0.05 means you have no evidence against normal. Not proof that it IS normal.</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Meridian example</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AD = 1.84, p = 0.002</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Pump leak-rate data on 120 units. Normality firmly rejected - do not compute Cpk on this raw data.</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With very large n, AD rejects trivial departures. With small n it lacks power. Always look at the probability plot too.</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routes for non-normal capability</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Box-Cox transform</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 power transformation family</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Y' = (Y^lambda - 1)/lambda, lambda estimated from data</a:t>
            </a:r>
          </a:p>
          <a:p>
            <a:pPr>
              <a:spcAft>
                <a:spcPts val="700"/>
              </a:spcAft>
            </a:pPr>
            <a:r>
              <a:rPr sz="1200">
                <a:solidFill>
                  <a:srgbClr val="161B26"/>
                </a:solidFill>
                <a:latin typeface="Arial"/>
              </a:rPr>
              <a:t>•  lambda = 0 is the natural log; 0.5 is the square root</a:t>
            </a:r>
          </a:p>
          <a:p>
            <a:pPr>
              <a:spcAft>
                <a:spcPts val="700"/>
              </a:spcAft>
            </a:pPr>
            <a:r>
              <a:rPr sz="1200">
                <a:solidFill>
                  <a:srgbClr val="161B26"/>
                </a:solidFill>
                <a:latin typeface="Arial"/>
              </a:rPr>
              <a:t>•  Requires strictly positive data</a:t>
            </a:r>
          </a:p>
          <a:p>
            <a:pPr>
              <a:spcAft>
                <a:spcPts val="700"/>
              </a:spcAft>
            </a:pPr>
            <a:r>
              <a:rPr sz="1200">
                <a:solidFill>
                  <a:srgbClr val="161B26"/>
                </a:solidFill>
                <a:latin typeface="Arial"/>
              </a:rPr>
              <a:t>•  Simple, widely accepted, easy to explain</a:t>
            </a:r>
          </a:p>
          <a:p>
            <a:pPr>
              <a:spcAft>
                <a:spcPts val="700"/>
              </a:spcAft>
            </a:pPr>
            <a:r>
              <a:rPr sz="1200">
                <a:solidFill>
                  <a:srgbClr val="161B26"/>
                </a:solidFill>
                <a:latin typeface="Arial"/>
              </a:rPr>
              <a:t>•  Meridian leak rate: lambda = 0 works well</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Johnson transform</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 flexible three-family system</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Johnson SB, SL and SU cover bounded and unbounded</a:t>
            </a:r>
          </a:p>
          <a:p>
            <a:pPr>
              <a:spcAft>
                <a:spcPts val="700"/>
              </a:spcAft>
            </a:pPr>
            <a:r>
              <a:rPr sz="1200">
                <a:solidFill>
                  <a:srgbClr val="161B26"/>
                </a:solidFill>
                <a:latin typeface="Arial"/>
              </a:rPr>
              <a:t>•  Succeeds on many datasets where Box-Cox fails</a:t>
            </a:r>
          </a:p>
          <a:p>
            <a:pPr>
              <a:spcAft>
                <a:spcPts val="700"/>
              </a:spcAft>
            </a:pPr>
            <a:r>
              <a:rPr sz="1200">
                <a:solidFill>
                  <a:srgbClr val="161B26"/>
                </a:solidFill>
                <a:latin typeface="Arial"/>
              </a:rPr>
              <a:t>•  Handles negative values and bounded ranges</a:t>
            </a:r>
          </a:p>
          <a:p>
            <a:pPr>
              <a:spcAft>
                <a:spcPts val="700"/>
              </a:spcAft>
            </a:pPr>
            <a:r>
              <a:rPr sz="1200">
                <a:solidFill>
                  <a:srgbClr val="161B26"/>
                </a:solidFill>
                <a:latin typeface="Arial"/>
              </a:rPr>
              <a:t>•  Harder to explain to a steering committee</a:t>
            </a:r>
          </a:p>
          <a:p>
            <a:pPr>
              <a:spcAft>
                <a:spcPts val="700"/>
              </a:spcAft>
            </a:pPr>
            <a:r>
              <a:rPr sz="1200">
                <a:solidFill>
                  <a:srgbClr val="161B26"/>
                </a:solidFill>
                <a:latin typeface="Arial"/>
              </a:rPr>
              <a:t>•  Use when Box-Cox residuals still fail AD</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Fit the distribution</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Model the physics instead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Weibull for life, strength and time-to-failure</a:t>
            </a:r>
          </a:p>
          <a:p>
            <a:pPr>
              <a:spcAft>
                <a:spcPts val="700"/>
              </a:spcAft>
            </a:pPr>
            <a:r>
              <a:rPr sz="1200">
                <a:solidFill>
                  <a:srgbClr val="161B26"/>
                </a:solidFill>
                <a:latin typeface="Arial"/>
              </a:rPr>
              <a:t>•  Lognormal for multiplicative, right-skewed data</a:t>
            </a:r>
          </a:p>
          <a:p>
            <a:pPr>
              <a:spcAft>
                <a:spcPts val="700"/>
              </a:spcAft>
            </a:pPr>
            <a:r>
              <a:rPr sz="1200">
                <a:solidFill>
                  <a:srgbClr val="161B26"/>
                </a:solidFill>
                <a:latin typeface="Arial"/>
              </a:rPr>
              <a:t>•  Exponential for constant-hazard arrival times</a:t>
            </a:r>
          </a:p>
          <a:p>
            <a:pPr>
              <a:spcAft>
                <a:spcPts val="700"/>
              </a:spcAft>
            </a:pPr>
            <a:r>
              <a:rPr sz="1200">
                <a:solidFill>
                  <a:srgbClr val="161B26"/>
                </a:solidFill>
                <a:latin typeface="Arial"/>
              </a:rPr>
              <a:t>•  No transformation, so no back-transform needed</a:t>
            </a:r>
          </a:p>
          <a:p>
            <a:pPr>
              <a:spcAft>
                <a:spcPts val="700"/>
              </a:spcAft>
            </a:pPr>
            <a:r>
              <a:rPr sz="1200">
                <a:solidFill>
                  <a:srgbClr val="161B26"/>
                </a:solidFill>
                <a:latin typeface="Arial"/>
              </a:rPr>
              <a:t>•  Preferred when theory suggests the distribution</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Box-Cox on Meridian pump leak rate</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Raw data</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AD p = 0.002, right skewed</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120 pumps, leak rate in mL/min, USL 0.50, bounded below at zero. Clearly non-normal.</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Transform</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lambda = 0, so Y' = ln(Y)</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Box-Cox estimates lambda near zero, giving the natural log. AD on ln(Y) now gives p = 0.41.</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Capability</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Ppk computed on ln(Y)</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USL transformed to ln(0.50) = -0.693. Ppk = 0.94 - back-report as 0.94 in original terms.</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Always transform the SPEC LIMITS too, and always present the final result in the customer's original units.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percentile method - capability without a transform</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Normal capability compares spec limits against the 0.135 and 99.865 percentiles of the fitted normal.</a:t>
            </a:r>
          </a:p>
          <a:p>
            <a:pPr>
              <a:spcAft>
                <a:spcPts val="1000"/>
              </a:spcAft>
            </a:pPr>
            <a:r>
              <a:rPr sz="2000">
                <a:solidFill>
                  <a:srgbClr val="161B26"/>
                </a:solidFill>
                <a:latin typeface="Arial"/>
              </a:rPr>
              <a:t>•  The percentile method uses the same two percentiles taken from the FITTED non-normal distribution.</a:t>
            </a:r>
          </a:p>
          <a:p>
            <a:pPr>
              <a:spcAft>
                <a:spcPts val="1000"/>
              </a:spcAft>
            </a:pPr>
            <a:r>
              <a:rPr sz="2000">
                <a:solidFill>
                  <a:srgbClr val="161B26"/>
                </a:solidFill>
                <a:latin typeface="Arial"/>
              </a:rPr>
              <a:t>•  Ppu = (USL - median) / (P99.865 - median) and Ppl = (median - LSL) / (median - P0.135).</a:t>
            </a:r>
          </a:p>
          <a:p>
            <a:pPr>
              <a:spcAft>
                <a:spcPts val="1000"/>
              </a:spcAft>
            </a:pPr>
            <a:r>
              <a:rPr sz="2000">
                <a:solidFill>
                  <a:srgbClr val="161B26"/>
                </a:solidFill>
                <a:latin typeface="Arial"/>
              </a:rPr>
              <a:t>•  Ppk is then the smaller of Ppu and Ppl, exactly as in the normal case.</a:t>
            </a:r>
          </a:p>
          <a:p>
            <a:pPr>
              <a:spcAft>
                <a:spcPts val="1000"/>
              </a:spcAft>
            </a:pPr>
            <a:r>
              <a:rPr sz="2000">
                <a:solidFill>
                  <a:srgbClr val="161B26"/>
                </a:solidFill>
                <a:latin typeface="Arial"/>
              </a:rPr>
              <a:t>•  The advantage: the result is already in original units, with no back-transformation needed.</a:t>
            </a:r>
          </a:p>
          <a:p>
            <a:pPr>
              <a:spcAft>
                <a:spcPts val="1000"/>
              </a:spcAft>
            </a:pPr>
            <a:r>
              <a:rPr sz="2000">
                <a:solidFill>
                  <a:srgbClr val="161B26"/>
                </a:solidFill>
                <a:latin typeface="Arial"/>
              </a:rPr>
              <a:t>•  Minitab calls this the ISO / Z-score method; state clearly which one you used in the report.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MEASURE - BLACK BELT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BLACK BELT ONLY: Cp, Cpk, Pp and Ppk are four different claims</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four indices differ in one thing only: which sigma goes in the denominator. That single choice decides whether you are describing a good day or a real year.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capability index family</a:t>
            </a:r>
          </a:p>
        </p:txBody>
      </p:sp>
      <p:sp>
        <p:nvSpPr>
          <p:cNvPr id="6" name="Rectangle 5"/>
          <p:cNvSpPr/>
          <p:nvPr/>
        </p:nvSpPr>
        <p:spPr>
          <a:xfrm>
            <a:off x="228600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86000" y="1828800"/>
            <a:ext cx="73152" cy="18745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42032" y="2048256"/>
            <a:ext cx="3328416" cy="457200"/>
          </a:xfrm>
          <a:prstGeom prst="rect">
            <a:avLst/>
          </a:prstGeom>
          <a:noFill/>
        </p:spPr>
        <p:txBody>
          <a:bodyPr wrap="square" anchor="t">
            <a:spAutoFit/>
          </a:bodyPr>
          <a:lstStyle/>
          <a:p>
            <a:pPr algn="l">
              <a:spcAft>
                <a:spcPts val="400"/>
              </a:spcAft>
            </a:pPr>
            <a:r>
              <a:rPr sz="1600" b="1">
                <a:solidFill>
                  <a:srgbClr val="10B981"/>
                </a:solidFill>
                <a:latin typeface="Arial"/>
              </a:rPr>
              <a:t>Cp - ignores centring</a:t>
            </a:r>
          </a:p>
        </p:txBody>
      </p:sp>
      <p:sp>
        <p:nvSpPr>
          <p:cNvPr id="9" name="TextBox 8"/>
          <p:cNvSpPr txBox="1"/>
          <p:nvPr/>
        </p:nvSpPr>
        <p:spPr>
          <a:xfrm>
            <a:off x="254203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Uses WITHIN-subgroup sigma (short-term). Potential capability: what the process could do if perfectly centred.</a:t>
            </a:r>
          </a:p>
        </p:txBody>
      </p:sp>
      <p:sp>
        <p:nvSpPr>
          <p:cNvPr id="10" name="Rectangle 9"/>
          <p:cNvSpPr/>
          <p:nvPr/>
        </p:nvSpPr>
        <p:spPr>
          <a:xfrm>
            <a:off x="612648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126480" y="1828800"/>
            <a:ext cx="73152" cy="187451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2048256"/>
            <a:ext cx="3328416" cy="457200"/>
          </a:xfrm>
          <a:prstGeom prst="rect">
            <a:avLst/>
          </a:prstGeom>
          <a:noFill/>
        </p:spPr>
        <p:txBody>
          <a:bodyPr wrap="square" anchor="t">
            <a:spAutoFit/>
          </a:bodyPr>
          <a:lstStyle/>
          <a:p>
            <a:pPr algn="l">
              <a:spcAft>
                <a:spcPts val="400"/>
              </a:spcAft>
            </a:pPr>
            <a:r>
              <a:rPr sz="1600" b="1">
                <a:solidFill>
                  <a:srgbClr val="1F6FEB"/>
                </a:solidFill>
                <a:latin typeface="Arial"/>
              </a:rPr>
              <a:t>Cpk - accounts for centring</a:t>
            </a:r>
          </a:p>
        </p:txBody>
      </p:sp>
      <p:sp>
        <p:nvSpPr>
          <p:cNvPr id="13" name="TextBox 12"/>
          <p:cNvSpPr txBox="1"/>
          <p:nvPr/>
        </p:nvSpPr>
        <p:spPr>
          <a:xfrm>
            <a:off x="638251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Uses WITHIN-subgroup sigma (short-term). Actual short-term capability, the smaller of the two one-sided indices.</a:t>
            </a:r>
          </a:p>
        </p:txBody>
      </p:sp>
      <p:sp>
        <p:nvSpPr>
          <p:cNvPr id="14" name="Rectangle 13"/>
          <p:cNvSpPr/>
          <p:nvPr/>
        </p:nvSpPr>
        <p:spPr>
          <a:xfrm>
            <a:off x="228600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286000" y="3703319"/>
            <a:ext cx="73152"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42032" y="3922775"/>
            <a:ext cx="3328416" cy="457200"/>
          </a:xfrm>
          <a:prstGeom prst="rect">
            <a:avLst/>
          </a:prstGeom>
          <a:noFill/>
        </p:spPr>
        <p:txBody>
          <a:bodyPr wrap="square" anchor="t">
            <a:spAutoFit/>
          </a:bodyPr>
          <a:lstStyle/>
          <a:p>
            <a:pPr algn="l">
              <a:spcAft>
                <a:spcPts val="400"/>
              </a:spcAft>
            </a:pPr>
            <a:r>
              <a:rPr sz="1600" b="1">
                <a:solidFill>
                  <a:srgbClr val="F59E0B"/>
                </a:solidFill>
                <a:latin typeface="Arial"/>
              </a:rPr>
              <a:t>Pp - ignores centring</a:t>
            </a:r>
          </a:p>
        </p:txBody>
      </p:sp>
      <p:sp>
        <p:nvSpPr>
          <p:cNvPr id="17" name="TextBox 16"/>
          <p:cNvSpPr txBox="1"/>
          <p:nvPr/>
        </p:nvSpPr>
        <p:spPr>
          <a:xfrm>
            <a:off x="254203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Uses TOTAL sigma (long-term). Overall potential performance across everything the process actually did.</a:t>
            </a:r>
          </a:p>
        </p:txBody>
      </p:sp>
      <p:sp>
        <p:nvSpPr>
          <p:cNvPr id="18" name="Rectangle 17"/>
          <p:cNvSpPr/>
          <p:nvPr/>
        </p:nvSpPr>
        <p:spPr>
          <a:xfrm>
            <a:off x="612648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26480" y="3703319"/>
            <a:ext cx="73152" cy="1874519"/>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82512" y="3922775"/>
            <a:ext cx="3328416" cy="457200"/>
          </a:xfrm>
          <a:prstGeom prst="rect">
            <a:avLst/>
          </a:prstGeom>
          <a:noFill/>
        </p:spPr>
        <p:txBody>
          <a:bodyPr wrap="square" anchor="t">
            <a:spAutoFit/>
          </a:bodyPr>
          <a:lstStyle/>
          <a:p>
            <a:pPr algn="l">
              <a:spcAft>
                <a:spcPts val="400"/>
              </a:spcAft>
            </a:pPr>
            <a:r>
              <a:rPr sz="1600" b="1">
                <a:solidFill>
                  <a:srgbClr val="5B6372"/>
                </a:solidFill>
                <a:latin typeface="Arial"/>
              </a:rPr>
              <a:t>Ppk - accounts for centring</a:t>
            </a:r>
          </a:p>
        </p:txBody>
      </p:sp>
      <p:sp>
        <p:nvSpPr>
          <p:cNvPr id="21" name="TextBox 20"/>
          <p:cNvSpPr txBox="1"/>
          <p:nvPr/>
        </p:nvSpPr>
        <p:spPr>
          <a:xfrm>
            <a:off x="638251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Uses TOTAL sigma (long-term). The honest number: what the customer actually received over the period.</a:t>
            </a:r>
          </a:p>
        </p:txBody>
      </p:sp>
      <p:sp>
        <p:nvSpPr>
          <p:cNvPr id="22" name="TextBox 21"/>
          <p:cNvSpPr txBox="1"/>
          <p:nvPr/>
        </p:nvSpPr>
        <p:spPr>
          <a:xfrm>
            <a:off x="2286000" y="5687567"/>
            <a:ext cx="7680960" cy="365760"/>
          </a:xfrm>
          <a:prstGeom prst="rect">
            <a:avLst/>
          </a:prstGeom>
          <a:noFill/>
        </p:spPr>
        <p:txBody>
          <a:bodyPr wrap="square" anchor="t">
            <a:spAutoFit/>
          </a:bodyPr>
          <a:lstStyle/>
          <a:p>
            <a:pPr algn="ctr">
              <a:spcAft>
                <a:spcPts val="400"/>
              </a:spcAft>
            </a:pPr>
            <a:r>
              <a:rPr sz="1300" b="1">
                <a:solidFill>
                  <a:srgbClr val="161B26"/>
                </a:solidFill>
                <a:latin typeface="Arial"/>
              </a:rPr>
              <a:t>Does the index account for centring?</a:t>
            </a:r>
          </a:p>
        </p:txBody>
      </p:sp>
      <p:sp>
        <p:nvSpPr>
          <p:cNvPr id="23" name="TextBox 22"/>
          <p:cNvSpPr txBox="1"/>
          <p:nvPr/>
        </p:nvSpPr>
        <p:spPr>
          <a:xfrm>
            <a:off x="548640" y="3520439"/>
            <a:ext cx="1645920" cy="365760"/>
          </a:xfrm>
          <a:prstGeom prst="rect">
            <a:avLst/>
          </a:prstGeom>
          <a:noFill/>
        </p:spPr>
        <p:txBody>
          <a:bodyPr wrap="square" anchor="t">
            <a:spAutoFit/>
          </a:bodyPr>
          <a:lstStyle/>
          <a:p>
            <a:pPr algn="ctr">
              <a:spcAft>
                <a:spcPts val="400"/>
              </a:spcAft>
            </a:pPr>
            <a:r>
              <a:rPr sz="1300" b="1">
                <a:solidFill>
                  <a:srgbClr val="161B26"/>
                </a:solidFill>
                <a:latin typeface="Arial"/>
              </a:rPr>
              <a:t>Which sigma is used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four indices</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Cp and Pp</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(USL - LSL) / 6 sigma</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Cp uses sigma-within (from R-bar/d2). Pp uses sigma-total (the ordinary sample sigma).</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Cpk</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min[(USL-Xbar), (Xbar-LSL)] / 3 s(within)</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The worse of the two sides, so an off-centre process is correctly penalised.</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Ppk</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min[(USL-Xbar), (Xbar-LSL)] / 3 s(total)</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Same structure, but the denominator includes ALL the between-subgroup variation.</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sigma-within is estimated from within-subgroup ranges. sigma-total is the plain standard deviation of all data.</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worked example - the Cpk / Ppk gap</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The process</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Pump flow accuracy, USL +1.0, LSL -1.0</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60 subgroups of 5 units over 12 weeks. Overall mean = +0.14 mL/h.</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Short term</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s(within) = 0.19 -&gt; Cpk = 1.51</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Cpk = min(1.0-0.14, 0.14+1.0) / (3 x 0.19) = 0.86 / 0.57 = 1.51. Looks comfortably capable.</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Long term</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s(total) = 0.42 -&gt; Ppk = 0.68</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Ppk = 0.86 / (3 x 0.42) = 0.68. The same process, honestly reported, is NOT capable.</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A Cpk of 1.51 with a Ppk of 0.68 does not mean the gauge is wrong. It means the process is drifting between subgroups.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Reading the Cpk to Ppk gap</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Cpk approximately Ppk</a:t>
            </a:r>
          </a:p>
          <a:p>
            <a:pPr algn="l">
              <a:spcAft>
                <a:spcPts val="300"/>
              </a:spcAft>
            </a:pPr>
            <a:r>
              <a:rPr sz="1200" b="0">
                <a:solidFill>
                  <a:srgbClr val="5B6372"/>
                </a:solidFill>
                <a:latin typeface="Arial"/>
              </a:rPr>
              <a:t>The process is stable. Within-subgroup and total variation agree. Trust both.</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Cpk much greater than Ppk</a:t>
            </a:r>
          </a:p>
          <a:p>
            <a:pPr algn="l">
              <a:spcAft>
                <a:spcPts val="300"/>
              </a:spcAft>
            </a:pPr>
            <a:r>
              <a:rPr sz="1200" b="0">
                <a:solidFill>
                  <a:srgbClr val="5B6372"/>
                </a:solidFill>
                <a:latin typeface="Arial"/>
              </a:rPr>
              <a:t>Significant between-subgroup drift, shift or special cause. Cpk is flattering you.</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Meridian: 1.51 vs 0.68</a:t>
            </a:r>
          </a:p>
          <a:p>
            <a:pPr algn="l">
              <a:spcAft>
                <a:spcPts val="300"/>
              </a:spcAft>
            </a:pPr>
            <a:r>
              <a:rPr sz="1200" b="0">
                <a:solidFill>
                  <a:srgbClr val="5B6372"/>
                </a:solidFill>
                <a:latin typeface="Arial"/>
              </a:rPr>
              <a:t>A large gap: shift-to-shift and lot-to-lot drift the control chart must catch.</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ratio is a diagnostic</a:t>
            </a:r>
          </a:p>
          <a:p>
            <a:pPr algn="l">
              <a:spcAft>
                <a:spcPts val="300"/>
              </a:spcAft>
            </a:pPr>
            <a:r>
              <a:rPr sz="1200" b="0">
                <a:solidFill>
                  <a:srgbClr val="5B6372"/>
                </a:solidFill>
                <a:latin typeface="Arial"/>
              </a:rPr>
              <a:t>Cpk/Ppk is roughly a stability index. Far above 1 means unstable.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Never report Cpk alone</a:t>
            </a:r>
          </a:p>
          <a:p>
            <a:pPr algn="l">
              <a:spcAft>
                <a:spcPts val="300"/>
              </a:spcAft>
            </a:pPr>
            <a:r>
              <a:rPr sz="1200" b="0">
                <a:solidFill>
                  <a:srgbClr val="5B6372"/>
                </a:solidFill>
                <a:latin typeface="Arial"/>
              </a:rPr>
              <a:t>On an unstable process Cpk describes a good hour, not the customer's year.</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What the customer got</a:t>
            </a:r>
          </a:p>
          <a:p>
            <a:pPr algn="l">
              <a:spcAft>
                <a:spcPts val="300"/>
              </a:spcAft>
            </a:pPr>
            <a:r>
              <a:rPr sz="1200" b="0">
                <a:solidFill>
                  <a:srgbClr val="5B6372"/>
                </a:solidFill>
                <a:latin typeface="Arial"/>
              </a:rPr>
              <a:t>Ppk. Always Ppk. That is the number that maps to real received defect rates.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When to report which index</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Report Cp / Cpk</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Short-term, stable, controlled</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process is demonstrably in statistical control</a:t>
            </a:r>
          </a:p>
          <a:p>
            <a:pPr>
              <a:spcAft>
                <a:spcPts val="700"/>
              </a:spcAft>
            </a:pPr>
            <a:r>
              <a:rPr sz="1200">
                <a:solidFill>
                  <a:srgbClr val="161B26"/>
                </a:solidFill>
                <a:latin typeface="Arial"/>
              </a:rPr>
              <a:t>•  Subgroups are rationally formed</a:t>
            </a:r>
          </a:p>
          <a:p>
            <a:pPr>
              <a:spcAft>
                <a:spcPts val="700"/>
              </a:spcAft>
            </a:pPr>
            <a:r>
              <a:rPr sz="1200">
                <a:solidFill>
                  <a:srgbClr val="161B26"/>
                </a:solidFill>
                <a:latin typeface="Arial"/>
              </a:rPr>
              <a:t>•  Machine capability studies over a short run</a:t>
            </a:r>
          </a:p>
          <a:p>
            <a:pPr>
              <a:spcAft>
                <a:spcPts val="700"/>
              </a:spcAft>
            </a:pPr>
            <a:r>
              <a:rPr sz="1200">
                <a:solidFill>
                  <a:srgbClr val="161B26"/>
                </a:solidFill>
                <a:latin typeface="Arial"/>
              </a:rPr>
              <a:t>•  Process validation runs under fixed conditions</a:t>
            </a:r>
          </a:p>
          <a:p>
            <a:pPr>
              <a:spcAft>
                <a:spcPts val="700"/>
              </a:spcAft>
            </a:pPr>
            <a:r>
              <a:rPr sz="1200">
                <a:solidFill>
                  <a:srgbClr val="161B26"/>
                </a:solidFill>
                <a:latin typeface="Arial"/>
              </a:rPr>
              <a:t>•  State that it is short-term capability</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Report Pp / Ppk</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Long-term, real performance</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Baseline capability in the Measure phase</a:t>
            </a:r>
          </a:p>
          <a:p>
            <a:pPr>
              <a:spcAft>
                <a:spcPts val="700"/>
              </a:spcAft>
            </a:pPr>
            <a:r>
              <a:rPr sz="1200">
                <a:solidFill>
                  <a:srgbClr val="161B26"/>
                </a:solidFill>
                <a:latin typeface="Arial"/>
              </a:rPr>
              <a:t>•  Any process not yet proven stable</a:t>
            </a:r>
          </a:p>
          <a:p>
            <a:pPr>
              <a:spcAft>
                <a:spcPts val="700"/>
              </a:spcAft>
            </a:pPr>
            <a:r>
              <a:rPr sz="1200">
                <a:solidFill>
                  <a:srgbClr val="161B26"/>
                </a:solidFill>
                <a:latin typeface="Arial"/>
              </a:rPr>
              <a:t>•  Customer or regulator performance reporting</a:t>
            </a:r>
          </a:p>
          <a:p>
            <a:pPr>
              <a:spcAft>
                <a:spcPts val="700"/>
              </a:spcAft>
            </a:pPr>
            <a:r>
              <a:rPr sz="1200">
                <a:solidFill>
                  <a:srgbClr val="161B26"/>
                </a:solidFill>
                <a:latin typeface="Arial"/>
              </a:rPr>
              <a:t>•  Post-improvement verification in Control</a:t>
            </a:r>
          </a:p>
          <a:p>
            <a:pPr>
              <a:spcAft>
                <a:spcPts val="700"/>
              </a:spcAft>
            </a:pPr>
            <a:r>
              <a:rPr sz="1200">
                <a:solidFill>
                  <a:srgbClr val="161B26"/>
                </a:solidFill>
                <a:latin typeface="Arial"/>
              </a:rPr>
              <a:t>•  This is the default at Meridian</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Report BOTH</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Black Belt standard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gap between them is itself the finding</a:t>
            </a:r>
          </a:p>
          <a:p>
            <a:pPr>
              <a:spcAft>
                <a:spcPts val="700"/>
              </a:spcAft>
            </a:pPr>
            <a:r>
              <a:rPr sz="1200">
                <a:solidFill>
                  <a:srgbClr val="161B26"/>
                </a:solidFill>
                <a:latin typeface="Arial"/>
              </a:rPr>
              <a:t>•  It quantifies the opportunity from stabilising alone</a:t>
            </a:r>
          </a:p>
          <a:p>
            <a:pPr>
              <a:spcAft>
                <a:spcPts val="700"/>
              </a:spcAft>
            </a:pPr>
            <a:r>
              <a:rPr sz="1200">
                <a:solidFill>
                  <a:srgbClr val="161B26"/>
                </a:solidFill>
                <a:latin typeface="Arial"/>
              </a:rPr>
              <a:t>•  It prevents the accusation of cherry-picking</a:t>
            </a:r>
          </a:p>
          <a:p>
            <a:pPr>
              <a:spcAft>
                <a:spcPts val="700"/>
              </a:spcAft>
            </a:pPr>
            <a:r>
              <a:rPr sz="1200">
                <a:solidFill>
                  <a:srgbClr val="161B26"/>
                </a:solidFill>
                <a:latin typeface="Arial"/>
              </a:rPr>
              <a:t>•  It tells the sponsor where to invest first</a:t>
            </a:r>
          </a:p>
          <a:p>
            <a:pPr>
              <a:spcAft>
                <a:spcPts val="700"/>
              </a:spcAft>
            </a:pPr>
            <a:r>
              <a:rPr sz="1200">
                <a:solidFill>
                  <a:srgbClr val="161B26"/>
                </a:solidFill>
                <a:latin typeface="Arial"/>
              </a:rPr>
              <a:t>•  Always with the sample period stated</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MEASURE - BLACK BELT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BLACK BELT ONLY: rational subgrouping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How you group the data decides what variation lands inside a subgroup and what lands between them. That single choice determines what your control chart is capable of ever detecting.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rational subgrouping principle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Within-subgroup</a:t>
            </a:r>
          </a:p>
          <a:p>
            <a:pPr algn="l">
              <a:spcAft>
                <a:spcPts val="300"/>
              </a:spcAft>
            </a:pPr>
            <a:r>
              <a:rPr sz="1200" b="0">
                <a:solidFill>
                  <a:srgbClr val="5B6372"/>
                </a:solidFill>
                <a:latin typeface="Arial"/>
              </a:rPr>
              <a:t>Should contain ONLY common-cause noise. This becomes the yardstick for the limits.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Between-subgroup</a:t>
            </a:r>
          </a:p>
          <a:p>
            <a:pPr algn="l">
              <a:spcAft>
                <a:spcPts val="300"/>
              </a:spcAft>
            </a:pPr>
            <a:r>
              <a:rPr sz="1200" b="0">
                <a:solidFill>
                  <a:srgbClr val="5B6372"/>
                </a:solidFill>
                <a:latin typeface="Arial"/>
              </a:rPr>
              <a:t>Is what the chart tests against that yardstick. This is what you want to detect.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design question</a:t>
            </a:r>
          </a:p>
          <a:p>
            <a:pPr algn="l">
              <a:spcAft>
                <a:spcPts val="300"/>
              </a:spcAft>
            </a:pPr>
            <a:r>
              <a:rPr sz="1200" b="0">
                <a:solidFill>
                  <a:srgbClr val="5B6372"/>
                </a:solidFill>
                <a:latin typeface="Arial"/>
              </a:rPr>
              <a:t>What source of variation do I want this chart to catch? Put it BETWEEN subgroups.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Consecutive units</a:t>
            </a:r>
          </a:p>
          <a:p>
            <a:pPr algn="l">
              <a:spcAft>
                <a:spcPts val="300"/>
              </a:spcAft>
            </a:pPr>
            <a:r>
              <a:rPr sz="1200" b="0">
                <a:solidFill>
                  <a:srgbClr val="5B6372"/>
                </a:solidFill>
                <a:latin typeface="Arial"/>
              </a:rPr>
              <a:t>The classic rational subgroup: 5 consecutive pumps, minimising within-subgroup spread.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Control limits follow</a:t>
            </a:r>
          </a:p>
          <a:p>
            <a:pPr algn="l">
              <a:spcAft>
                <a:spcPts val="300"/>
              </a:spcAft>
            </a:pPr>
            <a:r>
              <a:rPr sz="1200" b="0">
                <a:solidFill>
                  <a:srgbClr val="5B6372"/>
                </a:solidFill>
                <a:latin typeface="Arial"/>
              </a:rPr>
              <a:t>Limits are computed from within-subgroup variation, so wide subgroups mean wide limits.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Get it wrong</a:t>
            </a:r>
          </a:p>
          <a:p>
            <a:pPr algn="l">
              <a:spcAft>
                <a:spcPts val="300"/>
              </a:spcAft>
            </a:pPr>
            <a:r>
              <a:rPr sz="1200" b="0">
                <a:solidFill>
                  <a:srgbClr val="5B6372"/>
                </a:solidFill>
                <a:latin typeface="Arial"/>
              </a:rPr>
              <a:t>Wide limits that flag nothing, or tight limits that flag everything. Both useless.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Two subgrouping strategies, same data</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Consecutive sampling</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5 units back to back</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Within-subgroup captures only machine noise</a:t>
            </a:r>
          </a:p>
          <a:p>
            <a:pPr>
              <a:spcAft>
                <a:spcPts val="700"/>
              </a:spcAft>
            </a:pPr>
            <a:r>
              <a:rPr sz="1200">
                <a:solidFill>
                  <a:srgbClr val="161B26"/>
                </a:solidFill>
                <a:latin typeface="Arial"/>
              </a:rPr>
              <a:t>•  Shift and lot differences land BETWEEN subgroups</a:t>
            </a:r>
          </a:p>
          <a:p>
            <a:pPr>
              <a:spcAft>
                <a:spcPts val="700"/>
              </a:spcAft>
            </a:pPr>
            <a:r>
              <a:rPr sz="1200">
                <a:solidFill>
                  <a:srgbClr val="161B26"/>
                </a:solidFill>
                <a:latin typeface="Arial"/>
              </a:rPr>
              <a:t>•  Control limits are tight</a:t>
            </a:r>
          </a:p>
          <a:p>
            <a:pPr>
              <a:spcAft>
                <a:spcPts val="700"/>
              </a:spcAft>
            </a:pPr>
            <a:r>
              <a:rPr sz="1200">
                <a:solidFill>
                  <a:srgbClr val="161B26"/>
                </a:solidFill>
                <a:latin typeface="Arial"/>
              </a:rPr>
              <a:t>•  The chart DETECTS shift and lot changes</a:t>
            </a:r>
          </a:p>
          <a:p>
            <a:pPr>
              <a:spcAft>
                <a:spcPts val="700"/>
              </a:spcAft>
            </a:pPr>
            <a:r>
              <a:rPr sz="1200">
                <a:solidFill>
                  <a:srgbClr val="161B26"/>
                </a:solidFill>
                <a:latin typeface="Arial"/>
              </a:rPr>
              <a:t>•  This is what you almost always want</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Spread sampling</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1 unit per hour over 5 hours</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Within-subgroup absorbs the drift across the shift</a:t>
            </a:r>
          </a:p>
          <a:p>
            <a:pPr>
              <a:spcAft>
                <a:spcPts val="700"/>
              </a:spcAft>
            </a:pPr>
            <a:r>
              <a:rPr sz="1200">
                <a:solidFill>
                  <a:srgbClr val="161B26"/>
                </a:solidFill>
                <a:latin typeface="Arial"/>
              </a:rPr>
              <a:t>•  Drift is now inside, not between, subgroups</a:t>
            </a:r>
          </a:p>
          <a:p>
            <a:pPr>
              <a:spcAft>
                <a:spcPts val="700"/>
              </a:spcAft>
            </a:pPr>
            <a:r>
              <a:rPr sz="1200">
                <a:solidFill>
                  <a:srgbClr val="161B26"/>
                </a:solidFill>
                <a:latin typeface="Arial"/>
              </a:rPr>
              <a:t>•  Control limits become wide</a:t>
            </a:r>
          </a:p>
          <a:p>
            <a:pPr>
              <a:spcAft>
                <a:spcPts val="700"/>
              </a:spcAft>
            </a:pPr>
            <a:r>
              <a:rPr sz="1200">
                <a:solidFill>
                  <a:srgbClr val="161B26"/>
                </a:solidFill>
                <a:latin typeface="Arial"/>
              </a:rPr>
              <a:t>•  The chart CANNOT detect the drift it swallowed</a:t>
            </a:r>
          </a:p>
          <a:p>
            <a:pPr>
              <a:spcAft>
                <a:spcPts val="700"/>
              </a:spcAft>
            </a:pPr>
            <a:r>
              <a:rPr sz="1200">
                <a:solidFill>
                  <a:srgbClr val="161B26"/>
                </a:solidFill>
                <a:latin typeface="Arial"/>
              </a:rPr>
              <a:t>•  A stable-looking chart on a drifting process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subgrouping - the same 300 pumps, two ways</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Consecutive design</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5 consecutive pumps, hourly</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s(within) = 0.19. Control limits Xbar +/- 0.25. Shift changes flag clearly on the chart.</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Spread design</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1 pump every 12 min for an hour</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s(within) = 0.38. Control limits Xbar +/- 0.51. The same shift changes now sit inside the limits.</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The consequence</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Same process, opposite verdict</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Design one says 14 out-of-control signals in 12 weeks. Design two says the process is perfectly stable.</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Nothing about the process changed. Only the subgrouping. This is why the Black Belt owns this decision.</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Suzhou line 4 - weekly first pass yield</a:t>
            </a:r>
          </a:p>
        </p:txBody>
      </p:sp>
      <p:cxnSp>
        <p:nvCxnSpPr>
          <p:cNvPr id="6" name="Connector 5"/>
          <p:cNvCxnSpPr/>
          <p:nvPr/>
        </p:nvCxnSpPr>
        <p:spPr>
          <a:xfrm>
            <a:off x="1188720" y="5257800"/>
            <a:ext cx="94183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88720" y="1965960"/>
            <a:ext cx="0" cy="329184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88720" y="3328675"/>
            <a:ext cx="9418320" cy="0"/>
          </a:xfrm>
          <a:prstGeom prst="line">
            <a:avLst/>
          </a:prstGeom>
          <a:ln w="20320">
            <a:solidFill>
              <a:srgbClr val="F59E0B"/>
            </a:solidFill>
            <a:prstDash val="dash"/>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643616" y="3164083"/>
            <a:ext cx="1280160" cy="329184"/>
          </a:xfrm>
          <a:prstGeom prst="rect">
            <a:avLst/>
          </a:prstGeom>
          <a:noFill/>
        </p:spPr>
        <p:txBody>
          <a:bodyPr wrap="square" anchor="t">
            <a:spAutoFit/>
          </a:bodyPr>
          <a:lstStyle/>
          <a:p>
            <a:pPr algn="l">
              <a:spcAft>
                <a:spcPts val="400"/>
              </a:spcAft>
            </a:pPr>
            <a:r>
              <a:rPr sz="1000" b="1">
                <a:solidFill>
                  <a:srgbClr val="F59E0B"/>
                </a:solidFill>
                <a:latin typeface="Arial"/>
              </a:rPr>
              <a:t>Median 88.25</a:t>
            </a:r>
          </a:p>
        </p:txBody>
      </p:sp>
      <p:cxnSp>
        <p:nvCxnSpPr>
          <p:cNvPr id="10" name="Connector 9"/>
          <p:cNvCxnSpPr/>
          <p:nvPr/>
        </p:nvCxnSpPr>
        <p:spPr>
          <a:xfrm flipV="1">
            <a:off x="1188720" y="2712288"/>
            <a:ext cx="856210" cy="566409"/>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044930" y="2712288"/>
            <a:ext cx="856211" cy="129941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901141" y="2845560"/>
            <a:ext cx="856211" cy="1166138"/>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757352" y="2845560"/>
            <a:ext cx="856211" cy="1865821"/>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4613563" y="3112106"/>
            <a:ext cx="856211" cy="1599275"/>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5469774" y="2345787"/>
            <a:ext cx="856211" cy="766319"/>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325985" y="2345787"/>
            <a:ext cx="856211" cy="2532185"/>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7182196" y="3611879"/>
            <a:ext cx="856211" cy="1266093"/>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8038407" y="2645651"/>
            <a:ext cx="856211" cy="966228"/>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894618" y="2645651"/>
            <a:ext cx="856211" cy="149932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9750829" y="3378652"/>
            <a:ext cx="856211" cy="766319"/>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1120140" y="3210117"/>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296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W1</a:t>
            </a:r>
          </a:p>
        </p:txBody>
      </p:sp>
      <p:sp>
        <p:nvSpPr>
          <p:cNvPr id="23" name="Oval 22"/>
          <p:cNvSpPr/>
          <p:nvPr/>
        </p:nvSpPr>
        <p:spPr>
          <a:xfrm>
            <a:off x="1976350" y="2643708"/>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67917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W2</a:t>
            </a:r>
          </a:p>
        </p:txBody>
      </p:sp>
      <p:sp>
        <p:nvSpPr>
          <p:cNvPr id="25" name="Oval 24"/>
          <p:cNvSpPr/>
          <p:nvPr/>
        </p:nvSpPr>
        <p:spPr>
          <a:xfrm>
            <a:off x="2832561" y="3943118"/>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2535381"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W3</a:t>
            </a:r>
          </a:p>
        </p:txBody>
      </p:sp>
      <p:sp>
        <p:nvSpPr>
          <p:cNvPr id="27" name="Oval 26"/>
          <p:cNvSpPr/>
          <p:nvPr/>
        </p:nvSpPr>
        <p:spPr>
          <a:xfrm>
            <a:off x="3688772" y="2776980"/>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391592"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W4</a:t>
            </a:r>
          </a:p>
        </p:txBody>
      </p:sp>
      <p:sp>
        <p:nvSpPr>
          <p:cNvPr id="29" name="Oval 28"/>
          <p:cNvSpPr/>
          <p:nvPr/>
        </p:nvSpPr>
        <p:spPr>
          <a:xfrm>
            <a:off x="4544983" y="4642801"/>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247803"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W5</a:t>
            </a:r>
          </a:p>
        </p:txBody>
      </p:sp>
      <p:sp>
        <p:nvSpPr>
          <p:cNvPr id="31" name="Oval 30"/>
          <p:cNvSpPr/>
          <p:nvPr/>
        </p:nvSpPr>
        <p:spPr>
          <a:xfrm>
            <a:off x="5401194" y="3043526"/>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5104014"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W6</a:t>
            </a:r>
          </a:p>
        </p:txBody>
      </p:sp>
      <p:sp>
        <p:nvSpPr>
          <p:cNvPr id="33" name="Oval 32"/>
          <p:cNvSpPr/>
          <p:nvPr/>
        </p:nvSpPr>
        <p:spPr>
          <a:xfrm>
            <a:off x="6257405" y="2277207"/>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960225"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W7</a:t>
            </a:r>
          </a:p>
        </p:txBody>
      </p:sp>
      <p:sp>
        <p:nvSpPr>
          <p:cNvPr id="35" name="Oval 34"/>
          <p:cNvSpPr/>
          <p:nvPr/>
        </p:nvSpPr>
        <p:spPr>
          <a:xfrm>
            <a:off x="7113616" y="4809392"/>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816436"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W8</a:t>
            </a:r>
          </a:p>
        </p:txBody>
      </p:sp>
      <p:sp>
        <p:nvSpPr>
          <p:cNvPr id="37" name="Oval 36"/>
          <p:cNvSpPr/>
          <p:nvPr/>
        </p:nvSpPr>
        <p:spPr>
          <a:xfrm>
            <a:off x="7969827" y="3543299"/>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672647"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W9</a:t>
            </a:r>
          </a:p>
        </p:txBody>
      </p:sp>
      <p:sp>
        <p:nvSpPr>
          <p:cNvPr id="39" name="Oval 38"/>
          <p:cNvSpPr/>
          <p:nvPr/>
        </p:nvSpPr>
        <p:spPr>
          <a:xfrm>
            <a:off x="8826038" y="2577071"/>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528858"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W10</a:t>
            </a:r>
          </a:p>
        </p:txBody>
      </p:sp>
      <p:sp>
        <p:nvSpPr>
          <p:cNvPr id="41" name="Oval 40"/>
          <p:cNvSpPr/>
          <p:nvPr/>
        </p:nvSpPr>
        <p:spPr>
          <a:xfrm>
            <a:off x="9682249" y="4076391"/>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385069"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W11</a:t>
            </a:r>
          </a:p>
        </p:txBody>
      </p:sp>
      <p:sp>
        <p:nvSpPr>
          <p:cNvPr id="43" name="Oval 42"/>
          <p:cNvSpPr/>
          <p:nvPr/>
        </p:nvSpPr>
        <p:spPr>
          <a:xfrm>
            <a:off x="10538460" y="3310072"/>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24128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W12</a:t>
            </a:r>
          </a:p>
        </p:txBody>
      </p:sp>
      <p:sp>
        <p:nvSpPr>
          <p:cNvPr id="45" name="TextBox 44"/>
          <p:cNvSpPr txBox="1"/>
          <p:nvPr/>
        </p:nvSpPr>
        <p:spPr>
          <a:xfrm>
            <a:off x="777240" y="566928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Common-cause variation around a stable median. The process is consistently at 88 percent, not occasionally. That means a system fix, not a people fix.</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Measure tollgate evidence pack</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Validated process map and VSM</a:t>
            </a:r>
          </a:p>
          <a:p>
            <a:pPr algn="l">
              <a:spcAft>
                <a:spcPts val="300"/>
              </a:spcAft>
            </a:pPr>
            <a:r>
              <a:rPr sz="1200" b="0">
                <a:solidFill>
                  <a:srgbClr val="5B6372"/>
                </a:solidFill>
                <a:latin typeface="Arial"/>
              </a:rPr>
              <a:t>Walked, verified on a second shift, with the timeline ladder loaded.</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Data collection plan</a:t>
            </a:r>
          </a:p>
          <a:p>
            <a:pPr algn="l">
              <a:spcAft>
                <a:spcPts val="300"/>
              </a:spcAft>
            </a:pPr>
            <a:r>
              <a:rPr sz="1200" b="0">
                <a:solidFill>
                  <a:srgbClr val="5B6372"/>
                </a:solidFill>
                <a:latin typeface="Arial"/>
              </a:rPr>
              <a:t>Operational definitions, sampling scheme, stratification factors, sample sizes.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MSA evidence</a:t>
            </a:r>
          </a:p>
          <a:p>
            <a:pPr algn="l">
              <a:spcAft>
                <a:spcPts val="300"/>
              </a:spcAft>
            </a:pPr>
            <a:r>
              <a:rPr sz="1200" b="0">
                <a:solidFill>
                  <a:srgbClr val="5B6372"/>
                </a:solidFill>
                <a:latin typeface="Arial"/>
              </a:rPr>
              <a:t>The RIGHT study for the data type, with acceptance criteria met or a fix plan attached.</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Distribution evidence</a:t>
            </a:r>
          </a:p>
          <a:p>
            <a:pPr algn="l">
              <a:spcAft>
                <a:spcPts val="300"/>
              </a:spcAft>
            </a:pPr>
            <a:r>
              <a:rPr sz="1200" b="0">
                <a:solidFill>
                  <a:srgbClr val="5B6372"/>
                </a:solidFill>
                <a:latin typeface="Arial"/>
              </a:rPr>
              <a:t>Normality test result and the transformation or fitted distribution used.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Baseline performance</a:t>
            </a:r>
          </a:p>
          <a:p>
            <a:pPr algn="l">
              <a:spcAft>
                <a:spcPts val="300"/>
              </a:spcAft>
            </a:pPr>
            <a:r>
              <a:rPr sz="1200" b="0">
                <a:solidFill>
                  <a:srgbClr val="5B6372"/>
                </a:solidFill>
                <a:latin typeface="Arial"/>
              </a:rPr>
              <a:t>RTY, DPMO, sigma level, and Ppk with Cpk alongside for the stability gap.</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Refined problem statement</a:t>
            </a:r>
          </a:p>
          <a:p>
            <a:pPr algn="l">
              <a:spcAft>
                <a:spcPts val="300"/>
              </a:spcAft>
            </a:pPr>
            <a:r>
              <a:rPr sz="1200" b="0">
                <a:solidFill>
                  <a:srgbClr val="5B6372"/>
                </a:solidFill>
                <a:latin typeface="Arial"/>
              </a:rPr>
              <a:t>The Define scope narrowed to where the data proves the pain sits.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Black Belt Measure failure modes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Gage R&amp;R on judgement data</a:t>
            </a:r>
          </a:p>
          <a:p>
            <a:pPr algn="l">
              <a:spcAft>
                <a:spcPts val="300"/>
              </a:spcAft>
            </a:pPr>
            <a:r>
              <a:rPr sz="1200" b="0">
                <a:solidFill>
                  <a:srgbClr val="5B6372"/>
                </a:solidFill>
                <a:latin typeface="Arial"/>
              </a:rPr>
              <a:t>Running a variance study on pass/fail data. Use attribute agreement and Kappa.</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Raw agreement with no Kappa</a:t>
            </a:r>
          </a:p>
          <a:p>
            <a:pPr algn="l">
              <a:spcAft>
                <a:spcPts val="300"/>
              </a:spcAft>
            </a:pPr>
            <a:r>
              <a:rPr sz="1200" b="0">
                <a:solidFill>
                  <a:srgbClr val="5B6372"/>
                </a:solidFill>
                <a:latin typeface="Arial"/>
              </a:rPr>
              <a:t>90 percent agreement on a rare-event call can hide a Kappa near zero.</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Crossed design on destructive tests</a:t>
            </a:r>
          </a:p>
          <a:p>
            <a:pPr algn="l">
              <a:spcAft>
                <a:spcPts val="300"/>
              </a:spcAft>
            </a:pPr>
            <a:r>
              <a:rPr sz="1200" b="0">
                <a:solidFill>
                  <a:srgbClr val="5B6372"/>
                </a:solidFill>
                <a:latin typeface="Arial"/>
              </a:rPr>
              <a:t>Mathematically impossible. It means the study was never really run.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Cpk on non-normal data</a:t>
            </a:r>
          </a:p>
          <a:p>
            <a:pPr algn="l">
              <a:spcAft>
                <a:spcPts val="300"/>
              </a:spcAft>
            </a:pPr>
            <a:r>
              <a:rPr sz="1200" b="0">
                <a:solidFill>
                  <a:srgbClr val="5B6372"/>
                </a:solidFill>
                <a:latin typeface="Arial"/>
              </a:rPr>
              <a:t>A confident index computed on an assumption that was never tested.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Cpk on an unstable process</a:t>
            </a:r>
          </a:p>
          <a:p>
            <a:pPr algn="l">
              <a:spcAft>
                <a:spcPts val="300"/>
              </a:spcAft>
            </a:pPr>
            <a:r>
              <a:rPr sz="1200" b="0">
                <a:solidFill>
                  <a:srgbClr val="5B6372"/>
                </a:solidFill>
                <a:latin typeface="Arial"/>
              </a:rPr>
              <a:t>Reporting a good hour as if it were the customer's year. Report Ppk.</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Default subgrouping</a:t>
            </a:r>
          </a:p>
          <a:p>
            <a:pPr algn="l">
              <a:spcAft>
                <a:spcPts val="300"/>
              </a:spcAft>
            </a:pPr>
            <a:r>
              <a:rPr sz="1200" b="0">
                <a:solidFill>
                  <a:srgbClr val="5B6372"/>
                </a:solidFill>
                <a:latin typeface="Arial"/>
              </a:rPr>
              <a:t>Accepting whatever the software offers, then wondering why nothing ever flags.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phase - Black Belt checkpoint</a:t>
            </a:r>
          </a:p>
        </p:txBody>
      </p:sp>
      <p:sp>
        <p:nvSpPr>
          <p:cNvPr id="6" name="TextBox 5"/>
          <p:cNvSpPr txBox="1"/>
          <p:nvPr/>
        </p:nvSpPr>
        <p:spPr>
          <a:xfrm>
            <a:off x="868680" y="2011680"/>
            <a:ext cx="10424160" cy="3840480"/>
          </a:xfrm>
          <a:prstGeom prst="rect">
            <a:avLst/>
          </a:prstGeom>
          <a:noFill/>
        </p:spPr>
        <p:txBody>
          <a:bodyPr wrap="square">
            <a:spAutoFit/>
          </a:bodyPr>
          <a:lstStyle/>
          <a:p>
            <a:pPr>
              <a:spcAft>
                <a:spcPts val="1800"/>
              </a:spcAft>
            </a:pPr>
            <a:r>
              <a:rPr sz="1900">
                <a:solidFill>
                  <a:srgbClr val="161B26"/>
                </a:solidFill>
                <a:latin typeface="Arial"/>
              </a:rPr>
              <a:t>•  Two inspectors agree on 90 of 100 parts. Why might their Kappa still be near zero?</a:t>
            </a:r>
          </a:p>
          <a:p>
            <a:pPr>
              <a:spcAft>
                <a:spcPts val="1800"/>
              </a:spcAft>
            </a:pPr>
            <a:r>
              <a:rPr sz="1900">
                <a:solidFill>
                  <a:srgbClr val="161B26"/>
                </a:solidFill>
                <a:latin typeface="Arial"/>
              </a:rPr>
              <a:t>•  Your peel test destroys the pouch. Design a valid MSA and state what you cannot estimate.</a:t>
            </a:r>
          </a:p>
          <a:p>
            <a:pPr>
              <a:spcAft>
                <a:spcPts val="1800"/>
              </a:spcAft>
            </a:pPr>
            <a:r>
              <a:rPr sz="1900">
                <a:solidFill>
                  <a:srgbClr val="161B26"/>
                </a:solidFill>
                <a:latin typeface="Arial"/>
              </a:rPr>
              <a:t>•  Anderson-Darling gives p = 0.002 on your leak-rate data. State your next three actions.</a:t>
            </a:r>
          </a:p>
          <a:p>
            <a:pPr>
              <a:spcAft>
                <a:spcPts val="1800"/>
              </a:spcAft>
            </a:pPr>
            <a:r>
              <a:rPr sz="1900">
                <a:solidFill>
                  <a:srgbClr val="161B26"/>
                </a:solidFill>
                <a:latin typeface="Arial"/>
              </a:rPr>
              <a:t>•  Cpk is 1.51 and Ppk is 0.68 on the same data. What does that gap tell you, and what do you report?</a:t>
            </a:r>
          </a:p>
          <a:p>
            <a:pPr>
              <a:spcAft>
                <a:spcPts val="1800"/>
              </a:spcAft>
            </a:pPr>
            <a:r>
              <a:rPr sz="1900">
                <a:solidFill>
                  <a:srgbClr val="161B26"/>
                </a:solidFill>
                <a:latin typeface="Arial"/>
              </a:rPr>
              <a:t>•  You want a chart that detects shift-to-shift differences. How must you form the subgroups, and why?</a:t>
            </a:r>
          </a:p>
          <a:p>
            <a:pPr>
              <a:spcAft>
                <a:spcPts val="1800"/>
              </a:spcAft>
            </a:pPr>
            <a:r>
              <a:rPr sz="1900">
                <a:solidFill>
                  <a:srgbClr val="161B26"/>
                </a:solidFill>
                <a:latin typeface="Arial"/>
              </a:rPr>
              <a:t>•  Compute Meridian's DPMO from 3,600 pumps, 486 defects and 14 opportunities, and give the sigma level.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Measure (1)</a:t>
            </a:r>
          </a:p>
        </p:txBody>
      </p:sp>
      <p:sp>
        <p:nvSpPr>
          <p:cNvPr id="6" name="Rectangle 5"/>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78308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78308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365760"/>
          </a:xfrm>
          <a:prstGeom prst="rect">
            <a:avLst/>
          </a:prstGeom>
          <a:noFill/>
        </p:spPr>
        <p:txBody>
          <a:bodyPr wrap="square" anchor="ctr">
            <a:spAutoFit/>
          </a:bodyPr>
          <a:lstStyle/>
          <a:p>
            <a:pPr algn="l">
              <a:spcAft>
                <a:spcPts val="300"/>
              </a:spcAft>
            </a:pPr>
            <a:r>
              <a:rPr sz="1500" b="1">
                <a:solidFill>
                  <a:srgbClr val="161B26"/>
                </a:solidFill>
                <a:latin typeface="Arial"/>
              </a:rPr>
              <a:t>Lab 8 — Value Stream Mapping, Takt Time and the Eight Wastes — In Depth</a:t>
            </a:r>
          </a:p>
          <a:p>
            <a:pPr algn="l">
              <a:spcAft>
                <a:spcPts val="300"/>
              </a:spcAft>
            </a:pPr>
            <a:r>
              <a:rPr sz="1100" b="0">
                <a:solidFill>
                  <a:srgbClr val="5B6372"/>
                </a:solidFill>
                <a:latin typeface="Arial"/>
              </a:rPr>
              <a:t>A current-state VSM with a value-added ratio, takt time and a quantified waste log.  •  Data: lab-08-value-stream-map.xlsx</a:t>
            </a:r>
          </a:p>
        </p:txBody>
      </p:sp>
      <p:sp>
        <p:nvSpPr>
          <p:cNvPr id="11" name="Rectangle 10"/>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660904"/>
            <a:ext cx="9482328" cy="365760"/>
          </a:xfrm>
          <a:prstGeom prst="rect">
            <a:avLst/>
          </a:prstGeom>
          <a:noFill/>
        </p:spPr>
        <p:txBody>
          <a:bodyPr wrap="square" anchor="ctr">
            <a:spAutoFit/>
          </a:bodyPr>
          <a:lstStyle/>
          <a:p>
            <a:pPr algn="l">
              <a:spcAft>
                <a:spcPts val="300"/>
              </a:spcAft>
            </a:pPr>
            <a:r>
              <a:rPr sz="1500" b="1">
                <a:solidFill>
                  <a:srgbClr val="161B26"/>
                </a:solidFill>
                <a:latin typeface="Arial"/>
              </a:rPr>
              <a:t>Lab 9 — Data Types, Operational Definitions and the Data Collection Plan</a:t>
            </a:r>
          </a:p>
          <a:p>
            <a:pPr algn="l">
              <a:spcAft>
                <a:spcPts val="300"/>
              </a:spcAft>
            </a:pPr>
            <a:r>
              <a:rPr sz="1100" b="0">
                <a:solidFill>
                  <a:srgbClr val="5B6372"/>
                </a:solidFill>
                <a:latin typeface="Arial"/>
              </a:rPr>
              <a:t>A data collection plan with operational definitions for every metric in your…  •  Data: lab-09-data-collection-raw-extract.xlsx</a:t>
            </a:r>
          </a:p>
        </p:txBody>
      </p:sp>
      <p:sp>
        <p:nvSpPr>
          <p:cNvPr id="16" name="Rectangle 15"/>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31927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31927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9482328" cy="365760"/>
          </a:xfrm>
          <a:prstGeom prst="rect">
            <a:avLst/>
          </a:prstGeom>
          <a:noFill/>
        </p:spPr>
        <p:txBody>
          <a:bodyPr wrap="square" anchor="ctr">
            <a:spAutoFit/>
          </a:bodyPr>
          <a:lstStyle/>
          <a:p>
            <a:pPr algn="l">
              <a:spcAft>
                <a:spcPts val="300"/>
              </a:spcAft>
            </a:pPr>
            <a:r>
              <a:rPr sz="1500" b="1">
                <a:solidFill>
                  <a:srgbClr val="161B26"/>
                </a:solidFill>
                <a:latin typeface="Arial"/>
              </a:rPr>
              <a:t>Lab 10 — Sampling Strategy, Sample Size and Rational Subgrouping</a:t>
            </a:r>
          </a:p>
          <a:p>
            <a:pPr algn="l">
              <a:spcAft>
                <a:spcPts val="300"/>
              </a:spcAft>
            </a:pPr>
            <a:r>
              <a:rPr sz="1100" b="0">
                <a:solidFill>
                  <a:srgbClr val="5B6372"/>
                </a:solidFill>
                <a:latin typeface="Arial"/>
              </a:rPr>
              <a:t>Calculated sample sizes for your capstone metrics and a rational subgrouping scheme.  •  Data: lab-10-sampling-frame.xlsx</a:t>
            </a:r>
          </a:p>
        </p:txBody>
      </p:sp>
      <p:sp>
        <p:nvSpPr>
          <p:cNvPr id="21" name="Rectangle 20"/>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408736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408736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4197096"/>
            <a:ext cx="9482328" cy="365760"/>
          </a:xfrm>
          <a:prstGeom prst="rect">
            <a:avLst/>
          </a:prstGeom>
          <a:noFill/>
        </p:spPr>
        <p:txBody>
          <a:bodyPr wrap="square" anchor="ctr">
            <a:spAutoFit/>
          </a:bodyPr>
          <a:lstStyle/>
          <a:p>
            <a:pPr algn="l">
              <a:spcAft>
                <a:spcPts val="300"/>
              </a:spcAft>
            </a:pPr>
            <a:r>
              <a:rPr sz="1500" b="1">
                <a:solidFill>
                  <a:srgbClr val="161B26"/>
                </a:solidFill>
                <a:latin typeface="Arial"/>
              </a:rPr>
              <a:t>Lab 11 — Continuous Gage R&amp;R — In Depth</a:t>
            </a:r>
          </a:p>
          <a:p>
            <a:pPr algn="l">
              <a:spcAft>
                <a:spcPts val="300"/>
              </a:spcAft>
            </a:pPr>
            <a:r>
              <a:rPr sz="1100" b="0">
                <a:solidFill>
                  <a:srgbClr val="5B6372"/>
                </a:solidFill>
                <a:latin typeface="Arial"/>
              </a:rPr>
              <a:t>A completed crossed Gage R&amp;R study with %study variation and ndc for your capstone…  •  Data: lab-11-gage-rr-continuous.xlsx</a:t>
            </a:r>
          </a:p>
        </p:txBody>
      </p:sp>
      <p:sp>
        <p:nvSpPr>
          <p:cNvPr id="26" name="Rectangle 25"/>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85546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9482328" cy="365760"/>
          </a:xfrm>
          <a:prstGeom prst="rect">
            <a:avLst/>
          </a:prstGeom>
          <a:noFill/>
        </p:spPr>
        <p:txBody>
          <a:bodyPr wrap="square" anchor="ctr">
            <a:spAutoFit/>
          </a:bodyPr>
          <a:lstStyle/>
          <a:p>
            <a:pPr algn="l">
              <a:spcAft>
                <a:spcPts val="300"/>
              </a:spcAft>
            </a:pPr>
            <a:r>
              <a:rPr sz="1500" b="1">
                <a:solidFill>
                  <a:srgbClr val="161B26"/>
                </a:solidFill>
                <a:latin typeface="Arial"/>
              </a:rPr>
              <a:t>Lab 12 — Attribute MSA and Kappa Analysis (Black Belt Only)</a:t>
            </a:r>
          </a:p>
          <a:p>
            <a:pPr algn="l">
              <a:spcAft>
                <a:spcPts val="300"/>
              </a:spcAft>
            </a:pPr>
            <a:r>
              <a:rPr sz="1100" b="0">
                <a:solidFill>
                  <a:srgbClr val="5B6372"/>
                </a:solidFill>
                <a:latin typeface="Arial"/>
              </a:rPr>
              <a:t>An attribute agreement study with within-, between- and versus-standard Kappa…  •  Data: lab-12-attribute-msa-kappa.xlsx</a:t>
            </a:r>
          </a:p>
        </p:txBody>
      </p:sp>
      <p:sp>
        <p:nvSpPr>
          <p:cNvPr id="31" name="Rectangle 30"/>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1014984" y="5623560"/>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14984" y="562356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1709928" y="5733288"/>
            <a:ext cx="9482328" cy="365760"/>
          </a:xfrm>
          <a:prstGeom prst="rect">
            <a:avLst/>
          </a:prstGeom>
          <a:noFill/>
        </p:spPr>
        <p:txBody>
          <a:bodyPr wrap="square" anchor="ctr">
            <a:spAutoFit/>
          </a:bodyPr>
          <a:lstStyle/>
          <a:p>
            <a:pPr algn="l">
              <a:spcAft>
                <a:spcPts val="300"/>
              </a:spcAft>
            </a:pPr>
            <a:r>
              <a:rPr sz="1500" b="1">
                <a:solidFill>
                  <a:srgbClr val="161B26"/>
                </a:solidFill>
                <a:latin typeface="Arial"/>
              </a:rPr>
              <a:t>Lab 13 — Nested and Destructive Gauge Studies (Black Belt Only)</a:t>
            </a:r>
          </a:p>
          <a:p>
            <a:pPr algn="l">
              <a:spcAft>
                <a:spcPts val="300"/>
              </a:spcAft>
            </a:pPr>
            <a:r>
              <a:rPr sz="1100" b="0">
                <a:solidFill>
                  <a:srgbClr val="5B6372"/>
                </a:solidFill>
                <a:latin typeface="Arial"/>
              </a:rPr>
              <a:t>A nested gauge study design and analysis for a destructive or single-measurement…  •  Data: lab-13-nested-destructive-gauge.xlsx</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Measure (2)</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Lab 14 — Baseline Capability — Cp, Cpk, Pp, Ppk and Non-Normal Data</a:t>
            </a:r>
          </a:p>
          <a:p>
            <a:pPr algn="l">
              <a:spcAft>
                <a:spcPts val="300"/>
              </a:spcAft>
            </a:pPr>
            <a:r>
              <a:rPr sz="1100" b="0">
                <a:solidFill>
                  <a:srgbClr val="5B6372"/>
                </a:solidFill>
                <a:latin typeface="Arial"/>
              </a:rPr>
              <a:t>A baseline capability study for your capstone Y with a documented normality…  •  Data: lab-14-baseline-capability.xlsx</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MEASURE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Value Stream Mapping, Takt Time and the Eight Wastes — In Depth</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A full re-derivation of value stream mapping — material AND information flow, value-added ratio, takt time and the eight wastes — then applied to your own capstone process to expose where lead time is actually consumed.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current-state VSM with a value-added ratio, takt time and a quantified waste log.</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VSM icons, material &amp; information flow, lead time ladder, takt time, VA/NVA ratio, eight wastes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Value Stream Mapping, Takt Time and…</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Value Stream Mapping, Takt Time and the Eight Wastes — In Depth</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10</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the VSM in full: what it shows that a process map does not — inventory, information flow, lead time and the push/pull signal.</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the standard VSM icons: process box, data box, inventory triangle, push arrow, supermarket, truck, information flow and the timeline ladder.</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Map the current state of your capstone value stream from customer order to delivery. Include the information flow that triggers each step.</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Populate each data box: cycle time, changeover time, uptime, batch size, number of operators and first-pass yield.</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Draw the timeline ladder underneath. Put value-added time on the lower rung and waiting/queue time on the upper rung.</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Value Stream Mapping, Takt Time and…</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Value Stream Mapping, Takt Time and the Eight Wastes — In Depth</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6-10 OF 10</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Calculate total lead time, total value-added time, and the value-added ratio (VA time / lead time). Most processes land under 5 percent.</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Calculate takt time = available production time / customer demand for the period. Compare takt against each step's cycle time to find the bottleneck.</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the eight wastes in full (DOWNTIME: Defects, Overproduction, Waiting, Non-utilised talent, Transport, Inventory, Motion, Extra processing).</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Walk your value stream and log every instance of each waste. Quantify each in time or money — an unquantified waste will not win funding.</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Mark the three points on the VSM where the largest waste concentrates. These become improvement candidates for Day 4.</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Value Stream Mapping, Takt Time and the Eight Wastes — In Depth</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VSM shows both material and information flow, you have calculated the value-added ratio and takt time from real numbers, and every logged waste carries a time or dollar quantification.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MEASURE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Data Types, Operational Definitions and the Data Collection Plan</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9</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Re-derive data classification and operational definitions in full, then build the data collection plan that will feed every statistical test in Days 3 and 4. Bad data collected now cannot be rescued by clever statistics later.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data collection plan with operational definitions for every metric in your capstone.</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Continuous vs discrete, nominal/ordinal/interval/ratio, operational definitions, data collection plan, stratification factors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Data Types, Operational Definitions…</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Data Types, Operational Definitions and the Data Collection Plan</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10</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the data hierarchy in full: nominal, ordinal, interval and ratio — and why the type determines which statistical test is legal.</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continuous versus discrete (attribute) data, and why continuous data needs far smaller samples to reach the same confidence.</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List every metric your capstone requires: the project Y, each sub-Y from your flowdown, and each candidate X you intend to test.</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Classify each metric by data type. Flag any metric currently collected as attribute that could be captured as continuous — convert it if you can.</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Write a complete operational definition for each metric: what is measured, the instrument, the unit, the sampling point, the collector and the defect criterion.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Data Types, Operational Definitions…</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Data Types, Operational Definitions and the Data Collection Plan</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6-10 OF 10</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Test each operational definition by having two people apply it independently to the same item. If they disagree, the definition is not yet operational.</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Identify your stratification factors — plant, line, shift, operator, product family, supplier. You must capture these at collection time or you can never stratify later.</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Build the data collection plan table: metric, definition, type, source, sample size, frequency, collector, stratification fields and start date.</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Design the check sheet or data form. Make the easy path the correct path, or collectors will improvise.</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Dry-run the plan on a small batch and fix whatever breaks before committing to full collection.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Data Types, Operational Definitions and the Data Collection Plan</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capstone metric has a written operational definition that two people apply identically, stratification fields are captured at source, and the plan has survived a dry run.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MEASURE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Sampling Strategy, Sample Size and Rational Subgrouping</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10</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Re-derive sampling schemes and sample size formulas in full, then go beyond Green Belt with RATIONAL SUBGROUPING — the decision that silently determines what your control charts in Day 4 will be capable of detecting at all.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Calculated sample sizes for your capstone metrics and a rational subgrouping scheme.</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Random/stratified/systematic/cluster sampling, sample size for continuous &amp; discrete data, rational subgrouping, sampling bias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Sampling Strategy, Sample Size and…</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Sampling Strategy, Sample Size and Rational Subgrouping</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10</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the four sampling schemes in full: simple random, stratified, systematic and cluster — with the failure mode of each.</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Identify the sampling bias risks in your capstone: convenience sampling, day-shift-only sampling, and sampling only when the process is running well.</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the continuous-data sample size formula n = (1.96 s / d)^2, where s is the estimated standard deviation and d is the precision you require.</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Apply it to your project Y. Estimate s from historical data or a pilot sample, choose your required precision d, and calculate n.</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the discrete-data formula n = (1.96/d)^2 x p(1-p), where p is the estimated proportion defective.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Sampling Strategy, Sample Size and…</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Sampling Strategy, Sample Size and Rational Subgrouping</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6-10 OF 10</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Apply it to your attribute metrics. Note how much larger n becomes — this is the cost of measuring in pass/fail.</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Now design rational subgroups. A subgroup must contain only common-cause variation, so that between-subgroup variation shows up as a signal.</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Decide what varies WITHIN your subgroup and what varies BETWEEN subgroups. Getting this backwards makes control limits so wide that nothing ever signals.</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Set subgroup size and sampling frequency for your capstone Y, and state what shift size you would be able to detect.</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Document the sampling plan and check it against the data collection plan from Lab 9 for consistency.</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Sampling Strategy, Sample Size and Rational Subgrouping</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sample sizes are calculated from a real estimate of s or p, your subgrouping scheme places common-cause variation within subgroups, and you can state the shift size your plan can detect.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MEASURE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Continuous Gage R&amp;R — In Depth</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11</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A full re-derivation of measurement system analysis for continuous data. Before any of the statistics in Days 3 and 4 can be trusted, the measurement system must be proven — an invalid gauge invalidates every conclusion that follows.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crossed Gage R&amp;R study with %study variation and ndc for your capstone metric.</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Accuracy, bias, linearity, stability, repeatability, reproducibility, %study variation, ndc, %tolerance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Continuous Gage R&amp;R —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Continuous Gage R&amp;R — In Depth</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10</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the components of measurement variation in full: observed variation = actual process variation + measurement system variation.</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the five MSA properties: accuracy (bias), linearity, stability, repeatability (equipment) and reproducibility (operator).</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Distinguish repeatability from reproducibility precisely — same operator repeating, versus different operators on the same part.</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Design a crossed Gage R&amp;R for your capstone metric: 10 parts spanning the full process range, 3 operators, 3 repeat measurements each.</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Select parts that span the real range of production. Parts clustered near the mean will flatter the gauge and hide its weakness.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Continuous Gage R&amp;R —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Continuous Gage R&amp;R — In Depth</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6-10 OF 10</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Randomise the measurement order and blind the operators to previous readings, or you will measure memory rather than the gauge.</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Run the study and record all 90 measurements in the standard crossed layout.</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Calculate %study variation for repeatability, reproducibility and total Gage R&amp;R. Apply the acceptance rule: under 10% acceptable, 10-30% marginal, over 30% unacceptable.</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Calculate the number of distinct categories (ndc). ndc must be 5 or more for the gauge to distinguish parts usefully.</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If the gauge fails, decide the fix: recalibrate, retrain operators, tighten the operational definition or replace the instrument. Then re-run.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Continuous Gage R&amp;R — In Depth</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study uses parts spanning the full process range with randomised blinded order, and you have computed %study variation and ndc with a stated accept/reject decision.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MEASURE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Attribute MSA and Kappa Analysis (Black Belt Only)</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12</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BLACK BELT ONLY — the Green Belt course does not teach this. When the measurement is a human judgement (pass/fail, cosmetic grade, claim approve/reject), Gage R&amp;R does not apply at all. Attribute agreement analysis and Cohen's/Fleiss' Kappa are the correct tools, and most organisations discover their inspectors agree far less than assumed.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attribute agreement study with within-, between- and versus-standard Kappa values.</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Attribute agreement analysis, Cohen's Kappa, Fleiss' Kappa, within/between appraiser agreement, agreement vs standard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Attribute MSA and Kappa Analysis…</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Attribute MSA and Kappa Analysis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1-6 OF 11</a:t>
            </a:r>
          </a:p>
        </p:txBody>
      </p:sp>
      <p:sp>
        <p:nvSpPr>
          <p:cNvPr id="7" name="Rectangle 6"/>
          <p:cNvSpPr/>
          <p:nvPr/>
        </p:nvSpPr>
        <p:spPr>
          <a:xfrm>
            <a:off x="777240" y="2121408"/>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16331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6331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Establish why Gage R&amp;R fails for attribute data: there is no continuous scale on which to compute variance components.</a:t>
            </a:r>
          </a:p>
        </p:txBody>
      </p:sp>
      <p:sp>
        <p:nvSpPr>
          <p:cNvPr id="12" name="Rectangle 11"/>
          <p:cNvSpPr/>
          <p:nvPr/>
        </p:nvSpPr>
        <p:spPr>
          <a:xfrm>
            <a:off x="777240" y="2808731"/>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08731"/>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28506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285064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2863595"/>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Identify a judgement-based measurement in your capstone — visual inspection, cosmetic grading, document approval, claim adjudication or defect classification.</a:t>
            </a:r>
          </a:p>
        </p:txBody>
      </p:sp>
      <p:sp>
        <p:nvSpPr>
          <p:cNvPr id="17" name="Rectangle 16"/>
          <p:cNvSpPr/>
          <p:nvPr/>
        </p:nvSpPr>
        <p:spPr>
          <a:xfrm>
            <a:off x="777240" y="3496054"/>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496054"/>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53796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53796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550918"/>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Select 30 to 50 sample items spanning clear-pass, clear-fail and deliberately borderline cases. Borderline items are where agreement actually breaks down.</a:t>
            </a:r>
          </a:p>
        </p:txBody>
      </p:sp>
      <p:sp>
        <p:nvSpPr>
          <p:cNvPr id="22" name="Rectangle 21"/>
          <p:cNvSpPr/>
          <p:nvPr/>
        </p:nvSpPr>
        <p:spPr>
          <a:xfrm>
            <a:off x="777240" y="4183377"/>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183377"/>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2252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2252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238241"/>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Have an expert establish the KNOWN STANDARD (true) classification for every item. Without a standard you can measure consistency but never correctness.</a:t>
            </a:r>
          </a:p>
        </p:txBody>
      </p:sp>
      <p:sp>
        <p:nvSpPr>
          <p:cNvPr id="27" name="Rectangle 26"/>
          <p:cNvSpPr/>
          <p:nvPr/>
        </p:nvSpPr>
        <p:spPr>
          <a:xfrm>
            <a:off x="777240" y="4870700"/>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4870700"/>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491260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491260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4925564"/>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Have 3 appraisers each classify every item twice, in randomised order, blinded to their own previous answer and to each other.</a:t>
            </a:r>
          </a:p>
        </p:txBody>
      </p:sp>
      <p:sp>
        <p:nvSpPr>
          <p:cNvPr id="32" name="Rectangle 31"/>
          <p:cNvSpPr/>
          <p:nvPr/>
        </p:nvSpPr>
        <p:spPr>
          <a:xfrm>
            <a:off x="777240" y="5558023"/>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77240" y="5558023"/>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024128" y="559993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24128" y="559993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36" name="TextBox 35"/>
          <p:cNvSpPr txBox="1"/>
          <p:nvPr/>
        </p:nvSpPr>
        <p:spPr>
          <a:xfrm>
            <a:off x="1700784" y="5612887"/>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Calculate WITHIN-appraiser agreement — does each inspector agree with themselves? Self-disagreement is the most common and most ignored failure.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Attribute MSA and Kappa Analysis…</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Attribute MSA and Kappa Analysis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7-11 OF 11</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Calculate BETWEEN-appraiser agreement — do the inspectors agree with each other?</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Calculate agreement VERSUS THE STANDARD — are they collectively correct, or consistently wrong together?</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Compute Cohen's Kappa for appraiser pairs and Fleiss' Kappa across all appraisers. Kappa corrects raw agreement for agreement expected by chance.</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Apply the acceptance rule: Kappa &gt;= 0.90 excellent, 0.75-0.90 acceptable, below 0.75 requires action. Note that 90% raw agreement can still yield a poor Kappa.</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Where agreement fails, prescribe the fix: boundary samples, photographic standards, tightened operational definitions or appraiser retraining. Then re-run.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Attribute MSA and Kappa Analysis (Black Belt Only)</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study includes borderline items and a known standard, you have computed within-appraiser, between-appraiser and versus-standard agreement plus Kappa, and you have an action plan for any Kappa below 0.75.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MEASURE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Nested and Destructive Gauge Studies (Black Belt Only)</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13</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BLACK BELT ONLY. The crossed Gage R&amp;R of Lab 11 assumes every operator can measure every part repeatedly. Destructive tests (tensile, burst, seal strength, chemical assay) break that assumption entirely — measuring consumes the part. The nested design is the correct answer, and using a crossed study here produces confident nonsense.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nested gauge study design and analysis for a destructive or single-measurement test.</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Nested vs crossed designs, destructive testing MSA, homogeneous batches, part-to-part confounding, variance components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Nested and Destructive Gauge Studies…</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Nested and Destructive Gauge Studies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10</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State precisely why a crossed design is invalid for destructive tests: the part no longer exists to be measured a second time.</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Identify a destructive or non-repeatable measurement in your capstone — or use the Meridian seal-strength test on infusion pump tubing.</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Understand the nested design: each operator measures DIFFERENT parts, and parts are nested within batch rather than crossed with operator.</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Establish homogeneous batches. The design assumes parts within a batch are effectively identical — if they are not, part variation contaminates repeatability.</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Justify batch homogeneity: same lot, same machine, same setup, consecutive production, minimal elapsed time.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Nested and Destructive Gauge Studies…</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Nested and Destructive Gauge Studies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6-10 OF 10</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Design the study: 3 operators, 10 batches, 3 parts per operator per batch, all parts within a batch treated as replicates.</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Run the study and record results in the nested layout — operator within batch, not operator crossed with part.</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Compute variance components for repeatability and reproducibility using the nested model. Note that repeatability is now confounded with within-batch part variation.</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State that confounding explicitly in your report. A nested study OVERSTATES repeatability variation, so it is a conservative test.</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Decide accept/reject, and record the design choice and its rationale for the Day 5 presentation — expect this to be challenged.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Nested and Destructive Gauge Studies (Black Belt Only)</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can explain why a crossed study is invalid for your measurement, your batches are justified as homogeneous, and your report states the repeatability/part-variation confounding explicitly.</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MEASURE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Baseline Capability — Cp, Cpk, Pp, Ppk and Non-Normal Data</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14</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Re-derive capability analysis in full, then go beyond Green Belt: the distinction between Cpk and Ppk that most practitioners get wrong, and what to do when the data is not normal — which is most of the time in cycle-time and defect data.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baseline capability study for your capstone Y with a documented normality decision.</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Cp, Cpk, Pp, Ppk, within vs overall variation, normality testing, Box-Cox transformation, non-normal capability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Baseline Capability — Cp, Cpk, Pp…</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Baseline Capability — Cp, Cpk, Pp, Ppk and Non-Normal Data</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1-6 OF 11</a:t>
            </a:r>
          </a:p>
        </p:txBody>
      </p:sp>
      <p:sp>
        <p:nvSpPr>
          <p:cNvPr id="7" name="Rectangle 6"/>
          <p:cNvSpPr/>
          <p:nvPr/>
        </p:nvSpPr>
        <p:spPr>
          <a:xfrm>
            <a:off x="777240" y="2121408"/>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16331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6331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Recap capability in full: Cp = (USL - LSL) / 6 sigma measures spread only; Cpk also accounts for centring and is always &lt;= Cp.</a:t>
            </a:r>
          </a:p>
        </p:txBody>
      </p:sp>
      <p:sp>
        <p:nvSpPr>
          <p:cNvPr id="12" name="Rectangle 11"/>
          <p:cNvSpPr/>
          <p:nvPr/>
        </p:nvSpPr>
        <p:spPr>
          <a:xfrm>
            <a:off x="777240" y="2808731"/>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08731"/>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28506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285064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2863595"/>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Recap the acceptance benchmarks: Cpk &gt;= 1.33 capable, &gt;= 1.67 for critical characteristics, and the relationship between Cpk and sigma level.</a:t>
            </a:r>
          </a:p>
        </p:txBody>
      </p:sp>
      <p:sp>
        <p:nvSpPr>
          <p:cNvPr id="17" name="Rectangle 16"/>
          <p:cNvSpPr/>
          <p:nvPr/>
        </p:nvSpPr>
        <p:spPr>
          <a:xfrm>
            <a:off x="777240" y="3496054"/>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496054"/>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53796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53796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550918"/>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Learn the distinction most practitioners get wrong: Cp/Cpk use WITHIN-subgroup (short-term) variation; Pp/Ppk use TOTAL (long-term) variation.</a:t>
            </a:r>
          </a:p>
        </p:txBody>
      </p:sp>
      <p:sp>
        <p:nvSpPr>
          <p:cNvPr id="22" name="Rectangle 21"/>
          <p:cNvSpPr/>
          <p:nvPr/>
        </p:nvSpPr>
        <p:spPr>
          <a:xfrm>
            <a:off x="777240" y="4183377"/>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183377"/>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2252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2252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238241"/>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Understand the consequence: reporting Cpk on an unstable process flatters it, because between-subgroup drift is excluded from the estimate.</a:t>
            </a:r>
          </a:p>
        </p:txBody>
      </p:sp>
      <p:sp>
        <p:nvSpPr>
          <p:cNvPr id="27" name="Rectangle 26"/>
          <p:cNvSpPr/>
          <p:nvPr/>
        </p:nvSpPr>
        <p:spPr>
          <a:xfrm>
            <a:off x="777240" y="4870700"/>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4870700"/>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491260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491260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4925564"/>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Establish the rule — the process must be STABLE before capability means anything. Check stability with a control chart first.</a:t>
            </a:r>
          </a:p>
        </p:txBody>
      </p:sp>
      <p:sp>
        <p:nvSpPr>
          <p:cNvPr id="32" name="Rectangle 31"/>
          <p:cNvSpPr/>
          <p:nvPr/>
        </p:nvSpPr>
        <p:spPr>
          <a:xfrm>
            <a:off x="777240" y="5558023"/>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77240" y="5558023"/>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024128" y="559993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24128" y="559993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36" name="TextBox 35"/>
          <p:cNvSpPr txBox="1"/>
          <p:nvPr/>
        </p:nvSpPr>
        <p:spPr>
          <a:xfrm>
            <a:off x="1700784" y="5612887"/>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Test your capstone Y for normality using Anderson-Darling or Shapiro-Wilk. Read the p-value: p &lt; 0.05 rejects normality.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Baseline Capability — Cp, Cpk, Pp…</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Baseline Capability — Cp, Cpk, Pp, Ppk and Non-Normal Data</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7-11 OF 11</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Recognise that cycle time, waiting time and defect counts are routinely non-normal and usually right-skewed — this is expected, not an error.</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For non-normal data, choose your route: apply a Box-Cox or Johnson transformation, or fit the correct distribution (Weibull, lognormal, exponential) directly.</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Apply the transformation, re-test normality, then compute capability on the transformed scale — and report results in the ORIGINAL units.</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Calculate both Cpk and Ppk for your capstone Y and explain the gap between them. A large gap means the process drifts between subgroups.</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Record the baseline capability in your capstone pack alongside the Lab 3 sigma level.</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Baseline Capability — Cp, Cpk, Pp, Ppk and Non-Normal Data</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confirmed stability before computing capability, tested and documented normality with a p-value, handled non-normality by transformation or distribution fitting, and reported both Cpk and Ppk with an explanation of the gap.</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Measure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400">
                <a:solidFill>
                  <a:srgbClr val="161B26"/>
                </a:solidFill>
                <a:latin typeface="Arial"/>
              </a:rPr>
              <a:t>•  Process mapping &amp; VSM — in depth — Re-derive SIPOC, swimlane maps, value stream maps, takt time and the eight wastes in full.</a:t>
            </a:r>
          </a:p>
          <a:p>
            <a:pPr>
              <a:spcAft>
                <a:spcPts val="1000"/>
              </a:spcAft>
            </a:pPr>
            <a:r>
              <a:rPr sz="1400">
                <a:solidFill>
                  <a:srgbClr val="161B26"/>
                </a:solidFill>
                <a:latin typeface="Arial"/>
              </a:rPr>
              <a:t>•  Data, sampling and sample size — in depth — Data types, operational definitions, sampling schemes and sample size formulas re-derived from first principles.</a:t>
            </a:r>
          </a:p>
          <a:p>
            <a:pPr>
              <a:spcAft>
                <a:spcPts val="1000"/>
              </a:spcAft>
            </a:pPr>
            <a:r>
              <a:rPr sz="1400">
                <a:solidFill>
                  <a:srgbClr val="161B26"/>
                </a:solidFill>
                <a:latin typeface="Arial"/>
              </a:rPr>
              <a:t>•  Continuous Gage R&amp;R — in depth — Full treatment of accuracy, repeatability, reproducibility, linearity, stability and %study variation.</a:t>
            </a:r>
          </a:p>
          <a:p>
            <a:pPr>
              <a:spcAft>
                <a:spcPts val="1000"/>
              </a:spcAft>
            </a:pPr>
            <a:r>
              <a:rPr sz="1400">
                <a:solidFill>
                  <a:srgbClr val="161B26"/>
                </a:solidFill>
                <a:latin typeface="Arial"/>
              </a:rPr>
              <a:t>•  Yield, DPMO and capability — in depth — Classic yield, FPY, RTY, DPU, DPO, DPMO, sigma level and baseline Cp/Cpk, worked end to end.</a:t>
            </a:r>
          </a:p>
          <a:p>
            <a:pPr>
              <a:spcAft>
                <a:spcPts val="1000"/>
              </a:spcAft>
            </a:pPr>
            <a:r>
              <a:rPr sz="1400">
                <a:solidFill>
                  <a:srgbClr val="161B26"/>
                </a:solidFill>
                <a:latin typeface="Arial"/>
              </a:rPr>
              <a:t>•  Attribute MSA — When the measurement is a judgement (pass/fail, grade), Gage R&amp;R does not apply — attribute agreement does.</a:t>
            </a:r>
          </a:p>
          <a:p>
            <a:pPr>
              <a:spcAft>
                <a:spcPts val="1000"/>
              </a:spcAft>
            </a:pPr>
            <a:r>
              <a:rPr sz="1400">
                <a:solidFill>
                  <a:srgbClr val="161B26"/>
                </a:solidFill>
                <a:latin typeface="Arial"/>
              </a:rPr>
              <a:t>•  Kappa analysis — Cohen's and Fleiss' Kappa quantify inspector agreement beyond chance. Kappa &gt;= 0.75 is acceptable.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ANALYZE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Analyze at Black Belt Depth — Advanced Statistical Analysis</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Hypothesis recap · Multiple regression · ANOVA · Non-parametric tests · Multi-vari studies · Model diagnostics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A</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22%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Analyze (1)</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Variation, run charts and Pareto — in depth</a:t>
            </a:r>
          </a:p>
          <a:p>
            <a:pPr algn="l">
              <a:spcAft>
                <a:spcPts val="300"/>
              </a:spcAft>
            </a:pPr>
            <a:r>
              <a:rPr sz="1100" b="0">
                <a:solidFill>
                  <a:srgbClr val="5B6372"/>
                </a:solidFill>
                <a:latin typeface="Arial"/>
              </a:rPr>
              <a:t>Common vs special cause, run chart patterns, stratification and Pareto analysis re-derived in full.</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Fishbone and 5 Whys — in depth</a:t>
            </a:r>
          </a:p>
          <a:p>
            <a:pPr algn="l">
              <a:spcAft>
                <a:spcPts val="300"/>
              </a:spcAft>
            </a:pPr>
            <a:r>
              <a:rPr sz="1100" b="0">
                <a:solidFill>
                  <a:srgbClr val="5B6372"/>
                </a:solidFill>
                <a:latin typeface="Arial"/>
              </a:rPr>
              <a:t>Cause-and-effect analysis by 5M+E, 5 Whys discipline and multi-voting — the tools you will coach Green Belts through.</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Hypothesis testing — in depth</a:t>
            </a:r>
          </a:p>
          <a:p>
            <a:pPr algn="l">
              <a:spcAft>
                <a:spcPts val="300"/>
              </a:spcAft>
            </a:pPr>
            <a:r>
              <a:rPr sz="1100" b="0">
                <a:solidFill>
                  <a:srgbClr val="5B6372"/>
                </a:solidFill>
                <a:latin typeface="Arial"/>
              </a:rPr>
              <a:t>H0/Ha formulation, alpha, p-values, confidence levels, test selection and Type I/II errors, worked thoroughly.</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Simple regression &amp; correlation — in depth</a:t>
            </a:r>
          </a:p>
          <a:p>
            <a:pPr algn="l">
              <a:spcAft>
                <a:spcPts val="300"/>
              </a:spcAft>
            </a:pPr>
            <a:r>
              <a:rPr sz="1100" b="0">
                <a:solidFill>
                  <a:srgbClr val="5B6372"/>
                </a:solidFill>
                <a:latin typeface="Arial"/>
              </a:rPr>
              <a:t>Correlation coefficients, the regression line and the causation trap — the foundation multiple regression builds on.</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Multiple regression</a:t>
            </a:r>
          </a:p>
          <a:p>
            <a:pPr algn="l">
              <a:spcAft>
                <a:spcPts val="300"/>
              </a:spcAft>
            </a:pPr>
            <a:r>
              <a:rPr sz="1100" b="0">
                <a:solidFill>
                  <a:srgbClr val="5B6372"/>
                </a:solidFill>
                <a:latin typeface="Arial"/>
              </a:rPr>
              <a:t>Model Y against several Xs at once — the Green Belt's simple linear regression will not do here.</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Model diagnostics</a:t>
            </a:r>
          </a:p>
          <a:p>
            <a:pPr algn="l">
              <a:spcAft>
                <a:spcPts val="300"/>
              </a:spcAft>
            </a:pPr>
            <a:r>
              <a:rPr sz="1100" b="0">
                <a:solidFill>
                  <a:srgbClr val="5B6372"/>
                </a:solidFill>
                <a:latin typeface="Arial"/>
              </a:rPr>
              <a:t>R-squared adjusted, residual plots, multicollinearity (VIF) — a model that fits is not yet a model that is valid.</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ANOVA</a:t>
            </a:r>
          </a:p>
          <a:p>
            <a:pPr algn="l">
              <a:spcAft>
                <a:spcPts val="300"/>
              </a:spcAft>
            </a:pPr>
            <a:r>
              <a:rPr sz="1100" b="0">
                <a:solidFill>
                  <a:srgbClr val="5B6372"/>
                </a:solidFill>
                <a:latin typeface="Arial"/>
              </a:rPr>
              <a:t>Compare three or more group means in one test instead of inflating alpha with repeated t-tests.</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Two-way ANOVA &amp; interactions</a:t>
            </a:r>
          </a:p>
          <a:p>
            <a:pPr algn="l">
              <a:spcAft>
                <a:spcPts val="300"/>
              </a:spcAft>
            </a:pPr>
            <a:r>
              <a:rPr sz="1100" b="0">
                <a:solidFill>
                  <a:srgbClr val="5B6372"/>
                </a:solidFill>
                <a:latin typeface="Arial"/>
              </a:rPr>
              <a:t>Two factors at once reveals interaction effects that one-factor-at-a-time analysis hides entirely.</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22%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Analyze (2)</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Non-parametric tests</a:t>
            </a:r>
          </a:p>
          <a:p>
            <a:pPr algn="l">
              <a:spcAft>
                <a:spcPts val="300"/>
              </a:spcAft>
            </a:pPr>
            <a:r>
              <a:rPr sz="1100" b="0">
                <a:solidFill>
                  <a:srgbClr val="5B6372"/>
                </a:solidFill>
                <a:latin typeface="Arial"/>
              </a:rPr>
              <a:t>Mann-Whitney, Kruskal-Wallis and Mood's median when the data will not meet normality assumptions.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Multi-vari studies</a:t>
            </a:r>
          </a:p>
          <a:p>
            <a:pPr algn="l">
              <a:spcAft>
                <a:spcPts val="300"/>
              </a:spcAft>
            </a:pPr>
            <a:r>
              <a:rPr sz="1100" b="0">
                <a:solidFill>
                  <a:srgbClr val="5B6372"/>
                </a:solidFill>
                <a:latin typeface="Arial"/>
              </a:rPr>
              <a:t>Separate positional, cyclical and temporal variation before spending money hunting the wrong X.</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Chi-square &amp; contingency</a:t>
            </a:r>
          </a:p>
          <a:p>
            <a:pPr algn="l">
              <a:spcAft>
                <a:spcPts val="300"/>
              </a:spcAft>
            </a:pPr>
            <a:r>
              <a:rPr sz="1100" b="0">
                <a:solidFill>
                  <a:srgbClr val="5B6372"/>
                </a:solidFill>
                <a:latin typeface="Arial"/>
              </a:rPr>
              <a:t>Test association between categorical variables — defect type against shift, line or supplier.</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From statistics to story</a:t>
            </a:r>
          </a:p>
          <a:p>
            <a:pPr algn="l">
              <a:spcAft>
                <a:spcPts val="300"/>
              </a:spcAft>
            </a:pPr>
            <a:r>
              <a:rPr sz="1100" b="0">
                <a:solidFill>
                  <a:srgbClr val="5B6372"/>
                </a:solidFill>
                <a:latin typeface="Arial"/>
              </a:rPr>
              <a:t>Translate a coefficient and a p-value into money, risk and a decision the sponsor can make.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ANALYZE - BLACK BELT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Analyze is where the Black Belt earns the title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Measure told us Meridian runs 8.9 percent OTIF misses and 91.4 percent first-pass yield. Analyze proves WHICH Xs drive that - with statistics a sponsor will fund and an auditor will accept.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Analyze delivers at Black Belt level</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validated, ranked list of Xs</a:t>
            </a:r>
          </a:p>
          <a:p>
            <a:pPr algn="l">
              <a:spcAft>
                <a:spcPts val="300"/>
              </a:spcAft>
            </a:pPr>
            <a:r>
              <a:rPr sz="1200" b="0">
                <a:solidFill>
                  <a:srgbClr val="5B6372"/>
                </a:solidFill>
                <a:latin typeface="Arial"/>
              </a:rPr>
              <a:t>Two or three proven drivers, each with a p-value and an effect size in units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fitted predictive model</a:t>
            </a:r>
          </a:p>
          <a:p>
            <a:pPr algn="l">
              <a:spcAft>
                <a:spcPts val="300"/>
              </a:spcAft>
            </a:pPr>
            <a:r>
              <a:rPr sz="1200" b="0">
                <a:solidFill>
                  <a:srgbClr val="5B6372"/>
                </a:solidFill>
                <a:latin typeface="Arial"/>
              </a:rPr>
              <a:t>Y = f(X) with coefficients, adjusted R-squared and validated residuals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Interaction knowledge</a:t>
            </a:r>
          </a:p>
          <a:p>
            <a:pPr algn="l">
              <a:spcAft>
                <a:spcPts val="300"/>
              </a:spcAft>
            </a:pPr>
            <a:r>
              <a:rPr sz="1200" b="0">
                <a:solidFill>
                  <a:srgbClr val="5B6372"/>
                </a:solidFill>
                <a:latin typeface="Arial"/>
              </a:rPr>
              <a:t>Which fixes work everywhere and which only work at one plant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variation family diagnosis</a:t>
            </a:r>
          </a:p>
          <a:p>
            <a:pPr algn="l">
              <a:spcAft>
                <a:spcPts val="300"/>
              </a:spcAft>
            </a:pPr>
            <a:r>
              <a:rPr sz="1200" b="0">
                <a:solidFill>
                  <a:srgbClr val="5B6372"/>
                </a:solidFill>
                <a:latin typeface="Arial"/>
              </a:rPr>
              <a:t>Positional, cyclical or temporal - so Improve spends money in the right place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Assumption-clean evidence</a:t>
            </a:r>
          </a:p>
          <a:p>
            <a:pPr algn="l">
              <a:spcAft>
                <a:spcPts val="300"/>
              </a:spcAft>
            </a:pPr>
            <a:r>
              <a:rPr sz="1200" b="0">
                <a:solidFill>
                  <a:srgbClr val="5B6372"/>
                </a:solidFill>
                <a:latin typeface="Arial"/>
              </a:rPr>
              <a:t>Every test with its normality, independence and variance check documented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translated business case</a:t>
            </a:r>
          </a:p>
          <a:p>
            <a:pPr algn="l">
              <a:spcAft>
                <a:spcPts val="300"/>
              </a:spcAft>
            </a:pPr>
            <a:r>
              <a:rPr sz="1200" b="0">
                <a:solidFill>
                  <a:srgbClr val="5B6372"/>
                </a:solidFill>
                <a:latin typeface="Arial"/>
              </a:rPr>
              <a:t>Coefficients converted into dollars, risk and a decision the sponsor can sign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ANALYZE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Green Belt Analyze vs Black Belt Analyze</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GREEN BELT</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One X at a time</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2-sample t-test, chi-square, simple regression</a:t>
            </a:r>
          </a:p>
          <a:p>
            <a:pPr>
              <a:spcAft>
                <a:spcPts val="700"/>
              </a:spcAft>
            </a:pPr>
            <a:r>
              <a:rPr sz="1200">
                <a:solidFill>
                  <a:srgbClr val="161B26"/>
                </a:solidFill>
                <a:latin typeface="Arial"/>
              </a:rPr>
              <a:t>•  Tests one factor against Y in isolation</a:t>
            </a:r>
          </a:p>
          <a:p>
            <a:pPr>
              <a:spcAft>
                <a:spcPts val="700"/>
              </a:spcAft>
            </a:pPr>
            <a:r>
              <a:rPr sz="1200">
                <a:solidFill>
                  <a:srgbClr val="161B26"/>
                </a:solidFill>
                <a:latin typeface="Arial"/>
              </a:rPr>
              <a:t>•  Reports r and R-squared, stops there</a:t>
            </a:r>
          </a:p>
          <a:p>
            <a:pPr>
              <a:spcAft>
                <a:spcPts val="700"/>
              </a:spcAft>
            </a:pPr>
            <a:r>
              <a:rPr sz="1200">
                <a:solidFill>
                  <a:srgbClr val="161B26"/>
                </a:solidFill>
                <a:latin typeface="Arial"/>
              </a:rPr>
              <a:t>•  Assumes normality without checking it</a:t>
            </a:r>
          </a:p>
          <a:p>
            <a:pPr>
              <a:spcAft>
                <a:spcPts val="700"/>
              </a:spcAft>
            </a:pPr>
            <a:r>
              <a:rPr sz="1200">
                <a:solidFill>
                  <a:srgbClr val="161B26"/>
                </a:solidFill>
                <a:latin typeface="Arial"/>
              </a:rPr>
              <a:t>•  Answers: is this X related to Y?</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BLACK BELT</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Many Xs, with diagnostics</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Multiple regression, ANOVA, multi-vari, non-parametrics</a:t>
            </a:r>
          </a:p>
          <a:p>
            <a:pPr>
              <a:spcAft>
                <a:spcPts val="700"/>
              </a:spcAft>
            </a:pPr>
            <a:r>
              <a:rPr sz="1200">
                <a:solidFill>
                  <a:srgbClr val="161B26"/>
                </a:solidFill>
                <a:latin typeface="Arial"/>
              </a:rPr>
              <a:t>•  Models several Xs simultaneously and their interactions</a:t>
            </a:r>
          </a:p>
          <a:p>
            <a:pPr>
              <a:spcAft>
                <a:spcPts val="700"/>
              </a:spcAft>
            </a:pPr>
            <a:r>
              <a:rPr sz="1200">
                <a:solidFill>
                  <a:srgbClr val="161B26"/>
                </a:solidFill>
                <a:latin typeface="Arial"/>
              </a:rPr>
              <a:t>•  Reports adjusted R-squared, VIF and residual plots</a:t>
            </a:r>
          </a:p>
          <a:p>
            <a:pPr>
              <a:spcAft>
                <a:spcPts val="700"/>
              </a:spcAft>
            </a:pPr>
            <a:r>
              <a:rPr sz="1200">
                <a:solidFill>
                  <a:srgbClr val="161B26"/>
                </a:solidFill>
                <a:latin typeface="Arial"/>
              </a:rPr>
              <a:t>•  Tests every assumption and switches test when violated</a:t>
            </a:r>
          </a:p>
          <a:p>
            <a:pPr>
              <a:spcAft>
                <a:spcPts val="700"/>
              </a:spcAft>
            </a:pPr>
            <a:r>
              <a:rPr sz="1200">
                <a:solidFill>
                  <a:srgbClr val="161B26"/>
                </a:solidFill>
                <a:latin typeface="Arial"/>
              </a:rPr>
              <a:t>•  Answers: how much of Y does each X explain, and is it valid?</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THE MENTOR ROLE</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You coach both</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You must teach a Green Belt the simple tools cleanly</a:t>
            </a:r>
          </a:p>
          <a:p>
            <a:pPr>
              <a:spcAft>
                <a:spcPts val="700"/>
              </a:spcAft>
            </a:pPr>
            <a:r>
              <a:rPr sz="1200">
                <a:solidFill>
                  <a:srgbClr val="161B26"/>
                </a:solidFill>
                <a:latin typeface="Arial"/>
              </a:rPr>
              <a:t>•  You must know when their simple tool is wrong</a:t>
            </a:r>
          </a:p>
          <a:p>
            <a:pPr>
              <a:spcAft>
                <a:spcPts val="700"/>
              </a:spcAft>
            </a:pPr>
            <a:r>
              <a:rPr sz="1200">
                <a:solidFill>
                  <a:srgbClr val="161B26"/>
                </a:solidFill>
                <a:latin typeface="Arial"/>
              </a:rPr>
              <a:t>•  You review their test selection before they run it</a:t>
            </a:r>
          </a:p>
          <a:p>
            <a:pPr>
              <a:spcAft>
                <a:spcPts val="700"/>
              </a:spcAft>
            </a:pPr>
            <a:r>
              <a:rPr sz="1200">
                <a:solidFill>
                  <a:srgbClr val="161B26"/>
                </a:solidFill>
                <a:latin typeface="Arial"/>
              </a:rPr>
              <a:t>•  You catch the assumption they did not check</a:t>
            </a:r>
          </a:p>
          <a:p>
            <a:pPr>
              <a:spcAft>
                <a:spcPts val="700"/>
              </a:spcAft>
            </a:pPr>
            <a:r>
              <a:rPr sz="1200">
                <a:solidFill>
                  <a:srgbClr val="161B26"/>
                </a:solidFill>
                <a:latin typeface="Arial"/>
              </a:rPr>
              <a:t>•  You translate their output for the sponsor</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Analyze route map for this module</a:t>
            </a:r>
          </a:p>
        </p:txBody>
      </p:sp>
      <p:sp>
        <p:nvSpPr>
          <p:cNvPr id="6" name="Rectangle 5"/>
          <p:cNvSpPr/>
          <p:nvPr/>
        </p:nvSpPr>
        <p:spPr>
          <a:xfrm>
            <a:off x="77724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Recap variation, run charts, Pareto and cause tools in full depth</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601468"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Recap hypothesis testing and build the test-selection decision tree</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4425696"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Advance into multiple regression and model diagnostics</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6249924"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Advance into ANOVA, interactions and non-parametric alternatives</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8074152"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Run a multi-vari study to isolate the variation family</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6" name="Rectangle 35"/>
          <p:cNvSpPr/>
          <p:nvPr/>
        </p:nvSpPr>
        <p:spPr>
          <a:xfrm>
            <a:off x="989838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404872"/>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Translate every statistic into money and a sponsor decision</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Meridian Medical Devices case we will use throughout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Three plants</a:t>
            </a:r>
          </a:p>
          <a:p>
            <a:pPr algn="l">
              <a:spcAft>
                <a:spcPts val="300"/>
              </a:spcAft>
            </a:pPr>
            <a:r>
              <a:rPr sz="1200" b="0">
                <a:solidFill>
                  <a:srgbClr val="5B6372"/>
                </a:solidFill>
                <a:latin typeface="Arial"/>
              </a:rPr>
              <a:t>Singapore (lines 1-2), Penang (lines 3-4), Suzhou (lines 5-6)</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product</a:t>
            </a:r>
          </a:p>
          <a:p>
            <a:pPr algn="l">
              <a:spcAft>
                <a:spcPts val="300"/>
              </a:spcAft>
            </a:pPr>
            <a:r>
              <a:rPr sz="1200" b="0">
                <a:solidFill>
                  <a:srgbClr val="5B6372"/>
                </a:solidFill>
                <a:latin typeface="Arial"/>
              </a:rPr>
              <a:t>Infusion pump assemblies - Class IIb regulated medical devices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Primary Y</a:t>
            </a:r>
          </a:p>
          <a:p>
            <a:pPr algn="l">
              <a:spcAft>
                <a:spcPts val="300"/>
              </a:spcAft>
            </a:pPr>
            <a:r>
              <a:rPr sz="1200" b="0">
                <a:solidFill>
                  <a:srgbClr val="5B6372"/>
                </a:solidFill>
                <a:latin typeface="Arial"/>
              </a:rPr>
              <a:t>OTIF delivery to hospital distributors, currently 91.1 percent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Secondary Y</a:t>
            </a:r>
          </a:p>
          <a:p>
            <a:pPr algn="l">
              <a:spcAft>
                <a:spcPts val="300"/>
              </a:spcAft>
            </a:pPr>
            <a:r>
              <a:rPr sz="1200" b="0">
                <a:solidFill>
                  <a:srgbClr val="5B6372"/>
                </a:solidFill>
                <a:latin typeface="Arial"/>
              </a:rPr>
              <a:t>First-pass yield at final functional test, currently 91.4 percent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pain</a:t>
            </a:r>
          </a:p>
          <a:p>
            <a:pPr algn="l">
              <a:spcAft>
                <a:spcPts val="300"/>
              </a:spcAft>
            </a:pPr>
            <a:r>
              <a:rPr sz="1200" b="0">
                <a:solidFill>
                  <a:srgbClr val="5B6372"/>
                </a:solidFill>
                <a:latin typeface="Arial"/>
              </a:rPr>
              <a:t>Warranty returns at 2.8 percent, costing SGD 4.1 million per year</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mandate</a:t>
            </a:r>
          </a:p>
          <a:p>
            <a:pPr algn="l">
              <a:spcAft>
                <a:spcPts val="300"/>
              </a:spcAft>
            </a:pPr>
            <a:r>
              <a:rPr sz="1200" b="0">
                <a:solidFill>
                  <a:srgbClr val="5B6372"/>
                </a:solidFill>
                <a:latin typeface="Arial"/>
              </a:rPr>
              <a:t>Steering committee wants OTIF to 97 percent within two quarters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ANALYZE - RECAP IN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Recap 1 - Variation, and the discipline not to react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Black Belt is asked about a moved number every single day. Everything you do in Analyze rests on telling ordinary variation from a real signal.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Common cause vs special cause variation</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COMMON CAUSE</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Inherent, random, always present</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Built into the process design itself</a:t>
            </a:r>
          </a:p>
          <a:p>
            <a:pPr>
              <a:spcAft>
                <a:spcPts val="700"/>
              </a:spcAft>
            </a:pPr>
            <a:r>
              <a:rPr sz="1200">
                <a:solidFill>
                  <a:srgbClr val="161B26"/>
                </a:solidFill>
                <a:latin typeface="Arial"/>
              </a:rPr>
              <a:t>•  Many small sources acting together at once</a:t>
            </a:r>
          </a:p>
          <a:p>
            <a:pPr>
              <a:spcAft>
                <a:spcPts val="700"/>
              </a:spcAft>
            </a:pPr>
            <a:r>
              <a:rPr sz="1200">
                <a:solidFill>
                  <a:srgbClr val="161B26"/>
                </a:solidFill>
                <a:latin typeface="Arial"/>
              </a:rPr>
              <a:t>•  Predictable within a range - the process is stable</a:t>
            </a:r>
          </a:p>
          <a:p>
            <a:pPr>
              <a:spcAft>
                <a:spcPts val="700"/>
              </a:spcAft>
            </a:pPr>
            <a:r>
              <a:rPr sz="1200">
                <a:solidFill>
                  <a:srgbClr val="161B26"/>
                </a:solidFill>
                <a:latin typeface="Arial"/>
              </a:rPr>
              <a:t>•  Fix requires a SYSTEM change owned by management</a:t>
            </a:r>
          </a:p>
          <a:p>
            <a:pPr>
              <a:spcAft>
                <a:spcPts val="700"/>
              </a:spcAft>
            </a:pPr>
            <a:r>
              <a:rPr sz="1200">
                <a:solidFill>
                  <a:srgbClr val="161B26"/>
                </a:solidFill>
                <a:latin typeface="Arial"/>
              </a:rPr>
              <a:t>•  Meridian: line 3 yield varying between 89 and 94 percent</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SPECIAL CAUSE</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Assignable to one identifiable event</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Something changed - it is not part of the system</a:t>
            </a:r>
          </a:p>
          <a:p>
            <a:pPr>
              <a:spcAft>
                <a:spcPts val="700"/>
              </a:spcAft>
            </a:pPr>
            <a:r>
              <a:rPr sz="1200">
                <a:solidFill>
                  <a:srgbClr val="161B26"/>
                </a:solidFill>
                <a:latin typeface="Arial"/>
              </a:rPr>
              <a:t>•  One traceable source you can name and date</a:t>
            </a:r>
          </a:p>
          <a:p>
            <a:pPr>
              <a:spcAft>
                <a:spcPts val="700"/>
              </a:spcAft>
            </a:pPr>
            <a:r>
              <a:rPr sz="1200">
                <a:solidFill>
                  <a:srgbClr val="161B26"/>
                </a:solidFill>
                <a:latin typeface="Arial"/>
              </a:rPr>
              <a:t>•  Unpredictable - appears as a signal on the chart</a:t>
            </a:r>
          </a:p>
          <a:p>
            <a:pPr>
              <a:spcAft>
                <a:spcPts val="700"/>
              </a:spcAft>
            </a:pPr>
            <a:r>
              <a:rPr sz="1200">
                <a:solidFill>
                  <a:srgbClr val="161B26"/>
                </a:solidFill>
                <a:latin typeface="Arial"/>
              </a:rPr>
              <a:t>•  Fix is LOCAL: find it, remove it, prevent recurrence</a:t>
            </a:r>
          </a:p>
          <a:p>
            <a:pPr>
              <a:spcAft>
                <a:spcPts val="700"/>
              </a:spcAft>
            </a:pPr>
            <a:r>
              <a:rPr sz="1200">
                <a:solidFill>
                  <a:srgbClr val="161B26"/>
                </a:solidFill>
                <a:latin typeface="Arial"/>
              </a:rPr>
              <a:t>•  Meridian: Suzhou yield fell to 71 percent the week the solder pot was replaced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Why the distinction decides your entire strategy</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Wrong diagnosis, wrong owner</a:t>
            </a:r>
          </a:p>
          <a:p>
            <a:pPr algn="l">
              <a:spcAft>
                <a:spcPts val="300"/>
              </a:spcAft>
            </a:pPr>
            <a:r>
              <a:rPr sz="1200" b="0">
                <a:solidFill>
                  <a:srgbClr val="5B6372"/>
                </a:solidFill>
                <a:latin typeface="Arial"/>
              </a:rPr>
              <a:t>Special cause is a local fix. Common cause needs management to change the system.</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Blame follows the error</a:t>
            </a:r>
          </a:p>
          <a:p>
            <a:pPr algn="l">
              <a:spcAft>
                <a:spcPts val="300"/>
              </a:spcAft>
            </a:pPr>
            <a:r>
              <a:rPr sz="1200" b="0">
                <a:solidFill>
                  <a:srgbClr val="5B6372"/>
                </a:solidFill>
                <a:latin typeface="Arial"/>
              </a:rPr>
              <a:t>Treating common cause as special sends you hunting an operator who is not at fault.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Roughly 85 percent is systemic</a:t>
            </a:r>
          </a:p>
          <a:p>
            <a:pPr algn="l">
              <a:spcAft>
                <a:spcPts val="300"/>
              </a:spcAft>
            </a:pPr>
            <a:r>
              <a:rPr sz="1200" b="0">
                <a:solidFill>
                  <a:srgbClr val="5B6372"/>
                </a:solidFill>
                <a:latin typeface="Arial"/>
              </a:rPr>
              <a:t>Deming: most defects come from the process, not the person running it.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It picks the tool</a:t>
            </a:r>
          </a:p>
          <a:p>
            <a:pPr algn="l">
              <a:spcAft>
                <a:spcPts val="300"/>
              </a:spcAft>
            </a:pPr>
            <a:r>
              <a:rPr sz="1200" b="0">
                <a:solidFill>
                  <a:srgbClr val="5B6372"/>
                </a:solidFill>
                <a:latin typeface="Arial"/>
              </a:rPr>
              <a:t>Special cause: investigate the event. Common cause: run the full DMAIC.</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Stability comes first</a:t>
            </a:r>
          </a:p>
          <a:p>
            <a:pPr algn="l">
              <a:spcAft>
                <a:spcPts val="300"/>
              </a:spcAft>
            </a:pPr>
            <a:r>
              <a:rPr sz="1200" b="0">
                <a:solidFill>
                  <a:srgbClr val="5B6372"/>
                </a:solidFill>
                <a:latin typeface="Arial"/>
              </a:rPr>
              <a:t>You cannot judge capability or test causes on an unstable process.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It licenses inaction</a:t>
            </a:r>
          </a:p>
          <a:p>
            <a:pPr algn="l">
              <a:spcAft>
                <a:spcPts val="300"/>
              </a:spcAft>
            </a:pPr>
            <a:r>
              <a:rPr sz="1200" b="0">
                <a:solidFill>
                  <a:srgbClr val="5B6372"/>
                </a:solidFill>
                <a:latin typeface="Arial"/>
              </a:rPr>
              <a:t>Knowing variation is common cause is what permits you to leave the process alone.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ANALYZE - RECAP IN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Tampering - the most expensive habit in manufacturing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Adjusting a stable process in response to common cause variation does not reduce variation. It roughly DOUBLES it. Deming proved this with a funnel and a marble.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Deming funnel experiment</a:t>
            </a:r>
          </a:p>
        </p:txBody>
      </p:sp>
      <p:sp>
        <p:nvSpPr>
          <p:cNvPr id="6" name="Rectangle 5"/>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331720"/>
            <a:ext cx="1513332"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715768"/>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Fix a funnel above a target, drop 50 marbles, mark where each lands</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2" name="Rectangle 11"/>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331720"/>
            <a:ext cx="1513332"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715768"/>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Rule 1: never move the funnel. Marbles scatter in a stable circle around the target</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8" name="Rectangle 17"/>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331720"/>
            <a:ext cx="1513332"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715768"/>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Rule 2: move the funnel to correct each miss. Scatter grows about 40 percent wider</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24" name="Rectangle 23"/>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331720"/>
            <a:ext cx="1513332"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715768"/>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Rule 3: move the funnel from the target to the opposite of the last drop. Scatter explodes</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0" name="Rectangle 29"/>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331720"/>
            <a:ext cx="1513332"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715768"/>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Rule 4: aim the funnel at the last marble. The pattern drifts away without limit</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6" name="Rectangle 35"/>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331720"/>
            <a:ext cx="1513332"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715768"/>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Lesson: adjusting a stable process on one data point always makes it worse</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Tampering at Meridian - a real Tuesday</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THE TRIGGER</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One ordinary point moves</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Penang line 4 first-pass yield drops from 92 to 89 percent</a:t>
            </a:r>
          </a:p>
          <a:p>
            <a:pPr>
              <a:spcAft>
                <a:spcPts val="700"/>
              </a:spcAft>
            </a:pPr>
            <a:r>
              <a:rPr sz="1200">
                <a:solidFill>
                  <a:srgbClr val="161B26"/>
                </a:solidFill>
                <a:latin typeface="Arial"/>
              </a:rPr>
              <a:t>•  Both values sit inside normal common cause range</a:t>
            </a:r>
          </a:p>
          <a:p>
            <a:pPr>
              <a:spcAft>
                <a:spcPts val="700"/>
              </a:spcAft>
            </a:pPr>
            <a:r>
              <a:rPr sz="1200">
                <a:solidFill>
                  <a:srgbClr val="161B26"/>
                </a:solidFill>
                <a:latin typeface="Arial"/>
              </a:rPr>
              <a:t>•  Nothing in the process actually changed</a:t>
            </a:r>
          </a:p>
          <a:p>
            <a:pPr>
              <a:spcAft>
                <a:spcPts val="700"/>
              </a:spcAft>
            </a:pPr>
            <a:r>
              <a:rPr sz="1200">
                <a:solidFill>
                  <a:srgbClr val="161B26"/>
                </a:solidFill>
                <a:latin typeface="Arial"/>
              </a:rPr>
              <a:t>•  But the number appears in red on the daily dashboard</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THE REACTION</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supervisor adjusts</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Reflow oven zone 3 setpoint raised by 6 degrees C</a:t>
            </a:r>
          </a:p>
          <a:p>
            <a:pPr>
              <a:spcAft>
                <a:spcPts val="700"/>
              </a:spcAft>
            </a:pPr>
            <a:r>
              <a:rPr sz="1200">
                <a:solidFill>
                  <a:srgbClr val="161B26"/>
                </a:solidFill>
                <a:latin typeface="Arial"/>
              </a:rPr>
              <a:t>•  Two operators moved from line 3 to line 4 for the shift</a:t>
            </a:r>
          </a:p>
          <a:p>
            <a:pPr>
              <a:spcAft>
                <a:spcPts val="700"/>
              </a:spcAft>
            </a:pPr>
            <a:r>
              <a:rPr sz="1200">
                <a:solidFill>
                  <a:srgbClr val="161B26"/>
                </a:solidFill>
                <a:latin typeface="Arial"/>
              </a:rPr>
              <a:t>•  The adjustment is well intentioned and quick</a:t>
            </a:r>
          </a:p>
          <a:p>
            <a:pPr>
              <a:spcAft>
                <a:spcPts val="700"/>
              </a:spcAft>
            </a:pPr>
            <a:r>
              <a:rPr sz="1200">
                <a:solidFill>
                  <a:srgbClr val="161B26"/>
                </a:solidFill>
                <a:latin typeface="Arial"/>
              </a:rPr>
              <a:t>•  No data supports it - only the single point</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THE RESULT</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Variation roughly doubles</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Line 3 now understaffed and starts missing takt</a:t>
            </a:r>
          </a:p>
          <a:p>
            <a:pPr>
              <a:spcAft>
                <a:spcPts val="700"/>
              </a:spcAft>
            </a:pPr>
            <a:r>
              <a:rPr sz="1200">
                <a:solidFill>
                  <a:srgbClr val="161B26"/>
                </a:solidFill>
                <a:latin typeface="Arial"/>
              </a:rPr>
              <a:t>•  Higher reflow temperature warps two connector housings</a:t>
            </a:r>
          </a:p>
          <a:p>
            <a:pPr>
              <a:spcAft>
                <a:spcPts val="700"/>
              </a:spcAft>
            </a:pPr>
            <a:r>
              <a:rPr sz="1200">
                <a:solidFill>
                  <a:srgbClr val="161B26"/>
                </a:solidFill>
                <a:latin typeface="Arial"/>
              </a:rPr>
              <a:t>•  Next swing is bigger, prompting a bigger correction</a:t>
            </a:r>
          </a:p>
          <a:p>
            <a:pPr>
              <a:spcAft>
                <a:spcPts val="700"/>
              </a:spcAft>
            </a:pPr>
            <a:r>
              <a:rPr sz="1200">
                <a:solidFill>
                  <a:srgbClr val="161B26"/>
                </a:solidFill>
                <a:latin typeface="Arial"/>
              </a:rPr>
              <a:t>•  Rule: never adjust a stable process on one data point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ANALYZE - RECAP IN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Run charts - six patterns, six run rules</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run chart is the cheapest signal detector in the toolkit. A Black Belt reads all six patterns and knows the exact rule that fires each one.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Anatomy of a run chart</a:t>
            </a:r>
          </a:p>
        </p:txBody>
      </p:sp>
      <p:pic>
        <p:nvPicPr>
          <p:cNvPr id="6" name="Picture 5" descr="run-chart-base.png"/>
          <p:cNvPicPr>
            <a:picLocks noChangeAspect="1"/>
          </p:cNvPicPr>
          <p:nvPr/>
        </p:nvPicPr>
        <p:blipFill>
          <a:blip r:embed="rId2"/>
          <a:stretch>
            <a:fillRect/>
          </a:stretch>
        </p:blipFill>
        <p:spPr>
          <a:xfrm>
            <a:off x="3020098" y="1737360"/>
            <a:ext cx="6151498" cy="4160520"/>
          </a:xfrm>
          <a:prstGeom prst="rect">
            <a:avLst/>
          </a:prstGeom>
        </p:spPr>
      </p:pic>
      <p:sp>
        <p:nvSpPr>
          <p:cNvPr id="7" name="TextBox 6"/>
          <p:cNvSpPr txBox="1"/>
          <p:nvPr/>
        </p:nvSpPr>
        <p:spPr>
          <a:xfrm>
            <a:off x="777240" y="6007608"/>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Time on the horizontal axis, the measure on the vertical axis, and a MEDIAN centre line - not a mean, because the median resists outliers.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to build a run chart correctly</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Plot in TIME ORDER</a:t>
            </a:r>
          </a:p>
          <a:p>
            <a:pPr algn="l">
              <a:spcAft>
                <a:spcPts val="300"/>
              </a:spcAft>
            </a:pPr>
            <a:r>
              <a:rPr sz="1200" b="0">
                <a:solidFill>
                  <a:srgbClr val="5B6372"/>
                </a:solidFill>
                <a:latin typeface="Arial"/>
              </a:rPr>
              <a:t>Sequence is the whole point - sorting the data destroys the information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Use the MEDIAN centre line</a:t>
            </a:r>
          </a:p>
          <a:p>
            <a:pPr algn="l">
              <a:spcAft>
                <a:spcPts val="300"/>
              </a:spcAft>
            </a:pPr>
            <a:r>
              <a:rPr sz="1200" b="0">
                <a:solidFill>
                  <a:srgbClr val="5B6372"/>
                </a:solidFill>
                <a:latin typeface="Arial"/>
              </a:rPr>
              <a:t>The median is not dragged by the extreme points you are hunting</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At least 15 to 20 points</a:t>
            </a:r>
          </a:p>
          <a:p>
            <a:pPr algn="l">
              <a:spcAft>
                <a:spcPts val="300"/>
              </a:spcAft>
            </a:pPr>
            <a:r>
              <a:rPr sz="1200" b="0">
                <a:solidFill>
                  <a:srgbClr val="5B6372"/>
                </a:solidFill>
                <a:latin typeface="Arial"/>
              </a:rPr>
              <a:t>Fewer points cannot reliably reveal a trend, shift or oscillation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Keep the interval constant</a:t>
            </a:r>
          </a:p>
          <a:p>
            <a:pPr algn="l">
              <a:spcAft>
                <a:spcPts val="300"/>
              </a:spcAft>
            </a:pPr>
            <a:r>
              <a:rPr sz="1200" b="0">
                <a:solidFill>
                  <a:srgbClr val="5B6372"/>
                </a:solidFill>
                <a:latin typeface="Arial"/>
              </a:rPr>
              <a:t>Daily or weekly - do not mix, and do not skip periods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Annotate known events</a:t>
            </a:r>
          </a:p>
          <a:p>
            <a:pPr algn="l">
              <a:spcAft>
                <a:spcPts val="300"/>
              </a:spcAft>
            </a:pPr>
            <a:r>
              <a:rPr sz="1200" b="0">
                <a:solidFill>
                  <a:srgbClr val="5B6372"/>
                </a:solidFill>
                <a:latin typeface="Arial"/>
              </a:rPr>
              <a:t>Mark the oven rebuild or the supplier change so signals can be explained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Read patterns, not points</a:t>
            </a:r>
          </a:p>
          <a:p>
            <a:pPr algn="l">
              <a:spcAft>
                <a:spcPts val="300"/>
              </a:spcAft>
            </a:pPr>
            <a:r>
              <a:rPr sz="1200" b="0">
                <a:solidFill>
                  <a:srgbClr val="5B6372"/>
                </a:solidFill>
                <a:latin typeface="Arial"/>
              </a:rPr>
              <a:t>One high point is noise. A PATTERN is a signal worth investigating.</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six run chart patterns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TREND</a:t>
            </a:r>
          </a:p>
          <a:p>
            <a:pPr algn="l">
              <a:spcAft>
                <a:spcPts val="300"/>
              </a:spcAft>
            </a:pPr>
            <a:r>
              <a:rPr sz="1200" b="0">
                <a:solidFill>
                  <a:srgbClr val="5B6372"/>
                </a:solidFill>
                <a:latin typeface="Arial"/>
              </a:rPr>
              <a:t>6 or more consecutive points all rising or all falling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SHIFT</a:t>
            </a:r>
          </a:p>
          <a:p>
            <a:pPr algn="l">
              <a:spcAft>
                <a:spcPts val="300"/>
              </a:spcAft>
            </a:pPr>
            <a:r>
              <a:rPr sz="1200" b="0">
                <a:solidFill>
                  <a:srgbClr val="5B6372"/>
                </a:solidFill>
                <a:latin typeface="Arial"/>
              </a:rPr>
              <a:t>8 or more consecutive points all on one side of the median</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CLUSTER</a:t>
            </a:r>
          </a:p>
          <a:p>
            <a:pPr algn="l">
              <a:spcAft>
                <a:spcPts val="300"/>
              </a:spcAft>
            </a:pPr>
            <a:r>
              <a:rPr sz="1200" b="0">
                <a:solidFill>
                  <a:srgbClr val="5B6372"/>
                </a:solidFill>
                <a:latin typeface="Arial"/>
              </a:rPr>
              <a:t>Points bunched in one region - grouping by an untracked variable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MIXTURE</a:t>
            </a:r>
          </a:p>
          <a:p>
            <a:pPr algn="l">
              <a:spcAft>
                <a:spcPts val="300"/>
              </a:spcAft>
            </a:pPr>
            <a:r>
              <a:rPr sz="1200" b="0">
                <a:solidFill>
                  <a:srgbClr val="5B6372"/>
                </a:solidFill>
                <a:latin typeface="Arial"/>
              </a:rPr>
              <a:t>Too few crossings - points avoid the median, two populations combined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OSCILLATION</a:t>
            </a:r>
          </a:p>
          <a:p>
            <a:pPr algn="l">
              <a:spcAft>
                <a:spcPts val="300"/>
              </a:spcAft>
            </a:pPr>
            <a:r>
              <a:rPr sz="1200" b="0">
                <a:solidFill>
                  <a:srgbClr val="5B6372"/>
                </a:solidFill>
                <a:latin typeface="Arial"/>
              </a:rPr>
              <a:t>Rapid regular up-down sawtooth - usually the fingerprint of tampering</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BIAS</a:t>
            </a:r>
          </a:p>
          <a:p>
            <a:pPr algn="l">
              <a:spcAft>
                <a:spcPts val="300"/>
              </a:spcAft>
            </a:pPr>
            <a:r>
              <a:rPr sz="1200" b="0">
                <a:solidFill>
                  <a:srgbClr val="5B6372"/>
                </a:solidFill>
                <a:latin typeface="Arial"/>
              </a:rPr>
              <a:t>Astronomical point far outside the rest - a one-off assignable event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Run rules - the arithmetic behind the patterns</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Too few runs</a:t>
            </a:r>
          </a:p>
          <a:p>
            <a:pPr algn="l">
              <a:spcAft>
                <a:spcPts val="400"/>
              </a:spcAft>
            </a:pPr>
            <a:r>
              <a:rPr sz="1500" b="1">
                <a:solidFill>
                  <a:srgbClr val="1F6FEB"/>
                </a:solidFill>
                <a:latin typeface="Arial"/>
              </a:rPr>
              <a:t>(mixture)</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runs &lt; expected</a:t>
            </a:r>
          </a:p>
          <a:p>
            <a:pPr algn="ctr">
              <a:spcAft>
                <a:spcPts val="400"/>
              </a:spcAft>
            </a:pPr>
            <a:r>
              <a:rPr sz="1400" b="1">
                <a:solidFill>
                  <a:srgbClr val="161B26"/>
                </a:solidFill>
                <a:latin typeface="Arial"/>
              </a:rPr>
              <a:t>expected = n/2 + 1</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24 points, expect 13 runs. Meridian line 5 gave 6 runs - two populations mixed.</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Too many runs</a:t>
            </a:r>
          </a:p>
          <a:p>
            <a:pPr algn="l">
              <a:spcAft>
                <a:spcPts val="400"/>
              </a:spcAft>
            </a:pPr>
            <a:r>
              <a:rPr sz="1500" b="1">
                <a:solidFill>
                  <a:srgbClr val="10B981"/>
                </a:solidFill>
                <a:latin typeface="Arial"/>
              </a:rPr>
              <a:t>(oscillation)</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runs &gt; n/2 + 1</a:t>
            </a:r>
          </a:p>
          <a:p>
            <a:pPr algn="ctr">
              <a:spcAft>
                <a:spcPts val="400"/>
              </a:spcAft>
            </a:pPr>
            <a:r>
              <a:rPr sz="1400" b="1">
                <a:solidFill>
                  <a:srgbClr val="161B26"/>
                </a:solidFill>
                <a:latin typeface="Arial"/>
              </a:rPr>
              <a:t>with no long runs</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24 points gave 20 runs - a sawtooth. Operators were re-tuning the tester every shift.</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Shift</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8 consecutive points</a:t>
            </a:r>
          </a:p>
          <a:p>
            <a:pPr algn="ctr">
              <a:spcAft>
                <a:spcPts val="400"/>
              </a:spcAft>
            </a:pPr>
            <a:r>
              <a:rPr sz="1400" b="1">
                <a:solidFill>
                  <a:srgbClr val="161B26"/>
                </a:solidFill>
                <a:latin typeface="Arial"/>
              </a:rPr>
              <a:t>one side of median</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Suzhou line 6 yield sat below median for 11 straight days after the stencil change.</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Trend</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6 consecutive points</a:t>
            </a:r>
          </a:p>
          <a:p>
            <a:pPr algn="ctr">
              <a:spcAft>
                <a:spcPts val="400"/>
              </a:spcAft>
            </a:pPr>
            <a:r>
              <a:rPr sz="1400" b="1">
                <a:solidFill>
                  <a:srgbClr val="161B26"/>
                </a:solidFill>
                <a:latin typeface="Arial"/>
              </a:rPr>
              <a:t>all increasing or decreasing</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Penang line 3 cycle time rose 7 shifts in a row as the feeder wore.</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A run is an unbroken sequence of points on the same side of the median. Points sitting exactly on the median are ignored.</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line 1 first-pass yield - 12 weeks (percent)</a:t>
            </a:r>
          </a:p>
        </p:txBody>
      </p:sp>
      <p:cxnSp>
        <p:nvCxnSpPr>
          <p:cNvPr id="6" name="Connector 5"/>
          <p:cNvCxnSpPr/>
          <p:nvPr/>
        </p:nvCxnSpPr>
        <p:spPr>
          <a:xfrm>
            <a:off x="1188720" y="5257800"/>
            <a:ext cx="94183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88720" y="1965960"/>
            <a:ext cx="0" cy="329184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88720" y="3738489"/>
            <a:ext cx="9418320" cy="0"/>
          </a:xfrm>
          <a:prstGeom prst="line">
            <a:avLst/>
          </a:prstGeom>
          <a:ln w="20320">
            <a:solidFill>
              <a:srgbClr val="F59E0B"/>
            </a:solidFill>
            <a:prstDash val="dash"/>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643616" y="3573897"/>
            <a:ext cx="1280160" cy="329184"/>
          </a:xfrm>
          <a:prstGeom prst="rect">
            <a:avLst/>
          </a:prstGeom>
          <a:noFill/>
        </p:spPr>
        <p:txBody>
          <a:bodyPr wrap="square" anchor="t">
            <a:spAutoFit/>
          </a:bodyPr>
          <a:lstStyle/>
          <a:p>
            <a:pPr algn="l">
              <a:spcAft>
                <a:spcPts val="400"/>
              </a:spcAft>
            </a:pPr>
            <a:r>
              <a:rPr sz="1000" b="1">
                <a:solidFill>
                  <a:srgbClr val="F59E0B"/>
                </a:solidFill>
                <a:latin typeface="Arial"/>
              </a:rPr>
              <a:t>Median 91.55</a:t>
            </a:r>
          </a:p>
        </p:txBody>
      </p:sp>
      <p:cxnSp>
        <p:nvCxnSpPr>
          <p:cNvPr id="10" name="Connector 9"/>
          <p:cNvCxnSpPr/>
          <p:nvPr/>
        </p:nvCxnSpPr>
        <p:spPr>
          <a:xfrm flipV="1">
            <a:off x="1188720" y="2683412"/>
            <a:ext cx="856210" cy="1181686"/>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044930" y="2683412"/>
            <a:ext cx="856211" cy="1856935"/>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901141" y="3274255"/>
            <a:ext cx="856211" cy="126609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757352" y="3274255"/>
            <a:ext cx="856211" cy="928468"/>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4613563" y="2345787"/>
            <a:ext cx="856211" cy="1856936"/>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469774" y="2345787"/>
            <a:ext cx="856211" cy="2532185"/>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6325985" y="2936630"/>
            <a:ext cx="856211" cy="194134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182196" y="2936630"/>
            <a:ext cx="856211" cy="67525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038407" y="3611880"/>
            <a:ext cx="856211" cy="675249"/>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8894618" y="2599006"/>
            <a:ext cx="856211" cy="1688123"/>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750829" y="2599006"/>
            <a:ext cx="856211" cy="1350498"/>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1120140" y="3796518"/>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296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W1</a:t>
            </a:r>
          </a:p>
        </p:txBody>
      </p:sp>
      <p:sp>
        <p:nvSpPr>
          <p:cNvPr id="23" name="Oval 22"/>
          <p:cNvSpPr/>
          <p:nvPr/>
        </p:nvSpPr>
        <p:spPr>
          <a:xfrm>
            <a:off x="1976350" y="2614832"/>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67917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W2</a:t>
            </a:r>
          </a:p>
        </p:txBody>
      </p:sp>
      <p:sp>
        <p:nvSpPr>
          <p:cNvPr id="25" name="Oval 24"/>
          <p:cNvSpPr/>
          <p:nvPr/>
        </p:nvSpPr>
        <p:spPr>
          <a:xfrm>
            <a:off x="2832561" y="4471767"/>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2535381"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W3</a:t>
            </a:r>
          </a:p>
        </p:txBody>
      </p:sp>
      <p:sp>
        <p:nvSpPr>
          <p:cNvPr id="27" name="Oval 26"/>
          <p:cNvSpPr/>
          <p:nvPr/>
        </p:nvSpPr>
        <p:spPr>
          <a:xfrm>
            <a:off x="3688772" y="3205675"/>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391592"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W4</a:t>
            </a:r>
          </a:p>
        </p:txBody>
      </p:sp>
      <p:sp>
        <p:nvSpPr>
          <p:cNvPr id="29" name="Oval 28"/>
          <p:cNvSpPr/>
          <p:nvPr/>
        </p:nvSpPr>
        <p:spPr>
          <a:xfrm>
            <a:off x="4544983" y="4134143"/>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247803"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W5</a:t>
            </a:r>
          </a:p>
        </p:txBody>
      </p:sp>
      <p:sp>
        <p:nvSpPr>
          <p:cNvPr id="31" name="Oval 30"/>
          <p:cNvSpPr/>
          <p:nvPr/>
        </p:nvSpPr>
        <p:spPr>
          <a:xfrm>
            <a:off x="5401194" y="2277207"/>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5104014"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W6</a:t>
            </a:r>
          </a:p>
        </p:txBody>
      </p:sp>
      <p:sp>
        <p:nvSpPr>
          <p:cNvPr id="33" name="Oval 32"/>
          <p:cNvSpPr/>
          <p:nvPr/>
        </p:nvSpPr>
        <p:spPr>
          <a:xfrm>
            <a:off x="6257405" y="4809392"/>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960225"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W7</a:t>
            </a:r>
          </a:p>
        </p:txBody>
      </p:sp>
      <p:sp>
        <p:nvSpPr>
          <p:cNvPr id="35" name="Oval 34"/>
          <p:cNvSpPr/>
          <p:nvPr/>
        </p:nvSpPr>
        <p:spPr>
          <a:xfrm>
            <a:off x="7113616" y="2868050"/>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816436"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W8</a:t>
            </a:r>
          </a:p>
        </p:txBody>
      </p:sp>
      <p:sp>
        <p:nvSpPr>
          <p:cNvPr id="37" name="Oval 36"/>
          <p:cNvSpPr/>
          <p:nvPr/>
        </p:nvSpPr>
        <p:spPr>
          <a:xfrm>
            <a:off x="7969827" y="3543300"/>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672647"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W9</a:t>
            </a:r>
          </a:p>
        </p:txBody>
      </p:sp>
      <p:sp>
        <p:nvSpPr>
          <p:cNvPr id="39" name="Oval 38"/>
          <p:cNvSpPr/>
          <p:nvPr/>
        </p:nvSpPr>
        <p:spPr>
          <a:xfrm>
            <a:off x="8826038" y="4218549"/>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528858"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W10</a:t>
            </a:r>
          </a:p>
        </p:txBody>
      </p:sp>
      <p:sp>
        <p:nvSpPr>
          <p:cNvPr id="41" name="Oval 40"/>
          <p:cNvSpPr/>
          <p:nvPr/>
        </p:nvSpPr>
        <p:spPr>
          <a:xfrm>
            <a:off x="9682249" y="2530426"/>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385069"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W11</a:t>
            </a:r>
          </a:p>
        </p:txBody>
      </p:sp>
      <p:sp>
        <p:nvSpPr>
          <p:cNvPr id="43" name="Oval 42"/>
          <p:cNvSpPr/>
          <p:nvPr/>
        </p:nvSpPr>
        <p:spPr>
          <a:xfrm>
            <a:off x="10538460" y="3880924"/>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24128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W12</a:t>
            </a:r>
          </a:p>
        </p:txBody>
      </p:sp>
      <p:sp>
        <p:nvSpPr>
          <p:cNvPr id="45" name="TextBox 44"/>
          <p:cNvSpPr txBox="1"/>
          <p:nvPr/>
        </p:nvSpPr>
        <p:spPr>
          <a:xfrm>
            <a:off x="777240" y="566928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Points scatter randomly either side of the median with no run, trend or oscillation - a STABLE process showing only common cause variation.</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line 3 - a TREND appears (cycle time, minutes)</a:t>
            </a:r>
          </a:p>
        </p:txBody>
      </p:sp>
      <p:cxnSp>
        <p:nvCxnSpPr>
          <p:cNvPr id="6" name="Connector 5"/>
          <p:cNvCxnSpPr/>
          <p:nvPr/>
        </p:nvCxnSpPr>
        <p:spPr>
          <a:xfrm>
            <a:off x="1188720" y="5257800"/>
            <a:ext cx="94183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88720" y="1965960"/>
            <a:ext cx="0" cy="329184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88720" y="3848217"/>
            <a:ext cx="9418320" cy="0"/>
          </a:xfrm>
          <a:prstGeom prst="line">
            <a:avLst/>
          </a:prstGeom>
          <a:ln w="20320">
            <a:solidFill>
              <a:srgbClr val="F59E0B"/>
            </a:solidFill>
            <a:prstDash val="dash"/>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643616" y="3683625"/>
            <a:ext cx="1280160" cy="329184"/>
          </a:xfrm>
          <a:prstGeom prst="rect">
            <a:avLst/>
          </a:prstGeom>
          <a:noFill/>
        </p:spPr>
        <p:txBody>
          <a:bodyPr wrap="square" anchor="t">
            <a:spAutoFit/>
          </a:bodyPr>
          <a:lstStyle/>
          <a:p>
            <a:pPr algn="l">
              <a:spcAft>
                <a:spcPts val="400"/>
              </a:spcAft>
            </a:pPr>
            <a:r>
              <a:rPr sz="1000" b="1">
                <a:solidFill>
                  <a:srgbClr val="F59E0B"/>
                </a:solidFill>
                <a:latin typeface="Arial"/>
              </a:rPr>
              <a:t>Median 44.65</a:t>
            </a:r>
          </a:p>
        </p:txBody>
      </p:sp>
      <p:cxnSp>
        <p:nvCxnSpPr>
          <p:cNvPr id="10" name="Connector 9"/>
          <p:cNvCxnSpPr/>
          <p:nvPr/>
        </p:nvCxnSpPr>
        <p:spPr>
          <a:xfrm>
            <a:off x="1188720" y="4709160"/>
            <a:ext cx="856210" cy="16881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044930" y="4607872"/>
            <a:ext cx="856211" cy="27010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901141" y="4607872"/>
            <a:ext cx="856211" cy="16881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3757352" y="4405297"/>
            <a:ext cx="856211" cy="371387"/>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4613563" y="4000148"/>
            <a:ext cx="856211" cy="405149"/>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5469774" y="3696286"/>
            <a:ext cx="856211" cy="30386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6325985" y="3426186"/>
            <a:ext cx="856211" cy="27010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7182196" y="3122324"/>
            <a:ext cx="856211" cy="30386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8038407" y="2852224"/>
            <a:ext cx="856211" cy="27010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8894618" y="2615887"/>
            <a:ext cx="856211" cy="236337"/>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9750829" y="2345787"/>
            <a:ext cx="856211" cy="27010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1120140" y="4640580"/>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296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W1</a:t>
            </a:r>
          </a:p>
        </p:txBody>
      </p:sp>
      <p:sp>
        <p:nvSpPr>
          <p:cNvPr id="23" name="Oval 22"/>
          <p:cNvSpPr/>
          <p:nvPr/>
        </p:nvSpPr>
        <p:spPr>
          <a:xfrm>
            <a:off x="1976350" y="4809392"/>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67917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W2</a:t>
            </a:r>
          </a:p>
        </p:txBody>
      </p:sp>
      <p:sp>
        <p:nvSpPr>
          <p:cNvPr id="25" name="Oval 24"/>
          <p:cNvSpPr/>
          <p:nvPr/>
        </p:nvSpPr>
        <p:spPr>
          <a:xfrm>
            <a:off x="2832561" y="4539292"/>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2535381"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W3</a:t>
            </a:r>
          </a:p>
        </p:txBody>
      </p:sp>
      <p:sp>
        <p:nvSpPr>
          <p:cNvPr id="27" name="Oval 26"/>
          <p:cNvSpPr/>
          <p:nvPr/>
        </p:nvSpPr>
        <p:spPr>
          <a:xfrm>
            <a:off x="3688772" y="4708104"/>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391592"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W4</a:t>
            </a:r>
          </a:p>
        </p:txBody>
      </p:sp>
      <p:sp>
        <p:nvSpPr>
          <p:cNvPr id="29" name="Oval 28"/>
          <p:cNvSpPr/>
          <p:nvPr/>
        </p:nvSpPr>
        <p:spPr>
          <a:xfrm>
            <a:off x="4544983" y="4336717"/>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247803"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W5</a:t>
            </a:r>
          </a:p>
        </p:txBody>
      </p:sp>
      <p:sp>
        <p:nvSpPr>
          <p:cNvPr id="31" name="Oval 30"/>
          <p:cNvSpPr/>
          <p:nvPr/>
        </p:nvSpPr>
        <p:spPr>
          <a:xfrm>
            <a:off x="5401194" y="3931568"/>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5104014"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W6</a:t>
            </a:r>
          </a:p>
        </p:txBody>
      </p:sp>
      <p:sp>
        <p:nvSpPr>
          <p:cNvPr id="33" name="Oval 32"/>
          <p:cNvSpPr/>
          <p:nvPr/>
        </p:nvSpPr>
        <p:spPr>
          <a:xfrm>
            <a:off x="6257405" y="3627706"/>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960225"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W7</a:t>
            </a:r>
          </a:p>
        </p:txBody>
      </p:sp>
      <p:sp>
        <p:nvSpPr>
          <p:cNvPr id="35" name="Oval 34"/>
          <p:cNvSpPr/>
          <p:nvPr/>
        </p:nvSpPr>
        <p:spPr>
          <a:xfrm>
            <a:off x="7113616" y="3357606"/>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816436"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W8</a:t>
            </a:r>
          </a:p>
        </p:txBody>
      </p:sp>
      <p:sp>
        <p:nvSpPr>
          <p:cNvPr id="37" name="Oval 36"/>
          <p:cNvSpPr/>
          <p:nvPr/>
        </p:nvSpPr>
        <p:spPr>
          <a:xfrm>
            <a:off x="7969827" y="3053744"/>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672647"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W9</a:t>
            </a:r>
          </a:p>
        </p:txBody>
      </p:sp>
      <p:sp>
        <p:nvSpPr>
          <p:cNvPr id="39" name="Oval 38"/>
          <p:cNvSpPr/>
          <p:nvPr/>
        </p:nvSpPr>
        <p:spPr>
          <a:xfrm>
            <a:off x="8826038" y="2783644"/>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528858"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W10</a:t>
            </a:r>
          </a:p>
        </p:txBody>
      </p:sp>
      <p:sp>
        <p:nvSpPr>
          <p:cNvPr id="41" name="Oval 40"/>
          <p:cNvSpPr/>
          <p:nvPr/>
        </p:nvSpPr>
        <p:spPr>
          <a:xfrm>
            <a:off x="9682249" y="2547307"/>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385069"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W11</a:t>
            </a:r>
          </a:p>
        </p:txBody>
      </p:sp>
      <p:sp>
        <p:nvSpPr>
          <p:cNvPr id="43" name="Oval 42"/>
          <p:cNvSpPr/>
          <p:nvPr/>
        </p:nvSpPr>
        <p:spPr>
          <a:xfrm>
            <a:off x="10538460" y="2277207"/>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24128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W12</a:t>
            </a:r>
          </a:p>
        </p:txBody>
      </p:sp>
      <p:sp>
        <p:nvSpPr>
          <p:cNvPr id="45" name="TextBox 44"/>
          <p:cNvSpPr txBox="1"/>
          <p:nvPr/>
        </p:nvSpPr>
        <p:spPr>
          <a:xfrm>
            <a:off x="777240" y="566928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Seven consecutive rising points from W6 - the TREND rule fires. Investigation found progressive wear on the component feeder cam.</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line 6 - a SHIFT appears (yield, percent)</a:t>
            </a:r>
          </a:p>
        </p:txBody>
      </p:sp>
      <p:cxnSp>
        <p:nvCxnSpPr>
          <p:cNvPr id="6" name="Connector 5"/>
          <p:cNvCxnSpPr/>
          <p:nvPr/>
        </p:nvCxnSpPr>
        <p:spPr>
          <a:xfrm>
            <a:off x="1188720" y="5257800"/>
            <a:ext cx="94183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88720" y="1965960"/>
            <a:ext cx="0" cy="329184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88720" y="4410492"/>
            <a:ext cx="9418320" cy="0"/>
          </a:xfrm>
          <a:prstGeom prst="line">
            <a:avLst/>
          </a:prstGeom>
          <a:ln w="20320">
            <a:solidFill>
              <a:srgbClr val="F59E0B"/>
            </a:solidFill>
            <a:prstDash val="dash"/>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643616" y="4245900"/>
            <a:ext cx="1280160" cy="329184"/>
          </a:xfrm>
          <a:prstGeom prst="rect">
            <a:avLst/>
          </a:prstGeom>
          <a:noFill/>
        </p:spPr>
        <p:txBody>
          <a:bodyPr wrap="square" anchor="t">
            <a:spAutoFit/>
          </a:bodyPr>
          <a:lstStyle/>
          <a:p>
            <a:pPr algn="l">
              <a:spcAft>
                <a:spcPts val="400"/>
              </a:spcAft>
            </a:pPr>
            <a:r>
              <a:rPr sz="1000" b="1">
                <a:solidFill>
                  <a:srgbClr val="F59E0B"/>
                </a:solidFill>
                <a:latin typeface="Arial"/>
              </a:rPr>
              <a:t>Median 88.3</a:t>
            </a:r>
          </a:p>
        </p:txBody>
      </p:sp>
      <p:cxnSp>
        <p:nvCxnSpPr>
          <p:cNvPr id="10" name="Connector 9"/>
          <p:cNvCxnSpPr/>
          <p:nvPr/>
        </p:nvCxnSpPr>
        <p:spPr>
          <a:xfrm>
            <a:off x="1188720" y="2540571"/>
            <a:ext cx="856210" cy="272696"/>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044930" y="2345787"/>
            <a:ext cx="856211" cy="46748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901141" y="2345787"/>
            <a:ext cx="856211" cy="272697"/>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757352" y="2618484"/>
            <a:ext cx="856211" cy="1830964"/>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613563" y="4449448"/>
            <a:ext cx="856211" cy="23374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5469774" y="4371535"/>
            <a:ext cx="856211" cy="311653"/>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325985" y="4371535"/>
            <a:ext cx="856211" cy="506437"/>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7182196" y="4527362"/>
            <a:ext cx="856211" cy="35061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038407" y="4527362"/>
            <a:ext cx="856211" cy="23374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8894618" y="4293622"/>
            <a:ext cx="856211" cy="46748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750829" y="4293622"/>
            <a:ext cx="856211" cy="272696"/>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1120140" y="2471991"/>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296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W1</a:t>
            </a:r>
          </a:p>
        </p:txBody>
      </p:sp>
      <p:sp>
        <p:nvSpPr>
          <p:cNvPr id="23" name="Oval 22"/>
          <p:cNvSpPr/>
          <p:nvPr/>
        </p:nvSpPr>
        <p:spPr>
          <a:xfrm>
            <a:off x="1976350" y="2744687"/>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67917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W2</a:t>
            </a:r>
          </a:p>
        </p:txBody>
      </p:sp>
      <p:sp>
        <p:nvSpPr>
          <p:cNvPr id="25" name="Oval 24"/>
          <p:cNvSpPr/>
          <p:nvPr/>
        </p:nvSpPr>
        <p:spPr>
          <a:xfrm>
            <a:off x="2832561" y="2277207"/>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2535381"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W3</a:t>
            </a:r>
          </a:p>
        </p:txBody>
      </p:sp>
      <p:sp>
        <p:nvSpPr>
          <p:cNvPr id="27" name="Oval 26"/>
          <p:cNvSpPr/>
          <p:nvPr/>
        </p:nvSpPr>
        <p:spPr>
          <a:xfrm>
            <a:off x="3688772" y="2549904"/>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391592"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W4</a:t>
            </a:r>
          </a:p>
        </p:txBody>
      </p:sp>
      <p:sp>
        <p:nvSpPr>
          <p:cNvPr id="29" name="Oval 28"/>
          <p:cNvSpPr/>
          <p:nvPr/>
        </p:nvSpPr>
        <p:spPr>
          <a:xfrm>
            <a:off x="4544983" y="4380868"/>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247803"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W5</a:t>
            </a:r>
          </a:p>
        </p:txBody>
      </p:sp>
      <p:sp>
        <p:nvSpPr>
          <p:cNvPr id="31" name="Oval 30"/>
          <p:cNvSpPr/>
          <p:nvPr/>
        </p:nvSpPr>
        <p:spPr>
          <a:xfrm>
            <a:off x="5401194" y="4614608"/>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5104014"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W6</a:t>
            </a:r>
          </a:p>
        </p:txBody>
      </p:sp>
      <p:sp>
        <p:nvSpPr>
          <p:cNvPr id="33" name="Oval 32"/>
          <p:cNvSpPr/>
          <p:nvPr/>
        </p:nvSpPr>
        <p:spPr>
          <a:xfrm>
            <a:off x="6257405" y="4302955"/>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960225"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W7</a:t>
            </a:r>
          </a:p>
        </p:txBody>
      </p:sp>
      <p:sp>
        <p:nvSpPr>
          <p:cNvPr id="35" name="Oval 34"/>
          <p:cNvSpPr/>
          <p:nvPr/>
        </p:nvSpPr>
        <p:spPr>
          <a:xfrm>
            <a:off x="7113616" y="4809392"/>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816436"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W8</a:t>
            </a:r>
          </a:p>
        </p:txBody>
      </p:sp>
      <p:sp>
        <p:nvSpPr>
          <p:cNvPr id="37" name="Oval 36"/>
          <p:cNvSpPr/>
          <p:nvPr/>
        </p:nvSpPr>
        <p:spPr>
          <a:xfrm>
            <a:off x="7969827" y="4458782"/>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672647"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W9</a:t>
            </a:r>
          </a:p>
        </p:txBody>
      </p:sp>
      <p:sp>
        <p:nvSpPr>
          <p:cNvPr id="39" name="Oval 38"/>
          <p:cNvSpPr/>
          <p:nvPr/>
        </p:nvSpPr>
        <p:spPr>
          <a:xfrm>
            <a:off x="8826038" y="4692522"/>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528858"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W10</a:t>
            </a:r>
          </a:p>
        </p:txBody>
      </p:sp>
      <p:sp>
        <p:nvSpPr>
          <p:cNvPr id="41" name="Oval 40"/>
          <p:cNvSpPr/>
          <p:nvPr/>
        </p:nvSpPr>
        <p:spPr>
          <a:xfrm>
            <a:off x="9682249" y="4225042"/>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385069"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W11</a:t>
            </a:r>
          </a:p>
        </p:txBody>
      </p:sp>
      <p:sp>
        <p:nvSpPr>
          <p:cNvPr id="43" name="Oval 42"/>
          <p:cNvSpPr/>
          <p:nvPr/>
        </p:nvSpPr>
        <p:spPr>
          <a:xfrm>
            <a:off x="10538460" y="4497738"/>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24128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W12</a:t>
            </a:r>
          </a:p>
        </p:txBody>
      </p:sp>
      <p:sp>
        <p:nvSpPr>
          <p:cNvPr id="45" name="TextBox 44"/>
          <p:cNvSpPr txBox="1"/>
          <p:nvPr/>
        </p:nvSpPr>
        <p:spPr>
          <a:xfrm>
            <a:off x="777240" y="566928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Eight consecutive points below the median from W5 - the SHIFT rule fires. Traced to the new solder paste stencil installed that weekend.</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ANALYZE - RECAP IN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Recap 2 - Stratification and Pareto, weighted by COST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Counting defects tells you what happens most. Costing defects tells you what to fix first. These are frequently not the same list.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Stratification - the questions that split the data</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WHO</a:t>
            </a:r>
          </a:p>
          <a:p>
            <a:pPr algn="l">
              <a:spcAft>
                <a:spcPts val="300"/>
              </a:spcAft>
            </a:pPr>
            <a:r>
              <a:rPr sz="1200" b="0">
                <a:solidFill>
                  <a:srgbClr val="5B6372"/>
                </a:solidFill>
                <a:latin typeface="Arial"/>
              </a:rPr>
              <a:t>Operator, team, shift, inspector, supervisor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WHAT</a:t>
            </a:r>
          </a:p>
          <a:p>
            <a:pPr algn="l">
              <a:spcAft>
                <a:spcPts val="300"/>
              </a:spcAft>
            </a:pPr>
            <a:r>
              <a:rPr sz="1200" b="0">
                <a:solidFill>
                  <a:srgbClr val="5B6372"/>
                </a:solidFill>
                <a:latin typeface="Arial"/>
              </a:rPr>
              <a:t>Product family, model variant, defect type, component supplier</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WHERE</a:t>
            </a:r>
          </a:p>
          <a:p>
            <a:pPr algn="l">
              <a:spcAft>
                <a:spcPts val="300"/>
              </a:spcAft>
            </a:pPr>
            <a:r>
              <a:rPr sz="1200" b="0">
                <a:solidFill>
                  <a:srgbClr val="5B6372"/>
                </a:solidFill>
                <a:latin typeface="Arial"/>
              </a:rPr>
              <a:t>Plant, line, station, geographic customer region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WHEN</a:t>
            </a:r>
          </a:p>
          <a:p>
            <a:pPr algn="l">
              <a:spcAft>
                <a:spcPts val="300"/>
              </a:spcAft>
            </a:pPr>
            <a:r>
              <a:rPr sz="1200" b="0">
                <a:solidFill>
                  <a:srgbClr val="5B6372"/>
                </a:solidFill>
                <a:latin typeface="Arial"/>
              </a:rPr>
              <a:t>Shift, day of week, hour of shift, month, before or after a change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HOW</a:t>
            </a:r>
          </a:p>
          <a:p>
            <a:pPr algn="l">
              <a:spcAft>
                <a:spcPts val="300"/>
              </a:spcAft>
            </a:pPr>
            <a:r>
              <a:rPr sz="1200" b="0">
                <a:solidFill>
                  <a:srgbClr val="5B6372"/>
                </a:solidFill>
                <a:latin typeface="Arial"/>
              </a:rPr>
              <a:t>Method version, machine, tooling set, changeover type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HOW MUCH</a:t>
            </a:r>
          </a:p>
          <a:p>
            <a:pPr algn="l">
              <a:spcAft>
                <a:spcPts val="300"/>
              </a:spcAft>
            </a:pPr>
            <a:r>
              <a:rPr sz="1200" b="0">
                <a:solidFill>
                  <a:srgbClr val="5B6372"/>
                </a:solidFill>
                <a:latin typeface="Arial"/>
              </a:rPr>
              <a:t>Batch size, run length, order value, order line count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warranty returns by defect type - BY COUNT</a:t>
            </a:r>
          </a:p>
        </p:txBody>
      </p:sp>
      <p:cxnSp>
        <p:nvCxnSpPr>
          <p:cNvPr id="6" name="Connector 5"/>
          <p:cNvCxnSpPr/>
          <p:nvPr/>
        </p:nvCxnSpPr>
        <p:spPr>
          <a:xfrm>
            <a:off x="1234440" y="4983480"/>
            <a:ext cx="905256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234440" y="2148840"/>
            <a:ext cx="0" cy="283464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1493084" y="2432304"/>
            <a:ext cx="775933" cy="25511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34440" y="2139696"/>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412</a:t>
            </a:r>
          </a:p>
        </p:txBody>
      </p:sp>
      <p:sp>
        <p:nvSpPr>
          <p:cNvPr id="10" name="TextBox 9"/>
          <p:cNvSpPr txBox="1"/>
          <p:nvPr/>
        </p:nvSpPr>
        <p:spPr>
          <a:xfrm>
            <a:off x="1143000"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Occlusion alarm false trip</a:t>
            </a:r>
          </a:p>
        </p:txBody>
      </p:sp>
      <p:sp>
        <p:nvSpPr>
          <p:cNvPr id="11" name="Rectangle 10"/>
          <p:cNvSpPr/>
          <p:nvPr/>
        </p:nvSpPr>
        <p:spPr>
          <a:xfrm>
            <a:off x="2786307" y="3323978"/>
            <a:ext cx="775933" cy="165950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527662" y="3031370"/>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268</a:t>
            </a:r>
          </a:p>
        </p:txBody>
      </p:sp>
      <p:sp>
        <p:nvSpPr>
          <p:cNvPr id="13" name="TextBox 12"/>
          <p:cNvSpPr txBox="1"/>
          <p:nvPr/>
        </p:nvSpPr>
        <p:spPr>
          <a:xfrm>
            <a:off x="2436222"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Battery pack under-capacity</a:t>
            </a:r>
          </a:p>
        </p:txBody>
      </p:sp>
      <p:sp>
        <p:nvSpPr>
          <p:cNvPr id="14" name="Rectangle 13"/>
          <p:cNvSpPr/>
          <p:nvPr/>
        </p:nvSpPr>
        <p:spPr>
          <a:xfrm>
            <a:off x="4079530" y="3800775"/>
            <a:ext cx="775933" cy="118270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820885" y="3508167"/>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191</a:t>
            </a:r>
          </a:p>
        </p:txBody>
      </p:sp>
      <p:sp>
        <p:nvSpPr>
          <p:cNvPr id="16" name="TextBox 15"/>
          <p:cNvSpPr txBox="1"/>
          <p:nvPr/>
        </p:nvSpPr>
        <p:spPr>
          <a:xfrm>
            <a:off x="3729445"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Keypad membrane delamination</a:t>
            </a:r>
          </a:p>
        </p:txBody>
      </p:sp>
      <p:sp>
        <p:nvSpPr>
          <p:cNvPr id="17" name="Rectangle 16"/>
          <p:cNvSpPr/>
          <p:nvPr/>
        </p:nvSpPr>
        <p:spPr>
          <a:xfrm>
            <a:off x="5372753" y="4389032"/>
            <a:ext cx="775933" cy="594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114108" y="4096424"/>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96</a:t>
            </a:r>
          </a:p>
        </p:txBody>
      </p:sp>
      <p:sp>
        <p:nvSpPr>
          <p:cNvPr id="19" name="TextBox 18"/>
          <p:cNvSpPr txBox="1"/>
          <p:nvPr/>
        </p:nvSpPr>
        <p:spPr>
          <a:xfrm>
            <a:off x="5022668"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Flow rate drift</a:t>
            </a:r>
          </a:p>
        </p:txBody>
      </p:sp>
      <p:sp>
        <p:nvSpPr>
          <p:cNvPr id="20" name="Rectangle 19"/>
          <p:cNvSpPr/>
          <p:nvPr/>
        </p:nvSpPr>
        <p:spPr>
          <a:xfrm>
            <a:off x="6665976" y="4525260"/>
            <a:ext cx="775933" cy="4582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7331" y="4232652"/>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74</a:t>
            </a:r>
          </a:p>
        </p:txBody>
      </p:sp>
      <p:sp>
        <p:nvSpPr>
          <p:cNvPr id="22" name="TextBox 21"/>
          <p:cNvSpPr txBox="1"/>
          <p:nvPr/>
        </p:nvSpPr>
        <p:spPr>
          <a:xfrm>
            <a:off x="6315891"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Door latch wear</a:t>
            </a:r>
          </a:p>
        </p:txBody>
      </p:sp>
      <p:sp>
        <p:nvSpPr>
          <p:cNvPr id="23" name="Rectangle 22"/>
          <p:cNvSpPr/>
          <p:nvPr/>
        </p:nvSpPr>
        <p:spPr>
          <a:xfrm>
            <a:off x="7959198" y="4729601"/>
            <a:ext cx="775933" cy="25387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700554" y="4436993"/>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41</a:t>
            </a:r>
          </a:p>
        </p:txBody>
      </p:sp>
      <p:sp>
        <p:nvSpPr>
          <p:cNvPr id="25" name="TextBox 24"/>
          <p:cNvSpPr txBox="1"/>
          <p:nvPr/>
        </p:nvSpPr>
        <p:spPr>
          <a:xfrm>
            <a:off x="7609114"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Display pixel fault</a:t>
            </a:r>
          </a:p>
        </p:txBody>
      </p:sp>
      <p:sp>
        <p:nvSpPr>
          <p:cNvPr id="26" name="Rectangle 25"/>
          <p:cNvSpPr/>
          <p:nvPr/>
        </p:nvSpPr>
        <p:spPr>
          <a:xfrm>
            <a:off x="9252421" y="4779139"/>
            <a:ext cx="775933" cy="20434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993777" y="4486531"/>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33</a:t>
            </a:r>
          </a:p>
        </p:txBody>
      </p:sp>
      <p:sp>
        <p:nvSpPr>
          <p:cNvPr id="28" name="TextBox 27"/>
          <p:cNvSpPr txBox="1"/>
          <p:nvPr/>
        </p:nvSpPr>
        <p:spPr>
          <a:xfrm>
            <a:off x="8902337"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Other</a:t>
            </a:r>
          </a:p>
        </p:txBody>
      </p:sp>
      <p:cxnSp>
        <p:nvCxnSpPr>
          <p:cNvPr id="29" name="Connector 28"/>
          <p:cNvCxnSpPr/>
          <p:nvPr/>
        </p:nvCxnSpPr>
        <p:spPr>
          <a:xfrm flipV="1">
            <a:off x="1881051" y="3427605"/>
            <a:ext cx="1293223" cy="61319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174274" y="2990588"/>
            <a:ext cx="1293223" cy="437017"/>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4467497" y="2770935"/>
            <a:ext cx="1293222" cy="219653"/>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5760719" y="2601619"/>
            <a:ext cx="1293223" cy="169316"/>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7053942" y="2507809"/>
            <a:ext cx="1293223" cy="93810"/>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8347165" y="2432304"/>
            <a:ext cx="1293223" cy="75505"/>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1817043" y="3976795"/>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20931" y="3903643"/>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37%</a:t>
            </a:r>
          </a:p>
        </p:txBody>
      </p:sp>
      <p:sp>
        <p:nvSpPr>
          <p:cNvPr id="37" name="Oval 36"/>
          <p:cNvSpPr/>
          <p:nvPr/>
        </p:nvSpPr>
        <p:spPr>
          <a:xfrm>
            <a:off x="3110266" y="3363597"/>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2214154" y="3290445"/>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61%</a:t>
            </a:r>
          </a:p>
        </p:txBody>
      </p:sp>
      <p:sp>
        <p:nvSpPr>
          <p:cNvPr id="39" name="Oval 38"/>
          <p:cNvSpPr/>
          <p:nvPr/>
        </p:nvSpPr>
        <p:spPr>
          <a:xfrm>
            <a:off x="4403489" y="2926580"/>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4056017" y="2551676"/>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78%</a:t>
            </a:r>
          </a:p>
        </p:txBody>
      </p:sp>
      <p:sp>
        <p:nvSpPr>
          <p:cNvPr id="41" name="Oval 40"/>
          <p:cNvSpPr/>
          <p:nvPr/>
        </p:nvSpPr>
        <p:spPr>
          <a:xfrm>
            <a:off x="5696711" y="2706927"/>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5349239" y="2332023"/>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87%</a:t>
            </a:r>
          </a:p>
        </p:txBody>
      </p:sp>
      <p:sp>
        <p:nvSpPr>
          <p:cNvPr id="43" name="Oval 42"/>
          <p:cNvSpPr/>
          <p:nvPr/>
        </p:nvSpPr>
        <p:spPr>
          <a:xfrm>
            <a:off x="6989934" y="2537611"/>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642462" y="2162707"/>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93%</a:t>
            </a:r>
          </a:p>
        </p:txBody>
      </p:sp>
      <p:sp>
        <p:nvSpPr>
          <p:cNvPr id="45" name="Oval 44"/>
          <p:cNvSpPr/>
          <p:nvPr/>
        </p:nvSpPr>
        <p:spPr>
          <a:xfrm>
            <a:off x="8283157" y="2443801"/>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7935685" y="2068897"/>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97%</a:t>
            </a:r>
          </a:p>
        </p:txBody>
      </p:sp>
      <p:sp>
        <p:nvSpPr>
          <p:cNvPr id="47" name="Oval 46"/>
          <p:cNvSpPr/>
          <p:nvPr/>
        </p:nvSpPr>
        <p:spPr>
          <a:xfrm>
            <a:off x="9576380" y="236829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9228908" y="1993392"/>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100%</a:t>
            </a:r>
          </a:p>
        </p:txBody>
      </p:sp>
      <p:cxnSp>
        <p:nvCxnSpPr>
          <p:cNvPr id="49" name="Connector 48"/>
          <p:cNvCxnSpPr/>
          <p:nvPr/>
        </p:nvCxnSpPr>
        <p:spPr>
          <a:xfrm>
            <a:off x="1234440" y="2942539"/>
            <a:ext cx="9052560" cy="0"/>
          </a:xfrm>
          <a:prstGeom prst="line">
            <a:avLst/>
          </a:prstGeom>
          <a:ln w="12700">
            <a:solidFill>
              <a:srgbClr val="5B6372"/>
            </a:solidFill>
            <a:prstDash val="dash"/>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10341864" y="2796235"/>
            <a:ext cx="822960" cy="274320"/>
          </a:xfrm>
          <a:prstGeom prst="rect">
            <a:avLst/>
          </a:prstGeom>
          <a:noFill/>
        </p:spPr>
        <p:txBody>
          <a:bodyPr wrap="square" anchor="t">
            <a:spAutoFit/>
          </a:bodyPr>
          <a:lstStyle/>
          <a:p>
            <a:pPr algn="l">
              <a:spcAft>
                <a:spcPts val="400"/>
              </a:spcAft>
            </a:pPr>
            <a:r>
              <a:rPr sz="1000" b="1">
                <a:solidFill>
                  <a:srgbClr val="5B6372"/>
                </a:solidFill>
                <a:latin typeface="Arial"/>
              </a:rPr>
              <a:t>80%</a:t>
            </a:r>
          </a:p>
        </p:txBody>
      </p:sp>
      <p:sp>
        <p:nvSpPr>
          <p:cNvPr id="51" name="TextBox 50"/>
          <p:cNvSpPr txBox="1"/>
          <p:nvPr/>
        </p:nvSpPr>
        <p:spPr>
          <a:xfrm>
            <a:off x="777240" y="589788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By COUNT, occlusion alarm false trips dominate at 38 percent of all returns. This is where a Green Belt would stop.</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warranty returns by defect type - BY COST (SGD 000)</a:t>
            </a:r>
          </a:p>
        </p:txBody>
      </p:sp>
      <p:cxnSp>
        <p:nvCxnSpPr>
          <p:cNvPr id="6" name="Connector 5"/>
          <p:cNvCxnSpPr/>
          <p:nvPr/>
        </p:nvCxnSpPr>
        <p:spPr>
          <a:xfrm>
            <a:off x="1234440" y="4983480"/>
            <a:ext cx="905256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234440" y="2148840"/>
            <a:ext cx="0" cy="283464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1493084" y="2432304"/>
            <a:ext cx="775933" cy="25511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34440" y="2139696"/>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1344</a:t>
            </a:r>
          </a:p>
        </p:txBody>
      </p:sp>
      <p:sp>
        <p:nvSpPr>
          <p:cNvPr id="10" name="TextBox 9"/>
          <p:cNvSpPr txBox="1"/>
          <p:nvPr/>
        </p:nvSpPr>
        <p:spPr>
          <a:xfrm>
            <a:off x="1143000"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Flow rate drift</a:t>
            </a:r>
          </a:p>
        </p:txBody>
      </p:sp>
      <p:sp>
        <p:nvSpPr>
          <p:cNvPr id="11" name="Rectangle 10"/>
          <p:cNvSpPr/>
          <p:nvPr/>
        </p:nvSpPr>
        <p:spPr>
          <a:xfrm>
            <a:off x="2786307" y="3202972"/>
            <a:ext cx="775933" cy="17805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527662" y="2910364"/>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938</a:t>
            </a:r>
          </a:p>
        </p:txBody>
      </p:sp>
      <p:sp>
        <p:nvSpPr>
          <p:cNvPr id="13" name="TextBox 12"/>
          <p:cNvSpPr txBox="1"/>
          <p:nvPr/>
        </p:nvSpPr>
        <p:spPr>
          <a:xfrm>
            <a:off x="2436222"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Battery pack under-capacity</a:t>
            </a:r>
          </a:p>
        </p:txBody>
      </p:sp>
      <p:sp>
        <p:nvSpPr>
          <p:cNvPr id="14" name="Rectangle 13"/>
          <p:cNvSpPr/>
          <p:nvPr/>
        </p:nvSpPr>
        <p:spPr>
          <a:xfrm>
            <a:off x="4079530" y="4436800"/>
            <a:ext cx="775933" cy="546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820885" y="4144192"/>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288</a:t>
            </a:r>
          </a:p>
        </p:txBody>
      </p:sp>
      <p:sp>
        <p:nvSpPr>
          <p:cNvPr id="16" name="TextBox 15"/>
          <p:cNvSpPr txBox="1"/>
          <p:nvPr/>
        </p:nvSpPr>
        <p:spPr>
          <a:xfrm>
            <a:off x="3729445"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Occlusion alarm false trip</a:t>
            </a:r>
          </a:p>
        </p:txBody>
      </p:sp>
      <p:sp>
        <p:nvSpPr>
          <p:cNvPr id="17" name="Rectangle 16"/>
          <p:cNvSpPr/>
          <p:nvPr/>
        </p:nvSpPr>
        <p:spPr>
          <a:xfrm>
            <a:off x="5372753" y="4729122"/>
            <a:ext cx="775933" cy="25435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114108" y="4436514"/>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134</a:t>
            </a:r>
          </a:p>
        </p:txBody>
      </p:sp>
      <p:sp>
        <p:nvSpPr>
          <p:cNvPr id="19" name="TextBox 18"/>
          <p:cNvSpPr txBox="1"/>
          <p:nvPr/>
        </p:nvSpPr>
        <p:spPr>
          <a:xfrm>
            <a:off x="5022668"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Keypad membrane delamination</a:t>
            </a:r>
          </a:p>
        </p:txBody>
      </p:sp>
      <p:sp>
        <p:nvSpPr>
          <p:cNvPr id="20" name="Rectangle 19"/>
          <p:cNvSpPr/>
          <p:nvPr/>
        </p:nvSpPr>
        <p:spPr>
          <a:xfrm>
            <a:off x="6665976" y="4896163"/>
            <a:ext cx="775933" cy="873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7331" y="4603555"/>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46</a:t>
            </a:r>
          </a:p>
        </p:txBody>
      </p:sp>
      <p:sp>
        <p:nvSpPr>
          <p:cNvPr id="22" name="TextBox 21"/>
          <p:cNvSpPr txBox="1"/>
          <p:nvPr/>
        </p:nvSpPr>
        <p:spPr>
          <a:xfrm>
            <a:off x="6315891"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Other</a:t>
            </a:r>
          </a:p>
        </p:txBody>
      </p:sp>
      <p:sp>
        <p:nvSpPr>
          <p:cNvPr id="23" name="Rectangle 22"/>
          <p:cNvSpPr/>
          <p:nvPr/>
        </p:nvSpPr>
        <p:spPr>
          <a:xfrm>
            <a:off x="7959198" y="4926535"/>
            <a:ext cx="775933" cy="5694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700554" y="4633927"/>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30</a:t>
            </a:r>
          </a:p>
        </p:txBody>
      </p:sp>
      <p:sp>
        <p:nvSpPr>
          <p:cNvPr id="25" name="TextBox 24"/>
          <p:cNvSpPr txBox="1"/>
          <p:nvPr/>
        </p:nvSpPr>
        <p:spPr>
          <a:xfrm>
            <a:off x="7609114"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Door latch wear</a:t>
            </a:r>
          </a:p>
        </p:txBody>
      </p:sp>
      <p:sp>
        <p:nvSpPr>
          <p:cNvPr id="26" name="Rectangle 25"/>
          <p:cNvSpPr/>
          <p:nvPr/>
        </p:nvSpPr>
        <p:spPr>
          <a:xfrm>
            <a:off x="9252421" y="4960702"/>
            <a:ext cx="775933" cy="2277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993777" y="4668094"/>
            <a:ext cx="1293222" cy="274320"/>
          </a:xfrm>
          <a:prstGeom prst="rect">
            <a:avLst/>
          </a:prstGeom>
          <a:noFill/>
        </p:spPr>
        <p:txBody>
          <a:bodyPr wrap="square" anchor="t">
            <a:spAutoFit/>
          </a:bodyPr>
          <a:lstStyle/>
          <a:p>
            <a:pPr algn="ctr">
              <a:spcAft>
                <a:spcPts val="400"/>
              </a:spcAft>
            </a:pPr>
            <a:r>
              <a:rPr sz="1100" b="1">
                <a:solidFill>
                  <a:srgbClr val="161B26"/>
                </a:solidFill>
                <a:latin typeface="Arial"/>
              </a:rPr>
              <a:t>12</a:t>
            </a:r>
          </a:p>
        </p:txBody>
      </p:sp>
      <p:sp>
        <p:nvSpPr>
          <p:cNvPr id="28" name="TextBox 27"/>
          <p:cNvSpPr txBox="1"/>
          <p:nvPr/>
        </p:nvSpPr>
        <p:spPr>
          <a:xfrm>
            <a:off x="8902337" y="5093208"/>
            <a:ext cx="1476102" cy="658368"/>
          </a:xfrm>
          <a:prstGeom prst="rect">
            <a:avLst/>
          </a:prstGeom>
          <a:noFill/>
        </p:spPr>
        <p:txBody>
          <a:bodyPr wrap="square" anchor="t">
            <a:spAutoFit/>
          </a:bodyPr>
          <a:lstStyle/>
          <a:p>
            <a:pPr algn="ctr">
              <a:spcAft>
                <a:spcPts val="400"/>
              </a:spcAft>
            </a:pPr>
            <a:r>
              <a:rPr sz="1000" b="0">
                <a:solidFill>
                  <a:srgbClr val="5B6372"/>
                </a:solidFill>
                <a:latin typeface="Arial"/>
              </a:rPr>
              <a:t>Display pixel fault</a:t>
            </a:r>
          </a:p>
        </p:txBody>
      </p:sp>
      <p:cxnSp>
        <p:nvCxnSpPr>
          <p:cNvPr id="29" name="Connector 28"/>
          <p:cNvCxnSpPr/>
          <p:nvPr/>
        </p:nvCxnSpPr>
        <p:spPr>
          <a:xfrm flipV="1">
            <a:off x="1881051" y="2898313"/>
            <a:ext cx="1293223" cy="857093"/>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174274" y="2635155"/>
            <a:ext cx="1293223" cy="26315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4467497" y="2512713"/>
            <a:ext cx="1293222" cy="122442"/>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5760719" y="2470681"/>
            <a:ext cx="1293223" cy="42032"/>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7053942" y="2443268"/>
            <a:ext cx="1293223" cy="27413"/>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8347165" y="2432304"/>
            <a:ext cx="1293223" cy="10964"/>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1817043" y="369139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20931" y="3618246"/>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48%</a:t>
            </a:r>
          </a:p>
        </p:txBody>
      </p:sp>
      <p:sp>
        <p:nvSpPr>
          <p:cNvPr id="37" name="Oval 36"/>
          <p:cNvSpPr/>
          <p:nvPr/>
        </p:nvSpPr>
        <p:spPr>
          <a:xfrm>
            <a:off x="3110266" y="2834305"/>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2214154" y="2761153"/>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82%</a:t>
            </a:r>
          </a:p>
        </p:txBody>
      </p:sp>
      <p:sp>
        <p:nvSpPr>
          <p:cNvPr id="39" name="Oval 38"/>
          <p:cNvSpPr/>
          <p:nvPr/>
        </p:nvSpPr>
        <p:spPr>
          <a:xfrm>
            <a:off x="4403489" y="2571147"/>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4056017" y="2196243"/>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92%</a:t>
            </a:r>
          </a:p>
        </p:txBody>
      </p:sp>
      <p:sp>
        <p:nvSpPr>
          <p:cNvPr id="41" name="Oval 40"/>
          <p:cNvSpPr/>
          <p:nvPr/>
        </p:nvSpPr>
        <p:spPr>
          <a:xfrm>
            <a:off x="5696711" y="2448705"/>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5349239" y="2073801"/>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97%</a:t>
            </a:r>
          </a:p>
        </p:txBody>
      </p:sp>
      <p:sp>
        <p:nvSpPr>
          <p:cNvPr id="43" name="Oval 42"/>
          <p:cNvSpPr/>
          <p:nvPr/>
        </p:nvSpPr>
        <p:spPr>
          <a:xfrm>
            <a:off x="6989934" y="2406673"/>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642462" y="2031769"/>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98%</a:t>
            </a:r>
          </a:p>
        </p:txBody>
      </p:sp>
      <p:sp>
        <p:nvSpPr>
          <p:cNvPr id="45" name="Oval 44"/>
          <p:cNvSpPr/>
          <p:nvPr/>
        </p:nvSpPr>
        <p:spPr>
          <a:xfrm>
            <a:off x="8283157" y="2379260"/>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7935685" y="2004356"/>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100%</a:t>
            </a:r>
          </a:p>
        </p:txBody>
      </p:sp>
      <p:sp>
        <p:nvSpPr>
          <p:cNvPr id="47" name="Oval 46"/>
          <p:cNvSpPr/>
          <p:nvPr/>
        </p:nvSpPr>
        <p:spPr>
          <a:xfrm>
            <a:off x="9576380" y="236829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9228908" y="1993392"/>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100%</a:t>
            </a:r>
          </a:p>
        </p:txBody>
      </p:sp>
      <p:cxnSp>
        <p:nvCxnSpPr>
          <p:cNvPr id="49" name="Connector 48"/>
          <p:cNvCxnSpPr/>
          <p:nvPr/>
        </p:nvCxnSpPr>
        <p:spPr>
          <a:xfrm>
            <a:off x="1234440" y="2942539"/>
            <a:ext cx="9052560" cy="0"/>
          </a:xfrm>
          <a:prstGeom prst="line">
            <a:avLst/>
          </a:prstGeom>
          <a:ln w="12700">
            <a:solidFill>
              <a:srgbClr val="5B6372"/>
            </a:solidFill>
            <a:prstDash val="dash"/>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10341864" y="2796235"/>
            <a:ext cx="822960" cy="274320"/>
          </a:xfrm>
          <a:prstGeom prst="rect">
            <a:avLst/>
          </a:prstGeom>
          <a:noFill/>
        </p:spPr>
        <p:txBody>
          <a:bodyPr wrap="square" anchor="t">
            <a:spAutoFit/>
          </a:bodyPr>
          <a:lstStyle/>
          <a:p>
            <a:pPr algn="l">
              <a:spcAft>
                <a:spcPts val="400"/>
              </a:spcAft>
            </a:pPr>
            <a:r>
              <a:rPr sz="1000" b="1">
                <a:solidFill>
                  <a:srgbClr val="5B6372"/>
                </a:solidFill>
                <a:latin typeface="Arial"/>
              </a:rPr>
              <a:t>80%</a:t>
            </a:r>
          </a:p>
        </p:txBody>
      </p:sp>
      <p:sp>
        <p:nvSpPr>
          <p:cNvPr id="51" name="TextBox 50"/>
          <p:cNvSpPr txBox="1"/>
          <p:nvPr/>
        </p:nvSpPr>
        <p:spPr>
          <a:xfrm>
            <a:off x="777240" y="589788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By COST the order inverts. Flow rate drift is only 96 units but each one triggers a field recall investigation at SGD 14,000. Fix cost, not count.</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Weighting a Pareto correctly</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Cost weight</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cost = count x unit cost</a:t>
            </a:r>
          </a:p>
          <a:p>
            <a:pPr algn="ctr">
              <a:spcAft>
                <a:spcPts val="400"/>
              </a:spcAft>
            </a:pPr>
            <a:r>
              <a:rPr sz="1400" b="1">
                <a:solidFill>
                  <a:srgbClr val="161B26"/>
                </a:solidFill>
                <a:latin typeface="Arial"/>
              </a:rPr>
              <a:t>of one occurrence</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Flow rate drift: 96 x SGD 14,000 = SGD 1,344,000 - the true top category.</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Cumulative percent</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cum% = running total /</a:t>
            </a:r>
          </a:p>
          <a:p>
            <a:pPr algn="ctr">
              <a:spcAft>
                <a:spcPts val="400"/>
              </a:spcAft>
            </a:pPr>
            <a:r>
              <a:rPr sz="1400" b="1">
                <a:solidFill>
                  <a:srgbClr val="161B26"/>
                </a:solidFill>
                <a:latin typeface="Arial"/>
              </a:rPr>
              <a:t>grand total x 100</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Flow drift 49%, battery 84%. Two categories carry 84 percent of the money.</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Vital few test</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Do 20 percent of</a:t>
            </a:r>
          </a:p>
          <a:p>
            <a:pPr algn="ctr">
              <a:spcAft>
                <a:spcPts val="400"/>
              </a:spcAft>
            </a:pPr>
            <a:r>
              <a:rPr sz="1400" b="1">
                <a:solidFill>
                  <a:srgbClr val="161B26"/>
                </a:solidFill>
                <a:latin typeface="Arial"/>
              </a:rPr>
              <a:t>categories carry 80 percent</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2 of 7 categories (29 percent) carry 84 percent of cost - a valid Pareto.</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If every category is roughly equal, there is no vital few - stratify on a different dimension before proceeding.</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Boxplots - what they show that a Pareto cannot</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THE FIVE NUMBERS</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What the box is made of</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Minimum (excluding outliers) at the lower whisker</a:t>
            </a:r>
          </a:p>
          <a:p>
            <a:pPr>
              <a:spcAft>
                <a:spcPts val="700"/>
              </a:spcAft>
            </a:pPr>
            <a:r>
              <a:rPr sz="1200">
                <a:solidFill>
                  <a:srgbClr val="161B26"/>
                </a:solidFill>
                <a:latin typeface="Arial"/>
              </a:rPr>
              <a:t>•  Q1 at the bottom of the box - 25th percentile</a:t>
            </a:r>
          </a:p>
          <a:p>
            <a:pPr>
              <a:spcAft>
                <a:spcPts val="700"/>
              </a:spcAft>
            </a:pPr>
            <a:r>
              <a:rPr sz="1200">
                <a:solidFill>
                  <a:srgbClr val="161B26"/>
                </a:solidFill>
                <a:latin typeface="Arial"/>
              </a:rPr>
              <a:t>•  Median as the line inside the box</a:t>
            </a:r>
          </a:p>
          <a:p>
            <a:pPr>
              <a:spcAft>
                <a:spcPts val="700"/>
              </a:spcAft>
            </a:pPr>
            <a:r>
              <a:rPr sz="1200">
                <a:solidFill>
                  <a:srgbClr val="161B26"/>
                </a:solidFill>
                <a:latin typeface="Arial"/>
              </a:rPr>
              <a:t>•  Q3 at the top of the box - 75th percentile</a:t>
            </a:r>
          </a:p>
          <a:p>
            <a:pPr>
              <a:spcAft>
                <a:spcPts val="700"/>
              </a:spcAft>
            </a:pPr>
            <a:r>
              <a:rPr sz="1200">
                <a:solidFill>
                  <a:srgbClr val="161B26"/>
                </a:solidFill>
                <a:latin typeface="Arial"/>
              </a:rPr>
              <a:t>•  IQR = Q3 - Q1, the width of the middle half</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WHAT TO READ</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Shape, spread, outliers</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Box width shows spread - narrower is more consistent</a:t>
            </a:r>
          </a:p>
          <a:p>
            <a:pPr>
              <a:spcAft>
                <a:spcPts val="700"/>
              </a:spcAft>
            </a:pPr>
            <a:r>
              <a:rPr sz="1200">
                <a:solidFill>
                  <a:srgbClr val="161B26"/>
                </a:solidFill>
                <a:latin typeface="Arial"/>
              </a:rPr>
              <a:t>•  Median off-centre in the box means skew</a:t>
            </a:r>
          </a:p>
          <a:p>
            <a:pPr>
              <a:spcAft>
                <a:spcPts val="700"/>
              </a:spcAft>
            </a:pPr>
            <a:r>
              <a:rPr sz="1200">
                <a:solidFill>
                  <a:srgbClr val="161B26"/>
                </a:solidFill>
                <a:latin typeface="Arial"/>
              </a:rPr>
              <a:t>•  Points beyond 1.5 x IQR are flagged outliers</a:t>
            </a:r>
          </a:p>
          <a:p>
            <a:pPr>
              <a:spcAft>
                <a:spcPts val="700"/>
              </a:spcAft>
            </a:pPr>
            <a:r>
              <a:rPr sz="1200">
                <a:solidFill>
                  <a:srgbClr val="161B26"/>
                </a:solidFill>
                <a:latin typeface="Arial"/>
              </a:rPr>
              <a:t>•  Side-by-side boxes compare groups instantly</a:t>
            </a:r>
          </a:p>
          <a:p>
            <a:pPr>
              <a:spcAft>
                <a:spcPts val="700"/>
              </a:spcAft>
            </a:pPr>
            <a:r>
              <a:rPr sz="1200">
                <a:solidFill>
                  <a:srgbClr val="161B26"/>
                </a:solidFill>
                <a:latin typeface="Arial"/>
              </a:rPr>
              <a:t>•  Overlapping boxes warn you the difference may not be real</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MERIDIAN EXAMPLE</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Yield by plant</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Singapore: median 93.1, IQR 1.8 - tight and high</a:t>
            </a:r>
          </a:p>
          <a:p>
            <a:pPr>
              <a:spcAft>
                <a:spcPts val="700"/>
              </a:spcAft>
            </a:pPr>
            <a:r>
              <a:rPr sz="1200">
                <a:solidFill>
                  <a:srgbClr val="161B26"/>
                </a:solidFill>
                <a:latin typeface="Arial"/>
              </a:rPr>
              <a:t>•  Penang: median 92.4, IQR 2.1 - similar and stable</a:t>
            </a:r>
          </a:p>
          <a:p>
            <a:pPr>
              <a:spcAft>
                <a:spcPts val="700"/>
              </a:spcAft>
            </a:pPr>
            <a:r>
              <a:rPr sz="1200">
                <a:solidFill>
                  <a:srgbClr val="161B26"/>
                </a:solidFill>
                <a:latin typeface="Arial"/>
              </a:rPr>
              <a:t>•  Suzhou: median 88.6, IQR 6.4 - lower AND far more variable</a:t>
            </a:r>
          </a:p>
          <a:p>
            <a:pPr>
              <a:spcAft>
                <a:spcPts val="700"/>
              </a:spcAft>
            </a:pPr>
            <a:r>
              <a:rPr sz="1200">
                <a:solidFill>
                  <a:srgbClr val="161B26"/>
                </a:solidFill>
                <a:latin typeface="Arial"/>
              </a:rPr>
              <a:t>•  The spread difference matters as much as the mean difference</a:t>
            </a:r>
          </a:p>
          <a:p>
            <a:pPr>
              <a:spcAft>
                <a:spcPts val="700"/>
              </a:spcAft>
            </a:pPr>
            <a:r>
              <a:rPr sz="1200">
                <a:solidFill>
                  <a:srgbClr val="161B26"/>
                </a:solidFill>
                <a:latin typeface="Arial"/>
              </a:rPr>
              <a:t>•  This is what sends us to a variance test, not just a t-test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ANALYZE - RECAP IN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Recap 3 - Generating causes you can actually test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fishbone does not find the root cause. It produces a candidate list good enough that the statistics have something worth testing.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Fishbone 5M plus E - Meridian flow rate drift</a:t>
            </a:r>
          </a:p>
        </p:txBody>
      </p:sp>
      <p:cxnSp>
        <p:nvCxnSpPr>
          <p:cNvPr id="6" name="Connector 5"/>
          <p:cNvCxnSpPr/>
          <p:nvPr/>
        </p:nvCxnSpPr>
        <p:spPr>
          <a:xfrm>
            <a:off x="777240" y="3950208"/>
            <a:ext cx="7863840" cy="0"/>
          </a:xfrm>
          <a:prstGeom prst="line">
            <a:avLst/>
          </a:prstGeom>
          <a:ln w="31750">
            <a:solidFill>
              <a:srgbClr val="161B26"/>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641080" y="3310128"/>
            <a:ext cx="2148840" cy="128016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641080" y="3310128"/>
            <a:ext cx="2148840" cy="1280160"/>
          </a:xfrm>
          <a:prstGeom prst="rect">
            <a:avLst/>
          </a:prstGeom>
          <a:noFill/>
        </p:spPr>
        <p:txBody>
          <a:bodyPr wrap="square" anchor="ctr">
            <a:spAutoFit/>
          </a:bodyPr>
          <a:lstStyle/>
          <a:p>
            <a:pPr algn="ctr">
              <a:spcAft>
                <a:spcPts val="400"/>
              </a:spcAft>
            </a:pPr>
            <a:r>
              <a:rPr sz="1300" b="1">
                <a:solidFill>
                  <a:srgbClr val="FFFFFF"/>
                </a:solidFill>
                <a:latin typeface="Arial"/>
              </a:rPr>
              <a:t>Flow rate drift</a:t>
            </a:r>
          </a:p>
          <a:p>
            <a:pPr algn="ctr">
              <a:spcAft>
                <a:spcPts val="400"/>
              </a:spcAft>
            </a:pPr>
            <a:r>
              <a:rPr sz="1300" b="1">
                <a:solidFill>
                  <a:srgbClr val="FFFFFF"/>
                </a:solidFill>
                <a:latin typeface="Arial"/>
              </a:rPr>
              <a:t>in field units</a:t>
            </a:r>
          </a:p>
        </p:txBody>
      </p:sp>
      <p:cxnSp>
        <p:nvCxnSpPr>
          <p:cNvPr id="9" name="Connector 8"/>
          <p:cNvCxnSpPr/>
          <p:nvPr/>
        </p:nvCxnSpPr>
        <p:spPr>
          <a:xfrm>
            <a:off x="2331720" y="3145536"/>
            <a:ext cx="640080" cy="80467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1531620" y="2779776"/>
            <a:ext cx="1600200"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53162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MACHINE</a:t>
            </a:r>
          </a:p>
        </p:txBody>
      </p:sp>
      <p:sp>
        <p:nvSpPr>
          <p:cNvPr id="12" name="TextBox 11"/>
          <p:cNvSpPr txBox="1"/>
          <p:nvPr/>
        </p:nvSpPr>
        <p:spPr>
          <a:xfrm>
            <a:off x="1371600" y="1865377"/>
            <a:ext cx="2148840" cy="868680"/>
          </a:xfrm>
          <a:prstGeom prst="rect">
            <a:avLst/>
          </a:prstGeom>
          <a:noFill/>
        </p:spPr>
        <p:txBody>
          <a:bodyPr wrap="square">
            <a:spAutoFit/>
          </a:bodyPr>
          <a:lstStyle/>
          <a:p>
            <a:pPr>
              <a:spcAft>
                <a:spcPts val="100"/>
              </a:spcAft>
            </a:pPr>
            <a:r>
              <a:rPr sz="1000">
                <a:solidFill>
                  <a:srgbClr val="161B26"/>
                </a:solidFill>
                <a:latin typeface="Arial"/>
              </a:rPr>
              <a:t>•  Pump head calibration drift</a:t>
            </a:r>
          </a:p>
          <a:p>
            <a:pPr>
              <a:spcAft>
                <a:spcPts val="100"/>
              </a:spcAft>
            </a:pPr>
            <a:r>
              <a:rPr sz="1000">
                <a:solidFill>
                  <a:srgbClr val="161B26"/>
                </a:solidFill>
                <a:latin typeface="Arial"/>
              </a:rPr>
              <a:t>•  Test rig reference aging</a:t>
            </a:r>
          </a:p>
          <a:p>
            <a:pPr>
              <a:spcAft>
                <a:spcPts val="100"/>
              </a:spcAft>
            </a:pPr>
            <a:r>
              <a:rPr sz="1000">
                <a:solidFill>
                  <a:srgbClr val="161B26"/>
                </a:solidFill>
                <a:latin typeface="Arial"/>
              </a:rPr>
              <a:t>•  Motor bearing wear</a:t>
            </a:r>
          </a:p>
        </p:txBody>
      </p:sp>
      <p:cxnSp>
        <p:nvCxnSpPr>
          <p:cNvPr id="13" name="Connector 12"/>
          <p:cNvCxnSpPr/>
          <p:nvPr/>
        </p:nvCxnSpPr>
        <p:spPr>
          <a:xfrm>
            <a:off x="4937760" y="3145536"/>
            <a:ext cx="640080" cy="80467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4137660" y="2779776"/>
            <a:ext cx="1600200" cy="365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13766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MATERIAL</a:t>
            </a:r>
          </a:p>
        </p:txBody>
      </p:sp>
      <p:sp>
        <p:nvSpPr>
          <p:cNvPr id="16" name="TextBox 15"/>
          <p:cNvSpPr txBox="1"/>
          <p:nvPr/>
        </p:nvSpPr>
        <p:spPr>
          <a:xfrm>
            <a:off x="3977640" y="1865377"/>
            <a:ext cx="2148840" cy="868680"/>
          </a:xfrm>
          <a:prstGeom prst="rect">
            <a:avLst/>
          </a:prstGeom>
          <a:noFill/>
        </p:spPr>
        <p:txBody>
          <a:bodyPr wrap="square">
            <a:spAutoFit/>
          </a:bodyPr>
          <a:lstStyle/>
          <a:p>
            <a:pPr>
              <a:spcAft>
                <a:spcPts val="100"/>
              </a:spcAft>
            </a:pPr>
            <a:r>
              <a:rPr sz="1000">
                <a:solidFill>
                  <a:srgbClr val="161B26"/>
                </a:solidFill>
                <a:latin typeface="Arial"/>
              </a:rPr>
              <a:t>•  Tubing durometer varies by lot</a:t>
            </a:r>
          </a:p>
          <a:p>
            <a:pPr>
              <a:spcAft>
                <a:spcPts val="100"/>
              </a:spcAft>
            </a:pPr>
            <a:r>
              <a:rPr sz="1000">
                <a:solidFill>
                  <a:srgbClr val="161B26"/>
                </a:solidFill>
                <a:latin typeface="Arial"/>
              </a:rPr>
              <a:t>•  Two silicone suppliers in use</a:t>
            </a:r>
          </a:p>
          <a:p>
            <a:pPr>
              <a:spcAft>
                <a:spcPts val="100"/>
              </a:spcAft>
            </a:pPr>
            <a:r>
              <a:rPr sz="1000">
                <a:solidFill>
                  <a:srgbClr val="161B26"/>
                </a:solidFill>
                <a:latin typeface="Arial"/>
              </a:rPr>
              <a:t>•  Seal compound batch variation</a:t>
            </a:r>
          </a:p>
        </p:txBody>
      </p:sp>
      <p:cxnSp>
        <p:nvCxnSpPr>
          <p:cNvPr id="17" name="Connector 16"/>
          <p:cNvCxnSpPr/>
          <p:nvPr/>
        </p:nvCxnSpPr>
        <p:spPr>
          <a:xfrm>
            <a:off x="7543800" y="3145536"/>
            <a:ext cx="640080" cy="80467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743700" y="2779776"/>
            <a:ext cx="1600200"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74370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MEASUREMENT</a:t>
            </a:r>
          </a:p>
        </p:txBody>
      </p:sp>
      <p:sp>
        <p:nvSpPr>
          <p:cNvPr id="20" name="TextBox 19"/>
          <p:cNvSpPr txBox="1"/>
          <p:nvPr/>
        </p:nvSpPr>
        <p:spPr>
          <a:xfrm>
            <a:off x="6583680" y="1865377"/>
            <a:ext cx="2148840" cy="868680"/>
          </a:xfrm>
          <a:prstGeom prst="rect">
            <a:avLst/>
          </a:prstGeom>
          <a:noFill/>
        </p:spPr>
        <p:txBody>
          <a:bodyPr wrap="square">
            <a:spAutoFit/>
          </a:bodyPr>
          <a:lstStyle/>
          <a:p>
            <a:pPr>
              <a:spcAft>
                <a:spcPts val="100"/>
              </a:spcAft>
            </a:pPr>
            <a:r>
              <a:rPr sz="1000">
                <a:solidFill>
                  <a:srgbClr val="161B26"/>
                </a:solidFill>
                <a:latin typeface="Arial"/>
              </a:rPr>
              <a:t>•  Flow meter gage R and R at 24 percent</a:t>
            </a:r>
          </a:p>
          <a:p>
            <a:pPr>
              <a:spcAft>
                <a:spcPts val="100"/>
              </a:spcAft>
            </a:pPr>
            <a:r>
              <a:rPr sz="1000">
                <a:solidFill>
                  <a:srgbClr val="161B26"/>
                </a:solidFill>
                <a:latin typeface="Arial"/>
              </a:rPr>
              <a:t>•  Ambient temperature not recorded</a:t>
            </a:r>
          </a:p>
          <a:p>
            <a:pPr>
              <a:spcAft>
                <a:spcPts val="100"/>
              </a:spcAft>
            </a:pPr>
            <a:r>
              <a:rPr sz="1000">
                <a:solidFill>
                  <a:srgbClr val="161B26"/>
                </a:solidFill>
                <a:latin typeface="Arial"/>
              </a:rPr>
              <a:t>•  Resolution 0.5 mL/hr</a:t>
            </a:r>
          </a:p>
        </p:txBody>
      </p:sp>
      <p:cxnSp>
        <p:nvCxnSpPr>
          <p:cNvPr id="21" name="Connector 20"/>
          <p:cNvCxnSpPr/>
          <p:nvPr/>
        </p:nvCxnSpPr>
        <p:spPr>
          <a:xfrm flipV="1">
            <a:off x="2331720" y="3950208"/>
            <a:ext cx="640080" cy="804672"/>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1531620" y="4754880"/>
            <a:ext cx="1600200" cy="3657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531620" y="4754880"/>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METHOD</a:t>
            </a:r>
          </a:p>
        </p:txBody>
      </p:sp>
      <p:sp>
        <p:nvSpPr>
          <p:cNvPr id="24" name="TextBox 23"/>
          <p:cNvSpPr txBox="1"/>
          <p:nvPr/>
        </p:nvSpPr>
        <p:spPr>
          <a:xfrm>
            <a:off x="1371600" y="5175504"/>
            <a:ext cx="2148840" cy="868680"/>
          </a:xfrm>
          <a:prstGeom prst="rect">
            <a:avLst/>
          </a:prstGeom>
          <a:noFill/>
        </p:spPr>
        <p:txBody>
          <a:bodyPr wrap="square">
            <a:spAutoFit/>
          </a:bodyPr>
          <a:lstStyle/>
          <a:p>
            <a:pPr>
              <a:spcAft>
                <a:spcPts val="100"/>
              </a:spcAft>
            </a:pPr>
            <a:r>
              <a:rPr sz="1000">
                <a:solidFill>
                  <a:srgbClr val="161B26"/>
                </a:solidFill>
                <a:latin typeface="Arial"/>
              </a:rPr>
              <a:t>•  Calibration interval 12 months</a:t>
            </a:r>
          </a:p>
          <a:p>
            <a:pPr>
              <a:spcAft>
                <a:spcPts val="100"/>
              </a:spcAft>
            </a:pPr>
            <a:r>
              <a:rPr sz="1000">
                <a:solidFill>
                  <a:srgbClr val="161B26"/>
                </a:solidFill>
                <a:latin typeface="Arial"/>
              </a:rPr>
              <a:t>•  No verification after transport</a:t>
            </a:r>
          </a:p>
          <a:p>
            <a:pPr>
              <a:spcAft>
                <a:spcPts val="100"/>
              </a:spcAft>
            </a:pPr>
            <a:r>
              <a:rPr sz="1000">
                <a:solidFill>
                  <a:srgbClr val="161B26"/>
                </a:solidFill>
                <a:latin typeface="Arial"/>
              </a:rPr>
              <a:t>•  Single-point calibration only</a:t>
            </a:r>
          </a:p>
        </p:txBody>
      </p:sp>
      <p:cxnSp>
        <p:nvCxnSpPr>
          <p:cNvPr id="25" name="Connector 24"/>
          <p:cNvCxnSpPr/>
          <p:nvPr/>
        </p:nvCxnSpPr>
        <p:spPr>
          <a:xfrm flipV="1">
            <a:off x="4937760" y="3950208"/>
            <a:ext cx="640080" cy="804672"/>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4137660" y="4754880"/>
            <a:ext cx="1600200" cy="3657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137660" y="4754880"/>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MANPOWER</a:t>
            </a:r>
          </a:p>
        </p:txBody>
      </p:sp>
      <p:sp>
        <p:nvSpPr>
          <p:cNvPr id="28" name="TextBox 27"/>
          <p:cNvSpPr txBox="1"/>
          <p:nvPr/>
        </p:nvSpPr>
        <p:spPr>
          <a:xfrm>
            <a:off x="3977640" y="5175504"/>
            <a:ext cx="2148840" cy="868680"/>
          </a:xfrm>
          <a:prstGeom prst="rect">
            <a:avLst/>
          </a:prstGeom>
          <a:noFill/>
        </p:spPr>
        <p:txBody>
          <a:bodyPr wrap="square">
            <a:spAutoFit/>
          </a:bodyPr>
          <a:lstStyle/>
          <a:p>
            <a:pPr>
              <a:spcAft>
                <a:spcPts val="100"/>
              </a:spcAft>
            </a:pPr>
            <a:r>
              <a:rPr sz="1000">
                <a:solidFill>
                  <a:srgbClr val="161B26"/>
                </a:solidFill>
                <a:latin typeface="Arial"/>
              </a:rPr>
              <a:t>•  Calibration training not refreshed</a:t>
            </a:r>
          </a:p>
          <a:p>
            <a:pPr>
              <a:spcAft>
                <a:spcPts val="100"/>
              </a:spcAft>
            </a:pPr>
            <a:r>
              <a:rPr sz="1000">
                <a:solidFill>
                  <a:srgbClr val="161B26"/>
                </a:solidFill>
                <a:latin typeface="Arial"/>
              </a:rPr>
              <a:t>•  Three technicians, no agreement study</a:t>
            </a:r>
          </a:p>
          <a:p>
            <a:pPr>
              <a:spcAft>
                <a:spcPts val="100"/>
              </a:spcAft>
            </a:pPr>
            <a:r>
              <a:rPr sz="1000">
                <a:solidFill>
                  <a:srgbClr val="161B26"/>
                </a:solidFill>
                <a:latin typeface="Arial"/>
              </a:rPr>
              <a:t>•  Night shift skips warm-up</a:t>
            </a:r>
          </a:p>
        </p:txBody>
      </p:sp>
      <p:cxnSp>
        <p:nvCxnSpPr>
          <p:cNvPr id="29" name="Connector 28"/>
          <p:cNvCxnSpPr/>
          <p:nvPr/>
        </p:nvCxnSpPr>
        <p:spPr>
          <a:xfrm flipV="1">
            <a:off x="7543800" y="3950208"/>
            <a:ext cx="640080" cy="804672"/>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6743700" y="4754880"/>
            <a:ext cx="1600200" cy="3657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743700" y="4754880"/>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ENVIRONMENT</a:t>
            </a:r>
          </a:p>
        </p:txBody>
      </p:sp>
      <p:sp>
        <p:nvSpPr>
          <p:cNvPr id="32" name="TextBox 31"/>
          <p:cNvSpPr txBox="1"/>
          <p:nvPr/>
        </p:nvSpPr>
        <p:spPr>
          <a:xfrm>
            <a:off x="6583680" y="5175504"/>
            <a:ext cx="2148840" cy="868680"/>
          </a:xfrm>
          <a:prstGeom prst="rect">
            <a:avLst/>
          </a:prstGeom>
          <a:noFill/>
        </p:spPr>
        <p:txBody>
          <a:bodyPr wrap="square">
            <a:spAutoFit/>
          </a:bodyPr>
          <a:lstStyle/>
          <a:p>
            <a:pPr>
              <a:spcAft>
                <a:spcPts val="100"/>
              </a:spcAft>
            </a:pPr>
            <a:r>
              <a:rPr sz="1000">
                <a:solidFill>
                  <a:srgbClr val="161B26"/>
                </a:solidFill>
                <a:latin typeface="Arial"/>
              </a:rPr>
              <a:t>•  Test bay temperature 22 to 31 C</a:t>
            </a:r>
          </a:p>
          <a:p>
            <a:pPr>
              <a:spcAft>
                <a:spcPts val="100"/>
              </a:spcAft>
            </a:pPr>
            <a:r>
              <a:rPr sz="1000">
                <a:solidFill>
                  <a:srgbClr val="161B26"/>
                </a:solidFill>
                <a:latin typeface="Arial"/>
              </a:rPr>
              <a:t>•  Suzhou humidity above 80 percent</a:t>
            </a:r>
          </a:p>
          <a:p>
            <a:pPr>
              <a:spcAft>
                <a:spcPts val="100"/>
              </a:spcAft>
            </a:pPr>
            <a:r>
              <a:rPr sz="1000">
                <a:solidFill>
                  <a:srgbClr val="161B26"/>
                </a:solidFill>
                <a:latin typeface="Arial"/>
              </a:rPr>
              <a:t>•  Bench vibration near press</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5M plus E categories - what belongs in each</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MACHINE</a:t>
            </a:r>
          </a:p>
          <a:p>
            <a:pPr algn="l">
              <a:spcAft>
                <a:spcPts val="300"/>
              </a:spcAft>
            </a:pPr>
            <a:r>
              <a:rPr sz="1200" b="0">
                <a:solidFill>
                  <a:srgbClr val="5B6372"/>
                </a:solidFill>
                <a:latin typeface="Arial"/>
              </a:rPr>
              <a:t>Equipment, tooling, fixtures, software, calibration state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METHOD</a:t>
            </a:r>
          </a:p>
          <a:p>
            <a:pPr algn="l">
              <a:spcAft>
                <a:spcPts val="300"/>
              </a:spcAft>
            </a:pPr>
            <a:r>
              <a:rPr sz="1200" b="0">
                <a:solidFill>
                  <a:srgbClr val="5B6372"/>
                </a:solidFill>
                <a:latin typeface="Arial"/>
              </a:rPr>
              <a:t>Procedures, work instructions, sequence, settings, sampling plan</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MATERIAL</a:t>
            </a:r>
          </a:p>
          <a:p>
            <a:pPr algn="l">
              <a:spcAft>
                <a:spcPts val="300"/>
              </a:spcAft>
            </a:pPr>
            <a:r>
              <a:rPr sz="1200" b="0">
                <a:solidFill>
                  <a:srgbClr val="5B6372"/>
                </a:solidFill>
                <a:latin typeface="Arial"/>
              </a:rPr>
              <a:t>Raw material, components, consumables, supplier and lot variation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MANPOWER</a:t>
            </a:r>
          </a:p>
          <a:p>
            <a:pPr algn="l">
              <a:spcAft>
                <a:spcPts val="300"/>
              </a:spcAft>
            </a:pPr>
            <a:r>
              <a:rPr sz="1200" b="0">
                <a:solidFill>
                  <a:srgbClr val="5B6372"/>
                </a:solidFill>
                <a:latin typeface="Arial"/>
              </a:rPr>
              <a:t>Skill, training, experience, staffing level, fatigue, handover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MEASUREMENT</a:t>
            </a:r>
          </a:p>
          <a:p>
            <a:pPr algn="l">
              <a:spcAft>
                <a:spcPts val="300"/>
              </a:spcAft>
            </a:pPr>
            <a:r>
              <a:rPr sz="1200" b="0">
                <a:solidFill>
                  <a:srgbClr val="5B6372"/>
                </a:solidFill>
                <a:latin typeface="Arial"/>
              </a:rPr>
              <a:t>Gage capability, resolution, inspector agreement, data capture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ENVIRONMENT</a:t>
            </a:r>
          </a:p>
          <a:p>
            <a:pPr algn="l">
              <a:spcAft>
                <a:spcPts val="300"/>
              </a:spcAft>
            </a:pPr>
            <a:r>
              <a:rPr sz="1200" b="0">
                <a:solidFill>
                  <a:srgbClr val="5B6372"/>
                </a:solidFill>
                <a:latin typeface="Arial"/>
              </a:rPr>
              <a:t>Temperature, humidity, vibration, cleanliness, layout, lighting</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 Whys on Meridian occlusion false trips</a:t>
            </a:r>
          </a:p>
        </p:txBody>
      </p:sp>
      <p:sp>
        <p:nvSpPr>
          <p:cNvPr id="6" name="Rectangle 5"/>
          <p:cNvSpPr/>
          <p:nvPr/>
        </p:nvSpPr>
        <p:spPr>
          <a:xfrm>
            <a:off x="914400" y="3870473"/>
            <a:ext cx="1905609" cy="166164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870473"/>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4089929"/>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WHY 1</a:t>
            </a:r>
          </a:p>
        </p:txBody>
      </p:sp>
      <p:sp>
        <p:nvSpPr>
          <p:cNvPr id="9" name="TextBox 8"/>
          <p:cNvSpPr txBox="1"/>
          <p:nvPr/>
        </p:nvSpPr>
        <p:spPr>
          <a:xfrm>
            <a:off x="1042416" y="4675145"/>
            <a:ext cx="1649577" cy="747247"/>
          </a:xfrm>
          <a:prstGeom prst="rect">
            <a:avLst/>
          </a:prstGeom>
          <a:noFill/>
        </p:spPr>
        <p:txBody>
          <a:bodyPr wrap="square" anchor="t">
            <a:spAutoFit/>
          </a:bodyPr>
          <a:lstStyle/>
          <a:p>
            <a:pPr algn="ctr">
              <a:spcAft>
                <a:spcPts val="400"/>
              </a:spcAft>
            </a:pPr>
            <a:r>
              <a:rPr sz="1100" b="0">
                <a:solidFill>
                  <a:srgbClr val="5B6372"/>
                </a:solidFill>
                <a:latin typeface="Arial"/>
              </a:rPr>
              <a:t>Units false-trip the occlusion alarm in the field</a:t>
            </a:r>
          </a:p>
        </p:txBody>
      </p:sp>
      <p:sp>
        <p:nvSpPr>
          <p:cNvPr id="10" name="Rectangle 9"/>
          <p:cNvSpPr/>
          <p:nvPr/>
        </p:nvSpPr>
        <p:spPr>
          <a:xfrm>
            <a:off x="3021177" y="3405775"/>
            <a:ext cx="1905609" cy="21263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021177" y="3405775"/>
            <a:ext cx="19056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130905" y="3625231"/>
            <a:ext cx="1686153" cy="548640"/>
          </a:xfrm>
          <a:prstGeom prst="rect">
            <a:avLst/>
          </a:prstGeom>
          <a:noFill/>
        </p:spPr>
        <p:txBody>
          <a:bodyPr wrap="square" anchor="t">
            <a:spAutoFit/>
          </a:bodyPr>
          <a:lstStyle/>
          <a:p>
            <a:pPr algn="ctr">
              <a:spcAft>
                <a:spcPts val="400"/>
              </a:spcAft>
            </a:pPr>
            <a:r>
              <a:rPr sz="1500" b="1">
                <a:solidFill>
                  <a:srgbClr val="10B981"/>
                </a:solidFill>
                <a:latin typeface="Arial"/>
              </a:rPr>
              <a:t>WHY 2</a:t>
            </a:r>
          </a:p>
        </p:txBody>
      </p:sp>
      <p:sp>
        <p:nvSpPr>
          <p:cNvPr id="13" name="TextBox 12"/>
          <p:cNvSpPr txBox="1"/>
          <p:nvPr/>
        </p:nvSpPr>
        <p:spPr>
          <a:xfrm>
            <a:off x="3149193" y="4210447"/>
            <a:ext cx="1649577" cy="1211945"/>
          </a:xfrm>
          <a:prstGeom prst="rect">
            <a:avLst/>
          </a:prstGeom>
          <a:noFill/>
        </p:spPr>
        <p:txBody>
          <a:bodyPr wrap="square" anchor="t">
            <a:spAutoFit/>
          </a:bodyPr>
          <a:lstStyle/>
          <a:p>
            <a:pPr algn="ctr">
              <a:spcAft>
                <a:spcPts val="400"/>
              </a:spcAft>
            </a:pPr>
            <a:r>
              <a:rPr sz="1100" b="0">
                <a:solidFill>
                  <a:srgbClr val="5B6372"/>
                </a:solidFill>
                <a:latin typeface="Arial"/>
              </a:rPr>
              <a:t>The pressure sensor baseline drifts upward over 6 months</a:t>
            </a:r>
          </a:p>
        </p:txBody>
      </p:sp>
      <p:sp>
        <p:nvSpPr>
          <p:cNvPr id="14" name="Rectangle 13"/>
          <p:cNvSpPr/>
          <p:nvPr/>
        </p:nvSpPr>
        <p:spPr>
          <a:xfrm>
            <a:off x="5127954" y="2941077"/>
            <a:ext cx="1905609" cy="25910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127954" y="2941077"/>
            <a:ext cx="1905609"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237682" y="3160533"/>
            <a:ext cx="1686153" cy="548640"/>
          </a:xfrm>
          <a:prstGeom prst="rect">
            <a:avLst/>
          </a:prstGeom>
          <a:noFill/>
        </p:spPr>
        <p:txBody>
          <a:bodyPr wrap="square" anchor="t">
            <a:spAutoFit/>
          </a:bodyPr>
          <a:lstStyle/>
          <a:p>
            <a:pPr algn="ctr">
              <a:spcAft>
                <a:spcPts val="400"/>
              </a:spcAft>
            </a:pPr>
            <a:r>
              <a:rPr sz="1500" b="1">
                <a:solidFill>
                  <a:srgbClr val="7C3AED"/>
                </a:solidFill>
                <a:latin typeface="Arial"/>
              </a:rPr>
              <a:t>WHY 3</a:t>
            </a:r>
          </a:p>
        </p:txBody>
      </p:sp>
      <p:sp>
        <p:nvSpPr>
          <p:cNvPr id="17" name="TextBox 16"/>
          <p:cNvSpPr txBox="1"/>
          <p:nvPr/>
        </p:nvSpPr>
        <p:spPr>
          <a:xfrm>
            <a:off x="5255970" y="3745749"/>
            <a:ext cx="1649577" cy="1676643"/>
          </a:xfrm>
          <a:prstGeom prst="rect">
            <a:avLst/>
          </a:prstGeom>
          <a:noFill/>
        </p:spPr>
        <p:txBody>
          <a:bodyPr wrap="square" anchor="t">
            <a:spAutoFit/>
          </a:bodyPr>
          <a:lstStyle/>
          <a:p>
            <a:pPr algn="ctr">
              <a:spcAft>
                <a:spcPts val="400"/>
              </a:spcAft>
            </a:pPr>
            <a:r>
              <a:rPr sz="1100" b="0">
                <a:solidFill>
                  <a:srgbClr val="5B6372"/>
                </a:solidFill>
                <a:latin typeface="Arial"/>
              </a:rPr>
              <a:t>Baseline is set once at final test and never re-zeroed</a:t>
            </a:r>
          </a:p>
        </p:txBody>
      </p:sp>
      <p:sp>
        <p:nvSpPr>
          <p:cNvPr id="18" name="Rectangle 17"/>
          <p:cNvSpPr/>
          <p:nvPr/>
        </p:nvSpPr>
        <p:spPr>
          <a:xfrm>
            <a:off x="7234731" y="2476379"/>
            <a:ext cx="1905609" cy="30557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234731" y="2476379"/>
            <a:ext cx="1905609"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44459" y="2695835"/>
            <a:ext cx="1686153" cy="548640"/>
          </a:xfrm>
          <a:prstGeom prst="rect">
            <a:avLst/>
          </a:prstGeom>
          <a:noFill/>
        </p:spPr>
        <p:txBody>
          <a:bodyPr wrap="square" anchor="t">
            <a:spAutoFit/>
          </a:bodyPr>
          <a:lstStyle/>
          <a:p>
            <a:pPr algn="ctr">
              <a:spcAft>
                <a:spcPts val="400"/>
              </a:spcAft>
            </a:pPr>
            <a:r>
              <a:rPr sz="1500" b="1">
                <a:solidFill>
                  <a:srgbClr val="F59E0B"/>
                </a:solidFill>
                <a:latin typeface="Arial"/>
              </a:rPr>
              <a:t>WHY 4</a:t>
            </a:r>
          </a:p>
        </p:txBody>
      </p:sp>
      <p:sp>
        <p:nvSpPr>
          <p:cNvPr id="21" name="TextBox 20"/>
          <p:cNvSpPr txBox="1"/>
          <p:nvPr/>
        </p:nvSpPr>
        <p:spPr>
          <a:xfrm>
            <a:off x="7362747" y="3281051"/>
            <a:ext cx="1649577" cy="2141341"/>
          </a:xfrm>
          <a:prstGeom prst="rect">
            <a:avLst/>
          </a:prstGeom>
          <a:noFill/>
        </p:spPr>
        <p:txBody>
          <a:bodyPr wrap="square" anchor="t">
            <a:spAutoFit/>
          </a:bodyPr>
          <a:lstStyle/>
          <a:p>
            <a:pPr algn="ctr">
              <a:spcAft>
                <a:spcPts val="400"/>
              </a:spcAft>
            </a:pPr>
            <a:r>
              <a:rPr sz="1100" b="0">
                <a:solidFill>
                  <a:srgbClr val="5B6372"/>
                </a:solidFill>
                <a:latin typeface="Arial"/>
              </a:rPr>
              <a:t>Firmware has no auto-zero routine on power-up</a:t>
            </a:r>
          </a:p>
        </p:txBody>
      </p:sp>
      <p:sp>
        <p:nvSpPr>
          <p:cNvPr id="22" name="Rectangle 21"/>
          <p:cNvSpPr/>
          <p:nvPr/>
        </p:nvSpPr>
        <p:spPr>
          <a:xfrm>
            <a:off x="9341508" y="2011680"/>
            <a:ext cx="1905609"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9341508" y="2011680"/>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451236" y="2231136"/>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WHY 5</a:t>
            </a:r>
          </a:p>
        </p:txBody>
      </p:sp>
      <p:sp>
        <p:nvSpPr>
          <p:cNvPr id="25" name="TextBox 24"/>
          <p:cNvSpPr txBox="1"/>
          <p:nvPr/>
        </p:nvSpPr>
        <p:spPr>
          <a:xfrm>
            <a:off x="9469524" y="2816352"/>
            <a:ext cx="1649577" cy="2606040"/>
          </a:xfrm>
          <a:prstGeom prst="rect">
            <a:avLst/>
          </a:prstGeom>
          <a:noFill/>
        </p:spPr>
        <p:txBody>
          <a:bodyPr wrap="square" anchor="t">
            <a:spAutoFit/>
          </a:bodyPr>
          <a:lstStyle/>
          <a:p>
            <a:pPr algn="ctr">
              <a:spcAft>
                <a:spcPts val="400"/>
              </a:spcAft>
            </a:pPr>
            <a:r>
              <a:rPr sz="1100" b="0">
                <a:solidFill>
                  <a:srgbClr val="5B6372"/>
                </a:solidFill>
                <a:latin typeface="Arial"/>
              </a:rPr>
              <a:t>The design FMEA rated sensor drift as low severity in 2019</a:t>
            </a:r>
          </a:p>
        </p:txBody>
      </p:sp>
      <p:cxnSp>
        <p:nvCxnSpPr>
          <p:cNvPr id="26" name="Connector 25"/>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Root cause lands on a PROCESS decision (the design FMEA rating), not on a person. That is the discipline.</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 Whys discipline - the rules that keep it honest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Stop at a process, never a person</a:t>
            </a:r>
          </a:p>
          <a:p>
            <a:pPr algn="l">
              <a:spcAft>
                <a:spcPts val="300"/>
              </a:spcAft>
            </a:pPr>
            <a:r>
              <a:rPr sz="1200" b="0">
                <a:solidFill>
                  <a:srgbClr val="5B6372"/>
                </a:solidFill>
                <a:latin typeface="Arial"/>
              </a:rPr>
              <a:t>'The technician forgot' is not a root cause - ask why the process allowed it</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Each why must be verifiable</a:t>
            </a:r>
          </a:p>
          <a:p>
            <a:pPr algn="l">
              <a:spcAft>
                <a:spcPts val="300"/>
              </a:spcAft>
            </a:pPr>
            <a:r>
              <a:rPr sz="1200" b="0">
                <a:solidFill>
                  <a:srgbClr val="5B6372"/>
                </a:solidFill>
                <a:latin typeface="Arial"/>
              </a:rPr>
              <a:t>If you cannot get data to confirm a link, you are guessing not analysing</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Five is a guide, not a quota</a:t>
            </a:r>
          </a:p>
          <a:p>
            <a:pPr algn="l">
              <a:spcAft>
                <a:spcPts val="300"/>
              </a:spcAft>
            </a:pPr>
            <a:r>
              <a:rPr sz="1200" b="0">
                <a:solidFill>
                  <a:srgbClr val="5B6372"/>
                </a:solidFill>
                <a:latin typeface="Arial"/>
              </a:rPr>
              <a:t>Sometimes three, sometimes seven - stop when the answer is actionable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Branch when there are two answers</a:t>
            </a:r>
          </a:p>
          <a:p>
            <a:pPr algn="l">
              <a:spcAft>
                <a:spcPts val="300"/>
              </a:spcAft>
            </a:pPr>
            <a:r>
              <a:rPr sz="1200" b="0">
                <a:solidFill>
                  <a:srgbClr val="5B6372"/>
                </a:solidFill>
                <a:latin typeface="Arial"/>
              </a:rPr>
              <a:t>A why with two valid causes becomes two chains, not a forced single line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Test the chain backwards</a:t>
            </a:r>
          </a:p>
          <a:p>
            <a:pPr algn="l">
              <a:spcAft>
                <a:spcPts val="300"/>
              </a:spcAft>
            </a:pPr>
            <a:r>
              <a:rPr sz="1200" b="0">
                <a:solidFill>
                  <a:srgbClr val="5B6372"/>
                </a:solidFill>
                <a:latin typeface="Arial"/>
              </a:rPr>
              <a:t>Read it as 'therefore' from the bottom up - it must still make sense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Confirm the fix breaks the chain</a:t>
            </a:r>
          </a:p>
          <a:p>
            <a:pPr algn="l">
              <a:spcAft>
                <a:spcPts val="300"/>
              </a:spcAft>
            </a:pPr>
            <a:r>
              <a:rPr sz="1200" b="0">
                <a:solidFill>
                  <a:srgbClr val="5B6372"/>
                </a:solidFill>
                <a:latin typeface="Arial"/>
              </a:rPr>
              <a:t>If removing the root cause would not stop the effect, you have the wrong root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Multi-voting a 40-cause fishbone down to 5</a:t>
            </a:r>
          </a:p>
        </p:txBody>
      </p:sp>
      <p:sp>
        <p:nvSpPr>
          <p:cNvPr id="6" name="Rectangle 5"/>
          <p:cNvSpPr/>
          <p:nvPr/>
        </p:nvSpPr>
        <p:spPr>
          <a:xfrm>
            <a:off x="77724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78892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Cluster duplicate and near-duplicate causes and re-word them clearly</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601468"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404872"/>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78892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Give each person N/3 votes where N is the number of causes</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4425696"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404872"/>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78892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Vote silently and simultaneously - no discussion during voting</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6249924"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404872"/>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78892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Tally, keep the top third, discard the rest into the parked log</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8074152"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404872"/>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78892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Repeat with fewer votes until 5 to 7 candidates remain</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6" name="Rectangle 35"/>
          <p:cNvSpPr/>
          <p:nvPr/>
        </p:nvSpPr>
        <p:spPr>
          <a:xfrm>
            <a:off x="989838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404872"/>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78892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Rank the survivors on the cause-and-effect matrix before testing</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cause-and-effect matrix - scoring what to test first</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Output weight</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Each Y rated 1-10</a:t>
            </a:r>
          </a:p>
          <a:p>
            <a:pPr algn="ctr">
              <a:spcAft>
                <a:spcPts val="400"/>
              </a:spcAft>
            </a:pPr>
            <a:r>
              <a:rPr sz="1400" b="1">
                <a:solidFill>
                  <a:srgbClr val="161B26"/>
                </a:solidFill>
                <a:latin typeface="Arial"/>
              </a:rPr>
              <a:t>by customer importance</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Meridian: OTIF weight 9, first-pass yield 8, warranty cost 10.</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Relationship score</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Each X vs each Y:</a:t>
            </a:r>
          </a:p>
          <a:p>
            <a:pPr algn="ctr">
              <a:spcAft>
                <a:spcPts val="400"/>
              </a:spcAft>
            </a:pPr>
            <a:r>
              <a:rPr sz="1400" b="1">
                <a:solidFill>
                  <a:srgbClr val="161B26"/>
                </a:solidFill>
                <a:latin typeface="Arial"/>
              </a:rPr>
              <a:t>0, 1, 3 or 9</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Sensor baseline drift vs warranty cost = 9 (strong direct relationship).</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Total score</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sum of</a:t>
            </a:r>
          </a:p>
          <a:p>
            <a:pPr algn="ctr">
              <a:spcAft>
                <a:spcPts val="400"/>
              </a:spcAft>
            </a:pPr>
            <a:r>
              <a:rPr sz="1400" b="1">
                <a:solidFill>
                  <a:srgbClr val="161B26"/>
                </a:solidFill>
                <a:latin typeface="Arial"/>
              </a:rPr>
              <a:t>(weight x relationship)</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Sensor drift: 9x1 + 8x3 + 10x9 = 123 - the highest scoring X, test it first.</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The matrix converts opinion into a ranked test order. It does NOT prove anything - the hypothesis test does.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Choosing which causes to test with statistics</a:t>
            </a:r>
          </a:p>
        </p:txBody>
      </p:sp>
      <p:sp>
        <p:nvSpPr>
          <p:cNvPr id="6" name="Rectangle 5"/>
          <p:cNvSpPr/>
          <p:nvPr/>
        </p:nvSpPr>
        <p:spPr>
          <a:xfrm>
            <a:off x="228600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86000" y="1828800"/>
            <a:ext cx="73152" cy="18745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42032" y="2048256"/>
            <a:ext cx="3328416" cy="457200"/>
          </a:xfrm>
          <a:prstGeom prst="rect">
            <a:avLst/>
          </a:prstGeom>
          <a:noFill/>
        </p:spPr>
        <p:txBody>
          <a:bodyPr wrap="square" anchor="t">
            <a:spAutoFit/>
          </a:bodyPr>
          <a:lstStyle/>
          <a:p>
            <a:pPr algn="l">
              <a:spcAft>
                <a:spcPts val="400"/>
              </a:spcAft>
            </a:pPr>
            <a:r>
              <a:rPr sz="1600" b="1">
                <a:solidFill>
                  <a:srgbClr val="10B981"/>
                </a:solidFill>
                <a:latin typeface="Arial"/>
              </a:rPr>
              <a:t>TEST FIRST</a:t>
            </a:r>
          </a:p>
        </p:txBody>
      </p:sp>
      <p:sp>
        <p:nvSpPr>
          <p:cNvPr id="9" name="TextBox 8"/>
          <p:cNvSpPr txBox="1"/>
          <p:nvPr/>
        </p:nvSpPr>
        <p:spPr>
          <a:xfrm>
            <a:off x="254203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suspicion, cheap to test. Sensor baseline drift - data already in the test log. Run it this week.</a:t>
            </a:r>
          </a:p>
        </p:txBody>
      </p:sp>
      <p:sp>
        <p:nvSpPr>
          <p:cNvPr id="10" name="Rectangle 9"/>
          <p:cNvSpPr/>
          <p:nvPr/>
        </p:nvSpPr>
        <p:spPr>
          <a:xfrm>
            <a:off x="612648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126480" y="1828800"/>
            <a:ext cx="73152" cy="187451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2048256"/>
            <a:ext cx="3328416" cy="457200"/>
          </a:xfrm>
          <a:prstGeom prst="rect">
            <a:avLst/>
          </a:prstGeom>
          <a:noFill/>
        </p:spPr>
        <p:txBody>
          <a:bodyPr wrap="square" anchor="t">
            <a:spAutoFit/>
          </a:bodyPr>
          <a:lstStyle/>
          <a:p>
            <a:pPr algn="l">
              <a:spcAft>
                <a:spcPts val="400"/>
              </a:spcAft>
            </a:pPr>
            <a:r>
              <a:rPr sz="1600" b="1">
                <a:solidFill>
                  <a:srgbClr val="1F6FEB"/>
                </a:solidFill>
                <a:latin typeface="Arial"/>
              </a:rPr>
              <a:t>BUILD A CASE</a:t>
            </a:r>
          </a:p>
        </p:txBody>
      </p:sp>
      <p:sp>
        <p:nvSpPr>
          <p:cNvPr id="13" name="TextBox 12"/>
          <p:cNvSpPr txBox="1"/>
          <p:nvPr/>
        </p:nvSpPr>
        <p:spPr>
          <a:xfrm>
            <a:off x="638251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suspicion, expensive to test. Requires a designed experiment or new instrumentation - charter it.</a:t>
            </a:r>
          </a:p>
        </p:txBody>
      </p:sp>
      <p:sp>
        <p:nvSpPr>
          <p:cNvPr id="14" name="Rectangle 13"/>
          <p:cNvSpPr/>
          <p:nvPr/>
        </p:nvSpPr>
        <p:spPr>
          <a:xfrm>
            <a:off x="228600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286000" y="3703319"/>
            <a:ext cx="73152"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42032" y="3922775"/>
            <a:ext cx="3328416" cy="457200"/>
          </a:xfrm>
          <a:prstGeom prst="rect">
            <a:avLst/>
          </a:prstGeom>
          <a:noFill/>
        </p:spPr>
        <p:txBody>
          <a:bodyPr wrap="square" anchor="t">
            <a:spAutoFit/>
          </a:bodyPr>
          <a:lstStyle/>
          <a:p>
            <a:pPr algn="l">
              <a:spcAft>
                <a:spcPts val="400"/>
              </a:spcAft>
            </a:pPr>
            <a:r>
              <a:rPr sz="1600" b="1">
                <a:solidFill>
                  <a:srgbClr val="F59E0B"/>
                </a:solidFill>
                <a:latin typeface="Arial"/>
              </a:rPr>
              <a:t>QUICK CLEAR</a:t>
            </a:r>
          </a:p>
        </p:txBody>
      </p:sp>
      <p:sp>
        <p:nvSpPr>
          <p:cNvPr id="17" name="TextBox 16"/>
          <p:cNvSpPr txBox="1"/>
          <p:nvPr/>
        </p:nvSpPr>
        <p:spPr>
          <a:xfrm>
            <a:off x="254203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suspicion, cheap to test. Run it anyway to close the theory and stop it being re-raised.</a:t>
            </a:r>
          </a:p>
        </p:txBody>
      </p:sp>
      <p:sp>
        <p:nvSpPr>
          <p:cNvPr id="18" name="Rectangle 17"/>
          <p:cNvSpPr/>
          <p:nvPr/>
        </p:nvSpPr>
        <p:spPr>
          <a:xfrm>
            <a:off x="612648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26480" y="3703319"/>
            <a:ext cx="73152" cy="1874519"/>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82512" y="3922775"/>
            <a:ext cx="3328416" cy="457200"/>
          </a:xfrm>
          <a:prstGeom prst="rect">
            <a:avLst/>
          </a:prstGeom>
          <a:noFill/>
        </p:spPr>
        <p:txBody>
          <a:bodyPr wrap="square" anchor="t">
            <a:spAutoFit/>
          </a:bodyPr>
          <a:lstStyle/>
          <a:p>
            <a:pPr algn="l">
              <a:spcAft>
                <a:spcPts val="400"/>
              </a:spcAft>
            </a:pPr>
            <a:r>
              <a:rPr sz="1600" b="1">
                <a:solidFill>
                  <a:srgbClr val="5B6372"/>
                </a:solidFill>
                <a:latin typeface="Arial"/>
              </a:rPr>
              <a:t>PARK</a:t>
            </a:r>
          </a:p>
        </p:txBody>
      </p:sp>
      <p:sp>
        <p:nvSpPr>
          <p:cNvPr id="21" name="TextBox 20"/>
          <p:cNvSpPr txBox="1"/>
          <p:nvPr/>
        </p:nvSpPr>
        <p:spPr>
          <a:xfrm>
            <a:off x="638251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suspicion, expensive. Log it in the rejected-causes register with the reason and move on.</a:t>
            </a:r>
          </a:p>
        </p:txBody>
      </p:sp>
      <p:sp>
        <p:nvSpPr>
          <p:cNvPr id="22" name="TextBox 21"/>
          <p:cNvSpPr txBox="1"/>
          <p:nvPr/>
        </p:nvSpPr>
        <p:spPr>
          <a:xfrm>
            <a:off x="2286000" y="5687567"/>
            <a:ext cx="7680960" cy="365760"/>
          </a:xfrm>
          <a:prstGeom prst="rect">
            <a:avLst/>
          </a:prstGeom>
          <a:noFill/>
        </p:spPr>
        <p:txBody>
          <a:bodyPr wrap="square" anchor="t">
            <a:spAutoFit/>
          </a:bodyPr>
          <a:lstStyle/>
          <a:p>
            <a:pPr algn="ctr">
              <a:spcAft>
                <a:spcPts val="400"/>
              </a:spcAft>
            </a:pPr>
            <a:r>
              <a:rPr sz="1300" b="1">
                <a:solidFill>
                  <a:srgbClr val="161B26"/>
                </a:solidFill>
                <a:latin typeface="Arial"/>
              </a:rPr>
              <a:t>EFFORT / COST TO TEST</a:t>
            </a:r>
          </a:p>
        </p:txBody>
      </p:sp>
      <p:sp>
        <p:nvSpPr>
          <p:cNvPr id="23" name="TextBox 22"/>
          <p:cNvSpPr txBox="1"/>
          <p:nvPr/>
        </p:nvSpPr>
        <p:spPr>
          <a:xfrm>
            <a:off x="548640" y="3520439"/>
            <a:ext cx="1645920" cy="365760"/>
          </a:xfrm>
          <a:prstGeom prst="rect">
            <a:avLst/>
          </a:prstGeom>
          <a:noFill/>
        </p:spPr>
        <p:txBody>
          <a:bodyPr wrap="square" anchor="t">
            <a:spAutoFit/>
          </a:bodyPr>
          <a:lstStyle/>
          <a:p>
            <a:pPr algn="ctr">
              <a:spcAft>
                <a:spcPts val="400"/>
              </a:spcAft>
            </a:pPr>
            <a:r>
              <a:rPr sz="1300" b="1">
                <a:solidFill>
                  <a:srgbClr val="161B26"/>
                </a:solidFill>
                <a:latin typeface="Arial"/>
              </a:rPr>
              <a:t>STRENGTH OF SUSPICION</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ANALYZE - RECAP IN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Recap 4 - Hypothesis testing, in full</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This is the single most-taught and most-misused topic in Six Sigma. As a Black Belt you must be able to derive it, defend it and correct a Green Belt who has it wrong.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hypothesis testing procedure</a:t>
            </a:r>
          </a:p>
        </p:txBody>
      </p:sp>
      <p:sp>
        <p:nvSpPr>
          <p:cNvPr id="6" name="Rectangle 5"/>
          <p:cNvSpPr/>
          <p:nvPr/>
        </p:nvSpPr>
        <p:spPr>
          <a:xfrm>
            <a:off x="77724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78892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State the practical question in plain business language</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601468"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404872"/>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78892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Formulate H0 and Ha, and decide one-tail or two-tail</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4425696"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404872"/>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78892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Choose alpha and the required power, then compute the sample size</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6249924"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404872"/>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78892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Select the correct test from the Y and X data types</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8074152"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404872"/>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78892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Check the assumptions: normality, independence, equal variance</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6" name="Rectangle 35"/>
          <p:cNvSpPr/>
          <p:nvPr/>
        </p:nvSpPr>
        <p:spPr>
          <a:xfrm>
            <a:off x="989838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404872"/>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78892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Run the test, read the p-value, then translate back to the business</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H0 and Ha - formulating them correctly</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NULL - H0</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status quo, the boring answer</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Always contains equality: =, &lt;= or &gt;=</a:t>
            </a:r>
          </a:p>
          <a:p>
            <a:pPr>
              <a:spcAft>
                <a:spcPts val="700"/>
              </a:spcAft>
            </a:pPr>
            <a:r>
              <a:rPr sz="1200">
                <a:solidFill>
                  <a:srgbClr val="161B26"/>
                </a:solidFill>
                <a:latin typeface="Arial"/>
              </a:rPr>
              <a:t>•  'There is no difference' / 'the change did nothing'</a:t>
            </a:r>
          </a:p>
          <a:p>
            <a:pPr>
              <a:spcAft>
                <a:spcPts val="700"/>
              </a:spcAft>
            </a:pPr>
            <a:r>
              <a:rPr sz="1200">
                <a:solidFill>
                  <a:srgbClr val="161B26"/>
                </a:solidFill>
                <a:latin typeface="Arial"/>
              </a:rPr>
              <a:t>•  It is what we ASSUME true until the data forces us to abandon it</a:t>
            </a:r>
          </a:p>
          <a:p>
            <a:pPr>
              <a:spcAft>
                <a:spcPts val="700"/>
              </a:spcAft>
            </a:pPr>
            <a:r>
              <a:rPr sz="1200">
                <a:solidFill>
                  <a:srgbClr val="161B26"/>
                </a:solidFill>
                <a:latin typeface="Arial"/>
              </a:rPr>
              <a:t>•  We never 'accept' H0 - we fail to reject it</a:t>
            </a:r>
          </a:p>
          <a:p>
            <a:pPr>
              <a:spcAft>
                <a:spcPts val="700"/>
              </a:spcAft>
            </a:pPr>
            <a:r>
              <a:rPr sz="1200">
                <a:solidFill>
                  <a:srgbClr val="161B26"/>
                </a:solidFill>
                <a:latin typeface="Arial"/>
              </a:rPr>
              <a:t>•  Meridian: mean yield Singapore = mean yield Suzhou</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ALTERNATIVE - Ha</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claim you must prove</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Never contains equality: not equal, &gt; or &lt;</a:t>
            </a:r>
          </a:p>
          <a:p>
            <a:pPr>
              <a:spcAft>
                <a:spcPts val="700"/>
              </a:spcAft>
            </a:pPr>
            <a:r>
              <a:rPr sz="1200">
                <a:solidFill>
                  <a:srgbClr val="161B26"/>
                </a:solidFill>
                <a:latin typeface="Arial"/>
              </a:rPr>
              <a:t>•  'There IS a difference' / 'the change helped'</a:t>
            </a:r>
          </a:p>
          <a:p>
            <a:pPr>
              <a:spcAft>
                <a:spcPts val="700"/>
              </a:spcAft>
            </a:pPr>
            <a:r>
              <a:rPr sz="1200">
                <a:solidFill>
                  <a:srgbClr val="161B26"/>
                </a:solidFill>
                <a:latin typeface="Arial"/>
              </a:rPr>
              <a:t>•  It carries the burden of proof</a:t>
            </a:r>
          </a:p>
          <a:p>
            <a:pPr>
              <a:spcAft>
                <a:spcPts val="700"/>
              </a:spcAft>
            </a:pPr>
            <a:r>
              <a:rPr sz="1200">
                <a:solidFill>
                  <a:srgbClr val="161B26"/>
                </a:solidFill>
                <a:latin typeface="Arial"/>
              </a:rPr>
              <a:t>•  It is what you write the project benefit against</a:t>
            </a:r>
          </a:p>
          <a:p>
            <a:pPr>
              <a:spcAft>
                <a:spcPts val="700"/>
              </a:spcAft>
            </a:pPr>
            <a:r>
              <a:rPr sz="1200">
                <a:solidFill>
                  <a:srgbClr val="161B26"/>
                </a:solidFill>
                <a:latin typeface="Arial"/>
              </a:rPr>
              <a:t>•  Meridian: mean yield Singapore is not equal to mean yield Suzhou</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COMMON ERRORS</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What a Black Belt corrects</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Putting the interesting claim in H0</a:t>
            </a:r>
          </a:p>
          <a:p>
            <a:pPr>
              <a:spcAft>
                <a:spcPts val="700"/>
              </a:spcAft>
            </a:pPr>
            <a:r>
              <a:rPr sz="1200">
                <a:solidFill>
                  <a:srgbClr val="161B26"/>
                </a:solidFill>
                <a:latin typeface="Arial"/>
              </a:rPr>
              <a:t>•  Writing Ha after seeing the data</a:t>
            </a:r>
          </a:p>
          <a:p>
            <a:pPr>
              <a:spcAft>
                <a:spcPts val="700"/>
              </a:spcAft>
            </a:pPr>
            <a:r>
              <a:rPr sz="1200">
                <a:solidFill>
                  <a:srgbClr val="161B26"/>
                </a:solidFill>
                <a:latin typeface="Arial"/>
              </a:rPr>
              <a:t>•  Using a one-tail test to rescue a marginal p-value</a:t>
            </a:r>
          </a:p>
          <a:p>
            <a:pPr>
              <a:spcAft>
                <a:spcPts val="700"/>
              </a:spcAft>
            </a:pPr>
            <a:r>
              <a:rPr sz="1200">
                <a:solidFill>
                  <a:srgbClr val="161B26"/>
                </a:solidFill>
                <a:latin typeface="Arial"/>
              </a:rPr>
              <a:t>•  Reporting 'we proved there is no difference'</a:t>
            </a:r>
          </a:p>
          <a:p>
            <a:pPr>
              <a:spcAft>
                <a:spcPts val="700"/>
              </a:spcAft>
            </a:pPr>
            <a:r>
              <a:rPr sz="1200">
                <a:solidFill>
                  <a:srgbClr val="161B26"/>
                </a:solidFill>
                <a:latin typeface="Arial"/>
              </a:rPr>
              <a:t>•  Testing a hypothesis nobody could act on either way</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Type I and Type II error - the decision table</a:t>
            </a:r>
          </a:p>
        </p:txBody>
      </p:sp>
      <p:sp>
        <p:nvSpPr>
          <p:cNvPr id="6" name="Rectangle 5"/>
          <p:cNvSpPr/>
          <p:nvPr/>
        </p:nvSpPr>
        <p:spPr>
          <a:xfrm>
            <a:off x="228600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86000" y="1828800"/>
            <a:ext cx="73152" cy="18745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42032" y="2048256"/>
            <a:ext cx="3328416" cy="457200"/>
          </a:xfrm>
          <a:prstGeom prst="rect">
            <a:avLst/>
          </a:prstGeom>
          <a:noFill/>
        </p:spPr>
        <p:txBody>
          <a:bodyPr wrap="square" anchor="t">
            <a:spAutoFit/>
          </a:bodyPr>
          <a:lstStyle/>
          <a:p>
            <a:pPr algn="l">
              <a:spcAft>
                <a:spcPts val="400"/>
              </a:spcAft>
            </a:pPr>
            <a:r>
              <a:rPr sz="1600" b="1">
                <a:solidFill>
                  <a:srgbClr val="10B981"/>
                </a:solidFill>
                <a:latin typeface="Arial"/>
              </a:rPr>
              <a:t>CORRECT</a:t>
            </a:r>
          </a:p>
        </p:txBody>
      </p:sp>
      <p:sp>
        <p:nvSpPr>
          <p:cNvPr id="9" name="TextBox 8"/>
          <p:cNvSpPr txBox="1"/>
          <p:nvPr/>
        </p:nvSpPr>
        <p:spPr>
          <a:xfrm>
            <a:off x="254203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H0 is true and you fail to reject it. You correctly concluded nothing changed. Probability = 1 - alpha.</a:t>
            </a:r>
          </a:p>
        </p:txBody>
      </p:sp>
      <p:sp>
        <p:nvSpPr>
          <p:cNvPr id="10" name="Rectangle 9"/>
          <p:cNvSpPr/>
          <p:nvPr/>
        </p:nvSpPr>
        <p:spPr>
          <a:xfrm>
            <a:off x="612648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126480" y="1828800"/>
            <a:ext cx="73152" cy="187451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2048256"/>
            <a:ext cx="3328416" cy="457200"/>
          </a:xfrm>
          <a:prstGeom prst="rect">
            <a:avLst/>
          </a:prstGeom>
          <a:noFill/>
        </p:spPr>
        <p:txBody>
          <a:bodyPr wrap="square" anchor="t">
            <a:spAutoFit/>
          </a:bodyPr>
          <a:lstStyle/>
          <a:p>
            <a:pPr algn="l">
              <a:spcAft>
                <a:spcPts val="400"/>
              </a:spcAft>
            </a:pPr>
            <a:r>
              <a:rPr sz="1600" b="1">
                <a:solidFill>
                  <a:srgbClr val="1F6FEB"/>
                </a:solidFill>
                <a:latin typeface="Arial"/>
              </a:rPr>
              <a:t>TYPE I ERROR - alpha</a:t>
            </a:r>
          </a:p>
        </p:txBody>
      </p:sp>
      <p:sp>
        <p:nvSpPr>
          <p:cNvPr id="13" name="TextBox 12"/>
          <p:cNvSpPr txBox="1"/>
          <p:nvPr/>
        </p:nvSpPr>
        <p:spPr>
          <a:xfrm>
            <a:off x="638251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H0 is true but you reject it. A FALSE ALARM. You claim a difference that is not there. PRODUCER'S RISK.</a:t>
            </a:r>
          </a:p>
        </p:txBody>
      </p:sp>
      <p:sp>
        <p:nvSpPr>
          <p:cNvPr id="14" name="Rectangle 13"/>
          <p:cNvSpPr/>
          <p:nvPr/>
        </p:nvSpPr>
        <p:spPr>
          <a:xfrm>
            <a:off x="228600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286000" y="3703319"/>
            <a:ext cx="73152"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42032" y="3922775"/>
            <a:ext cx="3328416" cy="457200"/>
          </a:xfrm>
          <a:prstGeom prst="rect">
            <a:avLst/>
          </a:prstGeom>
          <a:noFill/>
        </p:spPr>
        <p:txBody>
          <a:bodyPr wrap="square" anchor="t">
            <a:spAutoFit/>
          </a:bodyPr>
          <a:lstStyle/>
          <a:p>
            <a:pPr algn="l">
              <a:spcAft>
                <a:spcPts val="400"/>
              </a:spcAft>
            </a:pPr>
            <a:r>
              <a:rPr sz="1600" b="1">
                <a:solidFill>
                  <a:srgbClr val="F59E0B"/>
                </a:solidFill>
                <a:latin typeface="Arial"/>
              </a:rPr>
              <a:t>TYPE II ERROR - beta</a:t>
            </a:r>
          </a:p>
        </p:txBody>
      </p:sp>
      <p:sp>
        <p:nvSpPr>
          <p:cNvPr id="17" name="TextBox 16"/>
          <p:cNvSpPr txBox="1"/>
          <p:nvPr/>
        </p:nvSpPr>
        <p:spPr>
          <a:xfrm>
            <a:off x="254203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H0 is false but you fail to reject it. A MISS. A real difference goes undetected. CONSUMER'S RISK.</a:t>
            </a:r>
          </a:p>
        </p:txBody>
      </p:sp>
      <p:sp>
        <p:nvSpPr>
          <p:cNvPr id="18" name="Rectangle 17"/>
          <p:cNvSpPr/>
          <p:nvPr/>
        </p:nvSpPr>
        <p:spPr>
          <a:xfrm>
            <a:off x="612648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26480" y="3703319"/>
            <a:ext cx="73152" cy="1874519"/>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82512" y="3922775"/>
            <a:ext cx="3328416" cy="457200"/>
          </a:xfrm>
          <a:prstGeom prst="rect">
            <a:avLst/>
          </a:prstGeom>
          <a:noFill/>
        </p:spPr>
        <p:txBody>
          <a:bodyPr wrap="square" anchor="t">
            <a:spAutoFit/>
          </a:bodyPr>
          <a:lstStyle/>
          <a:p>
            <a:pPr algn="l">
              <a:spcAft>
                <a:spcPts val="400"/>
              </a:spcAft>
            </a:pPr>
            <a:r>
              <a:rPr sz="1600" b="1">
                <a:solidFill>
                  <a:srgbClr val="5B6372"/>
                </a:solidFill>
                <a:latin typeface="Arial"/>
              </a:rPr>
              <a:t>CORRECT - POWER</a:t>
            </a:r>
          </a:p>
        </p:txBody>
      </p:sp>
      <p:sp>
        <p:nvSpPr>
          <p:cNvPr id="21" name="TextBox 20"/>
          <p:cNvSpPr txBox="1"/>
          <p:nvPr/>
        </p:nvSpPr>
        <p:spPr>
          <a:xfrm>
            <a:off x="638251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H0 is false and you reject it. You detected a real difference. Probability = 1 - beta = POWER.</a:t>
            </a:r>
          </a:p>
        </p:txBody>
      </p:sp>
      <p:sp>
        <p:nvSpPr>
          <p:cNvPr id="22" name="TextBox 21"/>
          <p:cNvSpPr txBox="1"/>
          <p:nvPr/>
        </p:nvSpPr>
        <p:spPr>
          <a:xfrm>
            <a:off x="2286000" y="5687567"/>
            <a:ext cx="7680960" cy="365760"/>
          </a:xfrm>
          <a:prstGeom prst="rect">
            <a:avLst/>
          </a:prstGeom>
          <a:noFill/>
        </p:spPr>
        <p:txBody>
          <a:bodyPr wrap="square" anchor="t">
            <a:spAutoFit/>
          </a:bodyPr>
          <a:lstStyle/>
          <a:p>
            <a:pPr algn="ctr">
              <a:spcAft>
                <a:spcPts val="400"/>
              </a:spcAft>
            </a:pPr>
            <a:r>
              <a:rPr sz="1300" b="1">
                <a:solidFill>
                  <a:srgbClr val="161B26"/>
                </a:solidFill>
                <a:latin typeface="Arial"/>
              </a:rPr>
              <a:t>THE TRUTH ABOUT THE PROCESS</a:t>
            </a:r>
          </a:p>
        </p:txBody>
      </p:sp>
      <p:sp>
        <p:nvSpPr>
          <p:cNvPr id="23" name="TextBox 22"/>
          <p:cNvSpPr txBox="1"/>
          <p:nvPr/>
        </p:nvSpPr>
        <p:spPr>
          <a:xfrm>
            <a:off x="548640" y="3520439"/>
            <a:ext cx="1645920" cy="365760"/>
          </a:xfrm>
          <a:prstGeom prst="rect">
            <a:avLst/>
          </a:prstGeom>
          <a:noFill/>
        </p:spPr>
        <p:txBody>
          <a:bodyPr wrap="square" anchor="t">
            <a:spAutoFit/>
          </a:bodyPr>
          <a:lstStyle/>
          <a:p>
            <a:pPr algn="ctr">
              <a:spcAft>
                <a:spcPts val="400"/>
              </a:spcAft>
            </a:pPr>
            <a:r>
              <a:rPr sz="1300" b="1">
                <a:solidFill>
                  <a:srgbClr val="161B26"/>
                </a:solidFill>
                <a:latin typeface="Arial"/>
              </a:rPr>
              <a:t>YOUR DECISION</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Producer's risk vs consumer's risk</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TYPE I - PRODUCER'S RISK</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alpha, typically 0.05</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You reject a good batch, or claim a fix that does nothing</a:t>
            </a:r>
          </a:p>
          <a:p>
            <a:pPr>
              <a:spcAft>
                <a:spcPts val="700"/>
              </a:spcAft>
            </a:pPr>
            <a:r>
              <a:rPr sz="1200">
                <a:solidFill>
                  <a:srgbClr val="161B26"/>
                </a:solidFill>
                <a:latin typeface="Arial"/>
              </a:rPr>
              <a:t>•  Meridian: scrapping a conforming lot of pump housings</a:t>
            </a:r>
          </a:p>
          <a:p>
            <a:pPr>
              <a:spcAft>
                <a:spcPts val="700"/>
              </a:spcAft>
            </a:pPr>
            <a:r>
              <a:rPr sz="1200">
                <a:solidFill>
                  <a:srgbClr val="161B26"/>
                </a:solidFill>
                <a:latin typeface="Arial"/>
              </a:rPr>
              <a:t>•  Cost falls on the PRODUCER - wasted material and rework</a:t>
            </a:r>
          </a:p>
          <a:p>
            <a:pPr>
              <a:spcAft>
                <a:spcPts val="700"/>
              </a:spcAft>
            </a:pPr>
            <a:r>
              <a:rPr sz="1200">
                <a:solidFill>
                  <a:srgbClr val="161B26"/>
                </a:solidFill>
                <a:latin typeface="Arial"/>
              </a:rPr>
              <a:t>•  You spend money implementing an improvement with no effect</a:t>
            </a:r>
          </a:p>
          <a:p>
            <a:pPr>
              <a:spcAft>
                <a:spcPts val="700"/>
              </a:spcAft>
            </a:pPr>
            <a:r>
              <a:rPr sz="1200">
                <a:solidFill>
                  <a:srgbClr val="161B26"/>
                </a:solidFill>
                <a:latin typeface="Arial"/>
              </a:rPr>
              <a:t>•  Controlled directly by your choice of alpha</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TYPE II - CONSUMER'S RISK</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beta, often 0.10 to 0.20</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You pass a bad batch, or miss a real improvement</a:t>
            </a:r>
          </a:p>
          <a:p>
            <a:pPr>
              <a:spcAft>
                <a:spcPts val="700"/>
              </a:spcAft>
            </a:pPr>
            <a:r>
              <a:rPr sz="1200">
                <a:solidFill>
                  <a:srgbClr val="161B26"/>
                </a:solidFill>
                <a:latin typeface="Arial"/>
              </a:rPr>
              <a:t>•  Meridian: shipping drifting pumps to a hospital</a:t>
            </a:r>
          </a:p>
          <a:p>
            <a:pPr>
              <a:spcAft>
                <a:spcPts val="700"/>
              </a:spcAft>
            </a:pPr>
            <a:r>
              <a:rPr sz="1200">
                <a:solidFill>
                  <a:srgbClr val="161B26"/>
                </a:solidFill>
                <a:latin typeface="Arial"/>
              </a:rPr>
              <a:t>•  Cost falls on the CUSTOMER - and on your warranty and reputation</a:t>
            </a:r>
          </a:p>
          <a:p>
            <a:pPr>
              <a:spcAft>
                <a:spcPts val="700"/>
              </a:spcAft>
            </a:pPr>
            <a:r>
              <a:rPr sz="1200">
                <a:solidFill>
                  <a:srgbClr val="161B26"/>
                </a:solidFill>
                <a:latin typeface="Arial"/>
              </a:rPr>
              <a:t>•  In a regulated medical device this is the risk that ends careers</a:t>
            </a:r>
          </a:p>
          <a:p>
            <a:pPr>
              <a:spcAft>
                <a:spcPts val="700"/>
              </a:spcAft>
            </a:pPr>
            <a:r>
              <a:rPr sz="1200">
                <a:solidFill>
                  <a:srgbClr val="161B26"/>
                </a:solidFill>
                <a:latin typeface="Arial"/>
              </a:rPr>
              <a:t>•  Controlled by sample size and effect size, via power</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THE TRADE-OFF</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You cannot minimise both</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Lowering alpha to 0.01 raises beta at fixed n</a:t>
            </a:r>
          </a:p>
          <a:p>
            <a:pPr>
              <a:spcAft>
                <a:spcPts val="700"/>
              </a:spcAft>
            </a:pPr>
            <a:r>
              <a:rPr sz="1200">
                <a:solidFill>
                  <a:srgbClr val="161B26"/>
                </a:solidFill>
                <a:latin typeface="Arial"/>
              </a:rPr>
              <a:t>•  The only way to reduce both is a LARGER SAMPLE</a:t>
            </a:r>
          </a:p>
          <a:p>
            <a:pPr>
              <a:spcAft>
                <a:spcPts val="700"/>
              </a:spcAft>
            </a:pPr>
            <a:r>
              <a:rPr sz="1200">
                <a:solidFill>
                  <a:srgbClr val="161B26"/>
                </a:solidFill>
                <a:latin typeface="Arial"/>
              </a:rPr>
              <a:t>•  Choose alpha by consequence, not by habit</a:t>
            </a:r>
          </a:p>
          <a:p>
            <a:pPr>
              <a:spcAft>
                <a:spcPts val="700"/>
              </a:spcAft>
            </a:pPr>
            <a:r>
              <a:rPr sz="1200">
                <a:solidFill>
                  <a:srgbClr val="161B26"/>
                </a:solidFill>
                <a:latin typeface="Arial"/>
              </a:rPr>
              <a:t>•  Medical device safety claim: alpha 0.01 is defensible</a:t>
            </a:r>
          </a:p>
          <a:p>
            <a:pPr>
              <a:spcAft>
                <a:spcPts val="700"/>
              </a:spcAft>
            </a:pPr>
            <a:r>
              <a:rPr sz="1200">
                <a:solidFill>
                  <a:srgbClr val="161B26"/>
                </a:solidFill>
                <a:latin typeface="Arial"/>
              </a:rPr>
              <a:t>•  Exploratory screening: alpha 0.10 is defensible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Alpha, beta, power and confidence</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Alpha</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alpha = P(reject H0</a:t>
            </a:r>
          </a:p>
          <a:p>
            <a:pPr algn="ctr">
              <a:spcAft>
                <a:spcPts val="400"/>
              </a:spcAft>
            </a:pPr>
            <a:r>
              <a:rPr sz="1400" b="1">
                <a:solidFill>
                  <a:srgbClr val="161B26"/>
                </a:solidFill>
                <a:latin typeface="Arial"/>
              </a:rPr>
              <a:t>| H0 true)</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alpha = 0.05 means a 5 percent chance of a false alarm on this test.</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Confidence level</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confidence = 1 - alpha</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alpha = 0.05 gives a 95 percent confidence level and 95 percent CI.</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Beta</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beta = P(fail to reject H0</a:t>
            </a:r>
          </a:p>
          <a:p>
            <a:pPr algn="ctr">
              <a:spcAft>
                <a:spcPts val="400"/>
              </a:spcAft>
            </a:pPr>
            <a:r>
              <a:rPr sz="1400" b="1">
                <a:solidFill>
                  <a:srgbClr val="161B26"/>
                </a:solidFill>
                <a:latin typeface="Arial"/>
              </a:rPr>
              <a:t>| H0 false)</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beta = 0.20 means a 20 percent chance of missing a real difference.</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Power</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power = 1 - beta</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power = 0.80: an 80 percent chance of detecting the shift you care about.</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Standard practice: alpha = 0.05, power &gt;= 0.80. Raise power to 0.90 or 0.95 for safety-critical medical device decisions.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Sample size - worked for Meridian</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2-sample t</a:t>
            </a:r>
          </a:p>
          <a:p>
            <a:pPr algn="l">
              <a:spcAft>
                <a:spcPts val="400"/>
              </a:spcAft>
            </a:pPr>
            <a:r>
              <a:rPr sz="1500" b="1">
                <a:solidFill>
                  <a:srgbClr val="1F6FEB"/>
                </a:solidFill>
                <a:latin typeface="Arial"/>
              </a:rPr>
              <a:t>sample size</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n per group =</a:t>
            </a:r>
          </a:p>
          <a:p>
            <a:pPr algn="ctr">
              <a:spcAft>
                <a:spcPts val="400"/>
              </a:spcAft>
            </a:pPr>
            <a:r>
              <a:rPr sz="1400" b="1">
                <a:solidFill>
                  <a:srgbClr val="161B26"/>
                </a:solidFill>
                <a:latin typeface="Arial"/>
              </a:rPr>
              <a:t>2 x (Z_a/2 + Z_b)^2 x s^2 / d^2</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Detect a 1.5 pp yield gap, s = 2.2, alpha .05, power .80: n = 2 x 7.85 x 4.84 / 2.25 = 34 per line.</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1-proportion</a:t>
            </a:r>
          </a:p>
          <a:p>
            <a:pPr algn="l">
              <a:spcAft>
                <a:spcPts val="400"/>
              </a:spcAft>
            </a:pPr>
            <a:r>
              <a:rPr sz="1500" b="1">
                <a:solidFill>
                  <a:srgbClr val="10B981"/>
                </a:solidFill>
                <a:latin typeface="Arial"/>
              </a:rPr>
              <a:t>sample size</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n = (Z_a/2)^2 x p(1-p) / d^2</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Confirm OTIF at 91 percent within 2 pp: n = 3.84 x 0.0819 / 0.0004 = 787 orders.</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Effect of</a:t>
            </a:r>
          </a:p>
          <a:p>
            <a:pPr algn="l">
              <a:spcAft>
                <a:spcPts val="400"/>
              </a:spcAft>
            </a:pPr>
            <a:r>
              <a:rPr sz="1500" b="1">
                <a:solidFill>
                  <a:srgbClr val="7C3AED"/>
                </a:solidFill>
                <a:latin typeface="Arial"/>
              </a:rPr>
              <a:t>halving delta</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n scales as 1 / d^2</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Halving the detectable gap from 1.5 pp to 0.75 pp needs FOUR times the sample: 136 per line.</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Z for alpha 0.05 two-tail = 1.96; Z for power 0.80 = 0.84. Always compute n BEFORE collecting data.</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ANALYZE - RECAP IN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p-value - what it actually means</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p-value is the probability of seeing data this extreme or more extreme IF the null hypothesis were true. It is not the probability that H0 is true.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a p-value is and is not</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IT IS</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 conditional probability</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P(data this extreme | H0 is true)</a:t>
            </a:r>
          </a:p>
          <a:p>
            <a:pPr>
              <a:spcAft>
                <a:spcPts val="700"/>
              </a:spcAft>
            </a:pPr>
            <a:r>
              <a:rPr sz="1200">
                <a:solidFill>
                  <a:srgbClr val="161B26"/>
                </a:solidFill>
                <a:latin typeface="Arial"/>
              </a:rPr>
              <a:t>•  A measure of how surprising your data is under H0</a:t>
            </a:r>
          </a:p>
          <a:p>
            <a:pPr>
              <a:spcAft>
                <a:spcPts val="700"/>
              </a:spcAft>
            </a:pPr>
            <a:r>
              <a:rPr sz="1200">
                <a:solidFill>
                  <a:srgbClr val="161B26"/>
                </a:solidFill>
                <a:latin typeface="Arial"/>
              </a:rPr>
              <a:t>•  p &lt; alpha means reject H0</a:t>
            </a:r>
          </a:p>
          <a:p>
            <a:pPr>
              <a:spcAft>
                <a:spcPts val="700"/>
              </a:spcAft>
            </a:pPr>
            <a:r>
              <a:rPr sz="1200">
                <a:solidFill>
                  <a:srgbClr val="161B26"/>
                </a:solidFill>
                <a:latin typeface="Arial"/>
              </a:rPr>
              <a:t>•  Meridian p = 0.003: data this extreme would be rare if plants matched</a:t>
            </a:r>
          </a:p>
          <a:p>
            <a:pPr>
              <a:spcAft>
                <a:spcPts val="700"/>
              </a:spcAft>
            </a:pPr>
            <a:r>
              <a:rPr sz="1200">
                <a:solidFill>
                  <a:srgbClr val="161B26"/>
                </a:solidFill>
                <a:latin typeface="Arial"/>
              </a:rPr>
              <a:t>•  'If it ain't low, let it go' - the field mnemonic</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IT IS NOT</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Four common misreadings</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NOT the probability that H0 is true</a:t>
            </a:r>
          </a:p>
          <a:p>
            <a:pPr>
              <a:spcAft>
                <a:spcPts val="700"/>
              </a:spcAft>
            </a:pPr>
            <a:r>
              <a:rPr sz="1200">
                <a:solidFill>
                  <a:srgbClr val="161B26"/>
                </a:solidFill>
                <a:latin typeface="Arial"/>
              </a:rPr>
              <a:t>•  NOT the probability your conclusion is wrong</a:t>
            </a:r>
          </a:p>
          <a:p>
            <a:pPr>
              <a:spcAft>
                <a:spcPts val="700"/>
              </a:spcAft>
            </a:pPr>
            <a:r>
              <a:rPr sz="1200">
                <a:solidFill>
                  <a:srgbClr val="161B26"/>
                </a:solidFill>
                <a:latin typeface="Arial"/>
              </a:rPr>
              <a:t>•  NOT a measure of how big or important the effect is</a:t>
            </a:r>
          </a:p>
          <a:p>
            <a:pPr>
              <a:spcAft>
                <a:spcPts val="700"/>
              </a:spcAft>
            </a:pPr>
            <a:r>
              <a:rPr sz="1200">
                <a:solidFill>
                  <a:srgbClr val="161B26"/>
                </a:solidFill>
                <a:latin typeface="Arial"/>
              </a:rPr>
              <a:t>•  NOT proof of no difference when p is large</a:t>
            </a:r>
          </a:p>
          <a:p>
            <a:pPr>
              <a:spcAft>
                <a:spcPts val="700"/>
              </a:spcAft>
            </a:pPr>
            <a:r>
              <a:rPr sz="1200">
                <a:solidFill>
                  <a:srgbClr val="161B26"/>
                </a:solidFill>
                <a:latin typeface="Arial"/>
              </a:rPr>
              <a:t>•  p = 0.06 and p = 0.04 are not meaningfully different evidence</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ALWAYS REPORT WITH</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context that makes it useful</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effect size in real units, not just significance</a:t>
            </a:r>
          </a:p>
          <a:p>
            <a:pPr>
              <a:spcAft>
                <a:spcPts val="700"/>
              </a:spcAft>
            </a:pPr>
            <a:r>
              <a:rPr sz="1200">
                <a:solidFill>
                  <a:srgbClr val="161B26"/>
                </a:solidFill>
                <a:latin typeface="Arial"/>
              </a:rPr>
              <a:t>•  The confidence interval around that effect</a:t>
            </a:r>
          </a:p>
          <a:p>
            <a:pPr>
              <a:spcAft>
                <a:spcPts val="700"/>
              </a:spcAft>
            </a:pPr>
            <a:r>
              <a:rPr sz="1200">
                <a:solidFill>
                  <a:srgbClr val="161B26"/>
                </a:solidFill>
                <a:latin typeface="Arial"/>
              </a:rPr>
              <a:t>•  The sample size the test ran on</a:t>
            </a:r>
          </a:p>
          <a:p>
            <a:pPr>
              <a:spcAft>
                <a:spcPts val="700"/>
              </a:spcAft>
            </a:pPr>
            <a:r>
              <a:rPr sz="1200">
                <a:solidFill>
                  <a:srgbClr val="161B26"/>
                </a:solidFill>
                <a:latin typeface="Arial"/>
              </a:rPr>
              <a:t>•  Which assumptions were checked and how</a:t>
            </a:r>
          </a:p>
          <a:p>
            <a:pPr>
              <a:spcAft>
                <a:spcPts val="700"/>
              </a:spcAft>
            </a:pPr>
            <a:r>
              <a:rPr sz="1200">
                <a:solidFill>
                  <a:srgbClr val="161B26"/>
                </a:solidFill>
                <a:latin typeface="Arial"/>
              </a:rPr>
              <a:t>•  The business consequence of the effect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ANALYZE - RECAP IN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test selection decision tree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Almost every hypothesis testing mistake is a test SELECTION mistake. Start from the data type of Y, then the data type and number of levels of X.</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to select the right test in four questions</a:t>
            </a:r>
          </a:p>
        </p:txBody>
      </p:sp>
      <p:sp>
        <p:nvSpPr>
          <p:cNvPr id="6" name="Rectangle 5"/>
          <p:cNvSpPr/>
          <p:nvPr/>
        </p:nvSpPr>
        <p:spPr>
          <a:xfrm>
            <a:off x="777240" y="2523744"/>
            <a:ext cx="2425446"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2169414" cy="1088136"/>
          </a:xfrm>
          <a:prstGeom prst="rect">
            <a:avLst/>
          </a:prstGeom>
          <a:noFill/>
        </p:spPr>
        <p:txBody>
          <a:bodyPr wrap="square" anchor="t">
            <a:spAutoFit/>
          </a:bodyPr>
          <a:lstStyle/>
          <a:p>
            <a:pPr algn="ctr">
              <a:spcAft>
                <a:spcPts val="400"/>
              </a:spcAft>
            </a:pPr>
            <a:r>
              <a:rPr sz="1300" b="0">
                <a:solidFill>
                  <a:srgbClr val="161B26"/>
                </a:solidFill>
                <a:latin typeface="Arial"/>
              </a:rPr>
              <a:t>What is the data type of Y - continuous or discrete/attribute</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3513582" y="2523744"/>
            <a:ext cx="2425446"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523744"/>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822192"/>
            <a:ext cx="2169414" cy="1088136"/>
          </a:xfrm>
          <a:prstGeom prst="rect">
            <a:avLst/>
          </a:prstGeom>
          <a:noFill/>
        </p:spPr>
        <p:txBody>
          <a:bodyPr wrap="square" anchor="t">
            <a:spAutoFit/>
          </a:bodyPr>
          <a:lstStyle/>
          <a:p>
            <a:pPr algn="ctr">
              <a:spcAft>
                <a:spcPts val="400"/>
              </a:spcAft>
            </a:pPr>
            <a:r>
              <a:rPr sz="1300" b="0">
                <a:solidFill>
                  <a:srgbClr val="161B26"/>
                </a:solidFill>
                <a:latin typeface="Arial"/>
              </a:rPr>
              <a:t>What is the data type of X - and how many levels or groups does it have</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6249924" y="2523744"/>
            <a:ext cx="2425446"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523744"/>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822192"/>
            <a:ext cx="2169414" cy="1088136"/>
          </a:xfrm>
          <a:prstGeom prst="rect">
            <a:avLst/>
          </a:prstGeom>
          <a:noFill/>
        </p:spPr>
        <p:txBody>
          <a:bodyPr wrap="square" anchor="t">
            <a:spAutoFit/>
          </a:bodyPr>
          <a:lstStyle/>
          <a:p>
            <a:pPr algn="ctr">
              <a:spcAft>
                <a:spcPts val="400"/>
              </a:spcAft>
            </a:pPr>
            <a:r>
              <a:rPr sz="1300" b="0">
                <a:solidFill>
                  <a:srgbClr val="161B26"/>
                </a:solidFill>
                <a:latin typeface="Arial"/>
              </a:rPr>
              <a:t>Are the samples independent, or paired on the same units</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8986266" y="2523744"/>
            <a:ext cx="2425446"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523744"/>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822192"/>
            <a:ext cx="2169414" cy="1088136"/>
          </a:xfrm>
          <a:prstGeom prst="rect">
            <a:avLst/>
          </a:prstGeom>
          <a:noFill/>
        </p:spPr>
        <p:txBody>
          <a:bodyPr wrap="square" anchor="t">
            <a:spAutoFit/>
          </a:bodyPr>
          <a:lstStyle/>
          <a:p>
            <a:pPr algn="ctr">
              <a:spcAft>
                <a:spcPts val="400"/>
              </a:spcAft>
            </a:pPr>
            <a:r>
              <a:rPr sz="1300" b="0">
                <a:solidFill>
                  <a:srgbClr val="161B26"/>
                </a:solidFill>
                <a:latin typeface="Arial"/>
              </a:rPr>
              <a:t>Do the assumptions hold - normal, independent, equal variance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CONTINUOUS Y - which test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1-sample t-test</a:t>
            </a:r>
          </a:p>
          <a:p>
            <a:pPr algn="l">
              <a:spcAft>
                <a:spcPts val="300"/>
              </a:spcAft>
            </a:pPr>
            <a:r>
              <a:rPr sz="1200" b="0">
                <a:solidFill>
                  <a:srgbClr val="5B6372"/>
                </a:solidFill>
                <a:latin typeface="Arial"/>
              </a:rPr>
              <a:t>One group vs a target value. Is Suzhou mean yield equal to 93 percent?</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2-sample t-test</a:t>
            </a:r>
          </a:p>
          <a:p>
            <a:pPr algn="l">
              <a:spcAft>
                <a:spcPts val="300"/>
              </a:spcAft>
            </a:pPr>
            <a:r>
              <a:rPr sz="1200" b="0">
                <a:solidFill>
                  <a:srgbClr val="5B6372"/>
                </a:solidFill>
                <a:latin typeface="Arial"/>
              </a:rPr>
              <a:t>Two independent groups. Singapore line 1 vs Penang line 3 cycle time.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Paired t-test</a:t>
            </a:r>
          </a:p>
          <a:p>
            <a:pPr algn="l">
              <a:spcAft>
                <a:spcPts val="300"/>
              </a:spcAft>
            </a:pPr>
            <a:r>
              <a:rPr sz="1200" b="0">
                <a:solidFill>
                  <a:srgbClr val="5B6372"/>
                </a:solidFill>
                <a:latin typeface="Arial"/>
              </a:rPr>
              <a:t>Same units measured twice. Yield before and after the stencil change, same line.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One-way ANOVA</a:t>
            </a:r>
          </a:p>
          <a:p>
            <a:pPr algn="l">
              <a:spcAft>
                <a:spcPts val="300"/>
              </a:spcAft>
            </a:pPr>
            <a:r>
              <a:rPr sz="1200" b="0">
                <a:solidFill>
                  <a:srgbClr val="5B6372"/>
                </a:solidFill>
                <a:latin typeface="Arial"/>
              </a:rPr>
              <a:t>Three or more groups, one factor. Yield across all 6 Meridian lines.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Two-way ANOVA</a:t>
            </a:r>
          </a:p>
          <a:p>
            <a:pPr algn="l">
              <a:spcAft>
                <a:spcPts val="300"/>
              </a:spcAft>
            </a:pPr>
            <a:r>
              <a:rPr sz="1200" b="0">
                <a:solidFill>
                  <a:srgbClr val="5B6372"/>
                </a:solidFill>
                <a:latin typeface="Arial"/>
              </a:rPr>
              <a:t>Two factors at once plus their interaction. Plant x shift on yield.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F-test / Levene</a:t>
            </a:r>
          </a:p>
          <a:p>
            <a:pPr algn="l">
              <a:spcAft>
                <a:spcPts val="300"/>
              </a:spcAft>
            </a:pPr>
            <a:r>
              <a:rPr sz="1200" b="0">
                <a:solidFill>
                  <a:srgbClr val="5B6372"/>
                </a:solidFill>
                <a:latin typeface="Arial"/>
              </a:rPr>
              <a:t>Comparing VARIANCES, not means. Is Suzhou more variable than Singapore?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DISCRETE / ATTRIBUTE Y - which test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1-proportion test</a:t>
            </a:r>
          </a:p>
          <a:p>
            <a:pPr algn="l">
              <a:spcAft>
                <a:spcPts val="300"/>
              </a:spcAft>
            </a:pPr>
            <a:r>
              <a:rPr sz="1200" b="0">
                <a:solidFill>
                  <a:srgbClr val="5B6372"/>
                </a:solidFill>
                <a:latin typeface="Arial"/>
              </a:rPr>
              <a:t>One proportion vs a target. Is OTIF equal to the 97 percent goal?</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2-proportion test</a:t>
            </a:r>
          </a:p>
          <a:p>
            <a:pPr algn="l">
              <a:spcAft>
                <a:spcPts val="300"/>
              </a:spcAft>
            </a:pPr>
            <a:r>
              <a:rPr sz="1200" b="0">
                <a:solidFill>
                  <a:srgbClr val="5B6372"/>
                </a:solidFill>
                <a:latin typeface="Arial"/>
              </a:rPr>
              <a:t>Two proportions compared. Penang scrap rate vs Suzhou scrap rate.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Chi-square test</a:t>
            </a:r>
          </a:p>
          <a:p>
            <a:pPr algn="l">
              <a:spcAft>
                <a:spcPts val="300"/>
              </a:spcAft>
            </a:pPr>
            <a:r>
              <a:rPr sz="1200" b="0">
                <a:solidFill>
                  <a:srgbClr val="5B6372"/>
                </a:solidFill>
                <a:latin typeface="Arial"/>
              </a:rPr>
              <a:t>Association between two categorical variables. Defect type vs shift.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Chi-square goodness of fit</a:t>
            </a:r>
          </a:p>
          <a:p>
            <a:pPr algn="l">
              <a:spcAft>
                <a:spcPts val="300"/>
              </a:spcAft>
            </a:pPr>
            <a:r>
              <a:rPr sz="1200" b="0">
                <a:solidFill>
                  <a:srgbClr val="5B6372"/>
                </a:solidFill>
                <a:latin typeface="Arial"/>
              </a:rPr>
              <a:t>Does the observed distribution match an expected one?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Fisher's exact test</a:t>
            </a:r>
          </a:p>
          <a:p>
            <a:pPr algn="l">
              <a:spcAft>
                <a:spcPts val="300"/>
              </a:spcAft>
            </a:pPr>
            <a:r>
              <a:rPr sz="1200" b="0">
                <a:solidFill>
                  <a:srgbClr val="5B6372"/>
                </a:solidFill>
                <a:latin typeface="Arial"/>
              </a:rPr>
              <a:t>Same as chi-square but for small expected counts below 5.</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Logistic regression</a:t>
            </a:r>
          </a:p>
          <a:p>
            <a:pPr algn="l">
              <a:spcAft>
                <a:spcPts val="300"/>
              </a:spcAft>
            </a:pPr>
            <a:r>
              <a:rPr sz="1200" b="0">
                <a:solidFill>
                  <a:srgbClr val="5B6372"/>
                </a:solidFill>
                <a:latin typeface="Arial"/>
              </a:rPr>
              <a:t>Predict a pass/fail Y from continuous Xs - beyond this course's core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decision tree in three branches</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Y CONTINUOUS, X DISCRETE</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Comparing means or variances</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1 group vs target -&gt; 1-sample t</a:t>
            </a:r>
          </a:p>
          <a:p>
            <a:pPr>
              <a:spcAft>
                <a:spcPts val="700"/>
              </a:spcAft>
            </a:pPr>
            <a:r>
              <a:rPr sz="1200">
                <a:solidFill>
                  <a:srgbClr val="161B26"/>
                </a:solidFill>
                <a:latin typeface="Arial"/>
              </a:rPr>
              <a:t>•  2 independent groups -&gt; 2-sample t</a:t>
            </a:r>
          </a:p>
          <a:p>
            <a:pPr>
              <a:spcAft>
                <a:spcPts val="700"/>
              </a:spcAft>
            </a:pPr>
            <a:r>
              <a:rPr sz="1200">
                <a:solidFill>
                  <a:srgbClr val="161B26"/>
                </a:solidFill>
                <a:latin typeface="Arial"/>
              </a:rPr>
              <a:t>•  2 paired measurements -&gt; paired t</a:t>
            </a:r>
          </a:p>
          <a:p>
            <a:pPr>
              <a:spcAft>
                <a:spcPts val="700"/>
              </a:spcAft>
            </a:pPr>
            <a:r>
              <a:rPr sz="1200">
                <a:solidFill>
                  <a:srgbClr val="161B26"/>
                </a:solidFill>
                <a:latin typeface="Arial"/>
              </a:rPr>
              <a:t>•  3+ groups, 1 factor -&gt; one-way ANOVA</a:t>
            </a:r>
          </a:p>
          <a:p>
            <a:pPr>
              <a:spcAft>
                <a:spcPts val="700"/>
              </a:spcAft>
            </a:pPr>
            <a:r>
              <a:rPr sz="1200">
                <a:solidFill>
                  <a:srgbClr val="161B26"/>
                </a:solidFill>
                <a:latin typeface="Arial"/>
              </a:rPr>
              <a:t>•  2 factors -&gt; two-way ANOVA with interaction</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Y CONTINUOUS, X CONTINUOUS</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Quantifying relationship</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One X -&gt; correlation then simple regression</a:t>
            </a:r>
          </a:p>
          <a:p>
            <a:pPr>
              <a:spcAft>
                <a:spcPts val="700"/>
              </a:spcAft>
            </a:pPr>
            <a:r>
              <a:rPr sz="1200">
                <a:solidFill>
                  <a:srgbClr val="161B26"/>
                </a:solidFill>
                <a:latin typeface="Arial"/>
              </a:rPr>
              <a:t>•  Several Xs -&gt; multiple regression</a:t>
            </a:r>
          </a:p>
          <a:p>
            <a:pPr>
              <a:spcAft>
                <a:spcPts val="700"/>
              </a:spcAft>
            </a:pPr>
            <a:r>
              <a:rPr sz="1200">
                <a:solidFill>
                  <a:srgbClr val="161B26"/>
                </a:solidFill>
                <a:latin typeface="Arial"/>
              </a:rPr>
              <a:t>•  Curved relationship -&gt; add a quadratic term</a:t>
            </a:r>
          </a:p>
          <a:p>
            <a:pPr>
              <a:spcAft>
                <a:spcPts val="700"/>
              </a:spcAft>
            </a:pPr>
            <a:r>
              <a:rPr sz="1200">
                <a:solidFill>
                  <a:srgbClr val="161B26"/>
                </a:solidFill>
                <a:latin typeface="Arial"/>
              </a:rPr>
              <a:t>•  Always follow with residual diagnostics</a:t>
            </a:r>
          </a:p>
          <a:p>
            <a:pPr>
              <a:spcAft>
                <a:spcPts val="700"/>
              </a:spcAft>
            </a:pPr>
            <a:r>
              <a:rPr sz="1200">
                <a:solidFill>
                  <a:srgbClr val="161B26"/>
                </a:solidFill>
                <a:latin typeface="Arial"/>
              </a:rPr>
              <a:t>•  Never report r without a scatterplot</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Y DISCRETE</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Comparing proportions</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1 proportion vs target -&gt; 1-proportion test</a:t>
            </a:r>
          </a:p>
          <a:p>
            <a:pPr>
              <a:spcAft>
                <a:spcPts val="700"/>
              </a:spcAft>
            </a:pPr>
            <a:r>
              <a:rPr sz="1200">
                <a:solidFill>
                  <a:srgbClr val="161B26"/>
                </a:solidFill>
                <a:latin typeface="Arial"/>
              </a:rPr>
              <a:t>•  2 proportions -&gt; 2-proportion test</a:t>
            </a:r>
          </a:p>
          <a:p>
            <a:pPr>
              <a:spcAft>
                <a:spcPts val="700"/>
              </a:spcAft>
            </a:pPr>
            <a:r>
              <a:rPr sz="1200">
                <a:solidFill>
                  <a:srgbClr val="161B26"/>
                </a:solidFill>
                <a:latin typeface="Arial"/>
              </a:rPr>
              <a:t>•  Two categorical variables -&gt; chi-square contingency</a:t>
            </a:r>
          </a:p>
          <a:p>
            <a:pPr>
              <a:spcAft>
                <a:spcPts val="700"/>
              </a:spcAft>
            </a:pPr>
            <a:r>
              <a:rPr sz="1200">
                <a:solidFill>
                  <a:srgbClr val="161B26"/>
                </a:solidFill>
                <a:latin typeface="Arial"/>
              </a:rPr>
              <a:t>•  Expected cell count below 5 -&gt; Fisher's exact</a:t>
            </a:r>
          </a:p>
          <a:p>
            <a:pPr>
              <a:spcAft>
                <a:spcPts val="700"/>
              </a:spcAft>
            </a:pPr>
            <a:r>
              <a:rPr sz="1200">
                <a:solidFill>
                  <a:srgbClr val="161B26"/>
                </a:solidFill>
                <a:latin typeface="Arial"/>
              </a:rPr>
              <a:t>•  Discrete Y from continuous X -&gt; logistic regression</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Worked 2-sample t-test - Singapore vs Suzhou yield</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The hypotheses</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H0: mu_SG = mu_SZ</a:t>
            </a:r>
          </a:p>
          <a:p>
            <a:pPr algn="ctr">
              <a:spcAft>
                <a:spcPts val="400"/>
              </a:spcAft>
            </a:pPr>
            <a:r>
              <a:rPr sz="1400" b="1">
                <a:solidFill>
                  <a:srgbClr val="161B26"/>
                </a:solidFill>
                <a:latin typeface="Arial"/>
              </a:rPr>
              <a:t>Ha: mu_SG not= mu_SZ</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Two-tailed, alpha = 0.05. n = 40 lots per plant.</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The data</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SG: xbar 93.1, s 1.9</a:t>
            </a:r>
          </a:p>
          <a:p>
            <a:pPr algn="ctr">
              <a:spcAft>
                <a:spcPts val="400"/>
              </a:spcAft>
            </a:pPr>
            <a:r>
              <a:rPr sz="1400" b="1">
                <a:solidFill>
                  <a:srgbClr val="161B26"/>
                </a:solidFill>
                <a:latin typeface="Arial"/>
              </a:rPr>
              <a:t>SZ: xbar 88.6, s 4.7</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Levene p = 0.002 -&gt; variances are NOT equal, so use Welch's t-test.</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The statistic</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t = (93.1 - 88.6) /</a:t>
            </a:r>
          </a:p>
          <a:p>
            <a:pPr algn="ctr">
              <a:spcAft>
                <a:spcPts val="400"/>
              </a:spcAft>
            </a:pPr>
            <a:r>
              <a:rPr sz="1400" b="1">
                <a:solidFill>
                  <a:srgbClr val="161B26"/>
                </a:solidFill>
                <a:latin typeface="Arial"/>
              </a:rPr>
              <a:t>sqrt(1.9^2/40 + 4.7^2/40)</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t = 4.5 / 0.801 = 5.62, df approx 51.4, p &lt; 0.001. Reject H0.</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The translation</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4.5 pp yield gap,</a:t>
            </a:r>
          </a:p>
          <a:p>
            <a:pPr algn="ctr">
              <a:spcAft>
                <a:spcPts val="400"/>
              </a:spcAft>
            </a:pPr>
            <a:r>
              <a:rPr sz="1400" b="1">
                <a:solidFill>
                  <a:srgbClr val="161B26"/>
                </a:solidFill>
                <a:latin typeface="Arial"/>
              </a:rPr>
              <a:t>95% CI [2.9, 6.1]</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4.5 pp on 210,000 Suzhou units = 9,450 fewer good units, SGD 2.6M at SGD 275 margin.</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Note the sequence: hypotheses BEFORE data, assumption check BEFORE the test, business translation AFTER the p-value.</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Where alpha lives on the distribution</a:t>
            </a:r>
          </a:p>
        </p:txBody>
      </p:sp>
      <p:cxnSp>
        <p:nvCxnSpPr>
          <p:cNvPr id="6" name="Connector 5"/>
          <p:cNvCxnSpPr/>
          <p:nvPr/>
        </p:nvCxnSpPr>
        <p:spPr>
          <a:xfrm>
            <a:off x="1097280" y="5166360"/>
            <a:ext cx="996696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143000" y="5165161"/>
            <a:ext cx="82296" cy="27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225296" y="5164805"/>
            <a:ext cx="82296" cy="3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307592" y="5164352"/>
            <a:ext cx="82296" cy="4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389888" y="5163779"/>
            <a:ext cx="82296" cy="57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472184" y="5163057"/>
            <a:ext cx="82296" cy="72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554480" y="5162152"/>
            <a:ext cx="82296" cy="90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636776" y="5161023"/>
            <a:ext cx="82296" cy="112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719072" y="5159620"/>
            <a:ext cx="82296" cy="140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801368" y="5157887"/>
            <a:ext cx="82296" cy="173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883664" y="5155755"/>
            <a:ext cx="82296" cy="213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965960" y="5153145"/>
            <a:ext cx="82296" cy="26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048256" y="5149966"/>
            <a:ext cx="82296" cy="31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130552" y="5146113"/>
            <a:ext cx="82296" cy="38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212848" y="5141465"/>
            <a:ext cx="82296" cy="4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295144" y="5135885"/>
            <a:ext cx="82296" cy="558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377440" y="5129221"/>
            <a:ext cx="82295" cy="6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459735" y="5121300"/>
            <a:ext cx="82297" cy="79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542032" y="5111931"/>
            <a:ext cx="82296" cy="936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624328" y="5100907"/>
            <a:ext cx="82296" cy="1102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706624" y="5087999"/>
            <a:ext cx="82295" cy="129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2788919" y="5072961"/>
            <a:ext cx="82297" cy="1503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2871216" y="5055530"/>
            <a:ext cx="82296" cy="174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953512" y="5035430"/>
            <a:ext cx="82296" cy="20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035808" y="5012371"/>
            <a:ext cx="82296" cy="2305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118104" y="4986053"/>
            <a:ext cx="82296" cy="2631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3200400" y="4956174"/>
            <a:ext cx="82296" cy="298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3282696" y="4922430"/>
            <a:ext cx="82296" cy="3374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364992" y="4884524"/>
            <a:ext cx="82296" cy="3790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447288" y="4842171"/>
            <a:ext cx="82296" cy="423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3529584" y="4795108"/>
            <a:ext cx="82296" cy="4706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3611880" y="4743097"/>
            <a:ext cx="82296" cy="5201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694176" y="4685941"/>
            <a:ext cx="82296" cy="571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3776472" y="4623484"/>
            <a:ext cx="82296" cy="6245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3858768" y="4555628"/>
            <a:ext cx="82296" cy="678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941064" y="4482337"/>
            <a:ext cx="82296" cy="7329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4023360" y="4403648"/>
            <a:ext cx="82296" cy="786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4105656" y="4319678"/>
            <a:ext cx="82296" cy="8397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4187952" y="4230631"/>
            <a:ext cx="82296" cy="8904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4270248" y="4136806"/>
            <a:ext cx="82296" cy="9382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4352544" y="4038596"/>
            <a:ext cx="82296" cy="982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4434840" y="3936496"/>
            <a:ext cx="82296" cy="102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4517136" y="3831101"/>
            <a:ext cx="82296" cy="10539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4599432" y="3723102"/>
            <a:ext cx="82296" cy="10799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681728" y="3613285"/>
            <a:ext cx="82296" cy="10981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764024" y="3502525"/>
            <a:ext cx="82296" cy="11076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4846320" y="3391769"/>
            <a:ext cx="82296" cy="1107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928616" y="3282035"/>
            <a:ext cx="82296" cy="10973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5010912" y="3174387"/>
            <a:ext cx="82296" cy="107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5093208" y="3069929"/>
            <a:ext cx="82296" cy="10445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5175504" y="2969777"/>
            <a:ext cx="82296" cy="10015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5257800" y="2875046"/>
            <a:ext cx="82296" cy="947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5340096" y="2786830"/>
            <a:ext cx="82296" cy="8821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5422392" y="2706175"/>
            <a:ext cx="82296" cy="8065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5504688" y="2634067"/>
            <a:ext cx="82296" cy="721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5586984" y="2571403"/>
            <a:ext cx="82296" cy="62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5669280" y="2518982"/>
            <a:ext cx="82296" cy="524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751576" y="2477478"/>
            <a:ext cx="82296" cy="4150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5833872" y="2447435"/>
            <a:ext cx="82296" cy="3004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5916168" y="2429249"/>
            <a:ext cx="82296" cy="1818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5998464" y="2423160"/>
            <a:ext cx="82296" cy="60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6080760" y="2423160"/>
            <a:ext cx="82296" cy="60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6163056" y="2429249"/>
            <a:ext cx="82296" cy="1818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6245352" y="2447435"/>
            <a:ext cx="82296" cy="3004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6327648" y="2477478"/>
            <a:ext cx="82296" cy="4150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6409944" y="2518982"/>
            <a:ext cx="82296" cy="524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6492240" y="2571403"/>
            <a:ext cx="82296" cy="62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6574536" y="2634067"/>
            <a:ext cx="82296" cy="721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656832" y="2706175"/>
            <a:ext cx="82296" cy="8065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6739128" y="2786830"/>
            <a:ext cx="82296" cy="8821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6821424" y="2875046"/>
            <a:ext cx="82296" cy="947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6903720" y="2969777"/>
            <a:ext cx="82296" cy="10015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986016" y="3069929"/>
            <a:ext cx="82296" cy="10445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068312" y="3174387"/>
            <a:ext cx="82296" cy="107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150608" y="3282035"/>
            <a:ext cx="82296" cy="10973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232904" y="3391769"/>
            <a:ext cx="82296" cy="1107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7315200" y="3502525"/>
            <a:ext cx="82296" cy="11076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7397496" y="3613285"/>
            <a:ext cx="82296" cy="10981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7479792" y="3723102"/>
            <a:ext cx="82296" cy="10799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7562088" y="3831101"/>
            <a:ext cx="82296" cy="10539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7644384" y="3936496"/>
            <a:ext cx="82296" cy="102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7726680" y="4038596"/>
            <a:ext cx="82296" cy="982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7808976" y="4136806"/>
            <a:ext cx="82296" cy="9382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7891272" y="4230631"/>
            <a:ext cx="82296" cy="8904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7973568" y="4319678"/>
            <a:ext cx="82296" cy="8397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8055864" y="4403648"/>
            <a:ext cx="82296" cy="786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8138160" y="4482337"/>
            <a:ext cx="82296" cy="7329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8220456" y="4555628"/>
            <a:ext cx="82296" cy="678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8302752" y="4623484"/>
            <a:ext cx="82296" cy="6245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8385048" y="4685941"/>
            <a:ext cx="82296" cy="571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8467344" y="4743097"/>
            <a:ext cx="82296" cy="5201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549640" y="4795108"/>
            <a:ext cx="82296" cy="4706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8631936" y="4842171"/>
            <a:ext cx="82296" cy="423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8714232" y="4884524"/>
            <a:ext cx="82296" cy="3790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8796528" y="4922430"/>
            <a:ext cx="82296" cy="3374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8878824" y="4956174"/>
            <a:ext cx="82296" cy="298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8961120" y="4986053"/>
            <a:ext cx="82296" cy="2631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9043416" y="5012371"/>
            <a:ext cx="82296" cy="2305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9125712" y="5035430"/>
            <a:ext cx="82296" cy="20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9208008" y="5055530"/>
            <a:ext cx="82296" cy="174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9290304" y="5072961"/>
            <a:ext cx="82296" cy="1503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9372600" y="5087999"/>
            <a:ext cx="82296" cy="129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9454896" y="5100907"/>
            <a:ext cx="82296" cy="1102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9537192" y="5111931"/>
            <a:ext cx="82296" cy="936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9619488" y="5121300"/>
            <a:ext cx="82296" cy="79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9701784" y="5129221"/>
            <a:ext cx="82296" cy="6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9784080" y="5135885"/>
            <a:ext cx="82296" cy="558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9866376" y="5141465"/>
            <a:ext cx="82296" cy="4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9948672" y="5146113"/>
            <a:ext cx="82296" cy="38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10030968" y="5149966"/>
            <a:ext cx="82296" cy="31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10113264" y="5153145"/>
            <a:ext cx="82296" cy="26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10195560" y="5155755"/>
            <a:ext cx="82296" cy="213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10277856" y="5157887"/>
            <a:ext cx="82296" cy="173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10360152" y="5159620"/>
            <a:ext cx="82296" cy="140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10442448" y="5161023"/>
            <a:ext cx="82296" cy="112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10524744" y="5162152"/>
            <a:ext cx="82296" cy="90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10607040" y="5163057"/>
            <a:ext cx="82296" cy="72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10689336" y="5163779"/>
            <a:ext cx="82296" cy="57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10771632" y="5164352"/>
            <a:ext cx="82296" cy="4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10853928" y="5164805"/>
            <a:ext cx="82296" cy="3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10936224" y="5165161"/>
            <a:ext cx="82296" cy="27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2377440" y="5135885"/>
            <a:ext cx="0" cy="3047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205740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-3σ</a:t>
            </a:r>
          </a:p>
        </p:txBody>
      </p:sp>
      <p:cxnSp>
        <p:nvCxnSpPr>
          <p:cNvPr id="129" name="Connector 128"/>
          <p:cNvCxnSpPr/>
          <p:nvPr/>
        </p:nvCxnSpPr>
        <p:spPr>
          <a:xfrm flipV="1">
            <a:off x="3611880" y="4795108"/>
            <a:ext cx="0" cy="371252"/>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0" name="TextBox 129"/>
          <p:cNvSpPr txBox="1"/>
          <p:nvPr/>
        </p:nvSpPr>
        <p:spPr>
          <a:xfrm>
            <a:off x="329184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-2σ</a:t>
            </a:r>
          </a:p>
        </p:txBody>
      </p:sp>
      <p:cxnSp>
        <p:nvCxnSpPr>
          <p:cNvPr id="131" name="Connector 130"/>
          <p:cNvCxnSpPr/>
          <p:nvPr/>
        </p:nvCxnSpPr>
        <p:spPr>
          <a:xfrm flipV="1">
            <a:off x="4846320" y="3502525"/>
            <a:ext cx="0" cy="166383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452628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-1σ</a:t>
            </a:r>
          </a:p>
        </p:txBody>
      </p:sp>
      <p:cxnSp>
        <p:nvCxnSpPr>
          <p:cNvPr id="133" name="Connector 132"/>
          <p:cNvCxnSpPr/>
          <p:nvPr/>
        </p:nvCxnSpPr>
        <p:spPr>
          <a:xfrm flipV="1">
            <a:off x="6080760" y="2423160"/>
            <a:ext cx="0" cy="274320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4" name="TextBox 133"/>
          <p:cNvSpPr txBox="1"/>
          <p:nvPr/>
        </p:nvSpPr>
        <p:spPr>
          <a:xfrm>
            <a:off x="576072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μ</a:t>
            </a:r>
          </a:p>
        </p:txBody>
      </p:sp>
      <p:cxnSp>
        <p:nvCxnSpPr>
          <p:cNvPr id="135" name="Connector 134"/>
          <p:cNvCxnSpPr/>
          <p:nvPr/>
        </p:nvCxnSpPr>
        <p:spPr>
          <a:xfrm flipV="1">
            <a:off x="7315200" y="3502525"/>
            <a:ext cx="0" cy="166383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699516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+1σ</a:t>
            </a:r>
          </a:p>
        </p:txBody>
      </p:sp>
      <p:cxnSp>
        <p:nvCxnSpPr>
          <p:cNvPr id="137" name="Connector 136"/>
          <p:cNvCxnSpPr/>
          <p:nvPr/>
        </p:nvCxnSpPr>
        <p:spPr>
          <a:xfrm flipV="1">
            <a:off x="8549640" y="4795108"/>
            <a:ext cx="0" cy="371252"/>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8" name="TextBox 137"/>
          <p:cNvSpPr txBox="1"/>
          <p:nvPr/>
        </p:nvSpPr>
        <p:spPr>
          <a:xfrm>
            <a:off x="822960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+2σ</a:t>
            </a:r>
          </a:p>
        </p:txBody>
      </p:sp>
      <p:cxnSp>
        <p:nvCxnSpPr>
          <p:cNvPr id="139" name="Connector 138"/>
          <p:cNvCxnSpPr/>
          <p:nvPr/>
        </p:nvCxnSpPr>
        <p:spPr>
          <a:xfrm flipV="1">
            <a:off x="9784080" y="5135885"/>
            <a:ext cx="0" cy="3047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946404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+3σ</a:t>
            </a:r>
          </a:p>
        </p:txBody>
      </p:sp>
      <p:cxnSp>
        <p:nvCxnSpPr>
          <p:cNvPr id="141" name="Connector 140"/>
          <p:cNvCxnSpPr/>
          <p:nvPr/>
        </p:nvCxnSpPr>
        <p:spPr>
          <a:xfrm>
            <a:off x="2377440" y="2368296"/>
            <a:ext cx="0" cy="2798064"/>
          </a:xfrm>
          <a:prstGeom prst="line">
            <a:avLst/>
          </a:prstGeom>
          <a:ln w="22860">
            <a:solidFill>
              <a:srgbClr val="DC2C2C"/>
            </a:solidFill>
            <a:prstDash val="dash"/>
          </a:ln>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1920240" y="1929384"/>
            <a:ext cx="914400" cy="292608"/>
          </a:xfrm>
          <a:prstGeom prst="rect">
            <a:avLst/>
          </a:prstGeom>
          <a:noFill/>
        </p:spPr>
        <p:txBody>
          <a:bodyPr wrap="square" anchor="t">
            <a:spAutoFit/>
          </a:bodyPr>
          <a:lstStyle/>
          <a:p>
            <a:pPr algn="ctr">
              <a:spcAft>
                <a:spcPts val="400"/>
              </a:spcAft>
            </a:pPr>
            <a:r>
              <a:rPr sz="1200" b="1">
                <a:solidFill>
                  <a:srgbClr val="DC2C2C"/>
                </a:solidFill>
                <a:latin typeface="Arial"/>
              </a:rPr>
              <a:t>LSL</a:t>
            </a:r>
          </a:p>
        </p:txBody>
      </p:sp>
      <p:cxnSp>
        <p:nvCxnSpPr>
          <p:cNvPr id="143" name="Connector 142"/>
          <p:cNvCxnSpPr/>
          <p:nvPr/>
        </p:nvCxnSpPr>
        <p:spPr>
          <a:xfrm>
            <a:off x="9784080" y="2368296"/>
            <a:ext cx="0" cy="2798064"/>
          </a:xfrm>
          <a:prstGeom prst="line">
            <a:avLst/>
          </a:prstGeom>
          <a:ln w="22860">
            <a:solidFill>
              <a:srgbClr val="DC2C2C"/>
            </a:solidFill>
            <a:prstDash val="dash"/>
          </a:ln>
        </p:spPr>
        <p:style>
          <a:lnRef idx="2">
            <a:schemeClr val="accent1"/>
          </a:lnRef>
          <a:fillRef idx="0">
            <a:schemeClr val="accent1"/>
          </a:fillRef>
          <a:effectRef idx="1">
            <a:schemeClr val="accent1"/>
          </a:effectRef>
          <a:fontRef idx="minor">
            <a:schemeClr val="tx1"/>
          </a:fontRef>
        </p:style>
      </p:cxnSp>
      <p:sp>
        <p:nvSpPr>
          <p:cNvPr id="144" name="TextBox 143"/>
          <p:cNvSpPr txBox="1"/>
          <p:nvPr/>
        </p:nvSpPr>
        <p:spPr>
          <a:xfrm>
            <a:off x="9326880" y="1929384"/>
            <a:ext cx="914400" cy="292608"/>
          </a:xfrm>
          <a:prstGeom prst="rect">
            <a:avLst/>
          </a:prstGeom>
          <a:noFill/>
        </p:spPr>
        <p:txBody>
          <a:bodyPr wrap="square" anchor="t">
            <a:spAutoFit/>
          </a:bodyPr>
          <a:lstStyle/>
          <a:p>
            <a:pPr algn="ctr">
              <a:spcAft>
                <a:spcPts val="400"/>
              </a:spcAft>
            </a:pPr>
            <a:r>
              <a:rPr sz="1200" b="1">
                <a:solidFill>
                  <a:srgbClr val="DC2C2C"/>
                </a:solidFill>
                <a:latin typeface="Arial"/>
              </a:rPr>
              <a:t>USL</a:t>
            </a:r>
          </a:p>
        </p:txBody>
      </p:sp>
      <p:sp>
        <p:nvSpPr>
          <p:cNvPr id="145" name="TextBox 144"/>
          <p:cNvSpPr txBox="1"/>
          <p:nvPr/>
        </p:nvSpPr>
        <p:spPr>
          <a:xfrm>
            <a:off x="777240" y="5715000"/>
            <a:ext cx="10607040" cy="548640"/>
          </a:xfrm>
          <a:prstGeom prst="rect">
            <a:avLst/>
          </a:prstGeom>
          <a:noFill/>
        </p:spPr>
        <p:txBody>
          <a:bodyPr wrap="square" anchor="t">
            <a:spAutoFit/>
          </a:bodyPr>
          <a:lstStyle/>
          <a:p>
            <a:pPr algn="ctr">
              <a:spcAft>
                <a:spcPts val="400"/>
              </a:spcAft>
            </a:pPr>
            <a:r>
              <a:rPr sz="1400" b="0">
                <a:solidFill>
                  <a:srgbClr val="5B6372"/>
                </a:solidFill>
                <a:latin typeface="Arial"/>
              </a:rPr>
              <a:t>With alpha = 0.05 two-tailed, the rejection regions are the outer 2.5 percent in each tail. A test statistic landing there is judged too extreme to be chance alone.</a:t>
            </a:r>
          </a:p>
        </p:txBody>
      </p:sp>
      <p:sp>
        <p:nvSpPr>
          <p:cNvPr id="146" name="TextBox 1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7" name="TextBox 1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8" name="TextBox 1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ANALYZE - RECAP IN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Recap 5 - Correlation and simple regression</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Hypothesis tests tell you IF an X matters. Regression tells you HOW MUCH. This is the foundation everything in the Black Belt half of Analyze is built 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Correlation and simple linear regression</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Correlation r</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r = cov(X,Y) /</a:t>
            </a:r>
          </a:p>
          <a:p>
            <a:pPr algn="ctr">
              <a:spcAft>
                <a:spcPts val="400"/>
              </a:spcAft>
            </a:pPr>
            <a:r>
              <a:rPr sz="1400" b="1">
                <a:solidFill>
                  <a:srgbClr val="161B26"/>
                </a:solidFill>
                <a:latin typeface="Arial"/>
              </a:rPr>
              <a:t>(s_x x s_y)</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Meridian oven zone-3 temp vs yield: r = -0.72. Strong negative linear relationship.</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Coefficient of</a:t>
            </a:r>
          </a:p>
          <a:p>
            <a:pPr algn="l">
              <a:spcAft>
                <a:spcPts val="400"/>
              </a:spcAft>
            </a:pPr>
            <a:r>
              <a:rPr sz="1500" b="1">
                <a:solidFill>
                  <a:srgbClr val="10B981"/>
                </a:solidFill>
                <a:latin typeface="Arial"/>
              </a:rPr>
              <a:t>determination</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R-squared = r^2</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r = -0.72 gives R-squared = 0.52. Oven temperature explains 52 percent of yield variation.</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Regression line</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Y = b0 + b1 X</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Yield = 118.4 - 0.104 x (oven temp C). Each extra degree costs 0.104 pp of yield.</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Slope meaning</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b1 = change in Y per</a:t>
            </a:r>
          </a:p>
          <a:p>
            <a:pPr algn="ctr">
              <a:spcAft>
                <a:spcPts val="400"/>
              </a:spcAft>
            </a:pPr>
            <a:r>
              <a:rPr sz="1400" b="1">
                <a:solidFill>
                  <a:srgbClr val="161B26"/>
                </a:solidFill>
                <a:latin typeface="Arial"/>
              </a:rPr>
              <a:t>one unit change in X</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Running 6 C hotter costs 0.62 pp yield = about 1,300 units a year at Penang volume.</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Always plot the scatter before trusting r. A curved or clustered relationship can produce a misleading r.</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ANALYZE - RECAP IN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Correlation is not causation - the four explanations</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X CAUSES Y</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one you hope for</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mechanism is physically plausible</a:t>
            </a:r>
          </a:p>
          <a:p>
            <a:pPr>
              <a:spcAft>
                <a:spcPts val="700"/>
              </a:spcAft>
            </a:pPr>
            <a:r>
              <a:rPr sz="1200">
                <a:solidFill>
                  <a:srgbClr val="161B26"/>
                </a:solidFill>
                <a:latin typeface="Arial"/>
              </a:rPr>
              <a:t>•  X precedes Y in time</a:t>
            </a:r>
          </a:p>
          <a:p>
            <a:pPr>
              <a:spcAft>
                <a:spcPts val="700"/>
              </a:spcAft>
            </a:pPr>
            <a:r>
              <a:rPr sz="1200">
                <a:solidFill>
                  <a:srgbClr val="161B26"/>
                </a:solidFill>
                <a:latin typeface="Arial"/>
              </a:rPr>
              <a:t>•  Changing X in a trial changes Y</a:t>
            </a:r>
          </a:p>
          <a:p>
            <a:pPr>
              <a:spcAft>
                <a:spcPts val="700"/>
              </a:spcAft>
            </a:pPr>
            <a:r>
              <a:rPr sz="1200">
                <a:solidFill>
                  <a:srgbClr val="161B26"/>
                </a:solidFill>
                <a:latin typeface="Arial"/>
              </a:rPr>
              <a:t>•  Meridian: reflow temperature -&gt; solder joint quality</a:t>
            </a:r>
          </a:p>
          <a:p>
            <a:pPr>
              <a:spcAft>
                <a:spcPts val="700"/>
              </a:spcAft>
            </a:pPr>
            <a:r>
              <a:rPr sz="1200">
                <a:solidFill>
                  <a:srgbClr val="161B26"/>
                </a:solidFill>
                <a:latin typeface="Arial"/>
              </a:rPr>
              <a:t>•  Only a designed experiment can confirm this</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Y CAUSES X</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Reverse causation</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arrow runs the other way</a:t>
            </a:r>
          </a:p>
          <a:p>
            <a:pPr>
              <a:spcAft>
                <a:spcPts val="700"/>
              </a:spcAft>
            </a:pPr>
            <a:r>
              <a:rPr sz="1200">
                <a:solidFill>
                  <a:srgbClr val="161B26"/>
                </a:solidFill>
                <a:latin typeface="Arial"/>
              </a:rPr>
              <a:t>•  Meridian: high scrap correlates with more inspectors</a:t>
            </a:r>
          </a:p>
          <a:p>
            <a:pPr>
              <a:spcAft>
                <a:spcPts val="700"/>
              </a:spcAft>
            </a:pPr>
            <a:r>
              <a:rPr sz="1200">
                <a:solidFill>
                  <a:srgbClr val="161B26"/>
                </a:solidFill>
                <a:latin typeface="Arial"/>
              </a:rPr>
              <a:t>•  The scrap did not come from the inspectors</a:t>
            </a:r>
          </a:p>
          <a:p>
            <a:pPr>
              <a:spcAft>
                <a:spcPts val="700"/>
              </a:spcAft>
            </a:pPr>
            <a:r>
              <a:rPr sz="1200">
                <a:solidFill>
                  <a:srgbClr val="161B26"/>
                </a:solidFill>
                <a:latin typeface="Arial"/>
              </a:rPr>
              <a:t>•  The inspectors were added BECAUSE of the scrap</a:t>
            </a:r>
          </a:p>
          <a:p>
            <a:pPr>
              <a:spcAft>
                <a:spcPts val="700"/>
              </a:spcAft>
            </a:pPr>
            <a:r>
              <a:rPr sz="1200">
                <a:solidFill>
                  <a:srgbClr val="161B26"/>
                </a:solidFill>
                <a:latin typeface="Arial"/>
              </a:rPr>
              <a:t>•  Check which came first before writing the story</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A THIRD VARIABLE</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Confounding or coincidence</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Z drives both X and Y</a:t>
            </a:r>
          </a:p>
          <a:p>
            <a:pPr>
              <a:spcAft>
                <a:spcPts val="700"/>
              </a:spcAft>
            </a:pPr>
            <a:r>
              <a:rPr sz="1200">
                <a:solidFill>
                  <a:srgbClr val="161B26"/>
                </a:solidFill>
                <a:latin typeface="Arial"/>
              </a:rPr>
              <a:t>•  Meridian: humidity drives both scrap and absenteeism</a:t>
            </a:r>
          </a:p>
          <a:p>
            <a:pPr>
              <a:spcAft>
                <a:spcPts val="700"/>
              </a:spcAft>
            </a:pPr>
            <a:r>
              <a:rPr sz="1200">
                <a:solidFill>
                  <a:srgbClr val="161B26"/>
                </a:solidFill>
                <a:latin typeface="Arial"/>
              </a:rPr>
              <a:t>•  Or pure coincidence in a small sample</a:t>
            </a:r>
          </a:p>
          <a:p>
            <a:pPr>
              <a:spcAft>
                <a:spcPts val="700"/>
              </a:spcAft>
            </a:pPr>
            <a:r>
              <a:rPr sz="1200">
                <a:solidFill>
                  <a:srgbClr val="161B26"/>
                </a:solidFill>
                <a:latin typeface="Arial"/>
              </a:rPr>
              <a:t>•  Or you tested 40 Xs and 2 came up 'significant' by chance</a:t>
            </a:r>
          </a:p>
          <a:p>
            <a:pPr>
              <a:spcAft>
                <a:spcPts val="700"/>
              </a:spcAft>
            </a:pPr>
            <a:r>
              <a:rPr sz="1200">
                <a:solidFill>
                  <a:srgbClr val="161B26"/>
                </a:solidFill>
                <a:latin typeface="Arial"/>
              </a:rPr>
              <a:t>•  This is why a Black Belt confirms in Improve with a DOE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ANALYZE - BLACK BELT ONLY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BLACK BELT ONLY - Multiple regression</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Green Belt models Y against one X. Real processes have several Xs acting at once, and they are correlated with each other. From here on, this is beyond Green Belt.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multiple regression model</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The model</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Y = b0 + b1X1 + b2X2</a:t>
            </a:r>
          </a:p>
          <a:p>
            <a:pPr algn="ctr">
              <a:spcAft>
                <a:spcPts val="400"/>
              </a:spcAft>
            </a:pPr>
            <a:r>
              <a:rPr sz="1400" b="1">
                <a:solidFill>
                  <a:srgbClr val="161B26"/>
                </a:solidFill>
                <a:latin typeface="Arial"/>
              </a:rPr>
              <a:t>+ ... + bkXk + e</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Y = first-pass yield; X1 oven temp, X2 humidity, X3 paste age, X4 line speed.</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Intercept b0</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Predicted Y when every</a:t>
            </a:r>
          </a:p>
          <a:p>
            <a:pPr algn="ctr">
              <a:spcAft>
                <a:spcPts val="400"/>
              </a:spcAft>
            </a:pPr>
            <a:r>
              <a:rPr sz="1400" b="1">
                <a:solidFill>
                  <a:srgbClr val="161B26"/>
                </a:solidFill>
                <a:latin typeface="Arial"/>
              </a:rPr>
              <a:t>X equals zero</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b0 = 118.4. Often has no physical meaning - do not over-interpret it.</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Coefficient bi</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Change in Y per unit of Xi,</a:t>
            </a:r>
          </a:p>
          <a:p>
            <a:pPr algn="ctr">
              <a:spcAft>
                <a:spcPts val="400"/>
              </a:spcAft>
            </a:pPr>
            <a:r>
              <a:rPr sz="1400" b="1">
                <a:solidFill>
                  <a:srgbClr val="161B26"/>
                </a:solidFill>
                <a:latin typeface="Arial"/>
              </a:rPr>
              <a:t>HOLDING all other Xs CONSTANT</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b1 = -0.081: one extra degree C costs 0.081 pp yield at fixed humidity, paste age and speed.</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Error term e</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Everything the model</a:t>
            </a:r>
          </a:p>
          <a:p>
            <a:pPr algn="ctr">
              <a:spcAft>
                <a:spcPts val="400"/>
              </a:spcAft>
            </a:pPr>
            <a:r>
              <a:rPr sz="1400" b="1">
                <a:solidFill>
                  <a:srgbClr val="161B26"/>
                </a:solidFill>
                <a:latin typeface="Arial"/>
              </a:rPr>
              <a:t>does not explain</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Assumed independent, normal, mean zero, constant variance. The residuals test this.</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'Holding other Xs constant' is the whole point of multiple regression, and the phrase Green Belts most often omit.</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fitted model - first-pass yield</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Fitted equation</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Yield = 118.4 - 0.081(Temp)</a:t>
            </a:r>
          </a:p>
          <a:p>
            <a:pPr algn="ctr">
              <a:spcAft>
                <a:spcPts val="400"/>
              </a:spcAft>
            </a:pPr>
            <a:r>
              <a:rPr sz="1400" b="1">
                <a:solidFill>
                  <a:srgbClr val="161B26"/>
                </a:solidFill>
                <a:latin typeface="Arial"/>
              </a:rPr>
              <a:t>- 0.147(Humidity)</a:t>
            </a:r>
          </a:p>
          <a:p>
            <a:pPr algn="ctr">
              <a:spcAft>
                <a:spcPts val="400"/>
              </a:spcAft>
            </a:pPr>
            <a:r>
              <a:rPr sz="1400" b="1">
                <a:solidFill>
                  <a:srgbClr val="161B26"/>
                </a:solidFill>
                <a:latin typeface="Arial"/>
              </a:rPr>
              <a:t>- 0.043(PasteAge) + 0.019(Speed)</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Fitted on 180 lots across all 6 lines over 9 months of production data.</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Coefficient p-values</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Temp .000, Humidity .001</a:t>
            </a:r>
          </a:p>
          <a:p>
            <a:pPr algn="ctr">
              <a:spcAft>
                <a:spcPts val="400"/>
              </a:spcAft>
            </a:pPr>
            <a:r>
              <a:rPr sz="1400" b="1">
                <a:solidFill>
                  <a:srgbClr val="161B26"/>
                </a:solidFill>
                <a:latin typeface="Arial"/>
              </a:rPr>
              <a:t>PasteAge .014, Speed .382</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Line speed is not significant at alpha .05 - it is a candidate for removal.</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Model fit</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R-squared = 0.741</a:t>
            </a:r>
          </a:p>
          <a:p>
            <a:pPr algn="ctr">
              <a:spcAft>
                <a:spcPts val="400"/>
              </a:spcAft>
            </a:pPr>
            <a:r>
              <a:rPr sz="1400" b="1">
                <a:solidFill>
                  <a:srgbClr val="161B26"/>
                </a:solidFill>
                <a:latin typeface="Arial"/>
              </a:rPr>
              <a:t>adj R-squared = 0.735</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The four Xs together explain about 74 percent of yield variation between lots.</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Read the coefficient WITH its p-value. A large coefficient with p = 0.38 is noise dressed as insight.</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Interpreting a coefficient the right way</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SAY THIS</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Correct and defensible</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Each 1 C rise in oven temp is associated with 0.081 pp lower yield</a:t>
            </a:r>
          </a:p>
          <a:p>
            <a:pPr>
              <a:spcAft>
                <a:spcPts val="700"/>
              </a:spcAft>
            </a:pPr>
            <a:r>
              <a:rPr sz="1200">
                <a:solidFill>
                  <a:srgbClr val="161B26"/>
                </a:solidFill>
                <a:latin typeface="Arial"/>
              </a:rPr>
              <a:t>•  ...holding humidity, paste age and line speed constant</a:t>
            </a:r>
          </a:p>
          <a:p>
            <a:pPr>
              <a:spcAft>
                <a:spcPts val="700"/>
              </a:spcAft>
            </a:pPr>
            <a:r>
              <a:rPr sz="1200">
                <a:solidFill>
                  <a:srgbClr val="161B26"/>
                </a:solidFill>
                <a:latin typeface="Arial"/>
              </a:rPr>
              <a:t>•  ...within the observed range of 232 to 251 C</a:t>
            </a:r>
          </a:p>
          <a:p>
            <a:pPr>
              <a:spcAft>
                <a:spcPts val="700"/>
              </a:spcAft>
            </a:pPr>
            <a:r>
              <a:rPr sz="1200">
                <a:solidFill>
                  <a:srgbClr val="161B26"/>
                </a:solidFill>
                <a:latin typeface="Arial"/>
              </a:rPr>
              <a:t>•  ...with 95 percent CI [-0.104, -0.058]</a:t>
            </a:r>
          </a:p>
          <a:p>
            <a:pPr>
              <a:spcAft>
                <a:spcPts val="700"/>
              </a:spcAft>
            </a:pPr>
            <a:r>
              <a:rPr sz="1200">
                <a:solidFill>
                  <a:srgbClr val="161B26"/>
                </a:solidFill>
                <a:latin typeface="Arial"/>
              </a:rPr>
              <a:t>•  Association, quantified, bounded, with uncertainty</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NOT THIS</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Overclaims a Black Belt must catch</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'Temperature causes 0.081 pp of yield loss' - regression is not a DOE</a:t>
            </a:r>
          </a:p>
          <a:p>
            <a:pPr>
              <a:spcAft>
                <a:spcPts val="700"/>
              </a:spcAft>
            </a:pPr>
            <a:r>
              <a:rPr sz="1200">
                <a:solidFill>
                  <a:srgbClr val="161B26"/>
                </a:solidFill>
                <a:latin typeface="Arial"/>
              </a:rPr>
              <a:t>•  'Cutting temp 20 C gains 1.6 pp' - extrapolating outside the data range</a:t>
            </a:r>
          </a:p>
          <a:p>
            <a:pPr>
              <a:spcAft>
                <a:spcPts val="700"/>
              </a:spcAft>
            </a:pPr>
            <a:r>
              <a:rPr sz="1200">
                <a:solidFill>
                  <a:srgbClr val="161B26"/>
                </a:solidFill>
                <a:latin typeface="Arial"/>
              </a:rPr>
              <a:t>•  'Temp is the biggest driver' - coefficients in different units are not comparable</a:t>
            </a:r>
          </a:p>
          <a:p>
            <a:pPr>
              <a:spcAft>
                <a:spcPts val="700"/>
              </a:spcAft>
            </a:pPr>
            <a:r>
              <a:rPr sz="1200">
                <a:solidFill>
                  <a:srgbClr val="161B26"/>
                </a:solidFill>
                <a:latin typeface="Arial"/>
              </a:rPr>
              <a:t>•  'The model explains yield' - it explains 74 percent of the VARIATION observed</a:t>
            </a:r>
          </a:p>
          <a:p>
            <a:pPr>
              <a:spcAft>
                <a:spcPts val="700"/>
              </a:spcAft>
            </a:pPr>
            <a:r>
              <a:rPr sz="1200">
                <a:solidFill>
                  <a:srgbClr val="161B26"/>
                </a:solidFill>
                <a:latin typeface="Arial"/>
              </a:rPr>
              <a:t>•  Any causal verb without an experiment behind it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Backward elimination - building a parsimonious model</a:t>
            </a:r>
          </a:p>
        </p:txBody>
      </p:sp>
      <p:sp>
        <p:nvSpPr>
          <p:cNvPr id="6" name="Rectangle 5"/>
          <p:cNvSpPr/>
          <p:nvPr/>
        </p:nvSpPr>
        <p:spPr>
          <a:xfrm>
            <a:off x="77724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78892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Fit the full model with every candidate X you have reason to include</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601468"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404872"/>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78892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Find the term with the highest p-value above your cutoff, typically 0.10</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4425696"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404872"/>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78892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Remove that single term and refit the entire model</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6249924"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404872"/>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78892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Check adjusted R-squared - it should hold or rise, never drop materially</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8074152"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404872"/>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78892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Repeat until every remaining term is significant</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6" name="Rectangle 35"/>
          <p:cNvSpPr/>
          <p:nvPr/>
        </p:nvSpPr>
        <p:spPr>
          <a:xfrm>
            <a:off x="989838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404872"/>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78892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Validate the final model on held-out data before you present it</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Backward elimination on the Meridian model</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Step 0 - full model</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4 terms, adj R2 = 0.735</a:t>
            </a:r>
          </a:p>
          <a:p>
            <a:pPr algn="ctr">
              <a:spcAft>
                <a:spcPts val="400"/>
              </a:spcAft>
            </a:pPr>
            <a:r>
              <a:rPr sz="1400" b="1">
                <a:solidFill>
                  <a:srgbClr val="161B26"/>
                </a:solidFill>
                <a:latin typeface="Arial"/>
              </a:rPr>
              <a:t>Speed p = 0.382</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Speed has the highest p-value and is well above the 0.10 cutoff. Remove it.</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Step 1 - refit</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3 terms, adj R2 = 0.737</a:t>
            </a:r>
          </a:p>
          <a:p>
            <a:pPr algn="ctr">
              <a:spcAft>
                <a:spcPts val="400"/>
              </a:spcAft>
            </a:pPr>
            <a:r>
              <a:rPr sz="1400" b="1">
                <a:solidFill>
                  <a:srgbClr val="161B26"/>
                </a:solidFill>
                <a:latin typeface="Arial"/>
              </a:rPr>
              <a:t>PasteAge p = 0.011</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Adjusted R-squared actually ROSE. Speed was costing more than it contributed.</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Step 2 - check</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All p-values below 0.05</a:t>
            </a:r>
          </a:p>
          <a:p>
            <a:pPr algn="ctr">
              <a:spcAft>
                <a:spcPts val="400"/>
              </a:spcAft>
            </a:pPr>
            <a:r>
              <a:rPr sz="1400" b="1">
                <a:solidFill>
                  <a:srgbClr val="161B26"/>
                </a:solidFill>
                <a:latin typeface="Arial"/>
              </a:rPr>
              <a:t>adj R2 = 0.737</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Final model: Yield = 119.1 - 0.079(Temp) - 0.151(Humidity) - 0.045(PasteAge).</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Never remove more than one term at a time - removing an X changes every other coefficient in the model.</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Overfitting - the trap that ends careers</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WHAT IT LOOKS LIKE</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Suspiciously good</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R-squared of 0.97 on 24 data points with 9 terms</a:t>
            </a:r>
          </a:p>
          <a:p>
            <a:pPr>
              <a:spcAft>
                <a:spcPts val="700"/>
              </a:spcAft>
            </a:pPr>
            <a:r>
              <a:rPr sz="1200">
                <a:solidFill>
                  <a:srgbClr val="161B26"/>
                </a:solidFill>
                <a:latin typeface="Arial"/>
              </a:rPr>
              <a:t>•  Every coefficient significant, none physically explainable</a:t>
            </a:r>
          </a:p>
          <a:p>
            <a:pPr>
              <a:spcAft>
                <a:spcPts val="700"/>
              </a:spcAft>
            </a:pPr>
            <a:r>
              <a:rPr sz="1200">
                <a:solidFill>
                  <a:srgbClr val="161B26"/>
                </a:solidFill>
                <a:latin typeface="Arial"/>
              </a:rPr>
              <a:t>•  Interaction and quadratic terms nobody can justify</a:t>
            </a:r>
          </a:p>
          <a:p>
            <a:pPr>
              <a:spcAft>
                <a:spcPts val="700"/>
              </a:spcAft>
            </a:pPr>
            <a:r>
              <a:rPr sz="1200">
                <a:solidFill>
                  <a:srgbClr val="161B26"/>
                </a:solidFill>
                <a:latin typeface="Arial"/>
              </a:rPr>
              <a:t>•  The model predicts the training data almost perfectly</a:t>
            </a:r>
          </a:p>
          <a:p>
            <a:pPr>
              <a:spcAft>
                <a:spcPts val="700"/>
              </a:spcAft>
            </a:pPr>
            <a:r>
              <a:rPr sz="1200">
                <a:solidFill>
                  <a:srgbClr val="161B26"/>
                </a:solidFill>
                <a:latin typeface="Arial"/>
              </a:rPr>
              <a:t>•  It fails completely on next month's production</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WHY IT HAPPENS</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model learns noise</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Too many terms relative to the number of observations</a:t>
            </a:r>
          </a:p>
          <a:p>
            <a:pPr>
              <a:spcAft>
                <a:spcPts val="700"/>
              </a:spcAft>
            </a:pPr>
            <a:r>
              <a:rPr sz="1200">
                <a:solidFill>
                  <a:srgbClr val="161B26"/>
                </a:solidFill>
                <a:latin typeface="Arial"/>
              </a:rPr>
              <a:t>•  Terms chosen by p-value hunting, not by process knowledge</a:t>
            </a:r>
          </a:p>
          <a:p>
            <a:pPr>
              <a:spcAft>
                <a:spcPts val="700"/>
              </a:spcAft>
            </a:pPr>
            <a:r>
              <a:rPr sz="1200">
                <a:solidFill>
                  <a:srgbClr val="161B26"/>
                </a:solidFill>
                <a:latin typeface="Arial"/>
              </a:rPr>
              <a:t>•  The same data used to both build and judge the model</a:t>
            </a:r>
          </a:p>
          <a:p>
            <a:pPr>
              <a:spcAft>
                <a:spcPts val="700"/>
              </a:spcAft>
            </a:pPr>
            <a:r>
              <a:rPr sz="1200">
                <a:solidFill>
                  <a:srgbClr val="161B26"/>
                </a:solidFill>
                <a:latin typeface="Arial"/>
              </a:rPr>
              <a:t>•  Rule of thumb: at least 10 to 15 observations per term</a:t>
            </a:r>
          </a:p>
          <a:p>
            <a:pPr>
              <a:spcAft>
                <a:spcPts val="700"/>
              </a:spcAft>
            </a:pPr>
            <a:r>
              <a:rPr sz="1200">
                <a:solidFill>
                  <a:srgbClr val="161B26"/>
                </a:solidFill>
                <a:latin typeface="Arial"/>
              </a:rPr>
              <a:t>•  Meridian: 180 lots supports about 12 terms, not 40</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HOW TO PREVENT IT</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Discipline, not software</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Hold out 20 to 30 percent of the data before you start modelling</a:t>
            </a:r>
          </a:p>
          <a:p>
            <a:pPr>
              <a:spcAft>
                <a:spcPts val="700"/>
              </a:spcAft>
            </a:pPr>
            <a:r>
              <a:rPr sz="1200">
                <a:solidFill>
                  <a:srgbClr val="161B26"/>
                </a:solidFill>
                <a:latin typeface="Arial"/>
              </a:rPr>
              <a:t>•  Fit on the training set only, never touch the holdout</a:t>
            </a:r>
          </a:p>
          <a:p>
            <a:pPr>
              <a:spcAft>
                <a:spcPts val="700"/>
              </a:spcAft>
            </a:pPr>
            <a:r>
              <a:rPr sz="1200">
                <a:solidFill>
                  <a:srgbClr val="161B26"/>
                </a:solidFill>
                <a:latin typeface="Arial"/>
              </a:rPr>
              <a:t>•  Compare R-squared on training vs holdout - a big drop means overfit</a:t>
            </a:r>
          </a:p>
          <a:p>
            <a:pPr>
              <a:spcAft>
                <a:spcPts val="700"/>
              </a:spcAft>
            </a:pPr>
            <a:r>
              <a:rPr sz="1200">
                <a:solidFill>
                  <a:srgbClr val="161B26"/>
                </a:solidFill>
                <a:latin typeface="Arial"/>
              </a:rPr>
              <a:t>•  Prefer terms you can explain physically</a:t>
            </a:r>
          </a:p>
          <a:p>
            <a:pPr>
              <a:spcAft>
                <a:spcPts val="700"/>
              </a:spcAft>
            </a:pPr>
            <a:r>
              <a:rPr sz="1200">
                <a:solidFill>
                  <a:srgbClr val="161B26"/>
                </a:solidFill>
                <a:latin typeface="Arial"/>
              </a:rPr>
              <a:t>•  Judge on adjusted R-squared, and keep the model small</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Validating the Meridian model on held-out data</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Split</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180 lots -&gt;</a:t>
            </a:r>
          </a:p>
          <a:p>
            <a:pPr algn="ctr">
              <a:spcAft>
                <a:spcPts val="400"/>
              </a:spcAft>
            </a:pPr>
            <a:r>
              <a:rPr sz="1400" b="1">
                <a:solidFill>
                  <a:srgbClr val="161B26"/>
                </a:solidFill>
                <a:latin typeface="Arial"/>
              </a:rPr>
              <a:t>135 train / 45 holdout</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Split by TIME: months 1-7 train, months 8-9 holdout. Mimics real deployment.</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Training fit</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adj R2 = 0.737</a:t>
            </a:r>
          </a:p>
          <a:p>
            <a:pPr algn="ctr">
              <a:spcAft>
                <a:spcPts val="400"/>
              </a:spcAft>
            </a:pPr>
            <a:r>
              <a:rPr sz="1400" b="1">
                <a:solidFill>
                  <a:srgbClr val="161B26"/>
                </a:solidFill>
                <a:latin typeface="Arial"/>
              </a:rPr>
              <a:t>RMSE = 1.12 pp</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Fitted on 135 lots. Three terms, all significant at alpha 0.05.</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Holdout performance</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R2 on holdout = 0.708</a:t>
            </a:r>
          </a:p>
          <a:p>
            <a:pPr algn="ctr">
              <a:spcAft>
                <a:spcPts val="400"/>
              </a:spcAft>
            </a:pPr>
            <a:r>
              <a:rPr sz="1400" b="1">
                <a:solidFill>
                  <a:srgbClr val="161B26"/>
                </a:solidFill>
                <a:latin typeface="Arial"/>
              </a:rPr>
              <a:t>RMSE = 1.24 pp</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Only a small drop - the model generalises. A drop to R2 0.31 would mean overfit.</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If holdout performance collapses, the model is describing last quarter, not the process. Do not present it.</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ANALYZE - BLACK BELT ONLY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BLACK BELT ONLY - Model diagnostics</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model that FITS is not yet a model that is VALID. Adjusted R-squared says nothing about whether the assumptions hold. The residuals do.</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four residual plots you must always produce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Residuals vs FITTED</a:t>
            </a:r>
          </a:p>
          <a:p>
            <a:pPr algn="l">
              <a:spcAft>
                <a:spcPts val="300"/>
              </a:spcAft>
            </a:pPr>
            <a:r>
              <a:rPr sz="1200" b="0">
                <a:solidFill>
                  <a:srgbClr val="5B6372"/>
                </a:solidFill>
                <a:latin typeface="Arial"/>
              </a:rPr>
              <a:t>Should be a formless cloud. Any pattern means the model is wrong.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Normal probability plot</a:t>
            </a:r>
          </a:p>
          <a:p>
            <a:pPr algn="l">
              <a:spcAft>
                <a:spcPts val="300"/>
              </a:spcAft>
            </a:pPr>
            <a:r>
              <a:rPr sz="1200" b="0">
                <a:solidFill>
                  <a:srgbClr val="5B6372"/>
                </a:solidFill>
                <a:latin typeface="Arial"/>
              </a:rPr>
              <a:t>Residuals should follow the straight line - confirms the normality assumption.</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Residuals vs ORDER</a:t>
            </a:r>
          </a:p>
          <a:p>
            <a:pPr algn="l">
              <a:spcAft>
                <a:spcPts val="300"/>
              </a:spcAft>
            </a:pPr>
            <a:r>
              <a:rPr sz="1200" b="0">
                <a:solidFill>
                  <a:srgbClr val="5B6372"/>
                </a:solidFill>
                <a:latin typeface="Arial"/>
              </a:rPr>
              <a:t>Plotted in time order. Any drift or cycling means the errors are not independent.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Histogram of residuals</a:t>
            </a:r>
          </a:p>
          <a:p>
            <a:pPr algn="l">
              <a:spcAft>
                <a:spcPts val="300"/>
              </a:spcAft>
            </a:pPr>
            <a:r>
              <a:rPr sz="1200" b="0">
                <a:solidFill>
                  <a:srgbClr val="5B6372"/>
                </a:solidFill>
                <a:latin typeface="Arial"/>
              </a:rPr>
              <a:t>Should look roughly bell shaped and centred on zero</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Residuals vs each X</a:t>
            </a:r>
          </a:p>
          <a:p>
            <a:pPr algn="l">
              <a:spcAft>
                <a:spcPts val="300"/>
              </a:spcAft>
            </a:pPr>
            <a:r>
              <a:rPr sz="1200" b="0">
                <a:solidFill>
                  <a:srgbClr val="5B6372"/>
                </a:solidFill>
                <a:latin typeface="Arial"/>
              </a:rPr>
              <a:t>Curvature against one X shows exactly which term needs a quadratic</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rule</a:t>
            </a:r>
          </a:p>
          <a:p>
            <a:pPr algn="l">
              <a:spcAft>
                <a:spcPts val="300"/>
              </a:spcAft>
            </a:pPr>
            <a:r>
              <a:rPr sz="1200" b="0">
                <a:solidFill>
                  <a:srgbClr val="5B6372"/>
                </a:solidFill>
                <a:latin typeface="Arial"/>
              </a:rPr>
              <a:t>If any plot shows structure, the model is not finished - fix it before presenting</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Residuals vs fitted - diagnosing the shape</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FUNNEL SHAPE</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Non-constant variance</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Spread widens as fitted values rise (heteroscedasticity)</a:t>
            </a:r>
          </a:p>
          <a:p>
            <a:pPr>
              <a:spcAft>
                <a:spcPts val="700"/>
              </a:spcAft>
            </a:pPr>
            <a:r>
              <a:rPr sz="1200">
                <a:solidFill>
                  <a:srgbClr val="161B26"/>
                </a:solidFill>
                <a:latin typeface="Arial"/>
              </a:rPr>
              <a:t>•  Prediction intervals are wrong at the wide end</a:t>
            </a:r>
          </a:p>
          <a:p>
            <a:pPr>
              <a:spcAft>
                <a:spcPts val="700"/>
              </a:spcAft>
            </a:pPr>
            <a:r>
              <a:rPr sz="1200">
                <a:solidFill>
                  <a:srgbClr val="161B26"/>
                </a:solidFill>
                <a:latin typeface="Arial"/>
              </a:rPr>
              <a:t>•  Meridian: yield errors are larger at low-yield lots</a:t>
            </a:r>
          </a:p>
          <a:p>
            <a:pPr>
              <a:spcAft>
                <a:spcPts val="700"/>
              </a:spcAft>
            </a:pPr>
            <a:r>
              <a:rPr sz="1200">
                <a:solidFill>
                  <a:srgbClr val="161B26"/>
                </a:solidFill>
                <a:latin typeface="Arial"/>
              </a:rPr>
              <a:t>•  Fix: transform Y (log or Box-Cox), or use weighted regression</a:t>
            </a:r>
          </a:p>
          <a:p>
            <a:pPr>
              <a:spcAft>
                <a:spcPts val="700"/>
              </a:spcAft>
            </a:pPr>
            <a:r>
              <a:rPr sz="1200">
                <a:solidFill>
                  <a:srgbClr val="161B26"/>
                </a:solidFill>
                <a:latin typeface="Arial"/>
              </a:rPr>
              <a:t>•  Do NOT just report it and move on</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CURVATURE</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 missing quadratic term</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Residuals arc: negative, then positive, then negative</a:t>
            </a:r>
          </a:p>
          <a:p>
            <a:pPr>
              <a:spcAft>
                <a:spcPts val="700"/>
              </a:spcAft>
            </a:pPr>
            <a:r>
              <a:rPr sz="1200">
                <a:solidFill>
                  <a:srgbClr val="161B26"/>
                </a:solidFill>
                <a:latin typeface="Arial"/>
              </a:rPr>
              <a:t>•  The relationship is real but not linear</a:t>
            </a:r>
          </a:p>
          <a:p>
            <a:pPr>
              <a:spcAft>
                <a:spcPts val="700"/>
              </a:spcAft>
            </a:pPr>
            <a:r>
              <a:rPr sz="1200">
                <a:solidFill>
                  <a:srgbClr val="161B26"/>
                </a:solidFill>
                <a:latin typeface="Arial"/>
              </a:rPr>
              <a:t>•  Meridian: yield falls off at BOTH low and high oven temperature</a:t>
            </a:r>
          </a:p>
          <a:p>
            <a:pPr>
              <a:spcAft>
                <a:spcPts val="700"/>
              </a:spcAft>
            </a:pPr>
            <a:r>
              <a:rPr sz="1200">
                <a:solidFill>
                  <a:srgbClr val="161B26"/>
                </a:solidFill>
                <a:latin typeface="Arial"/>
              </a:rPr>
              <a:t>•  Fix: add a squared term (Temp^2) and refit</a:t>
            </a:r>
          </a:p>
          <a:p>
            <a:pPr>
              <a:spcAft>
                <a:spcPts val="700"/>
              </a:spcAft>
            </a:pPr>
            <a:r>
              <a:rPr sz="1200">
                <a:solidFill>
                  <a:srgbClr val="161B26"/>
                </a:solidFill>
                <a:latin typeface="Arial"/>
              </a:rPr>
              <a:t>•  Adjusted R-squared usually jumps sharply when you do</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DRIFT vs ORDER</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Autocorrelation</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Residuals plotted in time order trend or cycle</a:t>
            </a:r>
          </a:p>
          <a:p>
            <a:pPr>
              <a:spcAft>
                <a:spcPts val="700"/>
              </a:spcAft>
            </a:pPr>
            <a:r>
              <a:rPr sz="1200">
                <a:solidFill>
                  <a:srgbClr val="161B26"/>
                </a:solidFill>
                <a:latin typeface="Arial"/>
              </a:rPr>
              <a:t>•  The independence assumption is violated - p-values are wrong</a:t>
            </a:r>
          </a:p>
          <a:p>
            <a:pPr>
              <a:spcAft>
                <a:spcPts val="700"/>
              </a:spcAft>
            </a:pPr>
            <a:r>
              <a:rPr sz="1200">
                <a:solidFill>
                  <a:srgbClr val="161B26"/>
                </a:solidFill>
                <a:latin typeface="Arial"/>
              </a:rPr>
              <a:t>•  Meridian: paste age drifts up through the week and resets Monday</a:t>
            </a:r>
          </a:p>
          <a:p>
            <a:pPr>
              <a:spcAft>
                <a:spcPts val="700"/>
              </a:spcAft>
            </a:pPr>
            <a:r>
              <a:rPr sz="1200">
                <a:solidFill>
                  <a:srgbClr val="161B26"/>
                </a:solidFill>
                <a:latin typeface="Arial"/>
              </a:rPr>
              <a:t>•  Fix: add the time-varying X to the model, or use a time-series method</a:t>
            </a:r>
          </a:p>
          <a:p>
            <a:pPr>
              <a:spcAft>
                <a:spcPts val="700"/>
              </a:spcAft>
            </a:pPr>
            <a:r>
              <a:rPr sz="1200">
                <a:solidFill>
                  <a:srgbClr val="161B26"/>
                </a:solidFill>
                <a:latin typeface="Arial"/>
              </a:rPr>
              <a:t>•  Never ignore - this makes every p-value optimistic</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to do when a residual plot shows structure</a:t>
            </a:r>
          </a:p>
        </p:txBody>
      </p:sp>
      <p:sp>
        <p:nvSpPr>
          <p:cNvPr id="6" name="Rectangle 5"/>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715768"/>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Identify which plot failed and what shape it showed</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715768"/>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Funnel: transform Y with log or Box-Cox and refit</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715768"/>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Curvature: add the squared term for the offending X and refit</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715768"/>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Drift: add the time-varying X, or block by time period</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715768"/>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Outliers: investigate physically before deciding to keep or exclude</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6" name="Rectangle 35"/>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715768"/>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Refit and re-plot - never present a model whose residuals you have not seen</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ANALYZE - BLACK BELT ONLY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Multicollinearity - when your Xs explain each other</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If two Xs move together, the model cannot tell which one drives Y. Coefficients become unstable, signs flip, and standard errors inflate.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Variance Inflation Factor</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VIF</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VIF_i = 1 / (1 - R2_i)</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R2_i is from regressing Xi against all the OTHER Xs, not against Y.</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VIF = 1</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Xi is uncorrelated</a:t>
            </a:r>
          </a:p>
          <a:p>
            <a:pPr algn="ctr">
              <a:spcAft>
                <a:spcPts val="400"/>
              </a:spcAft>
            </a:pPr>
            <a:r>
              <a:rPr sz="1400" b="1">
                <a:solidFill>
                  <a:srgbClr val="161B26"/>
                </a:solidFill>
                <a:latin typeface="Arial"/>
              </a:rPr>
              <a:t>with the other Xs</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Ideal. The coefficient estimate is as precise as the data allows.</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VIF &gt; 5</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R2_i &gt; 0.80</a:t>
            </a:r>
          </a:p>
          <a:p>
            <a:pPr algn="ctr">
              <a:spcAft>
                <a:spcPts val="400"/>
              </a:spcAft>
            </a:pPr>
            <a:r>
              <a:rPr sz="1400" b="1">
                <a:solidFill>
                  <a:srgbClr val="161B26"/>
                </a:solidFill>
                <a:latin typeface="Arial"/>
              </a:rPr>
              <a:t>CONCERN</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Meridian: oven temp VIF = 6.2, conveyor speed VIF = 5.9 - they move together.</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VIF &gt; 10</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R2_i &gt; 0.90</a:t>
            </a:r>
          </a:p>
          <a:p>
            <a:pPr algn="ctr">
              <a:spcAft>
                <a:spcPts val="400"/>
              </a:spcAft>
            </a:pPr>
            <a:r>
              <a:rPr sz="1400" b="1">
                <a:solidFill>
                  <a:srgbClr val="161B26"/>
                </a:solidFill>
                <a:latin typeface="Arial"/>
              </a:rPr>
              <a:t>SERIOUS</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Standard error inflated over 3x. The coefficient is effectively uninterpretable.</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VIF above 5 warrants action; above 10 the coefficient must not be quoted to a sponsor as a standalone effect.</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collinearity worked through</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THE PROBLEM</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Two Xs, one signal</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Oven temperature and conveyor speed correlate at r = 0.91</a:t>
            </a:r>
          </a:p>
          <a:p>
            <a:pPr>
              <a:spcAft>
                <a:spcPts val="700"/>
              </a:spcAft>
            </a:pPr>
            <a:r>
              <a:rPr sz="1200">
                <a:solidFill>
                  <a:srgbClr val="161B26"/>
                </a:solidFill>
                <a:latin typeface="Arial"/>
              </a:rPr>
              <a:t>•  Operators raise temperature whenever they raise speed</a:t>
            </a:r>
          </a:p>
          <a:p>
            <a:pPr>
              <a:spcAft>
                <a:spcPts val="700"/>
              </a:spcAft>
            </a:pPr>
            <a:r>
              <a:rPr sz="1200">
                <a:solidFill>
                  <a:srgbClr val="161B26"/>
                </a:solidFill>
                <a:latin typeface="Arial"/>
              </a:rPr>
              <a:t>•  Temp coefficient -0.081, speed coefficient +0.019 with p = 0.38</a:t>
            </a:r>
          </a:p>
          <a:p>
            <a:pPr>
              <a:spcAft>
                <a:spcPts val="700"/>
              </a:spcAft>
            </a:pPr>
            <a:r>
              <a:rPr sz="1200">
                <a:solidFill>
                  <a:srgbClr val="161B26"/>
                </a:solidFill>
                <a:latin typeface="Arial"/>
              </a:rPr>
              <a:t>•  VIF: temp 6.2, speed 5.9 - both above the concern threshold</a:t>
            </a:r>
          </a:p>
          <a:p>
            <a:pPr>
              <a:spcAft>
                <a:spcPts val="700"/>
              </a:spcAft>
            </a:pPr>
            <a:r>
              <a:rPr sz="1200">
                <a:solidFill>
                  <a:srgbClr val="161B26"/>
                </a:solidFill>
                <a:latin typeface="Arial"/>
              </a:rPr>
              <a:t>•  The model cannot separate their effects from this data</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THE FIX</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Engineer one variable</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Create thermal exposure index = time above 217 C liquidus</a:t>
            </a:r>
          </a:p>
          <a:p>
            <a:pPr>
              <a:spcAft>
                <a:spcPts val="700"/>
              </a:spcAft>
            </a:pPr>
            <a:r>
              <a:rPr sz="1200">
                <a:solidFill>
                  <a:srgbClr val="161B26"/>
                </a:solidFill>
                <a:latin typeface="Arial"/>
              </a:rPr>
              <a:t>•  That single variable captures what both Xs jointly control</a:t>
            </a:r>
          </a:p>
          <a:p>
            <a:pPr>
              <a:spcAft>
                <a:spcPts val="700"/>
              </a:spcAft>
            </a:pPr>
            <a:r>
              <a:rPr sz="1200">
                <a:solidFill>
                  <a:srgbClr val="161B26"/>
                </a:solidFill>
                <a:latin typeface="Arial"/>
              </a:rPr>
              <a:t>•  Refit: index coefficient -0.196, p &lt; 0.001, VIF = 1.3</a:t>
            </a:r>
          </a:p>
          <a:p>
            <a:pPr>
              <a:spcAft>
                <a:spcPts val="700"/>
              </a:spcAft>
            </a:pPr>
            <a:r>
              <a:rPr sz="1200">
                <a:solidFill>
                  <a:srgbClr val="161B26"/>
                </a:solidFill>
                <a:latin typeface="Arial"/>
              </a:rPr>
              <a:t>•  Adjusted R-squared holds at 0.734 with one fewer term</a:t>
            </a:r>
          </a:p>
          <a:p>
            <a:pPr>
              <a:spcAft>
                <a:spcPts val="700"/>
              </a:spcAft>
            </a:pPr>
            <a:r>
              <a:rPr sz="1200">
                <a:solidFill>
                  <a:srgbClr val="161B26"/>
                </a:solidFill>
                <a:latin typeface="Arial"/>
              </a:rPr>
              <a:t>•  The coefficient is now stable and physically meaningful</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THE LESSON</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Design beats correction</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Observational data cannot break a correlation the process created</a:t>
            </a:r>
          </a:p>
          <a:p>
            <a:pPr>
              <a:spcAft>
                <a:spcPts val="700"/>
              </a:spcAft>
            </a:pPr>
            <a:r>
              <a:rPr sz="1200">
                <a:solidFill>
                  <a:srgbClr val="161B26"/>
                </a:solidFill>
                <a:latin typeface="Arial"/>
              </a:rPr>
              <a:t>•  Only a designed experiment can vary temp and speed independently</a:t>
            </a:r>
          </a:p>
          <a:p>
            <a:pPr>
              <a:spcAft>
                <a:spcPts val="700"/>
              </a:spcAft>
            </a:pPr>
            <a:r>
              <a:rPr sz="1200">
                <a:solidFill>
                  <a:srgbClr val="161B26"/>
                </a:solidFill>
                <a:latin typeface="Arial"/>
              </a:rPr>
              <a:t>•  This is exactly why Analyze hands over to DOE in Improve</a:t>
            </a:r>
          </a:p>
          <a:p>
            <a:pPr>
              <a:spcAft>
                <a:spcPts val="700"/>
              </a:spcAft>
            </a:pPr>
            <a:r>
              <a:rPr sz="1200">
                <a:solidFill>
                  <a:srgbClr val="161B26"/>
                </a:solidFill>
                <a:latin typeface="Arial"/>
              </a:rPr>
              <a:t>•  Report VIF alongside every multiple regression, always</a:t>
            </a:r>
          </a:p>
          <a:p>
            <a:pPr>
              <a:spcAft>
                <a:spcPts val="700"/>
              </a:spcAft>
            </a:pPr>
            <a:r>
              <a:rPr sz="1200">
                <a:solidFill>
                  <a:srgbClr val="161B26"/>
                </a:solidFill>
                <a:latin typeface="Arial"/>
              </a:rPr>
              <a:t>•  Never present a coefficient with VIF above 10</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ANALYZE - BLACK BELT ONLY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BLACK BELT ONLY - Analysis of Variance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Six lines, one question: are their mean yields the same? Running fifteen t-tests would guarantee a false alarm. ANOVA answers it in one test.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Alpha inflation - why repeated t-tests fail</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Number of pairs</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pairs = k(k-1)/2</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4 groups gives 6 pairwise t-tests. Meridian's 6 lines gives 15.</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Family-wise error</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FWE = 1 - (1 - alpha)^m</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4 groups, 6 tests, alpha .05: FWE = 1 - 0.95^6 = 0.265 - about 26 percent.</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At 6 groups</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1 - 0.95^15</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FWE = 0.537. You are MORE likely than not to raise at least one false alarm.</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ANOVA's answer</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One test, one alpha</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One F-test at alpha = 0.05 keeps the overall false alarm risk at 5 percent.</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This is the single clearest reason a Black Belt reaches for ANOVA rather than a stack of t-tests.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F-statistic - between over within</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The logic</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F = variance BETWEEN groups</a:t>
            </a:r>
          </a:p>
          <a:p>
            <a:pPr algn="ctr">
              <a:spcAft>
                <a:spcPts val="400"/>
              </a:spcAft>
            </a:pPr>
            <a:r>
              <a:rPr sz="1400" b="1">
                <a:solidFill>
                  <a:srgbClr val="161B26"/>
                </a:solidFill>
                <a:latin typeface="Arial"/>
              </a:rPr>
              <a:t>/ variance WITHIN groups</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If the groups are really the same, both estimate the same sigma^2 and F is near 1.</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Between (MS treatment)</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SS_between / (k-1)</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Meridian 6 lines: SS_between = 214.7, df = 5, MS = 42.9.</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Within (MS error)</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SS_within / (N-k)</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SS_within = 361.2, df = 174, MS = 2.08. This is the pooled noise.</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The test</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F = MS_between / MS_within</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F = 42.9 / 2.08 = 20.6, df 5 and 174, p &lt; 0.001. At least one line differs.</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A large F means the gaps between group means are large relative to the noise inside the groups.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ANALYZE - BLACK BELT ONLY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Post-hoc testing - which lines actually differ</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F-test says 'somebody is different'. Tukey's HSD tells you who, while holding the family-wise error rate at your chosen alpha.</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Tukey's Honestly Significant Difference</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The statistic</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HSD = q_(alpha,k,df) x</a:t>
            </a:r>
          </a:p>
          <a:p>
            <a:pPr algn="ctr">
              <a:spcAft>
                <a:spcPts val="400"/>
              </a:spcAft>
            </a:pPr>
            <a:r>
              <a:rPr sz="1400" b="1">
                <a:solidFill>
                  <a:srgbClr val="161B26"/>
                </a:solidFill>
                <a:latin typeface="Arial"/>
              </a:rPr>
              <a:t>sqrt(MS_error / n)</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q from the studentised range table: k=6, df=174, alpha .05 gives q = 4.03.</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Meridian HSD</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4.03 x sqrt(2.08 / 30)</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HSD = 4.03 x 0.263 = 1.06 pp. Any two line means differing by more than 1.06 pp differ significantly.</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The comparison</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|mean_i - mean_j| &gt; HSD</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Line 1 93.2 vs line 5 88.4: gap 4.8 pp &gt; 1.06 -&gt; significantly different.</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The non-difference</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Line 1 93.2 vs line 2 92.9</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Gap 0.3 pp &lt; 1.06 -&gt; NOT significantly different. Do not chase this gap.</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Tukey controls family-wise error across ALL pairwise comparisons - which a stack of t-tests does not.</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Post-hoc results across the six Meridian lines</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GROUP A - HIGH</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Not different from each other</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Line 1 Singapore: mean 93.2 pp</a:t>
            </a:r>
          </a:p>
          <a:p>
            <a:pPr>
              <a:spcAft>
                <a:spcPts val="700"/>
              </a:spcAft>
            </a:pPr>
            <a:r>
              <a:rPr sz="1200">
                <a:solidFill>
                  <a:srgbClr val="161B26"/>
                </a:solidFill>
                <a:latin typeface="Arial"/>
              </a:rPr>
              <a:t>•  Line 2 Singapore: mean 92.9 pp</a:t>
            </a:r>
          </a:p>
          <a:p>
            <a:pPr>
              <a:spcAft>
                <a:spcPts val="700"/>
              </a:spcAft>
            </a:pPr>
            <a:r>
              <a:rPr sz="1200">
                <a:solidFill>
                  <a:srgbClr val="161B26"/>
                </a:solidFill>
                <a:latin typeface="Arial"/>
              </a:rPr>
              <a:t>•  Line 3 Penang: mean 92.4 pp</a:t>
            </a:r>
          </a:p>
          <a:p>
            <a:pPr>
              <a:spcAft>
                <a:spcPts val="700"/>
              </a:spcAft>
            </a:pPr>
            <a:r>
              <a:rPr sz="1200">
                <a:solidFill>
                  <a:srgbClr val="161B26"/>
                </a:solidFill>
                <a:latin typeface="Arial"/>
              </a:rPr>
              <a:t>•  All pairwise gaps below HSD of 1.06</a:t>
            </a:r>
          </a:p>
          <a:p>
            <a:pPr>
              <a:spcAft>
                <a:spcPts val="700"/>
              </a:spcAft>
            </a:pPr>
            <a:r>
              <a:rPr sz="1200">
                <a:solidFill>
                  <a:srgbClr val="161B26"/>
                </a:solidFill>
                <a:latin typeface="Arial"/>
              </a:rPr>
              <a:t>•  Treat these three as one performance population</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GROUP B - MIDDLE</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Distinct from both others</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Line 4 Penang: mean 91.1 pp</a:t>
            </a:r>
          </a:p>
          <a:p>
            <a:pPr>
              <a:spcAft>
                <a:spcPts val="700"/>
              </a:spcAft>
            </a:pPr>
            <a:r>
              <a:rPr sz="1200">
                <a:solidFill>
                  <a:srgbClr val="161B26"/>
                </a:solidFill>
                <a:latin typeface="Arial"/>
              </a:rPr>
              <a:t>•  Differs from line 1 (2.1 pp) and from line 5 (2.7 pp)</a:t>
            </a:r>
          </a:p>
          <a:p>
            <a:pPr>
              <a:spcAft>
                <a:spcPts val="700"/>
              </a:spcAft>
            </a:pPr>
            <a:r>
              <a:rPr sz="1200">
                <a:solidFill>
                  <a:srgbClr val="161B26"/>
                </a:solidFill>
                <a:latin typeface="Arial"/>
              </a:rPr>
              <a:t>•  Sits alone between the two clusters</a:t>
            </a:r>
          </a:p>
          <a:p>
            <a:pPr>
              <a:spcAft>
                <a:spcPts val="700"/>
              </a:spcAft>
            </a:pPr>
            <a:r>
              <a:rPr sz="1200">
                <a:solidFill>
                  <a:srgbClr val="161B26"/>
                </a:solidFill>
                <a:latin typeface="Arial"/>
              </a:rPr>
              <a:t>•  Worth a separate targeted investigation</a:t>
            </a:r>
          </a:p>
          <a:p>
            <a:pPr>
              <a:spcAft>
                <a:spcPts val="700"/>
              </a:spcAft>
            </a:pPr>
            <a:r>
              <a:rPr sz="1200">
                <a:solidFill>
                  <a:srgbClr val="161B26"/>
                </a:solidFill>
                <a:latin typeface="Arial"/>
              </a:rPr>
              <a:t>•  Recent stencil change is the leading hypothesis</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GROUP C - LOW</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project target</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Line 5 Suzhou: mean 88.4 pp</a:t>
            </a:r>
          </a:p>
          <a:p>
            <a:pPr>
              <a:spcAft>
                <a:spcPts val="700"/>
              </a:spcAft>
            </a:pPr>
            <a:r>
              <a:rPr sz="1200">
                <a:solidFill>
                  <a:srgbClr val="161B26"/>
                </a:solidFill>
                <a:latin typeface="Arial"/>
              </a:rPr>
              <a:t>•  Line 6 Suzhou: mean 88.9 pp</a:t>
            </a:r>
          </a:p>
          <a:p>
            <a:pPr>
              <a:spcAft>
                <a:spcPts val="700"/>
              </a:spcAft>
            </a:pPr>
            <a:r>
              <a:rPr sz="1200">
                <a:solidFill>
                  <a:srgbClr val="161B26"/>
                </a:solidFill>
                <a:latin typeface="Arial"/>
              </a:rPr>
              <a:t>•  Not different from each other - a PLANT effect, not a line effect</a:t>
            </a:r>
          </a:p>
          <a:p>
            <a:pPr>
              <a:spcAft>
                <a:spcPts val="700"/>
              </a:spcAft>
            </a:pPr>
            <a:r>
              <a:rPr sz="1200">
                <a:solidFill>
                  <a:srgbClr val="161B26"/>
                </a:solidFill>
                <a:latin typeface="Arial"/>
              </a:rPr>
              <a:t>•  4.8 pp below the best lines, worth SGD 2.6M a year</a:t>
            </a:r>
          </a:p>
          <a:p>
            <a:pPr>
              <a:spcAft>
                <a:spcPts val="700"/>
              </a:spcAft>
            </a:pPr>
            <a:r>
              <a:rPr sz="1200">
                <a:solidFill>
                  <a:srgbClr val="161B26"/>
                </a:solidFill>
                <a:latin typeface="Arial"/>
              </a:rPr>
              <a:t>•  Analyze focus moves to what is common to Suzhou</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ANALYZE - BLACK BELT ONLY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BLACK BELT ONLY - Two-way ANOVA and interaction effects</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One factor at a time hides the most important finding in a multi-site business: that a fix which works at one plant can backfire at another.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two-way ANOVA model and its three tests</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The model</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Y = mu + A_i + B_j</a:t>
            </a:r>
          </a:p>
          <a:p>
            <a:pPr algn="ctr">
              <a:spcAft>
                <a:spcPts val="400"/>
              </a:spcAft>
            </a:pPr>
            <a:r>
              <a:rPr sz="1400" b="1">
                <a:solidFill>
                  <a:srgbClr val="161B26"/>
                </a:solidFill>
                <a:latin typeface="Arial"/>
              </a:rPr>
              <a:t>+ (AB)_ij + e</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A = plant main effect, B = shift main effect, AB = the interaction term.</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Main effect A</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F_A = MS_A / MS_error</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Plant: F = 27.4, p &lt; 0.001. Plant means genuinely differ.</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Main effect B</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F_B = MS_B / MS_error</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Shift: F = 1.58, p = 0.211. Overall, shift does NOT move yield on average.</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Interaction AB</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F_AB = MS_AB / MS_error</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Plant x shift: F = 4.12, p = 0.004. The shift effect DEPENDS on which plant.</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Read the INTERACTION first. If it is significant, the main effects cannot be interpreted on their own.</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Meridian plant x shift interaction</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SINGAPORE</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Night shift is BETTER</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Day shift yield 92.6 pp</a:t>
            </a:r>
          </a:p>
          <a:p>
            <a:pPr>
              <a:spcAft>
                <a:spcPts val="700"/>
              </a:spcAft>
            </a:pPr>
            <a:r>
              <a:rPr sz="1200">
                <a:solidFill>
                  <a:srgbClr val="161B26"/>
                </a:solidFill>
                <a:latin typeface="Arial"/>
              </a:rPr>
              <a:t>•  Night shift yield 93.8 pp - 1.2 pp better</a:t>
            </a:r>
          </a:p>
          <a:p>
            <a:pPr>
              <a:spcAft>
                <a:spcPts val="700"/>
              </a:spcAft>
            </a:pPr>
            <a:r>
              <a:rPr sz="1200">
                <a:solidFill>
                  <a:srgbClr val="161B26"/>
                </a:solidFill>
                <a:latin typeface="Arial"/>
              </a:rPr>
              <a:t>•  Air conditioning load is lower overnight</a:t>
            </a:r>
          </a:p>
          <a:p>
            <a:pPr>
              <a:spcAft>
                <a:spcPts val="700"/>
              </a:spcAft>
            </a:pPr>
            <a:r>
              <a:rPr sz="1200">
                <a:solidFill>
                  <a:srgbClr val="161B26"/>
                </a:solidFill>
                <a:latin typeface="Arial"/>
              </a:rPr>
              <a:t>•  Bay temperature holds within 2 C at night</a:t>
            </a:r>
          </a:p>
          <a:p>
            <a:pPr>
              <a:spcAft>
                <a:spcPts val="700"/>
              </a:spcAft>
            </a:pPr>
            <a:r>
              <a:rPr sz="1200">
                <a:solidFill>
                  <a:srgbClr val="161B26"/>
                </a:solidFill>
                <a:latin typeface="Arial"/>
              </a:rPr>
              <a:t>•  Night shift looks like the model to copy</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PENANG</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Almost no shift effect</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Day shift yield 91.9 pp</a:t>
            </a:r>
          </a:p>
          <a:p>
            <a:pPr>
              <a:spcAft>
                <a:spcPts val="700"/>
              </a:spcAft>
            </a:pPr>
            <a:r>
              <a:rPr sz="1200">
                <a:solidFill>
                  <a:srgbClr val="161B26"/>
                </a:solidFill>
                <a:latin typeface="Arial"/>
              </a:rPr>
              <a:t>•  Night shift yield 91.6 pp - a 0.3 pp gap, not significant</a:t>
            </a:r>
          </a:p>
          <a:p>
            <a:pPr>
              <a:spcAft>
                <a:spcPts val="700"/>
              </a:spcAft>
            </a:pPr>
            <a:r>
              <a:rPr sz="1200">
                <a:solidFill>
                  <a:srgbClr val="161B26"/>
                </a:solidFill>
                <a:latin typeface="Arial"/>
              </a:rPr>
              <a:t>•  Climate control is independent of external load</a:t>
            </a:r>
          </a:p>
          <a:p>
            <a:pPr>
              <a:spcAft>
                <a:spcPts val="700"/>
              </a:spcAft>
            </a:pPr>
            <a:r>
              <a:rPr sz="1200">
                <a:solidFill>
                  <a:srgbClr val="161B26"/>
                </a:solidFill>
                <a:latin typeface="Arial"/>
              </a:rPr>
              <a:t>•  Shift makes essentially no difference here</a:t>
            </a:r>
          </a:p>
          <a:p>
            <a:pPr>
              <a:spcAft>
                <a:spcPts val="700"/>
              </a:spcAft>
            </a:pPr>
            <a:r>
              <a:rPr sz="1200">
                <a:solidFill>
                  <a:srgbClr val="161B26"/>
                </a:solidFill>
                <a:latin typeface="Arial"/>
              </a:rPr>
              <a:t>•  A shift-based intervention would waste money</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SUZHOU</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Night shift is WORSE</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Day shift yield 89.7 pp</a:t>
            </a:r>
          </a:p>
          <a:p>
            <a:pPr>
              <a:spcAft>
                <a:spcPts val="700"/>
              </a:spcAft>
            </a:pPr>
            <a:r>
              <a:rPr sz="1200">
                <a:solidFill>
                  <a:srgbClr val="161B26"/>
                </a:solidFill>
                <a:latin typeface="Arial"/>
              </a:rPr>
              <a:t>•  Night shift yield 87.6 pp - 2.1 pp WORSE</a:t>
            </a:r>
          </a:p>
          <a:p>
            <a:pPr>
              <a:spcAft>
                <a:spcPts val="700"/>
              </a:spcAft>
            </a:pPr>
            <a:r>
              <a:rPr sz="1200">
                <a:solidFill>
                  <a:srgbClr val="161B26"/>
                </a:solidFill>
                <a:latin typeface="Arial"/>
              </a:rPr>
              <a:t>•  Overnight humidity rises above 80 percent, no dehumidification</a:t>
            </a:r>
          </a:p>
          <a:p>
            <a:pPr>
              <a:spcAft>
                <a:spcPts val="700"/>
              </a:spcAft>
            </a:pPr>
            <a:r>
              <a:rPr sz="1200">
                <a:solidFill>
                  <a:srgbClr val="161B26"/>
                </a:solidFill>
                <a:latin typeface="Arial"/>
              </a:rPr>
              <a:t>•  Solder paste absorbs moisture; voiding rises</a:t>
            </a:r>
          </a:p>
          <a:p>
            <a:pPr>
              <a:spcAft>
                <a:spcPts val="700"/>
              </a:spcAft>
            </a:pPr>
            <a:r>
              <a:rPr sz="1200">
                <a:solidFill>
                  <a:srgbClr val="161B26"/>
                </a:solidFill>
                <a:latin typeface="Arial"/>
              </a:rPr>
              <a:t>•  Copying Singapore's night-shift practice would HURT Suzhou</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ANALYZE - BLACK BELT ONLY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This is why interactions matter for Improve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main effect said shift does not matter (p = 0.21). The interaction said it matters in opposite directions at two plants. Roll out the wrong fix and you destroy value.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ANALYZE - BLACK BELT ONLY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BLACK BELT ONLY - Non-parametric tests</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Cycle times, repair times and warranty ages are almost never normal. When the assumption fails and transformation does not rescue it, switch tests - do not proceed.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Parametric vs non-parametric</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PARAMETRIC</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Assumes a distribution</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Assumes the data or residuals are normal</a:t>
            </a:r>
          </a:p>
          <a:p>
            <a:pPr>
              <a:spcAft>
                <a:spcPts val="700"/>
              </a:spcAft>
            </a:pPr>
            <a:r>
              <a:rPr sz="1200">
                <a:solidFill>
                  <a:srgbClr val="161B26"/>
                </a:solidFill>
                <a:latin typeface="Arial"/>
              </a:rPr>
              <a:t>•  Tests MEANS, using the actual data values</a:t>
            </a:r>
          </a:p>
          <a:p>
            <a:pPr>
              <a:spcAft>
                <a:spcPts val="700"/>
              </a:spcAft>
            </a:pPr>
            <a:r>
              <a:rPr sz="1200">
                <a:solidFill>
                  <a:srgbClr val="161B26"/>
                </a:solidFill>
                <a:latin typeface="Arial"/>
              </a:rPr>
              <a:t>•  More powerful WHEN the assumption holds</a:t>
            </a:r>
          </a:p>
          <a:p>
            <a:pPr>
              <a:spcAft>
                <a:spcPts val="700"/>
              </a:spcAft>
            </a:pPr>
            <a:r>
              <a:rPr sz="1200">
                <a:solidFill>
                  <a:srgbClr val="161B26"/>
                </a:solidFill>
                <a:latin typeface="Arial"/>
              </a:rPr>
              <a:t>•  Sensitive to outliers and skew</a:t>
            </a:r>
          </a:p>
          <a:p>
            <a:pPr>
              <a:spcAft>
                <a:spcPts val="700"/>
              </a:spcAft>
            </a:pPr>
            <a:r>
              <a:rPr sz="1200">
                <a:solidFill>
                  <a:srgbClr val="161B26"/>
                </a:solidFill>
                <a:latin typeface="Arial"/>
              </a:rPr>
              <a:t>•  t-tests, ANOVA, regression</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NON-PARAMETRIC</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Distribution-free</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Makes no distributional assumption</a:t>
            </a:r>
          </a:p>
          <a:p>
            <a:pPr>
              <a:spcAft>
                <a:spcPts val="700"/>
              </a:spcAft>
            </a:pPr>
            <a:r>
              <a:rPr sz="1200">
                <a:solidFill>
                  <a:srgbClr val="161B26"/>
                </a:solidFill>
                <a:latin typeface="Arial"/>
              </a:rPr>
              <a:t>•  Tests MEDIANS, using the RANKS of the data</a:t>
            </a:r>
          </a:p>
          <a:p>
            <a:pPr>
              <a:spcAft>
                <a:spcPts val="700"/>
              </a:spcAft>
            </a:pPr>
            <a:r>
              <a:rPr sz="1200">
                <a:solidFill>
                  <a:srgbClr val="161B26"/>
                </a:solidFill>
                <a:latin typeface="Arial"/>
              </a:rPr>
              <a:t>•  Slightly less powerful when normality does hold</a:t>
            </a:r>
          </a:p>
          <a:p>
            <a:pPr>
              <a:spcAft>
                <a:spcPts val="700"/>
              </a:spcAft>
            </a:pPr>
            <a:r>
              <a:rPr sz="1200">
                <a:solidFill>
                  <a:srgbClr val="161B26"/>
                </a:solidFill>
                <a:latin typeface="Arial"/>
              </a:rPr>
              <a:t>•  Robust to outliers and to heavy skew</a:t>
            </a:r>
          </a:p>
          <a:p>
            <a:pPr>
              <a:spcAft>
                <a:spcPts val="700"/>
              </a:spcAft>
            </a:pPr>
            <a:r>
              <a:rPr sz="1200">
                <a:solidFill>
                  <a:srgbClr val="161B26"/>
                </a:solidFill>
                <a:latin typeface="Arial"/>
              </a:rPr>
              <a:t>•  Mann-Whitney, Kruskal-Wallis, Wilcoxon, Mood's median</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WHEN TO SWITCH</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decision rule</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Anderson-Darling p &lt; 0.05 and Box-Cox does not fix it</a:t>
            </a:r>
          </a:p>
          <a:p>
            <a:pPr>
              <a:spcAft>
                <a:spcPts val="700"/>
              </a:spcAft>
            </a:pPr>
            <a:r>
              <a:rPr sz="1200">
                <a:solidFill>
                  <a:srgbClr val="161B26"/>
                </a:solidFill>
                <a:latin typeface="Arial"/>
              </a:rPr>
              <a:t>•  Small sample where normality cannot be assessed at all</a:t>
            </a:r>
          </a:p>
          <a:p>
            <a:pPr>
              <a:spcAft>
                <a:spcPts val="700"/>
              </a:spcAft>
            </a:pPr>
            <a:r>
              <a:rPr sz="1200">
                <a:solidFill>
                  <a:srgbClr val="161B26"/>
                </a:solidFill>
                <a:latin typeface="Arial"/>
              </a:rPr>
              <a:t>•  Ordinal data - satisfaction scores, severity grades</a:t>
            </a:r>
          </a:p>
          <a:p>
            <a:pPr>
              <a:spcAft>
                <a:spcPts val="700"/>
              </a:spcAft>
            </a:pPr>
            <a:r>
              <a:rPr sz="1200">
                <a:solidFill>
                  <a:srgbClr val="161B26"/>
                </a:solidFill>
                <a:latin typeface="Arial"/>
              </a:rPr>
              <a:t>•  Heavy outliers that are real and cannot be excluded</a:t>
            </a:r>
          </a:p>
          <a:p>
            <a:pPr>
              <a:spcAft>
                <a:spcPts val="700"/>
              </a:spcAft>
            </a:pPr>
            <a:r>
              <a:rPr sz="1200">
                <a:solidFill>
                  <a:srgbClr val="161B26"/>
                </a:solidFill>
                <a:latin typeface="Arial"/>
              </a:rPr>
              <a:t>•  When the MEDIAN is the more meaningful business measure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Mann-Whitney - Penang vs Suzhou repair time</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The situation</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Repair time is right-skewed</a:t>
            </a:r>
          </a:p>
          <a:p>
            <a:pPr algn="ctr">
              <a:spcAft>
                <a:spcPts val="400"/>
              </a:spcAft>
            </a:pPr>
            <a:r>
              <a:rPr sz="1400" b="1">
                <a:solidFill>
                  <a:srgbClr val="161B26"/>
                </a:solidFill>
                <a:latin typeface="Arial"/>
              </a:rPr>
              <a:t>AD p = 0.001</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Box-Cox did not normalise it. A 2-sample t-test is not defensible here.</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The hypotheses</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H0: median_PN = median_SZ</a:t>
            </a:r>
          </a:p>
          <a:p>
            <a:pPr algn="ctr">
              <a:spcAft>
                <a:spcPts val="400"/>
              </a:spcAft>
            </a:pPr>
            <a:r>
              <a:rPr sz="1400" b="1">
                <a:solidFill>
                  <a:srgbClr val="161B26"/>
                </a:solidFill>
                <a:latin typeface="Arial"/>
              </a:rPr>
              <a:t>Ha: medians differ</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n = 45 repairs per plant, alpha = 0.05, two-tailed.</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The method</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Rank all 90 values</a:t>
            </a:r>
          </a:p>
          <a:p>
            <a:pPr algn="ctr">
              <a:spcAft>
                <a:spcPts val="400"/>
              </a:spcAft>
            </a:pPr>
            <a:r>
              <a:rPr sz="1400" b="1">
                <a:solidFill>
                  <a:srgbClr val="161B26"/>
                </a:solidFill>
                <a:latin typeface="Arial"/>
              </a:rPr>
              <a:t>together, sum by group</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W = 1642 for Penang. Compare against the Mann-Whitney distribution.</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The result</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p = 0.008</a:t>
            </a:r>
          </a:p>
          <a:p>
            <a:pPr algn="ctr">
              <a:spcAft>
                <a:spcPts val="400"/>
              </a:spcAft>
            </a:pPr>
            <a:r>
              <a:rPr sz="1400" b="1">
                <a:solidFill>
                  <a:srgbClr val="161B26"/>
                </a:solidFill>
                <a:latin typeface="Arial"/>
              </a:rPr>
              <a:t>Reject H0</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Median 4.2 hours Penang vs 6.8 hours Suzhou. A real 2.6-hour gap.</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Report the MEDIANS, never the means, when you have used a rank-based test.</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Kruskal-Wallis across all six lines</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The situation</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Yield residuals non-normal</a:t>
            </a:r>
          </a:p>
          <a:p>
            <a:pPr algn="ctr">
              <a:spcAft>
                <a:spcPts val="400"/>
              </a:spcAft>
            </a:pPr>
            <a:r>
              <a:rPr sz="1400" b="1">
                <a:solidFill>
                  <a:srgbClr val="161B26"/>
                </a:solidFill>
                <a:latin typeface="Arial"/>
              </a:rPr>
              <a:t>after an oven fault</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Two lines carry genuine outliers that engineering confirmed are real.</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The hypotheses</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H0: all 6 medians equal</a:t>
            </a:r>
          </a:p>
          <a:p>
            <a:pPr algn="ctr">
              <a:spcAft>
                <a:spcPts val="400"/>
              </a:spcAft>
            </a:pPr>
            <a:r>
              <a:rPr sz="1400" b="1">
                <a:solidFill>
                  <a:srgbClr val="161B26"/>
                </a:solidFill>
                <a:latin typeface="Arial"/>
              </a:rPr>
              <a:t>Ha: at least one differs</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N = 180 lots, alpha = 0.05.</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The statistic</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H approximately</a:t>
            </a:r>
          </a:p>
          <a:p>
            <a:pPr algn="ctr">
              <a:spcAft>
                <a:spcPts val="400"/>
              </a:spcAft>
            </a:pPr>
            <a:r>
              <a:rPr sz="1400" b="1">
                <a:solidFill>
                  <a:srgbClr val="161B26"/>
                </a:solidFill>
                <a:latin typeface="Arial"/>
              </a:rPr>
              <a:t>chi-square with k-1 df</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H = 41.7, df = 5, p &lt; 0.001. At least one line median differs.</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Follow-up</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Pairwise Mann-Whitney</a:t>
            </a:r>
          </a:p>
          <a:p>
            <a:pPr algn="ctr">
              <a:spcAft>
                <a:spcPts val="400"/>
              </a:spcAft>
            </a:pPr>
            <a:r>
              <a:rPr sz="1400" b="1">
                <a:solidFill>
                  <a:srgbClr val="161B26"/>
                </a:solidFill>
                <a:latin typeface="Arial"/>
              </a:rPr>
              <a:t>with Bonferroni</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alpha adjusted to 0.05/15 = 0.0033. Suzhou lines separate from the rest, as ANOVA found.</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Kruskal-Wallis is the ANOVA of ranks. It answers the same question without the normality assumption.</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Wilcoxon signed-rank and Mood's median</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WILCOXON SIGNED-RANK</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The paired test</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Same units measured before and after a change</a:t>
            </a:r>
          </a:p>
          <a:p>
            <a:pPr>
              <a:spcAft>
                <a:spcPts val="700"/>
              </a:spcAft>
            </a:pPr>
            <a:r>
              <a:rPr sz="1200">
                <a:solidFill>
                  <a:srgbClr val="161B26"/>
                </a:solidFill>
                <a:latin typeface="Arial"/>
              </a:rPr>
              <a:t>•  Ranks the ABSOLUTE differences, then applies the signs</a:t>
            </a:r>
          </a:p>
          <a:p>
            <a:pPr>
              <a:spcAft>
                <a:spcPts val="700"/>
              </a:spcAft>
            </a:pPr>
            <a:r>
              <a:rPr sz="1200">
                <a:solidFill>
                  <a:srgbClr val="161B26"/>
                </a:solidFill>
                <a:latin typeface="Arial"/>
              </a:rPr>
              <a:t>•  Meridian: calibration time before vs after the new fixture, 30 techs</a:t>
            </a:r>
          </a:p>
          <a:p>
            <a:pPr>
              <a:spcAft>
                <a:spcPts val="700"/>
              </a:spcAft>
            </a:pPr>
            <a:r>
              <a:rPr sz="1200">
                <a:solidFill>
                  <a:srgbClr val="161B26"/>
                </a:solidFill>
                <a:latin typeface="Arial"/>
              </a:rPr>
              <a:t>•  Median saving 11 minutes, p = 0.002</a:t>
            </a:r>
          </a:p>
          <a:p>
            <a:pPr>
              <a:spcAft>
                <a:spcPts val="700"/>
              </a:spcAft>
            </a:pPr>
            <a:r>
              <a:rPr sz="1200">
                <a:solidFill>
                  <a:srgbClr val="161B26"/>
                </a:solidFill>
                <a:latin typeface="Arial"/>
              </a:rPr>
              <a:t>•  The non-parametric replacement for the paired t-test</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MOOD'S MEDIAN</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The robust test</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Counts how many observations per group are above the grand median</a:t>
            </a:r>
          </a:p>
          <a:p>
            <a:pPr>
              <a:spcAft>
                <a:spcPts val="700"/>
              </a:spcAft>
            </a:pPr>
            <a:r>
              <a:rPr sz="1200">
                <a:solidFill>
                  <a:srgbClr val="161B26"/>
                </a:solidFill>
                <a:latin typeface="Arial"/>
              </a:rPr>
              <a:t>•  Then runs a chi-square on that contingency table</a:t>
            </a:r>
          </a:p>
          <a:p>
            <a:pPr>
              <a:spcAft>
                <a:spcPts val="700"/>
              </a:spcAft>
            </a:pPr>
            <a:r>
              <a:rPr sz="1200">
                <a:solidFill>
                  <a:srgbClr val="161B26"/>
                </a:solidFill>
                <a:latin typeface="Arial"/>
              </a:rPr>
              <a:t>•  Extremely robust to outliers and to unequal spread</a:t>
            </a:r>
          </a:p>
          <a:p>
            <a:pPr>
              <a:spcAft>
                <a:spcPts val="700"/>
              </a:spcAft>
            </a:pPr>
            <a:r>
              <a:rPr sz="1200">
                <a:solidFill>
                  <a:srgbClr val="161B26"/>
                </a:solidFill>
                <a:latin typeface="Arial"/>
              </a:rPr>
              <a:t>•  The least powerful of the non-parametric family</a:t>
            </a:r>
          </a:p>
          <a:p>
            <a:pPr>
              <a:spcAft>
                <a:spcPts val="700"/>
              </a:spcAft>
            </a:pPr>
            <a:r>
              <a:rPr sz="1200">
                <a:solidFill>
                  <a:srgbClr val="161B26"/>
                </a:solidFill>
                <a:latin typeface="Arial"/>
              </a:rPr>
              <a:t>•  Use when the data is badly contaminated but must still be tested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ANALYZE - BLACK BELT ONLY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BLACK BELT ONLY - Multi-vari studies</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Before spending money hunting one X, find out WHERE the variation lives. Most teams chase machine settings when the variation is actually within a single part.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three families of variation</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POSITIONAL</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Within-piece / within-run</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Variation WITHIN a single part or across positions</a:t>
            </a:r>
          </a:p>
          <a:p>
            <a:pPr>
              <a:spcAft>
                <a:spcPts val="700"/>
              </a:spcAft>
            </a:pPr>
            <a:r>
              <a:rPr sz="1200">
                <a:solidFill>
                  <a:srgbClr val="161B26"/>
                </a:solidFill>
                <a:latin typeface="Arial"/>
              </a:rPr>
              <a:t>•  Left cavity vs right cavity in the same mould</a:t>
            </a:r>
          </a:p>
          <a:p>
            <a:pPr>
              <a:spcAft>
                <a:spcPts val="700"/>
              </a:spcAft>
            </a:pPr>
            <a:r>
              <a:rPr sz="1200">
                <a:solidFill>
                  <a:srgbClr val="161B26"/>
                </a:solidFill>
                <a:latin typeface="Arial"/>
              </a:rPr>
              <a:t>•  Position 1 to 12 across the panel on the SMT line</a:t>
            </a:r>
          </a:p>
          <a:p>
            <a:pPr>
              <a:spcAft>
                <a:spcPts val="700"/>
              </a:spcAft>
            </a:pPr>
            <a:r>
              <a:rPr sz="1200">
                <a:solidFill>
                  <a:srgbClr val="161B26"/>
                </a:solidFill>
                <a:latin typeface="Arial"/>
              </a:rPr>
              <a:t>•  Meridian: connector pin 1 vs pin 20 solder volume</a:t>
            </a:r>
          </a:p>
          <a:p>
            <a:pPr>
              <a:spcAft>
                <a:spcPts val="700"/>
              </a:spcAft>
            </a:pPr>
            <a:r>
              <a:rPr sz="1200">
                <a:solidFill>
                  <a:srgbClr val="161B26"/>
                </a:solidFill>
                <a:latin typeface="Arial"/>
              </a:rPr>
              <a:t>•  Points to: fixturing, tooling, thermal gradient, layout</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CYCLICAL</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Piece-to-piece / batch-to-batch</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Variation between consecutive pieces or batches</a:t>
            </a:r>
          </a:p>
          <a:p>
            <a:pPr>
              <a:spcAft>
                <a:spcPts val="700"/>
              </a:spcAft>
            </a:pPr>
            <a:r>
              <a:rPr sz="1200">
                <a:solidFill>
                  <a:srgbClr val="161B26"/>
                </a:solidFill>
                <a:latin typeface="Arial"/>
              </a:rPr>
              <a:t>•  Unit 1 vs unit 2 vs unit 3 in the same run</a:t>
            </a:r>
          </a:p>
          <a:p>
            <a:pPr>
              <a:spcAft>
                <a:spcPts val="700"/>
              </a:spcAft>
            </a:pPr>
            <a:r>
              <a:rPr sz="1200">
                <a:solidFill>
                  <a:srgbClr val="161B26"/>
                </a:solidFill>
                <a:latin typeface="Arial"/>
              </a:rPr>
              <a:t>•  Lot A vs lot B of the same material</a:t>
            </a:r>
          </a:p>
          <a:p>
            <a:pPr>
              <a:spcAft>
                <a:spcPts val="700"/>
              </a:spcAft>
            </a:pPr>
            <a:r>
              <a:rPr sz="1200">
                <a:solidFill>
                  <a:srgbClr val="161B26"/>
                </a:solidFill>
                <a:latin typeface="Arial"/>
              </a:rPr>
              <a:t>•  Meridian: paste lot changes between production batches</a:t>
            </a:r>
          </a:p>
          <a:p>
            <a:pPr>
              <a:spcAft>
                <a:spcPts val="700"/>
              </a:spcAft>
            </a:pPr>
            <a:r>
              <a:rPr sz="1200">
                <a:solidFill>
                  <a:srgbClr val="161B26"/>
                </a:solidFill>
                <a:latin typeface="Arial"/>
              </a:rPr>
              <a:t>•  Points to: material lots, setup, operator, changeover</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TEMPORAL</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Time-to-time</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Variation across hours, shifts, days, weeks</a:t>
            </a:r>
          </a:p>
          <a:p>
            <a:pPr>
              <a:spcAft>
                <a:spcPts val="700"/>
              </a:spcAft>
            </a:pPr>
            <a:r>
              <a:rPr sz="1200">
                <a:solidFill>
                  <a:srgbClr val="161B26"/>
                </a:solidFill>
                <a:latin typeface="Arial"/>
              </a:rPr>
              <a:t>•  Morning vs afternoon; Monday vs Friday</a:t>
            </a:r>
          </a:p>
          <a:p>
            <a:pPr>
              <a:spcAft>
                <a:spcPts val="700"/>
              </a:spcAft>
            </a:pPr>
            <a:r>
              <a:rPr sz="1200">
                <a:solidFill>
                  <a:srgbClr val="161B26"/>
                </a:solidFill>
                <a:latin typeface="Arial"/>
              </a:rPr>
              <a:t>•  Before vs after a maintenance event</a:t>
            </a:r>
          </a:p>
          <a:p>
            <a:pPr>
              <a:spcAft>
                <a:spcPts val="700"/>
              </a:spcAft>
            </a:pPr>
            <a:r>
              <a:rPr sz="1200">
                <a:solidFill>
                  <a:srgbClr val="161B26"/>
                </a:solidFill>
                <a:latin typeface="Arial"/>
              </a:rPr>
              <a:t>•  Meridian: humidity rising through the Suzhou night shift</a:t>
            </a:r>
          </a:p>
          <a:p>
            <a:pPr>
              <a:spcAft>
                <a:spcPts val="700"/>
              </a:spcAft>
            </a:pPr>
            <a:r>
              <a:rPr sz="1200">
                <a:solidFill>
                  <a:srgbClr val="161B26"/>
                </a:solidFill>
                <a:latin typeface="Arial"/>
              </a:rPr>
              <a:t>•  Points to: environment, wear, drift, fatigue, seasonality</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Nested sampling design at Meridian - line 5 Suzhou</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Y measured</a:t>
            </a:r>
          </a:p>
          <a:p>
            <a:pPr algn="l">
              <a:spcAft>
                <a:spcPts val="300"/>
              </a:spcAft>
            </a:pPr>
            <a:r>
              <a:rPr sz="1200" b="0">
                <a:solidFill>
                  <a:srgbClr val="5B6372"/>
                </a:solidFill>
                <a:latin typeface="Arial"/>
              </a:rPr>
              <a:t>Solder paste deposit volume in cubic mm at final inspection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POSITIONAL level</a:t>
            </a:r>
          </a:p>
          <a:p>
            <a:pPr algn="l">
              <a:spcAft>
                <a:spcPts val="300"/>
              </a:spcAft>
            </a:pPr>
            <a:r>
              <a:rPr sz="1200" b="0">
                <a:solidFill>
                  <a:srgbClr val="5B6372"/>
                </a:solidFill>
                <a:latin typeface="Arial"/>
              </a:rPr>
              <a:t>3 positions on each panel: left, centre, right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CYCLICAL level</a:t>
            </a:r>
          </a:p>
          <a:p>
            <a:pPr algn="l">
              <a:spcAft>
                <a:spcPts val="300"/>
              </a:spcAft>
            </a:pPr>
            <a:r>
              <a:rPr sz="1200" b="0">
                <a:solidFill>
                  <a:srgbClr val="5B6372"/>
                </a:solidFill>
                <a:latin typeface="Arial"/>
              </a:rPr>
              <a:t>3 consecutive panels sampled back-to-back at each time point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TEMPORAL level</a:t>
            </a:r>
          </a:p>
          <a:p>
            <a:pPr algn="l">
              <a:spcAft>
                <a:spcPts val="300"/>
              </a:spcAft>
            </a:pPr>
            <a:r>
              <a:rPr sz="1200" b="0">
                <a:solidFill>
                  <a:srgbClr val="5B6372"/>
                </a:solidFill>
                <a:latin typeface="Arial"/>
              </a:rPr>
              <a:t>5 time points across the shift: 07:00, 10:00, 13:00, 16:00, 19:00</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Total observations</a:t>
            </a:r>
          </a:p>
          <a:p>
            <a:pPr algn="l">
              <a:spcAft>
                <a:spcPts val="300"/>
              </a:spcAft>
            </a:pPr>
            <a:r>
              <a:rPr sz="1200" b="0">
                <a:solidFill>
                  <a:srgbClr val="5B6372"/>
                </a:solidFill>
                <a:latin typeface="Arial"/>
              </a:rPr>
              <a:t>3 x 3 x 5 = 45 measurements over one full shift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Rule during study</a:t>
            </a:r>
          </a:p>
          <a:p>
            <a:pPr algn="l">
              <a:spcAft>
                <a:spcPts val="300"/>
              </a:spcAft>
            </a:pPr>
            <a:r>
              <a:rPr sz="1200" b="0">
                <a:solidFill>
                  <a:srgbClr val="5B6372"/>
                </a:solidFill>
                <a:latin typeface="Arial"/>
              </a:rPr>
              <a:t>Change nothing - no setting adjustment, no lot change, no operator swap</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Variance components from the Meridian study</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Total variation</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s2_total = s2_pos +</a:t>
            </a:r>
          </a:p>
          <a:p>
            <a:pPr algn="ctr">
              <a:spcAft>
                <a:spcPts val="400"/>
              </a:spcAft>
            </a:pPr>
            <a:r>
              <a:rPr sz="1400" b="1">
                <a:solidFill>
                  <a:srgbClr val="161B26"/>
                </a:solidFill>
                <a:latin typeface="Arial"/>
              </a:rPr>
              <a:t>s2_cyc + s2_temp</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Total observed variance in deposit volume: 0.0412 mm^6.</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Positional</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s2_pos / s2_total</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0.0289 / 0.0412 = 70.1 percent. Left-to-right across the panel dominates.</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Cyclical</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s2_cyc / s2_total</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0.0071 / 0.0412 = 17.2 percent. Panel-to-panel variation is modest.</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Temporal</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s2_temp / s2_total</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0.0052 / 0.0412 = 12.7 percent. Drift across the shift is the smallest family.</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70 percent positional redirects the whole project: the answer is stencil and squeegee, not shift scheduling.</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Reading the multi-vari chart</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WHAT YOU SEE</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Three visual signatures</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Tall vertical spread within each small group = POSITIONAL</a:t>
            </a:r>
          </a:p>
          <a:p>
            <a:pPr>
              <a:spcAft>
                <a:spcPts val="700"/>
              </a:spcAft>
            </a:pPr>
            <a:r>
              <a:rPr sz="1200">
                <a:solidFill>
                  <a:srgbClr val="161B26"/>
                </a:solidFill>
                <a:latin typeface="Arial"/>
              </a:rPr>
              <a:t>•  Groups sitting at different heights close together = CYCLICAL</a:t>
            </a:r>
          </a:p>
          <a:p>
            <a:pPr>
              <a:spcAft>
                <a:spcPts val="700"/>
              </a:spcAft>
            </a:pPr>
            <a:r>
              <a:rPr sz="1200">
                <a:solidFill>
                  <a:srgbClr val="161B26"/>
                </a:solidFill>
                <a:latin typeface="Arial"/>
              </a:rPr>
              <a:t>•  The whole cluster drifting left to right = TEMPORAL</a:t>
            </a:r>
          </a:p>
          <a:p>
            <a:pPr>
              <a:spcAft>
                <a:spcPts val="700"/>
              </a:spcAft>
            </a:pPr>
            <a:r>
              <a:rPr sz="1200">
                <a:solidFill>
                  <a:srgbClr val="161B26"/>
                </a:solidFill>
                <a:latin typeface="Arial"/>
              </a:rPr>
              <a:t>•  One glance tells you which family dominates</a:t>
            </a:r>
          </a:p>
          <a:p>
            <a:pPr>
              <a:spcAft>
                <a:spcPts val="700"/>
              </a:spcAft>
            </a:pPr>
            <a:r>
              <a:rPr sz="1200">
                <a:solidFill>
                  <a:srgbClr val="161B26"/>
                </a:solidFill>
                <a:latin typeface="Arial"/>
              </a:rPr>
              <a:t>•  No statistics needed to see the answer</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MERIDIAN RESULT</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Positional dominates</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Within each panel, left to right spans 0.34 mm^3</a:t>
            </a:r>
          </a:p>
          <a:p>
            <a:pPr>
              <a:spcAft>
                <a:spcPts val="700"/>
              </a:spcAft>
            </a:pPr>
            <a:r>
              <a:rPr sz="1200">
                <a:solidFill>
                  <a:srgbClr val="161B26"/>
                </a:solidFill>
                <a:latin typeface="Arial"/>
              </a:rPr>
              <a:t>•  Between consecutive panels, means differ by only 0.09 mm^3</a:t>
            </a:r>
          </a:p>
          <a:p>
            <a:pPr>
              <a:spcAft>
                <a:spcPts val="700"/>
              </a:spcAft>
            </a:pPr>
            <a:r>
              <a:rPr sz="1200">
                <a:solidFill>
                  <a:srgbClr val="161B26"/>
                </a:solidFill>
                <a:latin typeface="Arial"/>
              </a:rPr>
              <a:t>•  Across the shift, the cluster drifts just 0.07 mm^3</a:t>
            </a:r>
          </a:p>
          <a:p>
            <a:pPr>
              <a:spcAft>
                <a:spcPts val="700"/>
              </a:spcAft>
            </a:pPr>
            <a:r>
              <a:rPr sz="1200">
                <a:solidFill>
                  <a:srgbClr val="161B26"/>
                </a:solidFill>
                <a:latin typeface="Arial"/>
              </a:rPr>
              <a:t>•  The vertical spread visibly dwarfs everything else</a:t>
            </a:r>
          </a:p>
          <a:p>
            <a:pPr>
              <a:spcAft>
                <a:spcPts val="700"/>
              </a:spcAft>
            </a:pPr>
            <a:r>
              <a:rPr sz="1200">
                <a:solidFill>
                  <a:srgbClr val="161B26"/>
                </a:solidFill>
                <a:latin typeface="Arial"/>
              </a:rPr>
              <a:t>•  Confirmed by variance components at 70 percent positional</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WHAT IT KILLS</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Theories now closed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'It is the night shift' - temporal is only 12.7 percent</a:t>
            </a:r>
          </a:p>
          <a:p>
            <a:pPr>
              <a:spcAft>
                <a:spcPts val="700"/>
              </a:spcAft>
            </a:pPr>
            <a:r>
              <a:rPr sz="1200">
                <a:solidFill>
                  <a:srgbClr val="161B26"/>
                </a:solidFill>
                <a:latin typeface="Arial"/>
              </a:rPr>
              <a:t>•  'It is the paste lot' - cyclical is only 17.2 percent</a:t>
            </a:r>
          </a:p>
          <a:p>
            <a:pPr>
              <a:spcAft>
                <a:spcPts val="700"/>
              </a:spcAft>
            </a:pPr>
            <a:r>
              <a:rPr sz="1200">
                <a:solidFill>
                  <a:srgbClr val="161B26"/>
                </a:solidFill>
                <a:latin typeface="Arial"/>
              </a:rPr>
              <a:t>•  'It is operator technique' - would show as cyclical, and does not</a:t>
            </a:r>
          </a:p>
          <a:p>
            <a:pPr>
              <a:spcAft>
                <a:spcPts val="700"/>
              </a:spcAft>
            </a:pPr>
            <a:r>
              <a:rPr sz="1200">
                <a:solidFill>
                  <a:srgbClr val="161B26"/>
                </a:solidFill>
                <a:latin typeface="Arial"/>
              </a:rPr>
              <a:t>•  Three expensive investigations avoided in one shift of data</a:t>
            </a:r>
          </a:p>
          <a:p>
            <a:pPr>
              <a:spcAft>
                <a:spcPts val="700"/>
              </a:spcAft>
            </a:pPr>
            <a:r>
              <a:rPr sz="1200">
                <a:solidFill>
                  <a:srgbClr val="161B26"/>
                </a:solidFill>
                <a:latin typeface="Arial"/>
              </a:rPr>
              <a:t>•  Log them in the rejected-causes register with the numbers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ANALYZE - BLACK BELT ONLY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Chi-square and contingency tables</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When both Y and X are categorical - defect type against shift, line or supplier - chi-square is the test that decides whether the association is real.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chi-square test of independence</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Hypotheses</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H0: the two variables</a:t>
            </a:r>
          </a:p>
          <a:p>
            <a:pPr algn="ctr">
              <a:spcAft>
                <a:spcPts val="400"/>
              </a:spcAft>
            </a:pPr>
            <a:r>
              <a:rPr sz="1400" b="1">
                <a:solidFill>
                  <a:srgbClr val="161B26"/>
                </a:solidFill>
                <a:latin typeface="Arial"/>
              </a:rPr>
              <a:t>are INDEPENDENT</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Ha: there is an association between defect type and plant.</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Expected count</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E = (row total x col total)</a:t>
            </a:r>
          </a:p>
          <a:p>
            <a:pPr algn="ctr">
              <a:spcAft>
                <a:spcPts val="400"/>
              </a:spcAft>
            </a:pPr>
            <a:r>
              <a:rPr sz="1400" b="1">
                <a:solidFill>
                  <a:srgbClr val="161B26"/>
                </a:solidFill>
                <a:latin typeface="Arial"/>
              </a:rPr>
              <a:t>/ grand total</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Row 'solder void' 240, col 'Suzhou' 300, grand 900: E = 240x300/900 = 80.</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The statistic</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chi2 = sum of</a:t>
            </a:r>
          </a:p>
          <a:p>
            <a:pPr algn="ctr">
              <a:spcAft>
                <a:spcPts val="400"/>
              </a:spcAft>
            </a:pPr>
            <a:r>
              <a:rPr sz="1400" b="1">
                <a:solidFill>
                  <a:srgbClr val="161B26"/>
                </a:solidFill>
                <a:latin typeface="Arial"/>
              </a:rPr>
              <a:t>(O - E)^2 / E</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Suzhou solder voids: observed 118 vs expected 80 -&gt; (38)^2/80 = 18.05 for that cell.</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Degrees of freedom</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df = (rows-1) x (cols-1)</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4 defect types x 3 plants: df = 3 x 2 = 6. chi2 = 47.3, p &lt; 0.001. Reject H0.</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A significant chi-square proves association, not causation, and does not say WHICH cells drive it.</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BLACK BELT ONLY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contingency table - defect type by plant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Solder void</a:t>
            </a:r>
          </a:p>
          <a:p>
            <a:pPr algn="l">
              <a:spcAft>
                <a:spcPts val="300"/>
              </a:spcAft>
            </a:pPr>
            <a:r>
              <a:rPr sz="1200" b="0">
                <a:solidFill>
                  <a:srgbClr val="5B6372"/>
                </a:solidFill>
                <a:latin typeface="Arial"/>
              </a:rPr>
              <a:t>Singapore 54, Penang 68, Suzhou 118. Expected 80 each - Suzhou is far over.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Sensor drift</a:t>
            </a:r>
          </a:p>
          <a:p>
            <a:pPr algn="l">
              <a:spcAft>
                <a:spcPts val="300"/>
              </a:spcAft>
            </a:pPr>
            <a:r>
              <a:rPr sz="1200" b="0">
                <a:solidFill>
                  <a:srgbClr val="5B6372"/>
                </a:solidFill>
                <a:latin typeface="Arial"/>
              </a:rPr>
              <a:t>Singapore 41, Penang 47, Suzhou 62. Mildly over-represented at Suzhou.</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Keypad delamination</a:t>
            </a:r>
          </a:p>
          <a:p>
            <a:pPr algn="l">
              <a:spcAft>
                <a:spcPts val="300"/>
              </a:spcAft>
            </a:pPr>
            <a:r>
              <a:rPr sz="1200" b="0">
                <a:solidFill>
                  <a:srgbClr val="5B6372"/>
                </a:solidFill>
                <a:latin typeface="Arial"/>
              </a:rPr>
              <a:t>Singapore 62, Penang 58, Suzhou 60. Almost exactly as expected everywhere.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Battery capacity</a:t>
            </a:r>
          </a:p>
          <a:p>
            <a:pPr algn="l">
              <a:spcAft>
                <a:spcPts val="300"/>
              </a:spcAft>
            </a:pPr>
            <a:r>
              <a:rPr sz="1200" b="0">
                <a:solidFill>
                  <a:srgbClr val="5B6372"/>
                </a:solidFill>
                <a:latin typeface="Arial"/>
              </a:rPr>
              <a:t>Singapore 43, Penang 87, Suzhou 60. Penang is the outlier here.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Column totals</a:t>
            </a:r>
          </a:p>
          <a:p>
            <a:pPr algn="l">
              <a:spcAft>
                <a:spcPts val="300"/>
              </a:spcAft>
            </a:pPr>
            <a:r>
              <a:rPr sz="1200" b="0">
                <a:solidFill>
                  <a:srgbClr val="5B6372"/>
                </a:solidFill>
                <a:latin typeface="Arial"/>
              </a:rPr>
              <a:t>Singapore 200, Penang 260, Suzhou 300, grand total 760 defects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Conclusion</a:t>
            </a:r>
          </a:p>
          <a:p>
            <a:pPr algn="l">
              <a:spcAft>
                <a:spcPts val="300"/>
              </a:spcAft>
            </a:pPr>
            <a:r>
              <a:rPr sz="1200" b="0">
                <a:solidFill>
                  <a:srgbClr val="5B6372"/>
                </a:solidFill>
                <a:latin typeface="Arial"/>
              </a:rPr>
              <a:t>chi2 = 47.3, p &lt; 0.001. Defect PROFILE differs by plant, not just defect volume.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ANALYZE - BLACK BELT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From statistics to a decision the sponsor can make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No steering committee has ever approved funding because of a p-value. Your last job in Analyze is translation - into money, into risk, into a decision.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Translating three statistics into business language</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A COEFFICIENT</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b = -0.151 for humidity</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Statistical: each 1 percent RH costs 0.151 pp of yield</a:t>
            </a:r>
          </a:p>
          <a:p>
            <a:pPr>
              <a:spcAft>
                <a:spcPts val="700"/>
              </a:spcAft>
            </a:pPr>
            <a:r>
              <a:rPr sz="1200">
                <a:solidFill>
                  <a:srgbClr val="161B26"/>
                </a:solidFill>
                <a:latin typeface="Arial"/>
              </a:rPr>
              <a:t>•  Business: Suzhou runs 22 percent RH above Singapore</a:t>
            </a:r>
          </a:p>
          <a:p>
            <a:pPr>
              <a:spcAft>
                <a:spcPts val="700"/>
              </a:spcAft>
            </a:pPr>
            <a:r>
              <a:rPr sz="1200">
                <a:solidFill>
                  <a:srgbClr val="161B26"/>
                </a:solidFill>
                <a:latin typeface="Arial"/>
              </a:rPr>
              <a:t>•  That is 3.3 pp of yield, or 6,900 units a year</a:t>
            </a:r>
          </a:p>
          <a:p>
            <a:pPr>
              <a:spcAft>
                <a:spcPts val="700"/>
              </a:spcAft>
            </a:pPr>
            <a:r>
              <a:rPr sz="1200">
                <a:solidFill>
                  <a:srgbClr val="161B26"/>
                </a:solidFill>
                <a:latin typeface="Arial"/>
              </a:rPr>
              <a:t>•  At SGD 275 contribution margin: SGD 1.9M a year</a:t>
            </a:r>
          </a:p>
          <a:p>
            <a:pPr>
              <a:spcAft>
                <a:spcPts val="700"/>
              </a:spcAft>
            </a:pPr>
            <a:r>
              <a:rPr sz="1200">
                <a:solidFill>
                  <a:srgbClr val="161B26"/>
                </a:solidFill>
                <a:latin typeface="Arial"/>
              </a:rPr>
              <a:t>•  Decision: fund the SGD 340k dehumidification retrofit</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A P-VALUE</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p = 0.004 on the interaction</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Statistical: the shift effect depends on the plant</a:t>
            </a:r>
          </a:p>
          <a:p>
            <a:pPr>
              <a:spcAft>
                <a:spcPts val="700"/>
              </a:spcAft>
            </a:pPr>
            <a:r>
              <a:rPr sz="1200">
                <a:solidFill>
                  <a:srgbClr val="161B26"/>
                </a:solidFill>
                <a:latin typeface="Arial"/>
              </a:rPr>
              <a:t>•  Business: the Singapore night-shift practice must NOT be rolled out globally</a:t>
            </a:r>
          </a:p>
          <a:p>
            <a:pPr>
              <a:spcAft>
                <a:spcPts val="700"/>
              </a:spcAft>
            </a:pPr>
            <a:r>
              <a:rPr sz="1200">
                <a:solidFill>
                  <a:srgbClr val="161B26"/>
                </a:solidFill>
                <a:latin typeface="Arial"/>
              </a:rPr>
              <a:t>•  Copying it to Suzhou would cost about 2.1 pp of yield</a:t>
            </a:r>
          </a:p>
          <a:p>
            <a:pPr>
              <a:spcAft>
                <a:spcPts val="700"/>
              </a:spcAft>
            </a:pPr>
            <a:r>
              <a:rPr sz="1200">
                <a:solidFill>
                  <a:srgbClr val="161B26"/>
                </a:solidFill>
                <a:latin typeface="Arial"/>
              </a:rPr>
              <a:t>•  Risk avoided: roughly SGD 1.2M a year of value destruction</a:t>
            </a:r>
          </a:p>
          <a:p>
            <a:pPr>
              <a:spcAft>
                <a:spcPts val="700"/>
              </a:spcAft>
            </a:pPr>
            <a:r>
              <a:rPr sz="1200">
                <a:solidFill>
                  <a:srgbClr val="161B26"/>
                </a:solidFill>
                <a:latin typeface="Arial"/>
              </a:rPr>
              <a:t>•  Decision: approve plant-specific solutions, not one standard</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AN R-SQUARED</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adj R-squared = 0.737</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Statistical: three Xs explain 74 percent of yield variation</a:t>
            </a:r>
          </a:p>
          <a:p>
            <a:pPr>
              <a:spcAft>
                <a:spcPts val="700"/>
              </a:spcAft>
            </a:pPr>
            <a:r>
              <a:rPr sz="1200">
                <a:solidFill>
                  <a:srgbClr val="161B26"/>
                </a:solidFill>
                <a:latin typeface="Arial"/>
              </a:rPr>
              <a:t>•  Business: control these three and most of the problem is controllable</a:t>
            </a:r>
          </a:p>
          <a:p>
            <a:pPr>
              <a:spcAft>
                <a:spcPts val="700"/>
              </a:spcAft>
            </a:pPr>
            <a:r>
              <a:rPr sz="1200">
                <a:solidFill>
                  <a:srgbClr val="161B26"/>
                </a:solidFill>
                <a:latin typeface="Arial"/>
              </a:rPr>
              <a:t>•  The remaining 26 percent needs a designed experiment to find</a:t>
            </a:r>
          </a:p>
          <a:p>
            <a:pPr>
              <a:spcAft>
                <a:spcPts val="700"/>
              </a:spcAft>
            </a:pPr>
            <a:r>
              <a:rPr sz="1200">
                <a:solidFill>
                  <a:srgbClr val="161B26"/>
                </a:solidFill>
                <a:latin typeface="Arial"/>
              </a:rPr>
              <a:t>•  Confidence: we know where to aim the Improve phase budget</a:t>
            </a:r>
          </a:p>
          <a:p>
            <a:pPr>
              <a:spcAft>
                <a:spcPts val="700"/>
              </a:spcAft>
            </a:pPr>
            <a:r>
              <a:rPr sz="1200">
                <a:solidFill>
                  <a:srgbClr val="161B26"/>
                </a:solidFill>
                <a:latin typeface="Arial"/>
              </a:rPr>
              <a:t>•  Decision: approve a DOE on the three confirmed Xs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tollgate checklist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Root causes validated</a:t>
            </a:r>
          </a:p>
          <a:p>
            <a:pPr algn="l">
              <a:spcAft>
                <a:spcPts val="300"/>
              </a:spcAft>
            </a:pPr>
            <a:r>
              <a:rPr sz="1200" b="0">
                <a:solidFill>
                  <a:srgbClr val="5B6372"/>
                </a:solidFill>
                <a:latin typeface="Arial"/>
              </a:rPr>
              <a:t>Each surviving X has a test, a p-value and an effect size in real units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Assumptions documented</a:t>
            </a:r>
          </a:p>
          <a:p>
            <a:pPr algn="l">
              <a:spcAft>
                <a:spcPts val="300"/>
              </a:spcAft>
            </a:pPr>
            <a:r>
              <a:rPr sz="1200" b="0">
                <a:solidFill>
                  <a:srgbClr val="5B6372"/>
                </a:solidFill>
                <a:latin typeface="Arial"/>
              </a:rPr>
              <a:t>Normality, independence and variance checks shown for every test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Model diagnostics clean</a:t>
            </a:r>
          </a:p>
          <a:p>
            <a:pPr algn="l">
              <a:spcAft>
                <a:spcPts val="300"/>
              </a:spcAft>
            </a:pPr>
            <a:r>
              <a:rPr sz="1200" b="0">
                <a:solidFill>
                  <a:srgbClr val="5B6372"/>
                </a:solidFill>
                <a:latin typeface="Arial"/>
              </a:rPr>
              <a:t>Residual plots produced, VIF reported, holdout validation done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Rejected causes logged</a:t>
            </a:r>
          </a:p>
          <a:p>
            <a:pPr algn="l">
              <a:spcAft>
                <a:spcPts val="300"/>
              </a:spcAft>
            </a:pPr>
            <a:r>
              <a:rPr sz="1200" b="0">
                <a:solidFill>
                  <a:srgbClr val="5B6372"/>
                </a:solidFill>
                <a:latin typeface="Arial"/>
              </a:rPr>
              <a:t>Every cleared theory recorded with the evidence that cleared it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Benefit quantified</a:t>
            </a:r>
          </a:p>
          <a:p>
            <a:pPr algn="l">
              <a:spcAft>
                <a:spcPts val="300"/>
              </a:spcAft>
            </a:pPr>
            <a:r>
              <a:rPr sz="1200" b="0">
                <a:solidFill>
                  <a:srgbClr val="5B6372"/>
                </a:solidFill>
                <a:latin typeface="Arial"/>
              </a:rPr>
              <a:t>Each confirmed X carries a dollar value the finance partner accepts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Improve scope defined</a:t>
            </a:r>
          </a:p>
          <a:p>
            <a:pPr algn="l">
              <a:spcAft>
                <a:spcPts val="300"/>
              </a:spcAft>
            </a:pPr>
            <a:r>
              <a:rPr sz="1200" b="0">
                <a:solidFill>
                  <a:srgbClr val="5B6372"/>
                </a:solidFill>
                <a:latin typeface="Arial"/>
              </a:rPr>
              <a:t>The DOE factors and the pilot sites are named and agreed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ANALYZE - BLACK BELT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Analyze is complete when the causes are PROVEN</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Not brainstormed, not suspected, not obvious. Proven - with a test, an effect size, a validated model and a dollar figure attached to each one.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Apply it to YOUR capstone this afternoon</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Chart your Y over time</a:t>
            </a:r>
          </a:p>
          <a:p>
            <a:pPr algn="l">
              <a:spcAft>
                <a:spcPts val="300"/>
              </a:spcAft>
            </a:pPr>
            <a:r>
              <a:rPr sz="1200" b="0">
                <a:solidFill>
                  <a:srgbClr val="5B6372"/>
                </a:solidFill>
                <a:latin typeface="Arial"/>
              </a:rPr>
              <a:t>Run chart with median and run rules - is your process even stable?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Pareto your defects by COST</a:t>
            </a:r>
          </a:p>
          <a:p>
            <a:pPr algn="l">
              <a:spcAft>
                <a:spcPts val="300"/>
              </a:spcAft>
            </a:pPr>
            <a:r>
              <a:rPr sz="1200" b="0">
                <a:solidFill>
                  <a:srgbClr val="5B6372"/>
                </a:solidFill>
                <a:latin typeface="Arial"/>
              </a:rPr>
              <a:t>Weight by cost of one occurrence, not by count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Run one fishbone and 5 Whys</a:t>
            </a:r>
          </a:p>
          <a:p>
            <a:pPr algn="l">
              <a:spcAft>
                <a:spcPts val="300"/>
              </a:spcAft>
            </a:pPr>
            <a:r>
              <a:rPr sz="1200" b="0">
                <a:solidFill>
                  <a:srgbClr val="5B6372"/>
                </a:solidFill>
                <a:latin typeface="Arial"/>
              </a:rPr>
              <a:t>Multi-vote to five testable candidate Xs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Select and run two tests</a:t>
            </a:r>
          </a:p>
          <a:p>
            <a:pPr algn="l">
              <a:spcAft>
                <a:spcPts val="300"/>
              </a:spcAft>
            </a:pPr>
            <a:r>
              <a:rPr sz="1200" b="0">
                <a:solidFill>
                  <a:srgbClr val="5B6372"/>
                </a:solidFill>
                <a:latin typeface="Arial"/>
              </a:rPr>
              <a:t>Use the decision tree; document the assumption checks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Fit a multiple regression</a:t>
            </a:r>
          </a:p>
          <a:p>
            <a:pPr algn="l">
              <a:spcAft>
                <a:spcPts val="300"/>
              </a:spcAft>
            </a:pPr>
            <a:r>
              <a:rPr sz="1200" b="0">
                <a:solidFill>
                  <a:srgbClr val="5B6372"/>
                </a:solidFill>
                <a:latin typeface="Arial"/>
              </a:rPr>
              <a:t>Report adjusted R-squared, VIF and all four residual plots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Write two sponsor sentences</a:t>
            </a:r>
          </a:p>
          <a:p>
            <a:pPr algn="l">
              <a:spcAft>
                <a:spcPts val="300"/>
              </a:spcAft>
            </a:pPr>
            <a:r>
              <a:rPr sz="1200" b="0">
                <a:solidFill>
                  <a:srgbClr val="5B6372"/>
                </a:solidFill>
                <a:latin typeface="Arial"/>
              </a:rPr>
              <a:t>The decision you want, and the dollar value behind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Analyze (1)</a:t>
            </a:r>
          </a:p>
        </p:txBody>
      </p:sp>
      <p:sp>
        <p:nvSpPr>
          <p:cNvPr id="6" name="Rectangle 5"/>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78308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78308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365760"/>
          </a:xfrm>
          <a:prstGeom prst="rect">
            <a:avLst/>
          </a:prstGeom>
          <a:noFill/>
        </p:spPr>
        <p:txBody>
          <a:bodyPr wrap="square" anchor="ctr">
            <a:spAutoFit/>
          </a:bodyPr>
          <a:lstStyle/>
          <a:p>
            <a:pPr algn="l">
              <a:spcAft>
                <a:spcPts val="300"/>
              </a:spcAft>
            </a:pPr>
            <a:r>
              <a:rPr sz="1500" b="1">
                <a:solidFill>
                  <a:srgbClr val="161B26"/>
                </a:solidFill>
                <a:latin typeface="Arial"/>
              </a:rPr>
              <a:t>Lab 15 — Variation, Run Charts, Pareto and Stratification — In Depth</a:t>
            </a:r>
          </a:p>
          <a:p>
            <a:pPr algn="l">
              <a:spcAft>
                <a:spcPts val="300"/>
              </a:spcAft>
            </a:pPr>
            <a:r>
              <a:rPr sz="1100" b="0">
                <a:solidFill>
                  <a:srgbClr val="5B6372"/>
                </a:solidFill>
                <a:latin typeface="Arial"/>
              </a:rPr>
              <a:t>A run chart with pattern analysis, a Pareto chart and a stratified defect analysis.  •  Data: lab-15-run-chart-pareto-stratification.xlsx</a:t>
            </a:r>
          </a:p>
        </p:txBody>
      </p:sp>
      <p:sp>
        <p:nvSpPr>
          <p:cNvPr id="11" name="Rectangle 10"/>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660904"/>
            <a:ext cx="9482328" cy="365760"/>
          </a:xfrm>
          <a:prstGeom prst="rect">
            <a:avLst/>
          </a:prstGeom>
          <a:noFill/>
        </p:spPr>
        <p:txBody>
          <a:bodyPr wrap="square" anchor="ctr">
            <a:spAutoFit/>
          </a:bodyPr>
          <a:lstStyle/>
          <a:p>
            <a:pPr algn="l">
              <a:spcAft>
                <a:spcPts val="300"/>
              </a:spcAft>
            </a:pPr>
            <a:r>
              <a:rPr sz="1500" b="1">
                <a:solidFill>
                  <a:srgbClr val="161B26"/>
                </a:solidFill>
                <a:latin typeface="Arial"/>
              </a:rPr>
              <a:t>Lab 16 — Fishbone, 5 Whys and Cause Prioritisation — In Depth</a:t>
            </a:r>
          </a:p>
          <a:p>
            <a:pPr algn="l">
              <a:spcAft>
                <a:spcPts val="300"/>
              </a:spcAft>
            </a:pPr>
            <a:r>
              <a:rPr sz="1100" b="0">
                <a:solidFill>
                  <a:srgbClr val="5B6372"/>
                </a:solidFill>
                <a:latin typeface="Arial"/>
              </a:rPr>
              <a:t>A fishbone diagram, 5 Whys chains and a prioritised list of testable candidate…  •  Data: lab-16-cause-prioritisation.xlsx</a:t>
            </a:r>
          </a:p>
        </p:txBody>
      </p:sp>
      <p:sp>
        <p:nvSpPr>
          <p:cNvPr id="16" name="Rectangle 15"/>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31927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31927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9482328" cy="365760"/>
          </a:xfrm>
          <a:prstGeom prst="rect">
            <a:avLst/>
          </a:prstGeom>
          <a:noFill/>
        </p:spPr>
        <p:txBody>
          <a:bodyPr wrap="square" anchor="ctr">
            <a:spAutoFit/>
          </a:bodyPr>
          <a:lstStyle/>
          <a:p>
            <a:pPr algn="l">
              <a:spcAft>
                <a:spcPts val="300"/>
              </a:spcAft>
            </a:pPr>
            <a:r>
              <a:rPr sz="1500" b="1">
                <a:solidFill>
                  <a:srgbClr val="161B26"/>
                </a:solidFill>
                <a:latin typeface="Arial"/>
              </a:rPr>
              <a:t>Lab 17 — Hypothesis Testing — In Depth, With Test Selection</a:t>
            </a:r>
          </a:p>
          <a:p>
            <a:pPr algn="l">
              <a:spcAft>
                <a:spcPts val="300"/>
              </a:spcAft>
            </a:pPr>
            <a:r>
              <a:rPr sz="1100" b="0">
                <a:solidFill>
                  <a:srgbClr val="5B6372"/>
                </a:solidFill>
                <a:latin typeface="Arial"/>
              </a:rPr>
              <a:t>Completed hypothesis tests on your capstone's candidate causes with documented…  •  Data: lab-17-hypothesis-testing.xlsx</a:t>
            </a:r>
          </a:p>
        </p:txBody>
      </p:sp>
      <p:sp>
        <p:nvSpPr>
          <p:cNvPr id="21" name="Rectangle 20"/>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408736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408736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4197096"/>
            <a:ext cx="9482328" cy="365760"/>
          </a:xfrm>
          <a:prstGeom prst="rect">
            <a:avLst/>
          </a:prstGeom>
          <a:noFill/>
        </p:spPr>
        <p:txBody>
          <a:bodyPr wrap="square" anchor="ctr">
            <a:spAutoFit/>
          </a:bodyPr>
          <a:lstStyle/>
          <a:p>
            <a:pPr algn="l">
              <a:spcAft>
                <a:spcPts val="300"/>
              </a:spcAft>
            </a:pPr>
            <a:r>
              <a:rPr sz="1500" b="1">
                <a:solidFill>
                  <a:srgbClr val="161B26"/>
                </a:solidFill>
                <a:latin typeface="Arial"/>
              </a:rPr>
              <a:t>Lab 18 — Multiple Regression and Model Diagnostics (Black Belt Only)</a:t>
            </a:r>
          </a:p>
          <a:p>
            <a:pPr algn="l">
              <a:spcAft>
                <a:spcPts val="300"/>
              </a:spcAft>
            </a:pPr>
            <a:r>
              <a:rPr sz="1100" b="0">
                <a:solidFill>
                  <a:srgbClr val="5B6372"/>
                </a:solidFill>
                <a:latin typeface="Arial"/>
              </a:rPr>
              <a:t>A validated multiple regression model with full residual and multicollinearity…  •  Data: lab-18-multiple-regression.xlsx</a:t>
            </a:r>
          </a:p>
        </p:txBody>
      </p:sp>
      <p:sp>
        <p:nvSpPr>
          <p:cNvPr id="26" name="Rectangle 25"/>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85546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9482328" cy="365760"/>
          </a:xfrm>
          <a:prstGeom prst="rect">
            <a:avLst/>
          </a:prstGeom>
          <a:noFill/>
        </p:spPr>
        <p:txBody>
          <a:bodyPr wrap="square" anchor="ctr">
            <a:spAutoFit/>
          </a:bodyPr>
          <a:lstStyle/>
          <a:p>
            <a:pPr algn="l">
              <a:spcAft>
                <a:spcPts val="300"/>
              </a:spcAft>
            </a:pPr>
            <a:r>
              <a:rPr sz="1500" b="1">
                <a:solidFill>
                  <a:srgbClr val="161B26"/>
                </a:solidFill>
                <a:latin typeface="Arial"/>
              </a:rPr>
              <a:t>Lab 19 — ANOVA, Interactions and Non-Parametric Tests (Black Belt Only)</a:t>
            </a:r>
          </a:p>
          <a:p>
            <a:pPr algn="l">
              <a:spcAft>
                <a:spcPts val="300"/>
              </a:spcAft>
            </a:pPr>
            <a:r>
              <a:rPr sz="1100" b="0">
                <a:solidFill>
                  <a:srgbClr val="5B6372"/>
                </a:solidFill>
                <a:latin typeface="Arial"/>
              </a:rPr>
              <a:t>One-way and two-way ANOVA on your capstone data plus a non-parametric confirmation.  •  Data: lab-19-anova-interactions-nonparametric.xlsx</a:t>
            </a:r>
          </a:p>
        </p:txBody>
      </p:sp>
      <p:sp>
        <p:nvSpPr>
          <p:cNvPr id="31" name="Rectangle 30"/>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1014984" y="5623560"/>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14984" y="562356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1709928" y="5733288"/>
            <a:ext cx="9482328" cy="365760"/>
          </a:xfrm>
          <a:prstGeom prst="rect">
            <a:avLst/>
          </a:prstGeom>
          <a:noFill/>
        </p:spPr>
        <p:txBody>
          <a:bodyPr wrap="square" anchor="ctr">
            <a:spAutoFit/>
          </a:bodyPr>
          <a:lstStyle/>
          <a:p>
            <a:pPr algn="l">
              <a:spcAft>
                <a:spcPts val="300"/>
              </a:spcAft>
            </a:pPr>
            <a:r>
              <a:rPr sz="1500" b="1">
                <a:solidFill>
                  <a:srgbClr val="161B26"/>
                </a:solidFill>
                <a:latin typeface="Arial"/>
              </a:rPr>
              <a:t>Lab 20 — Multi-Vari Studies and Chi-Square Analysis (Black Belt Only)</a:t>
            </a:r>
          </a:p>
          <a:p>
            <a:pPr algn="l">
              <a:spcAft>
                <a:spcPts val="300"/>
              </a:spcAft>
            </a:pPr>
            <a:r>
              <a:rPr sz="1100" b="0">
                <a:solidFill>
                  <a:srgbClr val="5B6372"/>
                </a:solidFill>
                <a:latin typeface="Arial"/>
              </a:rPr>
              <a:t>A multi-vari chart decomposing your capstone variation plus a chi-square…  •  Data: lab-20-multivari-chisquare.xlsx</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Analyze (2)</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500" b="1">
                <a:solidFill>
                  <a:srgbClr val="161B26"/>
                </a:solidFill>
                <a:latin typeface="Arial"/>
              </a:rPr>
              <a:t>Lab 21 — Analyze Tollgate — Proving Root Cause and Telling the Data Story</a:t>
            </a:r>
          </a:p>
          <a:p>
            <a:pPr algn="l">
              <a:spcAft>
                <a:spcPts val="300"/>
              </a:spcAft>
            </a:pPr>
            <a:r>
              <a:rPr sz="1100" b="0">
                <a:solidFill>
                  <a:srgbClr val="5B6372"/>
                </a:solidFill>
                <a:latin typeface="Arial"/>
              </a:rPr>
              <a:t>An Analyze tollgate pack with proven root causes, evidence and a business-language…  •  Data: lab-21-analyze-tollgate-evidence.xlsx</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ANALYZE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Variation, Run Charts, Pareto and Stratification — In Depth</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15</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A full re-derivation of the foundation of all Six Sigma analysis: the distinction between common and special cause variation. Acting on common cause as if it were special (tampering) makes processes worse — this is the single most expensive mistake in process management.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run chart with pattern analysis, a Pareto chart and a stratified defect analysis.</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Common vs special cause, run chart patterns, tampering, Pareto principle, stratification, boxplots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Variation, Run Charts, Pareto and…</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Variation, Run Charts, Pareto and Stratification — In Depth</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1-6 OF 11</a:t>
            </a:r>
          </a:p>
        </p:txBody>
      </p:sp>
      <p:sp>
        <p:nvSpPr>
          <p:cNvPr id="7" name="Rectangle 6"/>
          <p:cNvSpPr/>
          <p:nvPr/>
        </p:nvSpPr>
        <p:spPr>
          <a:xfrm>
            <a:off x="777240" y="2121408"/>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16331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6331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Recap common versus special cause variation in full, with the management response each demands — process change versus local investigation.</a:t>
            </a:r>
          </a:p>
        </p:txBody>
      </p:sp>
      <p:sp>
        <p:nvSpPr>
          <p:cNvPr id="12" name="Rectangle 11"/>
          <p:cNvSpPr/>
          <p:nvPr/>
        </p:nvSpPr>
        <p:spPr>
          <a:xfrm>
            <a:off x="777240" y="2808731"/>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08731"/>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28506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285064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2863595"/>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Understand tampering (Deming's funnel): adjusting a stable process in response to common-cause noise increases variation. Demonstrate it with the bead or funnel experiment.</a:t>
            </a:r>
          </a:p>
        </p:txBody>
      </p:sp>
      <p:sp>
        <p:nvSpPr>
          <p:cNvPr id="17" name="Rectangle 16"/>
          <p:cNvSpPr/>
          <p:nvPr/>
        </p:nvSpPr>
        <p:spPr>
          <a:xfrm>
            <a:off x="777240" y="3496054"/>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496054"/>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53796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53796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550918"/>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Plot your capstone Y as a run chart over time, with the median as the centre line.</a:t>
            </a:r>
          </a:p>
        </p:txBody>
      </p:sp>
      <p:sp>
        <p:nvSpPr>
          <p:cNvPr id="22" name="Rectangle 21"/>
          <p:cNvSpPr/>
          <p:nvPr/>
        </p:nvSpPr>
        <p:spPr>
          <a:xfrm>
            <a:off x="777240" y="4183377"/>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183377"/>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2252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2252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238241"/>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Recap and apply the six run chart patterns in full: trend, shift, cluster, mixture, oscillation and bias — with the run rules that detect each.</a:t>
            </a:r>
          </a:p>
        </p:txBody>
      </p:sp>
      <p:sp>
        <p:nvSpPr>
          <p:cNvPr id="27" name="Rectangle 26"/>
          <p:cNvSpPr/>
          <p:nvPr/>
        </p:nvSpPr>
        <p:spPr>
          <a:xfrm>
            <a:off x="777240" y="4870700"/>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4870700"/>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491260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491260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4925564"/>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Mark any special-cause signals and investigate what changed at that point in time. Special causes must be explained, not averaged away.</a:t>
            </a:r>
          </a:p>
        </p:txBody>
      </p:sp>
      <p:sp>
        <p:nvSpPr>
          <p:cNvPr id="32" name="Rectangle 31"/>
          <p:cNvSpPr/>
          <p:nvPr/>
        </p:nvSpPr>
        <p:spPr>
          <a:xfrm>
            <a:off x="777240" y="5558023"/>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77240" y="5558023"/>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024128" y="559993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24128" y="559993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36" name="TextBox 35"/>
          <p:cNvSpPr txBox="1"/>
          <p:nvPr/>
        </p:nvSpPr>
        <p:spPr>
          <a:xfrm>
            <a:off x="1700784" y="5612887"/>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Recap the Pareto principle and build a Pareto chart of defect categories for your capstone, with the cumulative percentage line.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Variation, Run Charts, Pareto and…</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Variation, Run Charts, Pareto and Stratification — In Depth</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7-11 OF 11</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Identify the vital few categories accounting for roughly 80 percent of the impact. Weight by cost, not count, where defect costs differ materially.</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Now stratify. Re-draw the Pareto separately by plant, line, shift, operator, product family and supplier.</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Look for a stratification factor where the Pareto shape changes dramatically — that factor is a strong candidate X and tells you where to focus.</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Build boxplots of your Y across each stratification factor to compare medians, spread and outliers visually before testing statistically.</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Record your top three candidate Xs from stratification — these feed directly into the hypothesis tests in Lab 17.</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Variation, Run Charts, Pareto and Stratification — In Depth</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run chart is assessed against all six patterns, your Pareto is weighted appropriately, and stratification has produced at least three named candidate Xs for statistical testing.</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ANALYZE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Fishbone, 5 Whys and Cause Prioritisation — In Depth</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16</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Re-derive cause-and-effect analysis in full — to the depth at which you can facilitate it for a Green Belt team, which is a core Black Belt accountability. The output is a prioritised, testable cause list, not an unmanageable wall of sticky notes.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fishbone diagram, 5 Whys chains and a prioritised list of testable candidate causes.</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Ishikawa 5M+E, brainstorming facilitation, 5 Whys, multi-voting, cause-and-effect matrix, hypothesis formulation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Fishbone, 5 Whys and Cause…</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Fishbone, 5 Whys and Cause Prioritisation — In Depth</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1-6 OF 11</a:t>
            </a:r>
          </a:p>
        </p:txBody>
      </p:sp>
      <p:sp>
        <p:nvSpPr>
          <p:cNvPr id="7" name="Rectangle 6"/>
          <p:cNvSpPr/>
          <p:nvPr/>
        </p:nvSpPr>
        <p:spPr>
          <a:xfrm>
            <a:off x="777240" y="2121408"/>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16331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6331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Recap brainstorming facilitation in full: divergence before convergence, no criticism during generation, and how to stop the highest-paid opinion from dominating.</a:t>
            </a:r>
          </a:p>
        </p:txBody>
      </p:sp>
      <p:sp>
        <p:nvSpPr>
          <p:cNvPr id="12" name="Rectangle 11"/>
          <p:cNvSpPr/>
          <p:nvPr/>
        </p:nvSpPr>
        <p:spPr>
          <a:xfrm>
            <a:off x="777240" y="2808731"/>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08731"/>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28506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285064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2863595"/>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Recap the fishbone structure: the effect at the head, and 5M+E bones — Manpower, Method, Machine, Material, Measurement, Environment.</a:t>
            </a:r>
          </a:p>
        </p:txBody>
      </p:sp>
      <p:sp>
        <p:nvSpPr>
          <p:cNvPr id="17" name="Rectangle 16"/>
          <p:cNvSpPr/>
          <p:nvPr/>
        </p:nvSpPr>
        <p:spPr>
          <a:xfrm>
            <a:off x="777240" y="3496054"/>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496054"/>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53796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53796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550918"/>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Write your capstone problem statement precisely at the head of the fishbone. A vague effect produces vague causes.</a:t>
            </a:r>
          </a:p>
        </p:txBody>
      </p:sp>
      <p:sp>
        <p:nvSpPr>
          <p:cNvPr id="22" name="Rectangle 21"/>
          <p:cNvSpPr/>
          <p:nvPr/>
        </p:nvSpPr>
        <p:spPr>
          <a:xfrm>
            <a:off x="777240" y="4183377"/>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183377"/>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2252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2252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238241"/>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Facilitate the fishbone with your team, generating at least 25 candidate causes across all six bones. Thin bones signal blind spots, not absence of causes.</a:t>
            </a:r>
          </a:p>
        </p:txBody>
      </p:sp>
      <p:sp>
        <p:nvSpPr>
          <p:cNvPr id="27" name="Rectangle 26"/>
          <p:cNvSpPr/>
          <p:nvPr/>
        </p:nvSpPr>
        <p:spPr>
          <a:xfrm>
            <a:off x="777240" y="4870700"/>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4870700"/>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491260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491260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4925564"/>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Recap the 5 Whys and its discipline: continue until the answer is a process or system failure, never a person to blame.</a:t>
            </a:r>
          </a:p>
        </p:txBody>
      </p:sp>
      <p:sp>
        <p:nvSpPr>
          <p:cNvPr id="32" name="Rectangle 31"/>
          <p:cNvSpPr/>
          <p:nvPr/>
        </p:nvSpPr>
        <p:spPr>
          <a:xfrm>
            <a:off x="777240" y="5558023"/>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77240" y="5558023"/>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024128" y="559993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24128" y="559993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36" name="TextBox 35"/>
          <p:cNvSpPr txBox="1"/>
          <p:nvPr/>
        </p:nvSpPr>
        <p:spPr>
          <a:xfrm>
            <a:off x="1700784" y="5612887"/>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Apply 5 Whys to your top five fishbone causes. Note where a single chain branches — real causal chains are often trees, not lines.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Fishbone, 5 Whys and Cause…</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Fishbone, 5 Whys and Cause Prioritisation — In Depth</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7-11 OF 11</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multi-voting and apply it to reduce your cause list to the ten most plausible candidates.</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Build a cause-and-effect matrix: score each candidate cause against each CTQ, weighted by CTQ importance, to produce a ranked cause list.</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Filter the ranked list for TESTABILITY — for each cause, can you state a hypothesis and obtain data? An untestable cause cannot be proven in Analyze.</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Convert your top five testable causes into formal hypothesis statements ready for Lab 17.</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Note how you would coach a Green Belt team through this session, and the two facilitation mistakes you would watch for.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Fishbone, 5 Whys and Cause Prioritisation — In Depth</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fishbone carries 25+ causes across all six bones, 5 Whys chains terminate at process rather than person, and you have five testable causes written as formal hypotheses.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ANALYZE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Hypothesis Testing — In Depth, With Test Selection</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17</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A full re-derivation of hypothesis testing, including the test selection logic that Green Belts most often get wrong. You must be able to choose the right test, defend the choice, and explain the result in business language.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Completed hypothesis tests on your capstone's candidate causes with documented conclusions.</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H0/Ha, alpha, beta, power, p-values, t-tests, paired t, F-test, proportion tests, test selection logic</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17 · Hypothesis Testing — In Depth, With…</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Hypothesis Testing — In Depth, With Test Selection</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1-6 OF 12</a:t>
            </a:r>
          </a:p>
        </p:txBody>
      </p:sp>
      <p:sp>
        <p:nvSpPr>
          <p:cNvPr id="7" name="Rectangle 6"/>
          <p:cNvSpPr/>
          <p:nvPr/>
        </p:nvSpPr>
        <p:spPr>
          <a:xfrm>
            <a:off x="777240" y="2121408"/>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16331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6331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Recap the logic of hypothesis testing in full: assume H0 (no difference), then ask how likely the observed data would be if H0 were true.</a:t>
            </a:r>
          </a:p>
        </p:txBody>
      </p:sp>
      <p:sp>
        <p:nvSpPr>
          <p:cNvPr id="12" name="Rectangle 11"/>
          <p:cNvSpPr/>
          <p:nvPr/>
        </p:nvSpPr>
        <p:spPr>
          <a:xfrm>
            <a:off x="777240" y="2808731"/>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08731"/>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28506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285064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2863595"/>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Recap H0 and Ha formulation. H0 always contains the equality; Ha carries the claim you are trying to establish.</a:t>
            </a:r>
          </a:p>
        </p:txBody>
      </p:sp>
      <p:sp>
        <p:nvSpPr>
          <p:cNvPr id="17" name="Rectangle 16"/>
          <p:cNvSpPr/>
          <p:nvPr/>
        </p:nvSpPr>
        <p:spPr>
          <a:xfrm>
            <a:off x="777240" y="3496054"/>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496054"/>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53796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53796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550918"/>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Recap alpha, beta and power. Alpha is producer's risk (Type I, false alarm); beta is consumer's risk (Type II, missed signal); power = 1 - beta.</a:t>
            </a:r>
          </a:p>
        </p:txBody>
      </p:sp>
      <p:sp>
        <p:nvSpPr>
          <p:cNvPr id="22" name="Rectangle 21"/>
          <p:cNvSpPr/>
          <p:nvPr/>
        </p:nvSpPr>
        <p:spPr>
          <a:xfrm>
            <a:off x="777240" y="4183377"/>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183377"/>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2252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2252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238241"/>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Understand the practical consequence: an underpowered test that fails to reject H0 has proven nothing. Check power before concluding 'no difference'.</a:t>
            </a:r>
          </a:p>
        </p:txBody>
      </p:sp>
      <p:sp>
        <p:nvSpPr>
          <p:cNvPr id="27" name="Rectangle 26"/>
          <p:cNvSpPr/>
          <p:nvPr/>
        </p:nvSpPr>
        <p:spPr>
          <a:xfrm>
            <a:off x="777240" y="4870700"/>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4870700"/>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491260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491260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4925564"/>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Learn the test selection logic in full. Continuous Y: 1 sample vs target = 1-sample t; 2 independent groups = 2-sample t; paired = paired t; 3+ groups = ANOVA; variances = F-test or Levene.</a:t>
            </a:r>
          </a:p>
        </p:txBody>
      </p:sp>
      <p:sp>
        <p:nvSpPr>
          <p:cNvPr id="32" name="Rectangle 31"/>
          <p:cNvSpPr/>
          <p:nvPr/>
        </p:nvSpPr>
        <p:spPr>
          <a:xfrm>
            <a:off x="777240" y="5558023"/>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77240" y="5558023"/>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024128" y="559993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24128" y="559993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36" name="TextBox 35"/>
          <p:cNvSpPr txBox="1"/>
          <p:nvPr/>
        </p:nvSpPr>
        <p:spPr>
          <a:xfrm>
            <a:off x="1700784" y="5612887"/>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Learn the discrete-Y branch: 1 proportion = 1-proportion test; 2 proportions = 2-proportion test; categorical association = chi-square.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17 · Hypothesis Testing — In Depth, With…</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Hypothesis Testing — In Depth, With Test Selection</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7-12 OF 12</a:t>
            </a:r>
          </a:p>
        </p:txBody>
      </p:sp>
      <p:sp>
        <p:nvSpPr>
          <p:cNvPr id="7" name="Rectangle 6"/>
          <p:cNvSpPr/>
          <p:nvPr/>
        </p:nvSpPr>
        <p:spPr>
          <a:xfrm>
            <a:off x="777240" y="2121408"/>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16331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6331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1" name="TextBox 10"/>
          <p:cNvSpPr txBox="1"/>
          <p:nvPr/>
        </p:nvSpPr>
        <p:spPr>
          <a:xfrm>
            <a:off x="1700784" y="2176272"/>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Check the assumptions before every test: normality, independence and equal variance. A violated assumption invalidates the p-value entirely.</a:t>
            </a:r>
          </a:p>
        </p:txBody>
      </p:sp>
      <p:sp>
        <p:nvSpPr>
          <p:cNvPr id="12" name="Rectangle 11"/>
          <p:cNvSpPr/>
          <p:nvPr/>
        </p:nvSpPr>
        <p:spPr>
          <a:xfrm>
            <a:off x="777240" y="2808731"/>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08731"/>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28506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285064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16" name="TextBox 15"/>
          <p:cNvSpPr txBox="1"/>
          <p:nvPr/>
        </p:nvSpPr>
        <p:spPr>
          <a:xfrm>
            <a:off x="1700784" y="2863595"/>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Take your five candidate causes from Lab 16 and select the correct test for each. Write down the justification for each selection.</a:t>
            </a:r>
          </a:p>
        </p:txBody>
      </p:sp>
      <p:sp>
        <p:nvSpPr>
          <p:cNvPr id="17" name="Rectangle 16"/>
          <p:cNvSpPr/>
          <p:nvPr/>
        </p:nvSpPr>
        <p:spPr>
          <a:xfrm>
            <a:off x="777240" y="3496054"/>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496054"/>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53796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53796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1" name="TextBox 20"/>
          <p:cNvSpPr txBox="1"/>
          <p:nvPr/>
        </p:nvSpPr>
        <p:spPr>
          <a:xfrm>
            <a:off x="1700784" y="3550918"/>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State H0 and Ha for each test, set alpha (normally 0.05), and confirm you have adequate sample size and power.</a:t>
            </a:r>
          </a:p>
        </p:txBody>
      </p:sp>
      <p:sp>
        <p:nvSpPr>
          <p:cNvPr id="22" name="Rectangle 21"/>
          <p:cNvSpPr/>
          <p:nvPr/>
        </p:nvSpPr>
        <p:spPr>
          <a:xfrm>
            <a:off x="777240" y="4183377"/>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183377"/>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2252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2252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26" name="TextBox 25"/>
          <p:cNvSpPr txBox="1"/>
          <p:nvPr/>
        </p:nvSpPr>
        <p:spPr>
          <a:xfrm>
            <a:off x="1700784" y="4238241"/>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Run each test and record the p-value. Apply the decision rule: p &lt; alpha rejects H0.</a:t>
            </a:r>
          </a:p>
        </p:txBody>
      </p:sp>
      <p:sp>
        <p:nvSpPr>
          <p:cNvPr id="27" name="Rectangle 26"/>
          <p:cNvSpPr/>
          <p:nvPr/>
        </p:nvSpPr>
        <p:spPr>
          <a:xfrm>
            <a:off x="777240" y="4870700"/>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4870700"/>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491260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491260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31" name="TextBox 30"/>
          <p:cNvSpPr txBox="1"/>
          <p:nvPr/>
        </p:nvSpPr>
        <p:spPr>
          <a:xfrm>
            <a:off x="1700784" y="4925564"/>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Distinguish statistical from PRACTICAL significance. A p-value of 0.001 on a 0.2 percent improvement is real but worthless — always report effect size alongside p.</a:t>
            </a:r>
          </a:p>
        </p:txBody>
      </p:sp>
      <p:sp>
        <p:nvSpPr>
          <p:cNvPr id="32" name="Rectangle 31"/>
          <p:cNvSpPr/>
          <p:nvPr/>
        </p:nvSpPr>
        <p:spPr>
          <a:xfrm>
            <a:off x="777240" y="5558023"/>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77240" y="5558023"/>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024128" y="559993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24128" y="559993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12</a:t>
            </a:r>
          </a:p>
        </p:txBody>
      </p:sp>
      <p:sp>
        <p:nvSpPr>
          <p:cNvPr id="36" name="TextBox 35"/>
          <p:cNvSpPr txBox="1"/>
          <p:nvPr/>
        </p:nvSpPr>
        <p:spPr>
          <a:xfrm>
            <a:off x="1700784" y="5612887"/>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Build your rejected-causes log so nobody re-litigates cleared causes in Improve, and record confirmed causes in your capstone pack.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17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Hypothesis Testing — In Depth, With Test Selection</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test has a documented selection justification and assumption check, results report effect size alongside the p-value, and you maintain both a confirmed-cause and a rejected-cause log.</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ANALYZE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Multiple Regression and Model Diagnostics (Black Belt Only)</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18</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BLACK BELT ONLY — the Green Belt course teaches simple linear regression with one X. Real processes have several interacting Xs. Multiple regression models them together, but a model that fits is not yet a model that is valid, so the diagnostics matter as much as the coefficients.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validated multiple regression model with full residual and multicollinearity diagnostics.</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Multiple regression, coefficients, adjusted R-squared, residual analysis, multicollinearity/VIF, model selection, overfitting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18 · Multiple Regression and Model…</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Multiple Regression and Model Diagnostics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13</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simple linear regression: the fitted line, slope interpretation, R-squared and the correlation-is-not-causation trap.</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Extend to multiple regression: Y = b0 + b1X1 + b2X2 + ... + e, where each coefficient is the effect of that X holding all other Xs constant.</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Understand why that 'holding constant' clause matters — it is what makes multiple regression fundamentally different from running several simple regressions.</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Assemble your capstone dataset with the Y and at least four candidate Xs, with enough rows (a common rule of thumb is 10-15 observations per X).</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Fit the full model and record the coefficients, their p-values, R-squared and adjusted R-squared.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18 · Multiple Regression and Model…</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Multiple Regression and Model Diagnostics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6-9 OF 13</a:t>
            </a:r>
          </a:p>
        </p:txBody>
      </p:sp>
      <p:sp>
        <p:nvSpPr>
          <p:cNvPr id="7" name="Rectangle 6"/>
          <p:cNvSpPr/>
          <p:nvPr/>
        </p:nvSpPr>
        <p:spPr>
          <a:xfrm>
            <a:off x="777240" y="212140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3351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3351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Use ADJUSTED R-squared, not R-squared, to compare models. Plain R-squared always rises when you add an X, even a random one.</a:t>
            </a:r>
          </a:p>
        </p:txBody>
      </p:sp>
      <p:sp>
        <p:nvSpPr>
          <p:cNvPr id="12" name="Rectangle 11"/>
          <p:cNvSpPr/>
          <p:nvPr/>
        </p:nvSpPr>
        <p:spPr>
          <a:xfrm>
            <a:off x="777240" y="315239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15239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36613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36613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20725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Check multicollinearity with Variance Inflation Factors. VIF &gt; 5 is a concern, VIF &gt; 10 is serious — correlated Xs make coefficients unstable and signs nonsensical.</a:t>
            </a:r>
          </a:p>
        </p:txBody>
      </p:sp>
      <p:sp>
        <p:nvSpPr>
          <p:cNvPr id="17" name="Rectangle 16"/>
          <p:cNvSpPr/>
          <p:nvPr/>
        </p:nvSpPr>
        <p:spPr>
          <a:xfrm>
            <a:off x="777240" y="418337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418337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439711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439711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423824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Resolve multicollinearity by dropping or combining redundant Xs, then refit.</a:t>
            </a:r>
          </a:p>
        </p:txBody>
      </p:sp>
      <p:sp>
        <p:nvSpPr>
          <p:cNvPr id="22" name="Rectangle 21"/>
          <p:cNvSpPr/>
          <p:nvPr/>
        </p:nvSpPr>
        <p:spPr>
          <a:xfrm>
            <a:off x="777240" y="521436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521436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542810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542810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526922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Run the residual diagnostics in full: residuals versus fitted values (should show no pattern), normal probability plot of residuals, and residuals versus order (independence).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18 · Multiple Regression and Model…</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Multiple Regression and Model Diagnostics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10-13 OF 13</a:t>
            </a:r>
          </a:p>
        </p:txBody>
      </p:sp>
      <p:sp>
        <p:nvSpPr>
          <p:cNvPr id="7" name="Rectangle 6"/>
          <p:cNvSpPr/>
          <p:nvPr/>
        </p:nvSpPr>
        <p:spPr>
          <a:xfrm>
            <a:off x="777240" y="212140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3351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3351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11" name="TextBox 10"/>
          <p:cNvSpPr txBox="1"/>
          <p:nvPr/>
        </p:nvSpPr>
        <p:spPr>
          <a:xfrm>
            <a:off x="1700784" y="217627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Interpret residual patterns: a funnel shape indicates non-constant variance, curvature indicates a missing quadratic term, and drift over order indicates autocorrelation.</a:t>
            </a:r>
          </a:p>
        </p:txBody>
      </p:sp>
      <p:sp>
        <p:nvSpPr>
          <p:cNvPr id="12" name="Rectangle 11"/>
          <p:cNvSpPr/>
          <p:nvPr/>
        </p:nvSpPr>
        <p:spPr>
          <a:xfrm>
            <a:off x="777240" y="315239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15239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36613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36613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16" name="TextBox 15"/>
          <p:cNvSpPr txBox="1"/>
          <p:nvPr/>
        </p:nvSpPr>
        <p:spPr>
          <a:xfrm>
            <a:off x="1700784" y="320725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Reduce to the final model using backward elimination — drop the least significant X, refit, and repeat until all remaining Xs are significant.</a:t>
            </a:r>
          </a:p>
        </p:txBody>
      </p:sp>
      <p:sp>
        <p:nvSpPr>
          <p:cNvPr id="17" name="Rectangle 16"/>
          <p:cNvSpPr/>
          <p:nvPr/>
        </p:nvSpPr>
        <p:spPr>
          <a:xfrm>
            <a:off x="777240" y="418337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418337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439711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439711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12</a:t>
            </a:r>
          </a:p>
        </p:txBody>
      </p:sp>
      <p:sp>
        <p:nvSpPr>
          <p:cNvPr id="21" name="TextBox 20"/>
          <p:cNvSpPr txBox="1"/>
          <p:nvPr/>
        </p:nvSpPr>
        <p:spPr>
          <a:xfrm>
            <a:off x="1700784" y="423824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Guard against overfitting: hold back a validation subset, or use cross-validation, and confirm the model predicts data it has not seen.</a:t>
            </a:r>
          </a:p>
        </p:txBody>
      </p:sp>
      <p:sp>
        <p:nvSpPr>
          <p:cNvPr id="22" name="Rectangle 21"/>
          <p:cNvSpPr/>
          <p:nvPr/>
        </p:nvSpPr>
        <p:spPr>
          <a:xfrm>
            <a:off x="777240" y="521436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521436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542810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542810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13</a:t>
            </a:r>
          </a:p>
        </p:txBody>
      </p:sp>
      <p:sp>
        <p:nvSpPr>
          <p:cNvPr id="26" name="TextBox 25"/>
          <p:cNvSpPr txBox="1"/>
          <p:nvPr/>
        </p:nvSpPr>
        <p:spPr>
          <a:xfrm>
            <a:off x="1700784" y="526922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Translate the final model into business language: for each significant X, state what a one-unit change does to Y in customer or dollar terms.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18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Multiple Regression and Model Diagnostics (Black Belt Only)</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final model has all VIFs under 5, residual plots show no pattern, adjusted R-squared is reported, the model has been validated on held-out data, and each coefficient is stated in business terms.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ANALYZE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ANOVA, Interactions and Non-Parametric Tests (Black Belt Only)</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19</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BLACK BELT ONLY. Comparing three or more groups with repeated t-tests inflates the false-positive rate badly — ANOVA solves this. Two-way ANOVA then reveals interaction effects that one-factor analysis cannot see. And when normality fails, non-parametric tests are the correct answer rather than proceeding regardless.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One-way and two-way ANOVA on your capstone data plus a non-parametric confirmation.</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One-way ANOVA, F-statistic, post-hoc Tukey, two-way ANOVA, interaction effects, Mann-Whitney, Kruskal-Wallis, Mood's median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19 · ANOVA, Interactions and…</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ANOVA, Interactions and Non-Parametric Tests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13</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Understand alpha inflation: comparing 4 groups pairwise needs 6 t-tests, and at alpha = 0.05 the family-wise false-positive risk rises to about 26 percent.</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one-way ANOVA: it partitions total variation into between-group and within-group components, and the F-statistic is their ratio.</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State the ANOVA hypotheses: H0 is that all group means are equal; Ha is that at least one differs — ANOVA does not tell you which.</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Check the ANOVA assumptions: normality of residuals, independence, and equal variances (test with Levene's or Bartlett's).</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Run one-way ANOVA on a capstone factor with 3+ levels — plant, line, shift, product family or supplier.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19 · ANOVA, Interactions and…</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ANOVA, Interactions and Non-Parametric Tests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6-9 OF 13</a:t>
            </a:r>
          </a:p>
        </p:txBody>
      </p:sp>
      <p:sp>
        <p:nvSpPr>
          <p:cNvPr id="7" name="Rectangle 6"/>
          <p:cNvSpPr/>
          <p:nvPr/>
        </p:nvSpPr>
        <p:spPr>
          <a:xfrm>
            <a:off x="777240" y="212140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3351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3351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If ANOVA is significant, run a post-hoc Tukey HSD to identify WHICH pairs differ, with the family-wise error rate controlled.</a:t>
            </a:r>
          </a:p>
        </p:txBody>
      </p:sp>
      <p:sp>
        <p:nvSpPr>
          <p:cNvPr id="12" name="Rectangle 11"/>
          <p:cNvSpPr/>
          <p:nvPr/>
        </p:nvSpPr>
        <p:spPr>
          <a:xfrm>
            <a:off x="777240" y="315239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15239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36613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36613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20725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Extend to two-way ANOVA with two factors at once — for example plant AND shift on your capstone Y.</a:t>
            </a:r>
          </a:p>
        </p:txBody>
      </p:sp>
      <p:sp>
        <p:nvSpPr>
          <p:cNvPr id="17" name="Rectangle 16"/>
          <p:cNvSpPr/>
          <p:nvPr/>
        </p:nvSpPr>
        <p:spPr>
          <a:xfrm>
            <a:off x="777240" y="418337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418337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439711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439711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423824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Read the interaction term. A significant interaction means the effect of one factor DEPENDS on the level of the other — for instance night shift hurts Suzhou but not Singapore.</a:t>
            </a:r>
          </a:p>
        </p:txBody>
      </p:sp>
      <p:sp>
        <p:nvSpPr>
          <p:cNvPr id="22" name="Rectangle 21"/>
          <p:cNvSpPr/>
          <p:nvPr/>
        </p:nvSpPr>
        <p:spPr>
          <a:xfrm>
            <a:off x="777240" y="521436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521436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542810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542810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526922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Plot the interaction. Non-parallel lines indicate interaction; crossing lines indicate a strong one that invalidates any single-factor conclusion.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19 · ANOVA, Interactions and…</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ANOVA, Interactions and Non-Parametric Tests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10-13 OF 13</a:t>
            </a:r>
          </a:p>
        </p:txBody>
      </p:sp>
      <p:sp>
        <p:nvSpPr>
          <p:cNvPr id="7" name="Rectangle 6"/>
          <p:cNvSpPr/>
          <p:nvPr/>
        </p:nvSpPr>
        <p:spPr>
          <a:xfrm>
            <a:off x="777240" y="212140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3351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3351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11" name="TextBox 10"/>
          <p:cNvSpPr txBox="1"/>
          <p:nvPr/>
        </p:nvSpPr>
        <p:spPr>
          <a:xfrm>
            <a:off x="1700784" y="217627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Understand why this matters for Improve: with a significant interaction, a fix that works at one plant may fail or backfire at another.</a:t>
            </a:r>
          </a:p>
        </p:txBody>
      </p:sp>
      <p:sp>
        <p:nvSpPr>
          <p:cNvPr id="12" name="Rectangle 11"/>
          <p:cNvSpPr/>
          <p:nvPr/>
        </p:nvSpPr>
        <p:spPr>
          <a:xfrm>
            <a:off x="777240" y="315239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15239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36613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36613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16" name="TextBox 15"/>
          <p:cNvSpPr txBox="1"/>
          <p:nvPr/>
        </p:nvSpPr>
        <p:spPr>
          <a:xfrm>
            <a:off x="1700784" y="320725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Now the non-parametric branch. When normality fails and transformation does not fix it, switch tests rather than ignoring the violation.</a:t>
            </a:r>
          </a:p>
        </p:txBody>
      </p:sp>
      <p:sp>
        <p:nvSpPr>
          <p:cNvPr id="17" name="Rectangle 16"/>
          <p:cNvSpPr/>
          <p:nvPr/>
        </p:nvSpPr>
        <p:spPr>
          <a:xfrm>
            <a:off x="777240" y="418337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418337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439711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439711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12</a:t>
            </a:r>
          </a:p>
        </p:txBody>
      </p:sp>
      <p:sp>
        <p:nvSpPr>
          <p:cNvPr id="21" name="TextBox 20"/>
          <p:cNvSpPr txBox="1"/>
          <p:nvPr/>
        </p:nvSpPr>
        <p:spPr>
          <a:xfrm>
            <a:off x="1700784" y="423824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Map each test to its non-parametric equivalent: 2-sample t -&gt; Mann-Whitney; one-way ANOVA -&gt; Kruskal-Wallis; paired t -&gt; Wilcoxon signed-rank; and Mood's median for heavy outliers.</a:t>
            </a:r>
          </a:p>
        </p:txBody>
      </p:sp>
      <p:sp>
        <p:nvSpPr>
          <p:cNvPr id="22" name="Rectangle 21"/>
          <p:cNvSpPr/>
          <p:nvPr/>
        </p:nvSpPr>
        <p:spPr>
          <a:xfrm>
            <a:off x="777240" y="521436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521436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542810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542810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13</a:t>
            </a:r>
          </a:p>
        </p:txBody>
      </p:sp>
      <p:sp>
        <p:nvSpPr>
          <p:cNvPr id="26" name="TextBox 25"/>
          <p:cNvSpPr txBox="1"/>
          <p:nvPr/>
        </p:nvSpPr>
        <p:spPr>
          <a:xfrm>
            <a:off x="1700784" y="526922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Re-run one of your significant findings using its non-parametric equivalent. Agreement across both strengthens your Day 5 defence considerably.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19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ANOVA, Interactions and Non-Parametric Tests (Black Belt Only)</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ANOVA assumptions are tested and documented, significant results carry a post-hoc analysis, you have interpreted an interaction plot, and at least one finding is confirmed non-parametrically.</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ANALYZE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Multi-Vari Studies and Chi-Square Analysis (Black Belt Only)</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20</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BLACK BELT ONLY. Before spending money hunting a root cause, find out WHERE the variation actually lives. A multi-vari study separates positional, cyclical and temporal variation — and frequently reveals that the team has been investigating entirely the wrong family.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multi-vari chart decomposing your capstone variation plus a chi-square association test.</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Multi-vari studies, positional/cyclical/temporal families, variation decomposition, chi-square, contingency tables, expected frequencies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20 · Multi-Vari Studies and Chi-Square…</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Multi-Vari Studies and Chi-Square Analysis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13</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Understand the three variation families. POSITIONAL: within a single unit or across positions in a machine. CYCLICAL: unit to unit, batch to batch. TEMPORAL: shift to shift, day to day.</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Understand the payoff: if 70 percent of variation is positional, then investigating shift patterns is wasted effort no matter how thorough the investigation.</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Design a multi-vari sampling plan for your capstone: sample multiple positions within units, consecutive units, and repeat across time periods.</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Ensure the sampling captures all three families simultaneously — this is a nested sampling design, not three separate studies.</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Collect the data and plot the multi-vari chart, with positional variation innermost and temporal outermost.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20 · Multi-Vari Studies and Chi-Square…</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Multi-Vari Studies and Chi-Square Analysis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6-9 OF 13</a:t>
            </a:r>
          </a:p>
        </p:txBody>
      </p:sp>
      <p:sp>
        <p:nvSpPr>
          <p:cNvPr id="7" name="Rectangle 6"/>
          <p:cNvSpPr/>
          <p:nvPr/>
        </p:nvSpPr>
        <p:spPr>
          <a:xfrm>
            <a:off x="777240" y="212140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3351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3351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Read the chart: the family showing the largest vertical spread dominates. That is where your root cause investigation should concentrate.</a:t>
            </a:r>
          </a:p>
        </p:txBody>
      </p:sp>
      <p:sp>
        <p:nvSpPr>
          <p:cNvPr id="12" name="Rectangle 11"/>
          <p:cNvSpPr/>
          <p:nvPr/>
        </p:nvSpPr>
        <p:spPr>
          <a:xfrm>
            <a:off x="777240" y="315239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15239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36613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36613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20725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Quantify the contribution of each family as a percentage of total variation using variance components.</a:t>
            </a:r>
          </a:p>
        </p:txBody>
      </p:sp>
      <p:sp>
        <p:nvSpPr>
          <p:cNvPr id="17" name="Rectangle 16"/>
          <p:cNvSpPr/>
          <p:nvPr/>
        </p:nvSpPr>
        <p:spPr>
          <a:xfrm>
            <a:off x="777240" y="418337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418337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439711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439711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423824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Re-prioritise your candidate cause list from Lab 16 against the dominant variation family, and drop causes that belong to a family contributing little.</a:t>
            </a:r>
          </a:p>
        </p:txBody>
      </p:sp>
      <p:sp>
        <p:nvSpPr>
          <p:cNvPr id="22" name="Rectangle 21"/>
          <p:cNvSpPr/>
          <p:nvPr/>
        </p:nvSpPr>
        <p:spPr>
          <a:xfrm>
            <a:off x="777240" y="521436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521436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542810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542810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526922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Now chi-square. Build a contingency table of two categorical variables from your capstone — defect type against shift, supplier or line.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20 · Multi-Vari Studies and Chi-Square…</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Multi-Vari Studies and Chi-Square Analysis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10-13 OF 13</a:t>
            </a:r>
          </a:p>
        </p:txBody>
      </p:sp>
      <p:sp>
        <p:nvSpPr>
          <p:cNvPr id="7" name="Rectangle 6"/>
          <p:cNvSpPr/>
          <p:nvPr/>
        </p:nvSpPr>
        <p:spPr>
          <a:xfrm>
            <a:off x="777240" y="212140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3351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3351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11" name="TextBox 10"/>
          <p:cNvSpPr txBox="1"/>
          <p:nvPr/>
        </p:nvSpPr>
        <p:spPr>
          <a:xfrm>
            <a:off x="1700784" y="217627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Calculate expected frequencies under independence: expected = (row total x column total) / grand total.</a:t>
            </a:r>
          </a:p>
        </p:txBody>
      </p:sp>
      <p:sp>
        <p:nvSpPr>
          <p:cNvPr id="12" name="Rectangle 11"/>
          <p:cNvSpPr/>
          <p:nvPr/>
        </p:nvSpPr>
        <p:spPr>
          <a:xfrm>
            <a:off x="777240" y="315239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15239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36613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36613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16" name="TextBox 15"/>
          <p:cNvSpPr txBox="1"/>
          <p:nvPr/>
        </p:nvSpPr>
        <p:spPr>
          <a:xfrm>
            <a:off x="1700784" y="320725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Check the validity condition: all expected frequencies should be 5 or more, or the chi-square approximation breaks down and categories must be combined.</a:t>
            </a:r>
          </a:p>
        </p:txBody>
      </p:sp>
      <p:sp>
        <p:nvSpPr>
          <p:cNvPr id="17" name="Rectangle 16"/>
          <p:cNvSpPr/>
          <p:nvPr/>
        </p:nvSpPr>
        <p:spPr>
          <a:xfrm>
            <a:off x="777240" y="418337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418337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439711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439711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12</a:t>
            </a:r>
          </a:p>
        </p:txBody>
      </p:sp>
      <p:sp>
        <p:nvSpPr>
          <p:cNvPr id="21" name="TextBox 20"/>
          <p:cNvSpPr txBox="1"/>
          <p:nvPr/>
        </p:nvSpPr>
        <p:spPr>
          <a:xfrm>
            <a:off x="1700784" y="423824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Compute the chi-square statistic and its p-value, and conclude whether defect type is associated with your categorical factor.</a:t>
            </a:r>
          </a:p>
        </p:txBody>
      </p:sp>
      <p:sp>
        <p:nvSpPr>
          <p:cNvPr id="22" name="Rectangle 21"/>
          <p:cNvSpPr/>
          <p:nvPr/>
        </p:nvSpPr>
        <p:spPr>
          <a:xfrm>
            <a:off x="777240" y="521436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521436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542810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542810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13</a:t>
            </a:r>
          </a:p>
        </p:txBody>
      </p:sp>
      <p:sp>
        <p:nvSpPr>
          <p:cNvPr id="26" name="TextBox 25"/>
          <p:cNvSpPr txBox="1"/>
          <p:nvPr/>
        </p:nvSpPr>
        <p:spPr>
          <a:xfrm>
            <a:off x="1700784" y="526922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Translate a significant association into a testable process hypothesis — association is not causation, but it does tell you where to look.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20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Multi-Vari Studies and Chi-Square Analysis (Black Belt Only)</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multi-vari chart captures all three families with quantified variance contributions, your cause list is re-prioritised against the dominant family, and your chi-square satisfies the expected-frequency condition.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ANALYZE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Analyze Tollgate — Proving Root Cause and Telling the Data Story</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21</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The Analyze tollgate. Consolidate everything from Labs 15-20 into a proven root cause set, translate the statistics into business language, and rehearse the challenges you will face. Sponsors do not fund p-values; they fund decisions.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Analyze tollgate pack with proven root causes, evidence and a business-language summary.</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Evidence consolidation, root cause validation, statistical-to-business translation, tollgate review, challenge preparation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21 · Analyze Tollgate — Proving Root Cause…</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Analyze Tollgate — Proving Root Cause and Telling the Data Story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1-6 OF 11</a:t>
            </a:r>
          </a:p>
        </p:txBody>
      </p:sp>
      <p:sp>
        <p:nvSpPr>
          <p:cNvPr id="7" name="Rectangle 6"/>
          <p:cNvSpPr/>
          <p:nvPr/>
        </p:nvSpPr>
        <p:spPr>
          <a:xfrm>
            <a:off x="777240" y="2121408"/>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16331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6331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Assemble every analytical result from Labs 15-20: stratification, hypothesis tests, regression model, ANOVA, multi-vari and chi-square.</a:t>
            </a:r>
          </a:p>
        </p:txBody>
      </p:sp>
      <p:sp>
        <p:nvSpPr>
          <p:cNvPr id="12" name="Rectangle 11"/>
          <p:cNvSpPr/>
          <p:nvPr/>
        </p:nvSpPr>
        <p:spPr>
          <a:xfrm>
            <a:off x="777240" y="2808731"/>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08731"/>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28506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285064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2863595"/>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For each candidate cause, record the verdict — PROVEN (statistically supported), REJECTED (tested and cleared) or UNTESTED (no data available).</a:t>
            </a:r>
          </a:p>
        </p:txBody>
      </p:sp>
      <p:sp>
        <p:nvSpPr>
          <p:cNvPr id="17" name="Rectangle 16"/>
          <p:cNvSpPr/>
          <p:nvPr/>
        </p:nvSpPr>
        <p:spPr>
          <a:xfrm>
            <a:off x="777240" y="3496054"/>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496054"/>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53796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53796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550918"/>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Apply the triangulation rule: a root cause is strongest when supported by more than one independent method — for instance stratification plus a hypothesis test plus a regression coefficient.</a:t>
            </a:r>
          </a:p>
        </p:txBody>
      </p:sp>
      <p:sp>
        <p:nvSpPr>
          <p:cNvPr id="22" name="Rectangle 21"/>
          <p:cNvSpPr/>
          <p:nvPr/>
        </p:nvSpPr>
        <p:spPr>
          <a:xfrm>
            <a:off x="777240" y="4183377"/>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183377"/>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2252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2252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238241"/>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Check each proven cause for practical significance. Quantify how much of the Y gap each explains, in percent and in dollars.</a:t>
            </a:r>
          </a:p>
        </p:txBody>
      </p:sp>
      <p:sp>
        <p:nvSpPr>
          <p:cNvPr id="27" name="Rectangle 26"/>
          <p:cNvSpPr/>
          <p:nvPr/>
        </p:nvSpPr>
        <p:spPr>
          <a:xfrm>
            <a:off x="777240" y="4870700"/>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4870700"/>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491260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491260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4925564"/>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Rank your proven causes by the size of their contribution to the Y gap.</a:t>
            </a:r>
          </a:p>
        </p:txBody>
      </p:sp>
      <p:sp>
        <p:nvSpPr>
          <p:cNvPr id="32" name="Rectangle 31"/>
          <p:cNvSpPr/>
          <p:nvPr/>
        </p:nvSpPr>
        <p:spPr>
          <a:xfrm>
            <a:off x="777240" y="5558023"/>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77240" y="5558023"/>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024128" y="559993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24128" y="559993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36" name="TextBox 35"/>
          <p:cNvSpPr txBox="1"/>
          <p:nvPr/>
        </p:nvSpPr>
        <p:spPr>
          <a:xfrm>
            <a:off x="1700784" y="5612887"/>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Confirm your causes are ACTIONABLE — a proven cause you cannot influence belongs in the risk register, not the improvement plan.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21 · Analyze Tollgate — Proving Root Cause…</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Analyze Tollgate — Proving Root Cause and Telling the Data Story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7-11 OF 11</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Translate each finding into one business sentence: 'Night shift at Suzhou runs 2.3 percentage points lower first-pass yield, costing about $180k annually.'</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Build the tollgate pack: baseline, analysis method, proven causes, rejected causes, quantified impact and the recommendation to proceed.</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Rehearse the challenges you should expect: was the sample adequate, were assumptions checked, could a confounding variable explain this, is the measurement system valid?</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Prepare your evidence for each challenge — this is exactly what the Day 5 steering committee will probe.</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Present the tollgate to a peer group and capture their challenges, then strengthen any weak points before Day 4.</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21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Analyze Tollgate — Proving Root Cause and Telling the Data Story</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candidate cause carries a verdict, proven causes are triangulated across multiple methods and quantified in dollars, and you have rehearsed a prepared response to each expected challenge.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Analyze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400">
                <a:solidFill>
                  <a:srgbClr val="161B26"/>
                </a:solidFill>
                <a:latin typeface="Arial"/>
              </a:rPr>
              <a:t>•  Variation, run charts and Pareto — in depth — Common vs special cause, run chart patterns, stratification and Pareto analysis re-derived in full.</a:t>
            </a:r>
          </a:p>
          <a:p>
            <a:pPr>
              <a:spcAft>
                <a:spcPts val="1000"/>
              </a:spcAft>
            </a:pPr>
            <a:r>
              <a:rPr sz="1400">
                <a:solidFill>
                  <a:srgbClr val="161B26"/>
                </a:solidFill>
                <a:latin typeface="Arial"/>
              </a:rPr>
              <a:t>•  Fishbone and 5 Whys — in depth — Cause-and-effect analysis by 5M+E, 5 Whys discipline and multi-voting — the tools you will coach Green Belts through.</a:t>
            </a:r>
          </a:p>
          <a:p>
            <a:pPr>
              <a:spcAft>
                <a:spcPts val="1000"/>
              </a:spcAft>
            </a:pPr>
            <a:r>
              <a:rPr sz="1400">
                <a:solidFill>
                  <a:srgbClr val="161B26"/>
                </a:solidFill>
                <a:latin typeface="Arial"/>
              </a:rPr>
              <a:t>•  Hypothesis testing — in depth — H0/Ha formulation, alpha, p-values, confidence levels, test selection and Type I/II errors, worked thoroughly.</a:t>
            </a:r>
          </a:p>
          <a:p>
            <a:pPr>
              <a:spcAft>
                <a:spcPts val="1000"/>
              </a:spcAft>
            </a:pPr>
            <a:r>
              <a:rPr sz="1400">
                <a:solidFill>
                  <a:srgbClr val="161B26"/>
                </a:solidFill>
                <a:latin typeface="Arial"/>
              </a:rPr>
              <a:t>•  Simple regression &amp; correlation — in depth — Correlation coefficients, the regression line and the causation trap — the foundation multiple regression builds on.</a:t>
            </a:r>
          </a:p>
          <a:p>
            <a:pPr>
              <a:spcAft>
                <a:spcPts val="1000"/>
              </a:spcAft>
            </a:pPr>
            <a:r>
              <a:rPr sz="1400">
                <a:solidFill>
                  <a:srgbClr val="161B26"/>
                </a:solidFill>
                <a:latin typeface="Arial"/>
              </a:rPr>
              <a:t>•  Multiple regression — Model Y against several Xs at once — the Green Belt's simple linear regression will not do here.</a:t>
            </a:r>
          </a:p>
          <a:p>
            <a:pPr>
              <a:spcAft>
                <a:spcPts val="1000"/>
              </a:spcAft>
            </a:pPr>
            <a:r>
              <a:rPr sz="1400">
                <a:solidFill>
                  <a:srgbClr val="161B26"/>
                </a:solidFill>
                <a:latin typeface="Arial"/>
              </a:rPr>
              <a:t>•  Model diagnostics — R-squared adjusted, residual plots, multicollinearity (VIF) — a model that fits is not yet a model that is valid.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IMPROVE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Improve at Black Belt Depth — Design of Experiments</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Solution selection · Lean countermeasures · FMEA · Full &amp; fractional factorial DOE · Confounding · RSM · Robust design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I</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18%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Improve (1)</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Solution generation &amp; selection — in depth</a:t>
            </a:r>
          </a:p>
          <a:p>
            <a:pPr algn="l">
              <a:spcAft>
                <a:spcPts val="300"/>
              </a:spcAft>
            </a:pPr>
            <a:r>
              <a:rPr sz="1100" b="0">
                <a:solidFill>
                  <a:srgbClr val="5B6372"/>
                </a:solidFill>
                <a:latin typeface="Arial"/>
              </a:rPr>
              <a:t>Brainstorming, brainwriting, benchmarking and weighted solution selection matrices, re-derived in full.</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Lean countermeasures — in depth</a:t>
            </a:r>
          </a:p>
          <a:p>
            <a:pPr algn="l">
              <a:spcAft>
                <a:spcPts val="300"/>
              </a:spcAft>
            </a:pPr>
            <a:r>
              <a:rPr sz="1100" b="0">
                <a:solidFill>
                  <a:srgbClr val="5B6372"/>
                </a:solidFill>
                <a:latin typeface="Arial"/>
              </a:rPr>
              <a:t>5S, poka-yoke, pull, JIT, Heijunka, Jidoka and standard work — the Lean toolkit taught thoroughly.</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FMEA and RPN — in depth</a:t>
            </a:r>
          </a:p>
          <a:p>
            <a:pPr algn="l">
              <a:spcAft>
                <a:spcPts val="300"/>
              </a:spcAft>
            </a:pPr>
            <a:r>
              <a:rPr sz="1100" b="0">
                <a:solidFill>
                  <a:srgbClr val="5B6372"/>
                </a:solidFill>
                <a:latin typeface="Arial"/>
              </a:rPr>
              <a:t>Severity, Occurrence and Detection scoring, RPN calculation and the re-scored post-mitigation FMEA.</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Why DOE beats OFAT</a:t>
            </a:r>
          </a:p>
          <a:p>
            <a:pPr algn="l">
              <a:spcAft>
                <a:spcPts val="300"/>
              </a:spcAft>
            </a:pPr>
            <a:r>
              <a:rPr sz="1100" b="0">
                <a:solidFill>
                  <a:srgbClr val="5B6372"/>
                </a:solidFill>
                <a:latin typeface="Arial"/>
              </a:rPr>
              <a:t>One-factor-at-a-time misses interactions and wastes runs. DOE varies factors together, by design.</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Full factorial design</a:t>
            </a:r>
          </a:p>
          <a:p>
            <a:pPr algn="l">
              <a:spcAft>
                <a:spcPts val="300"/>
              </a:spcAft>
            </a:pPr>
            <a:r>
              <a:rPr sz="1100" b="0">
                <a:solidFill>
                  <a:srgbClr val="5B6372"/>
                </a:solidFill>
                <a:latin typeface="Arial"/>
              </a:rPr>
              <a:t>2^k designs estimate every main effect and every interaction — the gold standard when runs are affordable.</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Main effects &amp; interaction plots</a:t>
            </a:r>
          </a:p>
          <a:p>
            <a:pPr algn="l">
              <a:spcAft>
                <a:spcPts val="300"/>
              </a:spcAft>
            </a:pPr>
            <a:r>
              <a:rPr sz="1100" b="0">
                <a:solidFill>
                  <a:srgbClr val="5B6372"/>
                </a:solidFill>
                <a:latin typeface="Arial"/>
              </a:rPr>
              <a:t>Read the design: a non-parallel interaction plot means the effect of one X depends on another.</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Fractional factorial design</a:t>
            </a:r>
          </a:p>
          <a:p>
            <a:pPr algn="l">
              <a:spcAft>
                <a:spcPts val="300"/>
              </a:spcAft>
            </a:pPr>
            <a:r>
              <a:rPr sz="1100" b="0">
                <a:solidFill>
                  <a:srgbClr val="5B6372"/>
                </a:solidFill>
                <a:latin typeface="Arial"/>
              </a:rPr>
              <a:t>2^(k-p) designs screen many factors in few runs by deliberately trading away high-order interactions.</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Confounding &amp; resolution</a:t>
            </a:r>
          </a:p>
          <a:p>
            <a:pPr algn="l">
              <a:spcAft>
                <a:spcPts val="300"/>
              </a:spcAft>
            </a:pPr>
            <a:r>
              <a:rPr sz="1100" b="0">
                <a:solidFill>
                  <a:srgbClr val="5B6372"/>
                </a:solidFill>
                <a:latin typeface="Arial"/>
              </a:rPr>
              <a:t>Resolution III, IV and V describe exactly what you gave up. Know it before you interpret the result.</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18%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Improve (2)</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Response surface methodology</a:t>
            </a:r>
          </a:p>
          <a:p>
            <a:pPr algn="l">
              <a:spcAft>
                <a:spcPts val="300"/>
              </a:spcAft>
            </a:pPr>
            <a:r>
              <a:rPr sz="1100" b="0">
                <a:solidFill>
                  <a:srgbClr val="5B6372"/>
                </a:solidFill>
                <a:latin typeface="Arial"/>
              </a:rPr>
              <a:t>Once the vital few Xs are known, RSM finds the optimum settings, not just the significant factors.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Robust design (Taguchi)</a:t>
            </a:r>
          </a:p>
          <a:p>
            <a:pPr algn="l">
              <a:spcAft>
                <a:spcPts val="300"/>
              </a:spcAft>
            </a:pPr>
            <a:r>
              <a:rPr sz="1100" b="0">
                <a:solidFill>
                  <a:srgbClr val="5B6372"/>
                </a:solidFill>
                <a:latin typeface="Arial"/>
              </a:rPr>
              <a:t>Set the process so it performs well despite noise you cannot control — not just on average.</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Piloting and scale-up</a:t>
            </a:r>
          </a:p>
          <a:p>
            <a:pPr algn="l">
              <a:spcAft>
                <a:spcPts val="300"/>
              </a:spcAft>
            </a:pPr>
            <a:r>
              <a:rPr sz="1100" b="0">
                <a:solidFill>
                  <a:srgbClr val="5B6372"/>
                </a:solidFill>
                <a:latin typeface="Arial"/>
              </a:rPr>
              <a:t>Confirm the DOE optimum holds in production before rolling it out across sites.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IMPROVE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Green Belts pick a solution. Black Belts design the experiment that finds it.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Improve at Black Belt level is where Design of Experiments enters the toolkit. You stop guessing at settings and start estimating effects.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Improve delivers at Black Belt level</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generated solution set</a:t>
            </a:r>
          </a:p>
          <a:p>
            <a:pPr algn="l">
              <a:spcAft>
                <a:spcPts val="300"/>
              </a:spcAft>
            </a:pPr>
            <a:r>
              <a:rPr sz="1200" b="0">
                <a:solidFill>
                  <a:srgbClr val="5B6372"/>
                </a:solidFill>
                <a:latin typeface="Arial"/>
              </a:rPr>
              <a:t>Many candidates, each traced to a statistically proven root cause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weighted selection decision</a:t>
            </a:r>
          </a:p>
          <a:p>
            <a:pPr algn="l">
              <a:spcAft>
                <a:spcPts val="300"/>
              </a:spcAft>
            </a:pPr>
            <a:r>
              <a:rPr sz="1200" b="0">
                <a:solidFill>
                  <a:srgbClr val="5B6372"/>
                </a:solidFill>
                <a:latin typeface="Arial"/>
              </a:rPr>
              <a:t>Criteria weighted WITH the sponsor before any solution is scored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designed experiment</a:t>
            </a:r>
          </a:p>
          <a:p>
            <a:pPr algn="l">
              <a:spcAft>
                <a:spcPts val="300"/>
              </a:spcAft>
            </a:pPr>
            <a:r>
              <a:rPr sz="1200" b="0">
                <a:solidFill>
                  <a:srgbClr val="5B6372"/>
                </a:solidFill>
                <a:latin typeface="Arial"/>
              </a:rPr>
              <a:t>Factors, levels and runs chosen deliberately, not one factor at a time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Optimum settings with evidence</a:t>
            </a:r>
          </a:p>
          <a:p>
            <a:pPr algn="l">
              <a:spcAft>
                <a:spcPts val="300"/>
              </a:spcAft>
            </a:pPr>
            <a:r>
              <a:rPr sz="1200" b="0">
                <a:solidFill>
                  <a:srgbClr val="5B6372"/>
                </a:solidFill>
                <a:latin typeface="Arial"/>
              </a:rPr>
              <a:t>Prediction equation plus confirmation runs at the chosen setpoint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robust operating window</a:t>
            </a:r>
          </a:p>
          <a:p>
            <a:pPr algn="l">
              <a:spcAft>
                <a:spcPts val="300"/>
              </a:spcAft>
            </a:pPr>
            <a:r>
              <a:rPr sz="1200" b="0">
                <a:solidFill>
                  <a:srgbClr val="5B6372"/>
                </a:solidFill>
                <a:latin typeface="Arial"/>
              </a:rPr>
              <a:t>Settings that hold up against the noise you cannot control</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 risk-assessed, piloted change</a:t>
            </a:r>
          </a:p>
          <a:p>
            <a:pPr algn="l">
              <a:spcAft>
                <a:spcPts val="300"/>
              </a:spcAft>
            </a:pPr>
            <a:r>
              <a:rPr sz="1200" b="0">
                <a:solidFill>
                  <a:srgbClr val="5B6372"/>
                </a:solidFill>
                <a:latin typeface="Arial"/>
              </a:rPr>
              <a:t>FMEA re-scored after mitigation, then piloted before rollout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Green Belt Improve vs Black Belt Improve</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Green Belt</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Choose and pilot a solution</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Brainstorm, then vote or use a simple matrix</a:t>
            </a:r>
          </a:p>
          <a:p>
            <a:pPr>
              <a:spcAft>
                <a:spcPts val="700"/>
              </a:spcAft>
            </a:pPr>
            <a:r>
              <a:rPr sz="1200">
                <a:solidFill>
                  <a:srgbClr val="161B26"/>
                </a:solidFill>
                <a:latin typeface="Arial"/>
              </a:rPr>
              <a:t>•  Apply known Lean countermeasures</a:t>
            </a:r>
          </a:p>
          <a:p>
            <a:pPr>
              <a:spcAft>
                <a:spcPts val="700"/>
              </a:spcAft>
            </a:pPr>
            <a:r>
              <a:rPr sz="1200">
                <a:solidFill>
                  <a:srgbClr val="161B26"/>
                </a:solidFill>
                <a:latin typeface="Arial"/>
              </a:rPr>
              <a:t>•  FMEA the new process, act on top RPNs</a:t>
            </a:r>
          </a:p>
          <a:p>
            <a:pPr>
              <a:spcAft>
                <a:spcPts val="700"/>
              </a:spcAft>
            </a:pPr>
            <a:r>
              <a:rPr sz="1200">
                <a:solidFill>
                  <a:srgbClr val="161B26"/>
                </a:solidFill>
                <a:latin typeface="Arial"/>
              </a:rPr>
              <a:t>•  Pilot, measure, roll out</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Black Belt</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Design experiments to find the optimum</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Everything the Green Belt does, taught well enough to mentor it</a:t>
            </a:r>
          </a:p>
          <a:p>
            <a:pPr>
              <a:spcAft>
                <a:spcPts val="700"/>
              </a:spcAft>
            </a:pPr>
            <a:r>
              <a:rPr sz="1200">
                <a:solidFill>
                  <a:srgbClr val="161B26"/>
                </a:solidFill>
                <a:latin typeface="Arial"/>
              </a:rPr>
              <a:t>•  Plus: factorial designs to estimate effects and interactions</a:t>
            </a:r>
          </a:p>
          <a:p>
            <a:pPr>
              <a:spcAft>
                <a:spcPts val="700"/>
              </a:spcAft>
            </a:pPr>
            <a:r>
              <a:rPr sz="1200">
                <a:solidFill>
                  <a:srgbClr val="161B26"/>
                </a:solidFill>
                <a:latin typeface="Arial"/>
              </a:rPr>
              <a:t>•  Plus: fractional screening when factors are many</a:t>
            </a:r>
          </a:p>
          <a:p>
            <a:pPr>
              <a:spcAft>
                <a:spcPts val="700"/>
              </a:spcAft>
            </a:pPr>
            <a:r>
              <a:rPr sz="1200">
                <a:solidFill>
                  <a:srgbClr val="161B26"/>
                </a:solidFill>
                <a:latin typeface="Arial"/>
              </a:rPr>
              <a:t>•  Plus: RSM and robust design to optimise and de-sensitise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SOLUTION GENERATION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You cannot select a good solution from a shallow list.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Generation and selection are separate cognitive acts. Mixing them kills the good ideas before they are fully formed.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Six generation techniques a Black Belt must run</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Classic brainstorming</a:t>
            </a:r>
          </a:p>
          <a:p>
            <a:pPr algn="l">
              <a:spcAft>
                <a:spcPts val="300"/>
              </a:spcAft>
            </a:pPr>
            <a:r>
              <a:rPr sz="1200" b="0">
                <a:solidFill>
                  <a:srgbClr val="5B6372"/>
                </a:solidFill>
                <a:latin typeface="Arial"/>
              </a:rPr>
              <a:t>Aloud, in group; quantity first, zero criticism, build on others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Brainwriting 6-3-5</a:t>
            </a:r>
          </a:p>
          <a:p>
            <a:pPr algn="l">
              <a:spcAft>
                <a:spcPts val="300"/>
              </a:spcAft>
            </a:pPr>
            <a:r>
              <a:rPr sz="1200" b="0">
                <a:solidFill>
                  <a:srgbClr val="5B6372"/>
                </a:solidFill>
                <a:latin typeface="Arial"/>
              </a:rPr>
              <a:t>6 people write 3 ideas in 5 minutes, then pass the sheet on</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SCAMPER</a:t>
            </a:r>
          </a:p>
          <a:p>
            <a:pPr algn="l">
              <a:spcAft>
                <a:spcPts val="300"/>
              </a:spcAft>
            </a:pPr>
            <a:r>
              <a:rPr sz="1200" b="0">
                <a:solidFill>
                  <a:srgbClr val="5B6372"/>
                </a:solidFill>
                <a:latin typeface="Arial"/>
              </a:rPr>
              <a:t>Substitute, Combine, Adapt, Modify, Put to other use, Eliminate, Reverse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Anti-solution thinking</a:t>
            </a:r>
          </a:p>
          <a:p>
            <a:pPr algn="l">
              <a:spcAft>
                <a:spcPts val="300"/>
              </a:spcAft>
            </a:pPr>
            <a:r>
              <a:rPr sz="1200" b="0">
                <a:solidFill>
                  <a:srgbClr val="5B6372"/>
                </a:solidFill>
                <a:latin typeface="Arial"/>
              </a:rPr>
              <a:t>Ask how to make it WORSE, then invert every answer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Benchmarking</a:t>
            </a:r>
          </a:p>
          <a:p>
            <a:pPr algn="l">
              <a:spcAft>
                <a:spcPts val="300"/>
              </a:spcAft>
            </a:pPr>
            <a:r>
              <a:rPr sz="1200" b="0">
                <a:solidFill>
                  <a:srgbClr val="5B6372"/>
                </a:solidFill>
                <a:latin typeface="Arial"/>
              </a:rPr>
              <a:t>Borrow proven designs from inside, from rivals, from other industries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Analogy and TRIZ prompts</a:t>
            </a:r>
          </a:p>
          <a:p>
            <a:pPr algn="l">
              <a:spcAft>
                <a:spcPts val="300"/>
              </a:spcAft>
            </a:pPr>
            <a:r>
              <a:rPr sz="1200" b="0">
                <a:solidFill>
                  <a:srgbClr val="5B6372"/>
                </a:solidFill>
                <a:latin typeface="Arial"/>
              </a:rPr>
              <a:t>How does another industry solve the same physical problem?</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Brainwriting 6-3-5 mechanics</a:t>
            </a:r>
          </a:p>
        </p:txBody>
      </p:sp>
      <p:sp>
        <p:nvSpPr>
          <p:cNvPr id="6" name="Rectangle 5"/>
          <p:cNvSpPr/>
          <p:nvPr/>
        </p:nvSpPr>
        <p:spPr>
          <a:xfrm>
            <a:off x="777240"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Seat 6 people; each gets a 3-column sheet</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601468"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523744"/>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Round 1: write 3 ideas in 5 minutes, in silence</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4425696"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523744"/>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Pass the sheet to the left</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6249924"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523744"/>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Read what is there, then add 3 BUILDS not 3 new ideas</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8074152"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523744"/>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Repeat until each sheet has been round the table</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6" name="Rectangle 35"/>
          <p:cNvSpPr/>
          <p:nvPr/>
        </p:nvSpPr>
        <p:spPr>
          <a:xfrm>
            <a:off x="9898380" y="2523744"/>
            <a:ext cx="1513332"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523744"/>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822192"/>
            <a:ext cx="1257300" cy="1088136"/>
          </a:xfrm>
          <a:prstGeom prst="rect">
            <a:avLst/>
          </a:prstGeom>
          <a:noFill/>
        </p:spPr>
        <p:txBody>
          <a:bodyPr wrap="square" anchor="t">
            <a:spAutoFit/>
          </a:bodyPr>
          <a:lstStyle/>
          <a:p>
            <a:pPr algn="ctr">
              <a:spcAft>
                <a:spcPts val="400"/>
              </a:spcAft>
            </a:pPr>
            <a:r>
              <a:rPr sz="1300" b="0">
                <a:solidFill>
                  <a:srgbClr val="161B26"/>
                </a:solidFill>
                <a:latin typeface="Arial"/>
              </a:rPr>
              <a:t>108 ideas in 30 minutes with no dominant voice</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Anti-solution thinking at Meridian Suzhou</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DC2C2C"/>
                </a:solidFill>
                <a:latin typeface="Arial"/>
              </a:rPr>
              <a:t>Make it worse</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Invert it</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How could we make first-pass yield MUCH worse?</a:t>
            </a:r>
          </a:p>
          <a:p>
            <a:pPr>
              <a:spcAft>
                <a:spcPts val="1000"/>
              </a:spcAft>
            </a:pPr>
            <a:r>
              <a:rPr sz="1300">
                <a:solidFill>
                  <a:srgbClr val="5B6372"/>
                </a:solidFill>
                <a:latin typeface="Arial"/>
              </a:rPr>
              <a:t>–  Let each operator set cure temperature by feel</a:t>
            </a:r>
          </a:p>
          <a:p>
            <a:pPr>
              <a:spcAft>
                <a:spcPts val="1000"/>
              </a:spcAft>
            </a:pPr>
            <a:r>
              <a:rPr sz="1300">
                <a:solidFill>
                  <a:srgbClr val="5B6372"/>
                </a:solidFill>
                <a:latin typeface="Arial"/>
              </a:rPr>
              <a:t>–  Change adhesive lots mid-shift with no record</a:t>
            </a:r>
          </a:p>
          <a:p>
            <a:pPr>
              <a:spcAft>
                <a:spcPts val="1000"/>
              </a:spcAft>
            </a:pPr>
            <a:r>
              <a:rPr sz="1300">
                <a:solidFill>
                  <a:srgbClr val="5B6372"/>
                </a:solidFill>
                <a:latin typeface="Arial"/>
              </a:rPr>
              <a:t>–  Run the test rig without daily calibration</a:t>
            </a:r>
          </a:p>
          <a:p>
            <a:pPr>
              <a:spcAft>
                <a:spcPts val="1000"/>
              </a:spcAft>
            </a:pPr>
            <a:r>
              <a:rPr sz="1300">
                <a:solidFill>
                  <a:srgbClr val="5B6372"/>
                </a:solidFill>
                <a:latin typeface="Arial"/>
              </a:rPr>
              <a:t>–  Give no torque spec on the housing screws</a:t>
            </a:r>
          </a:p>
          <a:p>
            <a:pPr>
              <a:spcAft>
                <a:spcPts val="1000"/>
              </a:spcAft>
            </a:pPr>
            <a:r>
              <a:rPr sz="1300">
                <a:solidFill>
                  <a:srgbClr val="5B6372"/>
                </a:solidFill>
                <a:latin typeface="Arial"/>
              </a:rPr>
              <a:t>–  Start the shift before the line reaches temperature</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Now invert each answer into a countermeasure</a:t>
            </a:r>
          </a:p>
          <a:p>
            <a:pPr>
              <a:spcAft>
                <a:spcPts val="1000"/>
              </a:spcAft>
            </a:pPr>
            <a:r>
              <a:rPr sz="1300">
                <a:solidFill>
                  <a:srgbClr val="5B6372"/>
                </a:solidFill>
                <a:latin typeface="Arial"/>
              </a:rPr>
              <a:t>–  Lock cure temperature to a recipe in the controller</a:t>
            </a:r>
          </a:p>
          <a:p>
            <a:pPr>
              <a:spcAft>
                <a:spcPts val="1000"/>
              </a:spcAft>
            </a:pPr>
            <a:r>
              <a:rPr sz="1300">
                <a:solidFill>
                  <a:srgbClr val="5B6372"/>
                </a:solidFill>
                <a:latin typeface="Arial"/>
              </a:rPr>
              <a:t>–  One adhesive lot per shift, logged and traceable</a:t>
            </a:r>
          </a:p>
          <a:p>
            <a:pPr>
              <a:spcAft>
                <a:spcPts val="1000"/>
              </a:spcAft>
            </a:pPr>
            <a:r>
              <a:rPr sz="1300">
                <a:solidFill>
                  <a:srgbClr val="5B6372"/>
                </a:solidFill>
                <a:latin typeface="Arial"/>
              </a:rPr>
              <a:t>–  Daily calibration check as a line-start gate</a:t>
            </a:r>
          </a:p>
          <a:p>
            <a:pPr>
              <a:spcAft>
                <a:spcPts val="1000"/>
              </a:spcAft>
            </a:pPr>
            <a:r>
              <a:rPr sz="1300">
                <a:solidFill>
                  <a:srgbClr val="5B6372"/>
                </a:solidFill>
                <a:latin typeface="Arial"/>
              </a:rPr>
              <a:t>–  Torque-controlled driver with a verified setpoint</a:t>
            </a:r>
          </a:p>
          <a:p>
            <a:pPr>
              <a:spcAft>
                <a:spcPts val="1000"/>
              </a:spcAft>
            </a:pPr>
            <a:r>
              <a:rPr sz="1300">
                <a:solidFill>
                  <a:srgbClr val="5B6372"/>
                </a:solidFill>
                <a:latin typeface="Arial"/>
              </a:rPr>
              <a:t>–  Warm-up interlock before the first unit is released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Benchmarking as a repeating cycle</a:t>
            </a:r>
          </a:p>
        </p:txBody>
      </p:sp>
      <p:pic>
        <p:nvPicPr>
          <p:cNvPr id="6" name="Picture 5" descr="benchmarking-steps.png"/>
          <p:cNvPicPr>
            <a:picLocks noChangeAspect="1"/>
          </p:cNvPicPr>
          <p:nvPr/>
        </p:nvPicPr>
        <p:blipFill>
          <a:blip r:embed="rId2"/>
          <a:stretch>
            <a:fillRect/>
          </a:stretch>
        </p:blipFill>
        <p:spPr>
          <a:xfrm>
            <a:off x="2424800" y="1737360"/>
            <a:ext cx="7342094" cy="4160520"/>
          </a:xfrm>
          <a:prstGeom prst="rect">
            <a:avLst/>
          </a:prstGeom>
        </p:spPr>
      </p:pic>
      <p:sp>
        <p:nvSpPr>
          <p:cNvPr id="7" name="TextBox 6"/>
          <p:cNvSpPr txBox="1"/>
          <p:nvPr/>
        </p:nvSpPr>
        <p:spPr>
          <a:xfrm>
            <a:off x="777240" y="6007608"/>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Plan, collect, analyse, adapt. The gap analysis is where the learning sits - copying the practice without understanding it fails.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types of benchmarking at Meridian</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Internal</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Another Meridian plant or line</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Singapore Line 2 runs 96.4 percent first-pass yield</a:t>
            </a:r>
          </a:p>
          <a:p>
            <a:pPr>
              <a:spcAft>
                <a:spcPts val="700"/>
              </a:spcAft>
            </a:pPr>
            <a:r>
              <a:rPr sz="1200">
                <a:solidFill>
                  <a:srgbClr val="161B26"/>
                </a:solidFill>
                <a:latin typeface="Arial"/>
              </a:rPr>
              <a:t>•  Suzhou Line 5 runs 91.2 percent on the same product</a:t>
            </a:r>
          </a:p>
          <a:p>
            <a:pPr>
              <a:spcAft>
                <a:spcPts val="700"/>
              </a:spcAft>
            </a:pPr>
            <a:r>
              <a:rPr sz="1200">
                <a:solidFill>
                  <a:srgbClr val="161B26"/>
                </a:solidFill>
                <a:latin typeface="Arial"/>
              </a:rPr>
              <a:t>•  Cheapest, fastest, fully comparable data</a:t>
            </a:r>
          </a:p>
          <a:p>
            <a:pPr>
              <a:spcAft>
                <a:spcPts val="700"/>
              </a:spcAft>
            </a:pPr>
            <a:r>
              <a:rPr sz="1200">
                <a:solidFill>
                  <a:srgbClr val="161B26"/>
                </a:solidFill>
                <a:latin typeface="Arial"/>
              </a:rPr>
              <a:t>•  Risk: you only ever copy your own habits</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Competitive</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 rival infusion pump maker</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Most relevant comparison of performance</a:t>
            </a:r>
          </a:p>
          <a:p>
            <a:pPr>
              <a:spcAft>
                <a:spcPts val="700"/>
              </a:spcAft>
            </a:pPr>
            <a:r>
              <a:rPr sz="1200">
                <a:solidFill>
                  <a:srgbClr val="161B26"/>
                </a:solidFill>
                <a:latin typeface="Arial"/>
              </a:rPr>
              <a:t>•  Hardest data to obtain legitimately</a:t>
            </a:r>
          </a:p>
          <a:p>
            <a:pPr>
              <a:spcAft>
                <a:spcPts val="700"/>
              </a:spcAft>
            </a:pPr>
            <a:r>
              <a:rPr sz="1200">
                <a:solidFill>
                  <a:srgbClr val="161B26"/>
                </a:solidFill>
                <a:latin typeface="Arial"/>
              </a:rPr>
              <a:t>•  Use teardowns, public filings, industry surveys</a:t>
            </a:r>
          </a:p>
          <a:p>
            <a:pPr>
              <a:spcAft>
                <a:spcPts val="700"/>
              </a:spcAft>
            </a:pPr>
            <a:r>
              <a:rPr sz="1200">
                <a:solidFill>
                  <a:srgbClr val="161B26"/>
                </a:solidFill>
                <a:latin typeface="Arial"/>
              </a:rPr>
              <a:t>•  Risk: confidentiality and competition law</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Functional</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Best-in-class in ANY industry</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For leak testing, study automotive fuel systems</a:t>
            </a:r>
          </a:p>
          <a:p>
            <a:pPr>
              <a:spcAft>
                <a:spcPts val="700"/>
              </a:spcAft>
            </a:pPr>
            <a:r>
              <a:rPr sz="1200">
                <a:solidFill>
                  <a:srgbClr val="161B26"/>
                </a:solidFill>
                <a:latin typeface="Arial"/>
              </a:rPr>
              <a:t>•  For clean assembly, study semiconductor packaging</a:t>
            </a:r>
          </a:p>
          <a:p>
            <a:pPr>
              <a:spcAft>
                <a:spcPts val="700"/>
              </a:spcAft>
            </a:pPr>
            <a:r>
              <a:rPr sz="1200">
                <a:solidFill>
                  <a:srgbClr val="161B26"/>
                </a:solidFill>
                <a:latin typeface="Arial"/>
              </a:rPr>
              <a:t>•  Usually the source of the breakthrough</a:t>
            </a:r>
          </a:p>
          <a:p>
            <a:pPr>
              <a:spcAft>
                <a:spcPts val="700"/>
              </a:spcAft>
            </a:pPr>
            <a:r>
              <a:rPr sz="1200">
                <a:solidFill>
                  <a:srgbClr val="161B26"/>
                </a:solidFill>
                <a:latin typeface="Arial"/>
              </a:rPr>
              <a:t>•  Risk: needs the most adaptation effort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LEAN COUNTERMEASURES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Before you design an experiment, exhaust the countermeasures that need no experiment.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Most defects are not an optimisation problem. They are an absence of standard work, mistake-proofing and flow.</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Lean countermeasure toolkit</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5S</a:t>
            </a:r>
          </a:p>
          <a:p>
            <a:pPr algn="l">
              <a:spcAft>
                <a:spcPts val="300"/>
              </a:spcAft>
            </a:pPr>
            <a:r>
              <a:rPr sz="1200" b="0">
                <a:solidFill>
                  <a:srgbClr val="5B6372"/>
                </a:solidFill>
                <a:latin typeface="Arial"/>
              </a:rPr>
              <a:t>Workplace organisation so the abnormal condition becomes visible instantly</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Poka-yoke</a:t>
            </a:r>
          </a:p>
          <a:p>
            <a:pPr algn="l">
              <a:spcAft>
                <a:spcPts val="300"/>
              </a:spcAft>
            </a:pPr>
            <a:r>
              <a:rPr sz="1200" b="0">
                <a:solidFill>
                  <a:srgbClr val="5B6372"/>
                </a:solidFill>
                <a:latin typeface="Arial"/>
              </a:rPr>
              <a:t>Design so the error cannot be made, or cannot pass undetected</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Pull systems</a:t>
            </a:r>
          </a:p>
          <a:p>
            <a:pPr algn="l">
              <a:spcAft>
                <a:spcPts val="300"/>
              </a:spcAft>
            </a:pPr>
            <a:r>
              <a:rPr sz="1200" b="0">
                <a:solidFill>
                  <a:srgbClr val="5B6372"/>
                </a:solidFill>
                <a:latin typeface="Arial"/>
              </a:rPr>
              <a:t>Downstream consumption authorises upstream production - no overproduction</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Just-in-Time</a:t>
            </a:r>
          </a:p>
          <a:p>
            <a:pPr algn="l">
              <a:spcAft>
                <a:spcPts val="300"/>
              </a:spcAft>
            </a:pPr>
            <a:r>
              <a:rPr sz="1200" b="0">
                <a:solidFill>
                  <a:srgbClr val="5B6372"/>
                </a:solidFill>
                <a:latin typeface="Arial"/>
              </a:rPr>
              <a:t>The right part, the right quantity, exactly when needed</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Heijunka</a:t>
            </a:r>
          </a:p>
          <a:p>
            <a:pPr algn="l">
              <a:spcAft>
                <a:spcPts val="300"/>
              </a:spcAft>
            </a:pPr>
            <a:r>
              <a:rPr sz="1200" b="0">
                <a:solidFill>
                  <a:srgbClr val="5B6372"/>
                </a:solidFill>
                <a:latin typeface="Arial"/>
              </a:rPr>
              <a:t>Level the mix and volume so demand spikes do not propagate</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Jidoka</a:t>
            </a:r>
          </a:p>
          <a:p>
            <a:pPr algn="l">
              <a:spcAft>
                <a:spcPts val="300"/>
              </a:spcAft>
            </a:pPr>
            <a:r>
              <a:rPr sz="1200" b="0">
                <a:solidFill>
                  <a:srgbClr val="5B6372"/>
                </a:solidFill>
                <a:latin typeface="Arial"/>
              </a:rPr>
              <a:t>Automation with a human touch - the machine stops itself on abnormality</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Standard work</a:t>
            </a:r>
          </a:p>
          <a:p>
            <a:pPr algn="l">
              <a:spcAft>
                <a:spcPts val="300"/>
              </a:spcAft>
            </a:pPr>
            <a:r>
              <a:rPr sz="1200" b="0">
                <a:solidFill>
                  <a:srgbClr val="5B6372"/>
                </a:solidFill>
                <a:latin typeface="Arial"/>
              </a:rPr>
              <a:t>The current best-known method, documented, trained and followed</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Kaizen events</a:t>
            </a:r>
          </a:p>
          <a:p>
            <a:pPr algn="l">
              <a:spcAft>
                <a:spcPts val="300"/>
              </a:spcAft>
            </a:pPr>
            <a:r>
              <a:rPr sz="1200" b="0">
                <a:solidFill>
                  <a:srgbClr val="5B6372"/>
                </a:solidFill>
                <a:latin typeface="Arial"/>
              </a:rPr>
              <a:t>Short, focused, cross-functional bursts of improvement on one process</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5S: the foundation everything else stands on</a:t>
            </a:r>
          </a:p>
        </p:txBody>
      </p:sp>
      <p:pic>
        <p:nvPicPr>
          <p:cNvPr id="6" name="Picture 5" descr="5s-wheel.png"/>
          <p:cNvPicPr>
            <a:picLocks noChangeAspect="1"/>
          </p:cNvPicPr>
          <p:nvPr/>
        </p:nvPicPr>
        <p:blipFill>
          <a:blip r:embed="rId2"/>
          <a:stretch>
            <a:fillRect/>
          </a:stretch>
        </p:blipFill>
        <p:spPr>
          <a:xfrm>
            <a:off x="1731728" y="1737360"/>
            <a:ext cx="8728239" cy="4160520"/>
          </a:xfrm>
          <a:prstGeom prst="rect">
            <a:avLst/>
          </a:prstGeom>
        </p:spPr>
      </p:pic>
      <p:sp>
        <p:nvSpPr>
          <p:cNvPr id="7" name="TextBox 6"/>
          <p:cNvSpPr txBox="1"/>
          <p:nvPr/>
        </p:nvSpPr>
        <p:spPr>
          <a:xfrm>
            <a:off x="777240" y="6007608"/>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Sort, Set in order, Shine, Standardise, Sustain. Without Sustain the other four decay within a quarter.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three levels of poka-yoke</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Prevention</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error cannot occur</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Strongest level - always prefer this</a:t>
            </a:r>
          </a:p>
          <a:p>
            <a:pPr>
              <a:spcAft>
                <a:spcPts val="700"/>
              </a:spcAft>
            </a:pPr>
            <a:r>
              <a:rPr sz="1200">
                <a:solidFill>
                  <a:srgbClr val="161B26"/>
                </a:solidFill>
                <a:latin typeface="Arial"/>
              </a:rPr>
              <a:t>•  Asymmetric connector: the sensor only fits one way</a:t>
            </a:r>
          </a:p>
          <a:p>
            <a:pPr>
              <a:spcAft>
                <a:spcPts val="700"/>
              </a:spcAft>
            </a:pPr>
            <a:r>
              <a:rPr sz="1200">
                <a:solidFill>
                  <a:srgbClr val="161B26"/>
                </a:solidFill>
                <a:latin typeface="Arial"/>
              </a:rPr>
              <a:t>•  Fixture will not close on a mis-oriented housing</a:t>
            </a:r>
          </a:p>
          <a:p>
            <a:pPr>
              <a:spcAft>
                <a:spcPts val="700"/>
              </a:spcAft>
            </a:pPr>
            <a:r>
              <a:rPr sz="1200">
                <a:solidFill>
                  <a:srgbClr val="161B26"/>
                </a:solidFill>
                <a:latin typeface="Arial"/>
              </a:rPr>
              <a:t>•  Cost is in the design, not in the running</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Detection</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error occurs but cannot pass</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Second best - catches it at the source</a:t>
            </a:r>
          </a:p>
          <a:p>
            <a:pPr>
              <a:spcAft>
                <a:spcPts val="700"/>
              </a:spcAft>
            </a:pPr>
            <a:r>
              <a:rPr sz="1200">
                <a:solidFill>
                  <a:srgbClr val="161B26"/>
                </a:solidFill>
                <a:latin typeface="Arial"/>
              </a:rPr>
              <a:t>•  Vision system rejects a missing O-ring before potting</a:t>
            </a:r>
          </a:p>
          <a:p>
            <a:pPr>
              <a:spcAft>
                <a:spcPts val="700"/>
              </a:spcAft>
            </a:pPr>
            <a:r>
              <a:rPr sz="1200">
                <a:solidFill>
                  <a:srgbClr val="161B26"/>
                </a:solidFill>
                <a:latin typeface="Arial"/>
              </a:rPr>
              <a:t>•  Torque driver blocks the next step if the count is short</a:t>
            </a:r>
          </a:p>
          <a:p>
            <a:pPr>
              <a:spcAft>
                <a:spcPts val="700"/>
              </a:spcAft>
            </a:pPr>
            <a:r>
              <a:rPr sz="1200">
                <a:solidFill>
                  <a:srgbClr val="161B26"/>
                </a:solidFill>
                <a:latin typeface="Arial"/>
              </a:rPr>
              <a:t>•  Requires a working sensor and a real interlock</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Warning</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operator is alerted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Weakest level - relies on human response</a:t>
            </a:r>
          </a:p>
          <a:p>
            <a:pPr>
              <a:spcAft>
                <a:spcPts val="700"/>
              </a:spcAft>
            </a:pPr>
            <a:r>
              <a:rPr sz="1200">
                <a:solidFill>
                  <a:srgbClr val="161B26"/>
                </a:solidFill>
                <a:latin typeface="Arial"/>
              </a:rPr>
              <a:t>•  Andon light and buzzer on out-of-spec cure temperature</a:t>
            </a:r>
          </a:p>
          <a:p>
            <a:pPr>
              <a:spcAft>
                <a:spcPts val="700"/>
              </a:spcAft>
            </a:pPr>
            <a:r>
              <a:rPr sz="1200">
                <a:solidFill>
                  <a:srgbClr val="161B26"/>
                </a:solidFill>
                <a:latin typeface="Arial"/>
              </a:rPr>
              <a:t>•  Use only when prevention and detection are infeasible</a:t>
            </a:r>
          </a:p>
          <a:p>
            <a:pPr>
              <a:spcAft>
                <a:spcPts val="700"/>
              </a:spcAft>
            </a:pPr>
            <a:r>
              <a:rPr sz="1200">
                <a:solidFill>
                  <a:srgbClr val="161B26"/>
                </a:solidFill>
                <a:latin typeface="Arial"/>
              </a:rPr>
              <a:t>•  Degrades fast once alarms become routine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Poka-yoke in practice</a:t>
            </a:r>
          </a:p>
        </p:txBody>
      </p:sp>
      <p:pic>
        <p:nvPicPr>
          <p:cNvPr id="6" name="Picture 5" descr="poka-yoke-examples.png"/>
          <p:cNvPicPr>
            <a:picLocks noChangeAspect="1"/>
          </p:cNvPicPr>
          <p:nvPr/>
        </p:nvPicPr>
        <p:blipFill>
          <a:blip r:embed="rId2"/>
          <a:stretch>
            <a:fillRect/>
          </a:stretch>
        </p:blipFill>
        <p:spPr>
          <a:xfrm>
            <a:off x="1375692" y="1737360"/>
            <a:ext cx="9440310" cy="4160520"/>
          </a:xfrm>
          <a:prstGeom prst="rect">
            <a:avLst/>
          </a:prstGeom>
        </p:spPr>
      </p:pic>
      <p:sp>
        <p:nvSpPr>
          <p:cNvPr id="7" name="TextBox 6"/>
          <p:cNvSpPr txBox="1"/>
          <p:nvPr/>
        </p:nvSpPr>
        <p:spPr>
          <a:xfrm>
            <a:off x="777240" y="6007608"/>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Every good poka-yoke is cheap, obvious and impossible to defeat casually. If operators bypass it, the design is wrong.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Push vs pull production</a:t>
            </a:r>
          </a:p>
        </p:txBody>
      </p:sp>
      <p:pic>
        <p:nvPicPr>
          <p:cNvPr id="6" name="Picture 5" descr="push-vs-pull.png"/>
          <p:cNvPicPr>
            <a:picLocks noChangeAspect="1"/>
          </p:cNvPicPr>
          <p:nvPr/>
        </p:nvPicPr>
        <p:blipFill>
          <a:blip r:embed="rId2"/>
          <a:stretch>
            <a:fillRect/>
          </a:stretch>
        </p:blipFill>
        <p:spPr>
          <a:xfrm>
            <a:off x="1870319" y="1737360"/>
            <a:ext cx="8451056" cy="4160520"/>
          </a:xfrm>
          <a:prstGeom prst="rect">
            <a:avLst/>
          </a:prstGeom>
        </p:spPr>
      </p:pic>
      <p:sp>
        <p:nvSpPr>
          <p:cNvPr id="7" name="TextBox 6"/>
          <p:cNvSpPr txBox="1"/>
          <p:nvPr/>
        </p:nvSpPr>
        <p:spPr>
          <a:xfrm>
            <a:off x="777240" y="6007608"/>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Push builds to a forecast and accumulates inventory. Pull builds only what the next process has consumed.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JIT, Heijunka and Jidoka: what each one actually does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JIT - the goal</a:t>
            </a:r>
          </a:p>
          <a:p>
            <a:pPr algn="l">
              <a:spcAft>
                <a:spcPts val="300"/>
              </a:spcAft>
            </a:pPr>
            <a:r>
              <a:rPr sz="1200" b="0">
                <a:solidFill>
                  <a:srgbClr val="5B6372"/>
                </a:solidFill>
                <a:latin typeface="Arial"/>
              </a:rPr>
              <a:t>Right part, right quantity, right time; inventory is the enemy</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JIT - the enabler</a:t>
            </a:r>
          </a:p>
          <a:p>
            <a:pPr algn="l">
              <a:spcAft>
                <a:spcPts val="300"/>
              </a:spcAft>
            </a:pPr>
            <a:r>
              <a:rPr sz="1200" b="0">
                <a:solidFill>
                  <a:srgbClr val="5B6372"/>
                </a:solidFill>
                <a:latin typeface="Arial"/>
              </a:rPr>
              <a:t>Short changeover, reliable equipment, capable suppliers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Heijunka - the goal</a:t>
            </a:r>
          </a:p>
          <a:p>
            <a:pPr algn="l">
              <a:spcAft>
                <a:spcPts val="300"/>
              </a:spcAft>
            </a:pPr>
            <a:r>
              <a:rPr sz="1200" b="0">
                <a:solidFill>
                  <a:srgbClr val="5B6372"/>
                </a:solidFill>
                <a:latin typeface="Arial"/>
              </a:rPr>
              <a:t>Level the mix so every model is built every day</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Heijunka - the effect</a:t>
            </a:r>
          </a:p>
          <a:p>
            <a:pPr algn="l">
              <a:spcAft>
                <a:spcPts val="300"/>
              </a:spcAft>
            </a:pPr>
            <a:r>
              <a:rPr sz="1200" b="0">
                <a:solidFill>
                  <a:srgbClr val="5B6372"/>
                </a:solidFill>
                <a:latin typeface="Arial"/>
              </a:rPr>
              <a:t>A demand spike stops amplifying upstream (no bullwhip)</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Jidoka - the goal</a:t>
            </a:r>
          </a:p>
          <a:p>
            <a:pPr algn="l">
              <a:spcAft>
                <a:spcPts val="300"/>
              </a:spcAft>
            </a:pPr>
            <a:r>
              <a:rPr sz="1200" b="0">
                <a:solidFill>
                  <a:srgbClr val="5B6372"/>
                </a:solidFill>
                <a:latin typeface="Arial"/>
              </a:rPr>
              <a:t>Never pass a defect to the next process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Jidoka - the effect</a:t>
            </a:r>
          </a:p>
          <a:p>
            <a:pPr algn="l">
              <a:spcAft>
                <a:spcPts val="300"/>
              </a:spcAft>
            </a:pPr>
            <a:r>
              <a:rPr sz="1200" b="0">
                <a:solidFill>
                  <a:srgbClr val="5B6372"/>
                </a:solidFill>
                <a:latin typeface="Arial"/>
              </a:rPr>
              <a:t>The line stops, the andon pulls help, the cause gets fixed now</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SOLUTION SELECTION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Weight the criteria with the sponsor BEFORE anyone scores a solution.</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Weight the criteria after you see the scores and you have not made a decision. You have rationalised one.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weighted solution selection matrix</a:t>
            </a:r>
          </a:p>
        </p:txBody>
      </p:sp>
      <p:pic>
        <p:nvPicPr>
          <p:cNvPr id="6" name="Picture 5" descr="solution-selection-matrix.png"/>
          <p:cNvPicPr>
            <a:picLocks noChangeAspect="1"/>
          </p:cNvPicPr>
          <p:nvPr/>
        </p:nvPicPr>
        <p:blipFill>
          <a:blip r:embed="rId2"/>
          <a:stretch>
            <a:fillRect/>
          </a:stretch>
        </p:blipFill>
        <p:spPr>
          <a:xfrm>
            <a:off x="1909907" y="1737360"/>
            <a:ext cx="8371881" cy="4160520"/>
          </a:xfrm>
          <a:prstGeom prst="rect">
            <a:avLst/>
          </a:prstGeom>
        </p:spPr>
      </p:pic>
      <p:sp>
        <p:nvSpPr>
          <p:cNvPr id="7" name="TextBox 6"/>
          <p:cNvSpPr txBox="1"/>
          <p:nvPr/>
        </p:nvSpPr>
        <p:spPr>
          <a:xfrm>
            <a:off x="777240" y="6007608"/>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Criteria across the top with agreed weights; solutions down the side; weighted total drives the shortlist, not the decision.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scoring three candidate solutions</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Criteria + weights</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Impact 40, Cost 25, Speed 20, Risk 15</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Weights agreed with the VP Ops before scoring began</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Fixture redesign</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(5x40)+(2x25)+(3x20)+(4x15) = 370</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Highest impact, slowest to implement, chosen</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Extra inspector</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(2x40)+(1x25)+(5x20)+(3x15) = 250</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Fast and cheap but adds cost forever and detects only</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A solution that scores well only because it is cheap and fast is usually a containment, not a fix.</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Impact vs effort: where the shortlist really sits</a:t>
            </a:r>
          </a:p>
        </p:txBody>
      </p:sp>
      <p:sp>
        <p:nvSpPr>
          <p:cNvPr id="6" name="Rectangle 5"/>
          <p:cNvSpPr/>
          <p:nvPr/>
        </p:nvSpPr>
        <p:spPr>
          <a:xfrm>
            <a:off x="228600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86000" y="1828800"/>
            <a:ext cx="73152" cy="18745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42032" y="2048256"/>
            <a:ext cx="3328416" cy="457200"/>
          </a:xfrm>
          <a:prstGeom prst="rect">
            <a:avLst/>
          </a:prstGeom>
          <a:noFill/>
        </p:spPr>
        <p:txBody>
          <a:bodyPr wrap="square" anchor="t">
            <a:spAutoFit/>
          </a:bodyPr>
          <a:lstStyle/>
          <a:p>
            <a:pPr algn="l">
              <a:spcAft>
                <a:spcPts val="400"/>
              </a:spcAft>
            </a:pPr>
            <a:r>
              <a:rPr sz="1600" b="1">
                <a:solidFill>
                  <a:srgbClr val="10B981"/>
                </a:solidFill>
                <a:latin typeface="Arial"/>
              </a:rPr>
              <a:t>Just do it</a:t>
            </a:r>
          </a:p>
        </p:txBody>
      </p:sp>
      <p:sp>
        <p:nvSpPr>
          <p:cNvPr id="9" name="TextBox 8"/>
          <p:cNvSpPr txBox="1"/>
          <p:nvPr/>
        </p:nvSpPr>
        <p:spPr>
          <a:xfrm>
            <a:off x="254203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impact, low effort. Torque-driver setpoint lock at Penang. Implement this week, no experiment needed.</a:t>
            </a:r>
          </a:p>
        </p:txBody>
      </p:sp>
      <p:sp>
        <p:nvSpPr>
          <p:cNvPr id="10" name="Rectangle 9"/>
          <p:cNvSpPr/>
          <p:nvPr/>
        </p:nvSpPr>
        <p:spPr>
          <a:xfrm>
            <a:off x="612648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126480" y="1828800"/>
            <a:ext cx="73152" cy="187451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2048256"/>
            <a:ext cx="3328416" cy="457200"/>
          </a:xfrm>
          <a:prstGeom prst="rect">
            <a:avLst/>
          </a:prstGeom>
          <a:noFill/>
        </p:spPr>
        <p:txBody>
          <a:bodyPr wrap="square" anchor="t">
            <a:spAutoFit/>
          </a:bodyPr>
          <a:lstStyle/>
          <a:p>
            <a:pPr algn="l">
              <a:spcAft>
                <a:spcPts val="400"/>
              </a:spcAft>
            </a:pPr>
            <a:r>
              <a:rPr sz="1600" b="1">
                <a:solidFill>
                  <a:srgbClr val="1F6FEB"/>
                </a:solidFill>
                <a:latin typeface="Arial"/>
              </a:rPr>
              <a:t>Major project</a:t>
            </a:r>
          </a:p>
        </p:txBody>
      </p:sp>
      <p:sp>
        <p:nvSpPr>
          <p:cNvPr id="13" name="TextBox 12"/>
          <p:cNvSpPr txBox="1"/>
          <p:nvPr/>
        </p:nvSpPr>
        <p:spPr>
          <a:xfrm>
            <a:off x="638251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impact, high effort. Fixture redesign across 6 lines. This is where DOE earns its keep.</a:t>
            </a:r>
          </a:p>
        </p:txBody>
      </p:sp>
      <p:sp>
        <p:nvSpPr>
          <p:cNvPr id="14" name="Rectangle 13"/>
          <p:cNvSpPr/>
          <p:nvPr/>
        </p:nvSpPr>
        <p:spPr>
          <a:xfrm>
            <a:off x="228600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286000" y="3703319"/>
            <a:ext cx="73152"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42032" y="3922775"/>
            <a:ext cx="3328416" cy="457200"/>
          </a:xfrm>
          <a:prstGeom prst="rect">
            <a:avLst/>
          </a:prstGeom>
          <a:noFill/>
        </p:spPr>
        <p:txBody>
          <a:bodyPr wrap="square" anchor="t">
            <a:spAutoFit/>
          </a:bodyPr>
          <a:lstStyle/>
          <a:p>
            <a:pPr algn="l">
              <a:spcAft>
                <a:spcPts val="400"/>
              </a:spcAft>
            </a:pPr>
            <a:r>
              <a:rPr sz="1600" b="1">
                <a:solidFill>
                  <a:srgbClr val="F59E0B"/>
                </a:solidFill>
                <a:latin typeface="Arial"/>
              </a:rPr>
              <a:t>Fill-in</a:t>
            </a:r>
          </a:p>
        </p:txBody>
      </p:sp>
      <p:sp>
        <p:nvSpPr>
          <p:cNvPr id="17" name="TextBox 16"/>
          <p:cNvSpPr txBox="1"/>
          <p:nvPr/>
        </p:nvSpPr>
        <p:spPr>
          <a:xfrm>
            <a:off x="254203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impact, low effort. Shadow boards on Line 3. Do it, but do not claim it as the project result.</a:t>
            </a:r>
          </a:p>
        </p:txBody>
      </p:sp>
      <p:sp>
        <p:nvSpPr>
          <p:cNvPr id="18" name="Rectangle 17"/>
          <p:cNvSpPr/>
          <p:nvPr/>
        </p:nvSpPr>
        <p:spPr>
          <a:xfrm>
            <a:off x="612648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26480" y="3703319"/>
            <a:ext cx="73152" cy="1874519"/>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82512" y="3922775"/>
            <a:ext cx="3328416" cy="457200"/>
          </a:xfrm>
          <a:prstGeom prst="rect">
            <a:avLst/>
          </a:prstGeom>
          <a:noFill/>
        </p:spPr>
        <p:txBody>
          <a:bodyPr wrap="square" anchor="t">
            <a:spAutoFit/>
          </a:bodyPr>
          <a:lstStyle/>
          <a:p>
            <a:pPr algn="l">
              <a:spcAft>
                <a:spcPts val="400"/>
              </a:spcAft>
            </a:pPr>
            <a:r>
              <a:rPr sz="1600" b="1">
                <a:solidFill>
                  <a:srgbClr val="5B6372"/>
                </a:solidFill>
                <a:latin typeface="Arial"/>
              </a:rPr>
              <a:t>Question it</a:t>
            </a:r>
          </a:p>
        </p:txBody>
      </p:sp>
      <p:sp>
        <p:nvSpPr>
          <p:cNvPr id="21" name="TextBox 20"/>
          <p:cNvSpPr txBox="1"/>
          <p:nvPr/>
        </p:nvSpPr>
        <p:spPr>
          <a:xfrm>
            <a:off x="638251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impact, high effort. New MES module. Say no, and say why, in writing.</a:t>
            </a:r>
          </a:p>
        </p:txBody>
      </p:sp>
      <p:sp>
        <p:nvSpPr>
          <p:cNvPr id="22" name="TextBox 21"/>
          <p:cNvSpPr txBox="1"/>
          <p:nvPr/>
        </p:nvSpPr>
        <p:spPr>
          <a:xfrm>
            <a:off x="2286000" y="5687567"/>
            <a:ext cx="7680960" cy="365760"/>
          </a:xfrm>
          <a:prstGeom prst="rect">
            <a:avLst/>
          </a:prstGeom>
          <a:noFill/>
        </p:spPr>
        <p:txBody>
          <a:bodyPr wrap="square" anchor="t">
            <a:spAutoFit/>
          </a:bodyPr>
          <a:lstStyle/>
          <a:p>
            <a:pPr algn="ctr">
              <a:spcAft>
                <a:spcPts val="400"/>
              </a:spcAft>
            </a:pPr>
            <a:r>
              <a:rPr sz="1300" b="1">
                <a:solidFill>
                  <a:srgbClr val="161B26"/>
                </a:solidFill>
                <a:latin typeface="Arial"/>
              </a:rPr>
              <a:t>Implementation effort  -&gt;</a:t>
            </a:r>
          </a:p>
        </p:txBody>
      </p:sp>
      <p:sp>
        <p:nvSpPr>
          <p:cNvPr id="23" name="TextBox 22"/>
          <p:cNvSpPr txBox="1"/>
          <p:nvPr/>
        </p:nvSpPr>
        <p:spPr>
          <a:xfrm>
            <a:off x="548640" y="3520439"/>
            <a:ext cx="1645920" cy="365760"/>
          </a:xfrm>
          <a:prstGeom prst="rect">
            <a:avLst/>
          </a:prstGeom>
          <a:noFill/>
        </p:spPr>
        <p:txBody>
          <a:bodyPr wrap="square" anchor="t">
            <a:spAutoFit/>
          </a:bodyPr>
          <a:lstStyle/>
          <a:p>
            <a:pPr algn="ctr">
              <a:spcAft>
                <a:spcPts val="400"/>
              </a:spcAft>
            </a:pPr>
            <a:r>
              <a:rPr sz="1300" b="1">
                <a:solidFill>
                  <a:srgbClr val="161B26"/>
                </a:solidFill>
                <a:latin typeface="Arial"/>
              </a:rPr>
              <a:t>Impact on Y  -&gt;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FMEA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FMEA is a design tool, not a paperwork exercise.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Done before implementation it prevents failures. Done after, it documents them.</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FMEA worksheet</a:t>
            </a:r>
          </a:p>
        </p:txBody>
      </p:sp>
      <p:pic>
        <p:nvPicPr>
          <p:cNvPr id="6" name="Picture 5" descr="fmea-example.png"/>
          <p:cNvPicPr>
            <a:picLocks noChangeAspect="1"/>
          </p:cNvPicPr>
          <p:nvPr/>
        </p:nvPicPr>
        <p:blipFill>
          <a:blip r:embed="rId2"/>
          <a:stretch>
            <a:fillRect/>
          </a:stretch>
        </p:blipFill>
        <p:spPr>
          <a:xfrm>
            <a:off x="1118777" y="1737360"/>
            <a:ext cx="9954141" cy="4160520"/>
          </a:xfrm>
          <a:prstGeom prst="rect">
            <a:avLst/>
          </a:prstGeom>
        </p:spPr>
      </p:pic>
      <p:sp>
        <p:nvSpPr>
          <p:cNvPr id="7" name="TextBox 6"/>
          <p:cNvSpPr txBox="1"/>
          <p:nvPr/>
        </p:nvSpPr>
        <p:spPr>
          <a:xfrm>
            <a:off x="777240" y="6007608"/>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Process step, failure mode, effect, cause, current controls, then S, O, D and RPN. Actions, then a re-score.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Severity, Occurrence, Detection: three different questions</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Severity (S)</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How bad is the EFFECT?</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Scored on the effect, never on the cause</a:t>
            </a:r>
          </a:p>
          <a:p>
            <a:pPr>
              <a:spcAft>
                <a:spcPts val="700"/>
              </a:spcAft>
            </a:pPr>
            <a:r>
              <a:rPr sz="1200">
                <a:solidFill>
                  <a:srgbClr val="161B26"/>
                </a:solidFill>
                <a:latin typeface="Arial"/>
              </a:rPr>
              <a:t>•  1 = no discernible effect</a:t>
            </a:r>
          </a:p>
          <a:p>
            <a:pPr>
              <a:spcAft>
                <a:spcPts val="700"/>
              </a:spcAft>
            </a:pPr>
            <a:r>
              <a:rPr sz="1200">
                <a:solidFill>
                  <a:srgbClr val="161B26"/>
                </a:solidFill>
                <a:latin typeface="Arial"/>
              </a:rPr>
              <a:t>•  10 = hazard without warning, patient harm</a:t>
            </a:r>
          </a:p>
          <a:p>
            <a:pPr>
              <a:spcAft>
                <a:spcPts val="700"/>
              </a:spcAft>
            </a:pPr>
            <a:r>
              <a:rPr sz="1200">
                <a:solidFill>
                  <a:srgbClr val="161B26"/>
                </a:solidFill>
                <a:latin typeface="Arial"/>
              </a:rPr>
              <a:t>•  Severity can only be changed by REDESIGN</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Occurrence (O)</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How often does the CAUSE happen?</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Scored on the cause, from real data if you have it</a:t>
            </a:r>
          </a:p>
          <a:p>
            <a:pPr>
              <a:spcAft>
                <a:spcPts val="700"/>
              </a:spcAft>
            </a:pPr>
            <a:r>
              <a:rPr sz="1200">
                <a:solidFill>
                  <a:srgbClr val="161B26"/>
                </a:solidFill>
                <a:latin typeface="Arial"/>
              </a:rPr>
              <a:t>•  1 = failure is eliminated by design</a:t>
            </a:r>
          </a:p>
          <a:p>
            <a:pPr>
              <a:spcAft>
                <a:spcPts val="700"/>
              </a:spcAft>
            </a:pPr>
            <a:r>
              <a:rPr sz="1200">
                <a:solidFill>
                  <a:srgbClr val="161B26"/>
                </a:solidFill>
                <a:latin typeface="Arial"/>
              </a:rPr>
              <a:t>•  10 = failure is almost inevitable</a:t>
            </a:r>
          </a:p>
          <a:p>
            <a:pPr>
              <a:spcAft>
                <a:spcPts val="700"/>
              </a:spcAft>
            </a:pPr>
            <a:r>
              <a:rPr sz="1200">
                <a:solidFill>
                  <a:srgbClr val="161B26"/>
                </a:solidFill>
                <a:latin typeface="Arial"/>
              </a:rPr>
              <a:t>•  Reduce by attacking the cause: poka-yoke, controls</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Detection (D)</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How likely are we to CATCH it?</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scale is INVERTED - read it carefully</a:t>
            </a:r>
          </a:p>
          <a:p>
            <a:pPr>
              <a:spcAft>
                <a:spcPts val="700"/>
              </a:spcAft>
            </a:pPr>
            <a:r>
              <a:rPr sz="1200">
                <a:solidFill>
                  <a:srgbClr val="161B26"/>
                </a:solidFill>
                <a:latin typeface="Arial"/>
              </a:rPr>
              <a:t>•  1 = control almost certainly detects it</a:t>
            </a:r>
          </a:p>
          <a:p>
            <a:pPr>
              <a:spcAft>
                <a:spcPts val="700"/>
              </a:spcAft>
            </a:pPr>
            <a:r>
              <a:rPr sz="1200">
                <a:solidFill>
                  <a:srgbClr val="161B26"/>
                </a:solidFill>
                <a:latin typeface="Arial"/>
              </a:rPr>
              <a:t>•  10 = no control exists, or it cannot detect</a:t>
            </a:r>
          </a:p>
          <a:p>
            <a:pPr>
              <a:spcAft>
                <a:spcPts val="700"/>
              </a:spcAft>
            </a:pPr>
            <a:r>
              <a:rPr sz="1200">
                <a:solidFill>
                  <a:srgbClr val="161B26"/>
                </a:solidFill>
                <a:latin typeface="Arial"/>
              </a:rPr>
              <a:t>•  Reduce by better detection: sensors, gauges, tests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FMEA - THE DETECTION TRAP</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Detection is scored backwards. Low D means GOOD detection.</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This is the single most common FMEA scoring error. A team that scores D=10 for 'we always catch it' inverts every priority in the table.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RPN and the Meridian cure-station FMEA</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RPN</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RPN = S x O x D</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Range 1 to 1000; a rank, not a measurement</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Incomplete cure</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S=9, O=6, D=7  -&gt;  RPN = 378</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Field separation risk, cause frequent, dial check is weak</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Wrong adhesive lot</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S=8, O=3, D=4  -&gt;  RPN = 96</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Serious effect, rarer cause, lot scan catches most</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RPN is ordinal. An RPN of 378 is not 'four times worse' than 96 - it is simply higher priority.</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FMEA - THE SEVERITY OVERRIDE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Severity 9 or 10 gets an action regardless of RPN.</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failure that can harm a patient is not acceptable because it is rare and we usually catch it. The severity override outranks the arithmetic.</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Re-scoring the Meridian FMEA after mitigation</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Before</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S=9, O=6, D=7  -&gt;  RPN = 378</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Dial check by operator; no interlock; cure verified by feel</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Action taken</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Recipe lock + thermocouple interlock</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Controller refuses to release below 62 C; logged per unit</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After</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S=9, O=2, D=2  -&gt;  RPN = 36</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 unchanged - the effect is still a fluid path breach</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Severity almost never moves. If your re-scored FMEA shows S falling, challenge it.</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PILOTING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Define success before the pilot starts, or the pilot cannot fail.</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pilot without pre-agreed criteria always succeeds, because the criteria get written afterwards to match the result.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five things a pilot must define BEFORE it starts</a:t>
            </a:r>
          </a:p>
        </p:txBody>
      </p:sp>
      <p:sp>
        <p:nvSpPr>
          <p:cNvPr id="6" name="Rectangle 5"/>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859889"/>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85988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519379"/>
          </a:xfrm>
          <a:prstGeom prst="rect">
            <a:avLst/>
          </a:prstGeom>
          <a:noFill/>
        </p:spPr>
        <p:txBody>
          <a:bodyPr wrap="square" anchor="ctr">
            <a:spAutoFit/>
          </a:bodyPr>
          <a:lstStyle/>
          <a:p>
            <a:pPr algn="l">
              <a:spcAft>
                <a:spcPts val="300"/>
              </a:spcAft>
            </a:pPr>
            <a:r>
              <a:rPr sz="1600" b="1">
                <a:solidFill>
                  <a:srgbClr val="161B26"/>
                </a:solidFill>
                <a:latin typeface="Arial"/>
              </a:rPr>
              <a:t>Scope</a:t>
            </a:r>
          </a:p>
          <a:p>
            <a:pPr algn="l">
              <a:spcAft>
                <a:spcPts val="300"/>
              </a:spcAft>
            </a:pPr>
            <a:r>
              <a:rPr sz="1200" b="0">
                <a:solidFill>
                  <a:srgbClr val="5B6372"/>
                </a:solidFill>
                <a:latin typeface="Arial"/>
              </a:rPr>
              <a:t>Which line, which product, which shift. Meridian: Penang Line 3, pump model M400</a:t>
            </a:r>
          </a:p>
        </p:txBody>
      </p:sp>
      <p:sp>
        <p:nvSpPr>
          <p:cNvPr id="11" name="Rectangle 10"/>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7816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7816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814523"/>
            <a:ext cx="9482328" cy="519379"/>
          </a:xfrm>
          <a:prstGeom prst="rect">
            <a:avLst/>
          </a:prstGeom>
          <a:noFill/>
        </p:spPr>
        <p:txBody>
          <a:bodyPr wrap="square" anchor="ctr">
            <a:spAutoFit/>
          </a:bodyPr>
          <a:lstStyle/>
          <a:p>
            <a:pPr algn="l">
              <a:spcAft>
                <a:spcPts val="300"/>
              </a:spcAft>
            </a:pPr>
            <a:r>
              <a:rPr sz="1600" b="1">
                <a:solidFill>
                  <a:srgbClr val="161B26"/>
                </a:solidFill>
                <a:latin typeface="Arial"/>
              </a:rPr>
              <a:t>Duration</a:t>
            </a:r>
          </a:p>
          <a:p>
            <a:pPr algn="l">
              <a:spcAft>
                <a:spcPts val="300"/>
              </a:spcAft>
            </a:pPr>
            <a:r>
              <a:rPr sz="1200" b="0">
                <a:solidFill>
                  <a:srgbClr val="5B6372"/>
                </a:solidFill>
                <a:latin typeface="Arial"/>
              </a:rPr>
              <a:t>Long enough for the effect to show. Meridian: 4 weeks, about 9600 units</a:t>
            </a:r>
          </a:p>
        </p:txBody>
      </p:sp>
      <p:sp>
        <p:nvSpPr>
          <p:cNvPr id="16" name="Rectangle 15"/>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19"/>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1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736238"/>
            <a:ext cx="9482328" cy="519379"/>
          </a:xfrm>
          <a:prstGeom prst="rect">
            <a:avLst/>
          </a:prstGeom>
          <a:noFill/>
        </p:spPr>
        <p:txBody>
          <a:bodyPr wrap="square" anchor="ctr">
            <a:spAutoFit/>
          </a:bodyPr>
          <a:lstStyle/>
          <a:p>
            <a:pPr algn="l">
              <a:spcAft>
                <a:spcPts val="300"/>
              </a:spcAft>
            </a:pPr>
            <a:r>
              <a:rPr sz="1600" b="1">
                <a:solidFill>
                  <a:srgbClr val="161B26"/>
                </a:solidFill>
                <a:latin typeface="Arial"/>
              </a:rPr>
              <a:t>Success criteria</a:t>
            </a:r>
          </a:p>
          <a:p>
            <a:pPr algn="l">
              <a:spcAft>
                <a:spcPts val="300"/>
              </a:spcAft>
            </a:pPr>
            <a:r>
              <a:rPr sz="1200" b="0">
                <a:solidFill>
                  <a:srgbClr val="5B6372"/>
                </a:solidFill>
                <a:latin typeface="Arial"/>
              </a:rPr>
              <a:t>The number that decides. First-pass yield at or above 95.5 percent</a:t>
            </a:r>
          </a:p>
        </p:txBody>
      </p:sp>
      <p:sp>
        <p:nvSpPr>
          <p:cNvPr id="21" name="Rectangle 20"/>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462503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462503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4657953"/>
            <a:ext cx="9482328" cy="519379"/>
          </a:xfrm>
          <a:prstGeom prst="rect">
            <a:avLst/>
          </a:prstGeom>
          <a:noFill/>
        </p:spPr>
        <p:txBody>
          <a:bodyPr wrap="square" anchor="ctr">
            <a:spAutoFit/>
          </a:bodyPr>
          <a:lstStyle/>
          <a:p>
            <a:pPr algn="l">
              <a:spcAft>
                <a:spcPts val="300"/>
              </a:spcAft>
            </a:pPr>
            <a:r>
              <a:rPr sz="1600" b="1">
                <a:solidFill>
                  <a:srgbClr val="161B26"/>
                </a:solidFill>
                <a:latin typeface="Arial"/>
              </a:rPr>
              <a:t>Control group</a:t>
            </a:r>
          </a:p>
          <a:p>
            <a:pPr algn="l">
              <a:spcAft>
                <a:spcPts val="300"/>
              </a:spcAft>
            </a:pPr>
            <a:r>
              <a:rPr sz="1200" b="0">
                <a:solidFill>
                  <a:srgbClr val="5B6372"/>
                </a:solidFill>
                <a:latin typeface="Arial"/>
              </a:rPr>
              <a:t>Line 4 runs unchanged so you can separate the change from the season</a:t>
            </a:r>
          </a:p>
        </p:txBody>
      </p:sp>
      <p:sp>
        <p:nvSpPr>
          <p:cNvPr id="26" name="Rectangle 25"/>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546749"/>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54674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5579668"/>
            <a:ext cx="9482328" cy="519379"/>
          </a:xfrm>
          <a:prstGeom prst="rect">
            <a:avLst/>
          </a:prstGeom>
          <a:noFill/>
        </p:spPr>
        <p:txBody>
          <a:bodyPr wrap="square" anchor="ctr">
            <a:spAutoFit/>
          </a:bodyPr>
          <a:lstStyle/>
          <a:p>
            <a:pPr algn="l">
              <a:spcAft>
                <a:spcPts val="300"/>
              </a:spcAft>
            </a:pPr>
            <a:r>
              <a:rPr sz="1600" b="1">
                <a:solidFill>
                  <a:srgbClr val="161B26"/>
                </a:solidFill>
                <a:latin typeface="Arial"/>
              </a:rPr>
              <a:t>Stop conditions</a:t>
            </a:r>
          </a:p>
          <a:p>
            <a:pPr algn="l">
              <a:spcAft>
                <a:spcPts val="300"/>
              </a:spcAft>
            </a:pPr>
            <a:r>
              <a:rPr sz="1200" b="0">
                <a:solidFill>
                  <a:srgbClr val="5B6372"/>
                </a:solidFill>
                <a:latin typeface="Arial"/>
              </a:rPr>
              <a:t>What ends the pilot early. Any scrap rate above 3 percent, any safety event</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Cost-benefit for the Meridian fixture redesign</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Payback period</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Investment / annual net benefit</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SGD 285,000 / SGD 610,000 = 0.47 yr, about 5.6 months</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Net Present Value</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NPV = sum of CFt / (1+r)^t  -  I</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3 yrs at 8 pct: 565+523+484 = 1572k, minus 285k = SGD 1.287m</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Decision rule</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NPV &gt; 0 and payback &lt; 18 months</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Meridian finance gate; both satisfied, project funded</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Get the benefit number signed by Finance, not by the project team. Credibility depends on it.</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DESIGN OF EXPERIMENTS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One factor at a time is the most expensive way to learn the least.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OFAT costs more runs, gives narrower conclusions, and is structurally blind to the one thing that usually matters most: interaction.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OFAT vs designed experiment</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OFAT</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Change one thing, hold the rest</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Feels rigorous and is intuitive to managers</a:t>
            </a:r>
          </a:p>
          <a:p>
            <a:pPr>
              <a:spcAft>
                <a:spcPts val="700"/>
              </a:spcAft>
            </a:pPr>
            <a:r>
              <a:rPr sz="1200">
                <a:solidFill>
                  <a:srgbClr val="161B26"/>
                </a:solidFill>
                <a:latin typeface="Arial"/>
              </a:rPr>
              <a:t>•  CANNOT detect interactions - structurally impossible</a:t>
            </a:r>
          </a:p>
          <a:p>
            <a:pPr>
              <a:spcAft>
                <a:spcPts val="700"/>
              </a:spcAft>
            </a:pPr>
            <a:r>
              <a:rPr sz="1200">
                <a:solidFill>
                  <a:srgbClr val="161B26"/>
                </a:solidFill>
                <a:latin typeface="Arial"/>
              </a:rPr>
              <a:t>•  Conclusions valid only at the held levels of the others</a:t>
            </a:r>
          </a:p>
          <a:p>
            <a:pPr>
              <a:spcAft>
                <a:spcPts val="700"/>
              </a:spcAft>
            </a:pPr>
            <a:r>
              <a:rPr sz="1200">
                <a:solidFill>
                  <a:srgbClr val="161B26"/>
                </a:solidFill>
                <a:latin typeface="Arial"/>
              </a:rPr>
              <a:t>•  Needs more runs for less information</a:t>
            </a:r>
          </a:p>
          <a:p>
            <a:pPr>
              <a:spcAft>
                <a:spcPts val="700"/>
              </a:spcAft>
            </a:pPr>
            <a:r>
              <a:rPr sz="1200">
                <a:solidFill>
                  <a:srgbClr val="161B26"/>
                </a:solidFill>
                <a:latin typeface="Arial"/>
              </a:rPr>
              <a:t>•  Optimum found is local, not global</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Designed experiment</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Change several together, by design</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Every factor varied across every combination</a:t>
            </a:r>
          </a:p>
          <a:p>
            <a:pPr>
              <a:spcAft>
                <a:spcPts val="700"/>
              </a:spcAft>
            </a:pPr>
            <a:r>
              <a:rPr sz="1200">
                <a:solidFill>
                  <a:srgbClr val="161B26"/>
                </a:solidFill>
                <a:latin typeface="Arial"/>
              </a:rPr>
              <a:t>•  Estimates main effects AND interactions</a:t>
            </a:r>
          </a:p>
          <a:p>
            <a:pPr>
              <a:spcAft>
                <a:spcPts val="700"/>
              </a:spcAft>
            </a:pPr>
            <a:r>
              <a:rPr sz="1200">
                <a:solidFill>
                  <a:srgbClr val="161B26"/>
                </a:solidFill>
                <a:latin typeface="Arial"/>
              </a:rPr>
              <a:t>•  Each run contributes to every effect estimate (hidden replication)</a:t>
            </a:r>
          </a:p>
          <a:p>
            <a:pPr>
              <a:spcAft>
                <a:spcPts val="700"/>
              </a:spcAft>
            </a:pPr>
            <a:r>
              <a:rPr sz="1200">
                <a:solidFill>
                  <a:srgbClr val="161B26"/>
                </a:solidFill>
                <a:latin typeface="Arial"/>
              </a:rPr>
              <a:t>•  Fewer runs, tighter estimates, wider validity</a:t>
            </a:r>
          </a:p>
          <a:p>
            <a:pPr>
              <a:spcAft>
                <a:spcPts val="700"/>
              </a:spcAft>
            </a:pPr>
            <a:r>
              <a:rPr sz="1200">
                <a:solidFill>
                  <a:srgbClr val="161B26"/>
                </a:solidFill>
                <a:latin typeface="Arial"/>
              </a:rPr>
              <a:t>•  The optimum found is defensible across the region</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run-count comparison: 3 factors, 2 levels each</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OFAT</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Baseline + 2 runs per factor</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About 12-16 runs with replication, and zero interaction estimates</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Full factorial</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2^3 = 8 runs</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8 runs give 3 main effects, 3 two-factor, 1 three-factor interaction</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Precision</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Each effect uses ALL 8 runs</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Effect estimate has the precision of a 4-vs-4 comparison, not 1-vs-1</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This is 'hidden replication': every run is used in every effect estimate, so DOE gets more from less.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Why OFAT cannot see an interaction</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setup</a:t>
            </a:r>
          </a:p>
          <a:p>
            <a:pPr algn="l">
              <a:spcAft>
                <a:spcPts val="300"/>
              </a:spcAft>
            </a:pPr>
            <a:r>
              <a:rPr sz="1200" b="0">
                <a:solidFill>
                  <a:srgbClr val="5B6372"/>
                </a:solidFill>
                <a:latin typeface="Arial"/>
              </a:rPr>
              <a:t>Vary temperature at fixed pressure. Then vary pressure at fixed temperature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What you learn</a:t>
            </a:r>
          </a:p>
          <a:p>
            <a:pPr algn="l">
              <a:spcAft>
                <a:spcPts val="300"/>
              </a:spcAft>
            </a:pPr>
            <a:r>
              <a:rPr sz="1200" b="0">
                <a:solidFill>
                  <a:srgbClr val="5B6372"/>
                </a:solidFill>
                <a:latin typeface="Arial"/>
              </a:rPr>
              <a:t>The effect of temperature AT THAT ONE PRESSURE. Nothing more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What you miss</a:t>
            </a:r>
          </a:p>
          <a:p>
            <a:pPr algn="l">
              <a:spcAft>
                <a:spcPts val="300"/>
              </a:spcAft>
            </a:pPr>
            <a:r>
              <a:rPr sz="1200" b="0">
                <a:solidFill>
                  <a:srgbClr val="5B6372"/>
                </a:solidFill>
                <a:latin typeface="Arial"/>
              </a:rPr>
              <a:t>That temperature helps at high pressure and hurts at low pressure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Meridian case</a:t>
            </a:r>
          </a:p>
          <a:p>
            <a:pPr algn="l">
              <a:spcAft>
                <a:spcPts val="300"/>
              </a:spcAft>
            </a:pPr>
            <a:r>
              <a:rPr sz="1200" b="0">
                <a:solidFill>
                  <a:srgbClr val="5B6372"/>
                </a:solidFill>
                <a:latin typeface="Arial"/>
              </a:rPr>
              <a:t>Cure temp raised yield at 4.2 bar clamp, lowered it at 2.8 bar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consequence</a:t>
            </a:r>
          </a:p>
          <a:p>
            <a:pPr algn="l">
              <a:spcAft>
                <a:spcPts val="300"/>
              </a:spcAft>
            </a:pPr>
            <a:r>
              <a:rPr sz="1200" b="0">
                <a:solidFill>
                  <a:srgbClr val="5B6372"/>
                </a:solidFill>
                <a:latin typeface="Arial"/>
              </a:rPr>
              <a:t>OFAT recommended 62 C. The true optimum was 68 C at 4.2 bar</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cost</a:t>
            </a:r>
          </a:p>
          <a:p>
            <a:pPr algn="l">
              <a:spcAft>
                <a:spcPts val="300"/>
              </a:spcAft>
            </a:pPr>
            <a:r>
              <a:rPr sz="1200" b="0">
                <a:solidFill>
                  <a:srgbClr val="5B6372"/>
                </a:solidFill>
                <a:latin typeface="Arial"/>
              </a:rPr>
              <a:t>Six months and 41 confirmation runs before the interaction was found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DOE vocabulary: the words you must use precisely</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Factor</a:t>
            </a:r>
          </a:p>
          <a:p>
            <a:pPr algn="l">
              <a:spcAft>
                <a:spcPts val="300"/>
              </a:spcAft>
            </a:pPr>
            <a:r>
              <a:rPr sz="1200" b="0">
                <a:solidFill>
                  <a:srgbClr val="5B6372"/>
                </a:solidFill>
                <a:latin typeface="Arial"/>
              </a:rPr>
              <a:t>An input X you deliberately set. Cure temperature, clamp pressure, dwell time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Level</a:t>
            </a:r>
          </a:p>
          <a:p>
            <a:pPr algn="l">
              <a:spcAft>
                <a:spcPts val="300"/>
              </a:spcAft>
            </a:pPr>
            <a:r>
              <a:rPr sz="1200" b="0">
                <a:solidFill>
                  <a:srgbClr val="5B6372"/>
                </a:solidFill>
                <a:latin typeface="Arial"/>
              </a:rPr>
              <a:t>A setting of a factor. Low (-1) and high (+1) in a two-level design</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Response</a:t>
            </a:r>
          </a:p>
          <a:p>
            <a:pPr algn="l">
              <a:spcAft>
                <a:spcPts val="300"/>
              </a:spcAft>
            </a:pPr>
            <a:r>
              <a:rPr sz="1200" b="0">
                <a:solidFill>
                  <a:srgbClr val="5B6372"/>
                </a:solidFill>
                <a:latin typeface="Arial"/>
              </a:rPr>
              <a:t>The output Y you measure. First-pass yield, bond strength, leak rate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Run</a:t>
            </a:r>
          </a:p>
          <a:p>
            <a:pPr algn="l">
              <a:spcAft>
                <a:spcPts val="300"/>
              </a:spcAft>
            </a:pPr>
            <a:r>
              <a:rPr sz="1200" b="0">
                <a:solidFill>
                  <a:srgbClr val="5B6372"/>
                </a:solidFill>
                <a:latin typeface="Arial"/>
              </a:rPr>
              <a:t>One execution of the process at one specific factor combination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Effect</a:t>
            </a:r>
          </a:p>
          <a:p>
            <a:pPr algn="l">
              <a:spcAft>
                <a:spcPts val="300"/>
              </a:spcAft>
            </a:pPr>
            <a:r>
              <a:rPr sz="1200" b="0">
                <a:solidFill>
                  <a:srgbClr val="5B6372"/>
                </a:solidFill>
                <a:latin typeface="Arial"/>
              </a:rPr>
              <a:t>The change in the mean response caused by moving a factor from low to high</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Interaction</a:t>
            </a:r>
          </a:p>
          <a:p>
            <a:pPr algn="l">
              <a:spcAft>
                <a:spcPts val="300"/>
              </a:spcAft>
            </a:pPr>
            <a:r>
              <a:rPr sz="1200" b="0">
                <a:solidFill>
                  <a:srgbClr val="5B6372"/>
                </a:solidFill>
                <a:latin typeface="Arial"/>
              </a:rPr>
              <a:t>When the effect of one factor DEPENDS on the level of another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Replication vs repetition: the distinction that matters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Replication</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Re-run the whole run</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Set the machine up again from scratch</a:t>
            </a:r>
          </a:p>
          <a:p>
            <a:pPr>
              <a:spcAft>
                <a:spcPts val="700"/>
              </a:spcAft>
            </a:pPr>
            <a:r>
              <a:rPr sz="1200">
                <a:solidFill>
                  <a:srgbClr val="161B26"/>
                </a:solidFill>
                <a:latin typeface="Arial"/>
              </a:rPr>
              <a:t>•  Captures setup, material and operator variation</a:t>
            </a:r>
          </a:p>
          <a:p>
            <a:pPr>
              <a:spcAft>
                <a:spcPts val="700"/>
              </a:spcAft>
            </a:pPr>
            <a:r>
              <a:rPr sz="1200">
                <a:solidFill>
                  <a:srgbClr val="161B26"/>
                </a:solidFill>
                <a:latin typeface="Arial"/>
              </a:rPr>
              <a:t>•  This is what gives you PURE ERROR</a:t>
            </a:r>
          </a:p>
          <a:p>
            <a:pPr>
              <a:spcAft>
                <a:spcPts val="700"/>
              </a:spcAft>
            </a:pPr>
            <a:r>
              <a:rPr sz="1200">
                <a:solidFill>
                  <a:srgbClr val="161B26"/>
                </a:solidFill>
                <a:latin typeface="Arial"/>
              </a:rPr>
              <a:t>•  Meridian: 8 runs replicated twice = 16 trials</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Repetition</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Re-measure the same run</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Same setup, measure the part 3 times</a:t>
            </a:r>
          </a:p>
          <a:p>
            <a:pPr>
              <a:spcAft>
                <a:spcPts val="700"/>
              </a:spcAft>
            </a:pPr>
            <a:r>
              <a:rPr sz="1200">
                <a:solidFill>
                  <a:srgbClr val="161B26"/>
                </a:solidFill>
                <a:latin typeface="Arial"/>
              </a:rPr>
              <a:t>•  Captures only measurement variation</a:t>
            </a:r>
          </a:p>
          <a:p>
            <a:pPr>
              <a:spcAft>
                <a:spcPts val="700"/>
              </a:spcAft>
            </a:pPr>
            <a:r>
              <a:rPr sz="1200">
                <a:solidFill>
                  <a:srgbClr val="161B26"/>
                </a:solidFill>
                <a:latin typeface="Arial"/>
              </a:rPr>
              <a:t>•  Understates the true error, inflates significance</a:t>
            </a:r>
          </a:p>
          <a:p>
            <a:pPr>
              <a:spcAft>
                <a:spcPts val="700"/>
              </a:spcAft>
            </a:pPr>
            <a:r>
              <a:rPr sz="1200">
                <a:solidFill>
                  <a:srgbClr val="161B26"/>
                </a:solidFill>
                <a:latin typeface="Arial"/>
              </a:rPr>
              <a:t>•  Useful for MSA, useless as replication</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DOE - RANDOMISATION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Randomisation is not optional. It is what makes the inference valid.</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Without randomisation, any drift in ambient temperature, tool wear or operator fatigue is silently added to whichever factor you happened to change last.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Blocking: when you cannot randomise away a nuisance</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The problem</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 known nuisance factor</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Meridian must run 16 trials over 2 days</a:t>
            </a:r>
          </a:p>
          <a:p>
            <a:pPr>
              <a:spcAft>
                <a:spcPts val="700"/>
              </a:spcAft>
            </a:pPr>
            <a:r>
              <a:rPr sz="1200">
                <a:solidFill>
                  <a:srgbClr val="161B26"/>
                </a:solidFill>
                <a:latin typeface="Arial"/>
              </a:rPr>
              <a:t>•  Day-to-day variation is real and large</a:t>
            </a:r>
          </a:p>
          <a:p>
            <a:pPr>
              <a:spcAft>
                <a:spcPts val="700"/>
              </a:spcAft>
            </a:pPr>
            <a:r>
              <a:rPr sz="1200">
                <a:solidFill>
                  <a:srgbClr val="161B26"/>
                </a:solidFill>
                <a:latin typeface="Arial"/>
              </a:rPr>
              <a:t>•  Randomising alone leaves the day effect in the error</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The solution</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Block on the nuisance</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Run 8 trials on day 1, 8 on day 2 as two blocks</a:t>
            </a:r>
          </a:p>
          <a:p>
            <a:pPr>
              <a:spcAft>
                <a:spcPts val="700"/>
              </a:spcAft>
            </a:pPr>
            <a:r>
              <a:rPr sz="1200">
                <a:solidFill>
                  <a:srgbClr val="161B26"/>
                </a:solidFill>
                <a:latin typeface="Arial"/>
              </a:rPr>
              <a:t>•  Choose which 8 so the block is confounded with ABC only</a:t>
            </a:r>
          </a:p>
          <a:p>
            <a:pPr>
              <a:spcAft>
                <a:spcPts val="700"/>
              </a:spcAft>
            </a:pPr>
            <a:r>
              <a:rPr sz="1200">
                <a:solidFill>
                  <a:srgbClr val="161B26"/>
                </a:solidFill>
                <a:latin typeface="Arial"/>
              </a:rPr>
              <a:t>•  Day effect is estimated and removed from the error</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The trade</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You sacrifice one effect</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blocked effect can no longer be estimated</a:t>
            </a:r>
          </a:p>
          <a:p>
            <a:pPr>
              <a:spcAft>
                <a:spcPts val="700"/>
              </a:spcAft>
            </a:pPr>
            <a:r>
              <a:rPr sz="1200">
                <a:solidFill>
                  <a:srgbClr val="161B26"/>
                </a:solidFill>
                <a:latin typeface="Arial"/>
              </a:rPr>
              <a:t>•  Sacrifice the highest-order interaction - ABC</a:t>
            </a:r>
          </a:p>
          <a:p>
            <a:pPr>
              <a:spcAft>
                <a:spcPts val="700"/>
              </a:spcAft>
            </a:pPr>
            <a:r>
              <a:rPr sz="1200">
                <a:solidFill>
                  <a:srgbClr val="161B26"/>
                </a:solidFill>
                <a:latin typeface="Arial"/>
              </a:rPr>
              <a:t>•  Randomise WITHIN each block, always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FULL FACTORIAL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2^k full factorial: every factor at every combination of the others.</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k factors at 2 levels means 2^k runs. It estimates every main effect and every interaction, cleanly. It is the gold standard when you can afford the runs.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big is a 2^k design?</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2 factors</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2^2 = 4 runs</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2 main effects, 1 two-factor interaction</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3 factors</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2^3 = 8 runs</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3 main, 3 two-factor, 1 three-factor interaction</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5 factors</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2^5 = 32 runs</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5 main, 10 two-factor, 16 higher-order - runs grow fast</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Effects estimated always equals runs minus one. 8 runs estimate 7 effects plus the grand mean.</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Meridian 2^3 experiment: pump housing bond strength</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Response Y</a:t>
            </a:r>
          </a:p>
          <a:p>
            <a:pPr algn="l">
              <a:spcAft>
                <a:spcPts val="300"/>
              </a:spcAft>
            </a:pPr>
            <a:r>
              <a:rPr sz="1200" b="0">
                <a:solidFill>
                  <a:srgbClr val="5B6372"/>
                </a:solidFill>
                <a:latin typeface="Arial"/>
              </a:rPr>
              <a:t>Bond pull strength in newtons; spec is 180 N minimum</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Factor A</a:t>
            </a:r>
          </a:p>
          <a:p>
            <a:pPr algn="l">
              <a:spcAft>
                <a:spcPts val="300"/>
              </a:spcAft>
            </a:pPr>
            <a:r>
              <a:rPr sz="1200" b="0">
                <a:solidFill>
                  <a:srgbClr val="5B6372"/>
                </a:solidFill>
                <a:latin typeface="Arial"/>
              </a:rPr>
              <a:t>Cure temperature: 58 C (low, -1) or 68 C (high, +1)</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Factor B</a:t>
            </a:r>
          </a:p>
          <a:p>
            <a:pPr algn="l">
              <a:spcAft>
                <a:spcPts val="300"/>
              </a:spcAft>
            </a:pPr>
            <a:r>
              <a:rPr sz="1200" b="0">
                <a:solidFill>
                  <a:srgbClr val="5B6372"/>
                </a:solidFill>
                <a:latin typeface="Arial"/>
              </a:rPr>
              <a:t>Clamp pressure: 2.8 bar (low, -1) or 4.2 bar (high, +1)</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Factor C</a:t>
            </a:r>
          </a:p>
          <a:p>
            <a:pPr algn="l">
              <a:spcAft>
                <a:spcPts val="300"/>
              </a:spcAft>
            </a:pPr>
            <a:r>
              <a:rPr sz="1200" b="0">
                <a:solidFill>
                  <a:srgbClr val="5B6372"/>
                </a:solidFill>
                <a:latin typeface="Arial"/>
              </a:rPr>
              <a:t>Dwell time: 20 s (low, -1) or 35 s (high, +1)</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Design</a:t>
            </a:r>
          </a:p>
          <a:p>
            <a:pPr algn="l">
              <a:spcAft>
                <a:spcPts val="300"/>
              </a:spcAft>
            </a:pPr>
            <a:r>
              <a:rPr sz="1200" b="0">
                <a:solidFill>
                  <a:srgbClr val="5B6372"/>
                </a:solidFill>
                <a:latin typeface="Arial"/>
              </a:rPr>
              <a:t>2^3 = 8 runs, replicated twice, 16 trials in randomised order</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Held constant</a:t>
            </a:r>
          </a:p>
          <a:p>
            <a:pPr algn="l">
              <a:spcAft>
                <a:spcPts val="300"/>
              </a:spcAft>
            </a:pPr>
            <a:r>
              <a:rPr sz="1200" b="0">
                <a:solidFill>
                  <a:srgbClr val="5B6372"/>
                </a:solidFill>
                <a:latin typeface="Arial"/>
              </a:rPr>
              <a:t>Adhesive lot, operator, fixture, ambient humidity band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design matrix in standard (Yates) order</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Run 1</a:t>
            </a:r>
          </a:p>
          <a:p>
            <a:pPr algn="l">
              <a:spcAft>
                <a:spcPts val="300"/>
              </a:spcAft>
            </a:pPr>
            <a:r>
              <a:rPr sz="1200" b="0">
                <a:solidFill>
                  <a:srgbClr val="5B6372"/>
                </a:solidFill>
                <a:latin typeface="Arial"/>
              </a:rPr>
              <a:t>A = -1, B = -1, C = -1     Y = 154 N</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Run 2</a:t>
            </a:r>
          </a:p>
          <a:p>
            <a:pPr algn="l">
              <a:spcAft>
                <a:spcPts val="300"/>
              </a:spcAft>
            </a:pPr>
            <a:r>
              <a:rPr sz="1200" b="0">
                <a:solidFill>
                  <a:srgbClr val="5B6372"/>
                </a:solidFill>
                <a:latin typeface="Arial"/>
              </a:rPr>
              <a:t>A = +1, B = -1, C = -1     Y = 171 N</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Run 3</a:t>
            </a:r>
          </a:p>
          <a:p>
            <a:pPr algn="l">
              <a:spcAft>
                <a:spcPts val="300"/>
              </a:spcAft>
            </a:pPr>
            <a:r>
              <a:rPr sz="1200" b="0">
                <a:solidFill>
                  <a:srgbClr val="5B6372"/>
                </a:solidFill>
                <a:latin typeface="Arial"/>
              </a:rPr>
              <a:t>A = -1, B = +1, C = -1     Y = 162 N</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Run 4</a:t>
            </a:r>
          </a:p>
          <a:p>
            <a:pPr algn="l">
              <a:spcAft>
                <a:spcPts val="300"/>
              </a:spcAft>
            </a:pPr>
            <a:r>
              <a:rPr sz="1200" b="0">
                <a:solidFill>
                  <a:srgbClr val="5B6372"/>
                </a:solidFill>
                <a:latin typeface="Arial"/>
              </a:rPr>
              <a:t>A = +1, B = +1, C = -1     Y = 206 N</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Run 5</a:t>
            </a:r>
          </a:p>
          <a:p>
            <a:pPr algn="l">
              <a:spcAft>
                <a:spcPts val="300"/>
              </a:spcAft>
            </a:pPr>
            <a:r>
              <a:rPr sz="1200" b="0">
                <a:solidFill>
                  <a:srgbClr val="5B6372"/>
                </a:solidFill>
                <a:latin typeface="Arial"/>
              </a:rPr>
              <a:t>A = -1, B = -1, C = +1     Y = 161 N</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Run 6</a:t>
            </a:r>
          </a:p>
          <a:p>
            <a:pPr algn="l">
              <a:spcAft>
                <a:spcPts val="300"/>
              </a:spcAft>
            </a:pPr>
            <a:r>
              <a:rPr sz="1200" b="0">
                <a:solidFill>
                  <a:srgbClr val="5B6372"/>
                </a:solidFill>
                <a:latin typeface="Arial"/>
              </a:rPr>
              <a:t>A = +1, B = -1, C = +1     Y = 180 N</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Run 7</a:t>
            </a:r>
          </a:p>
          <a:p>
            <a:pPr algn="l">
              <a:spcAft>
                <a:spcPts val="300"/>
              </a:spcAft>
            </a:pPr>
            <a:r>
              <a:rPr sz="1200" b="0">
                <a:solidFill>
                  <a:srgbClr val="5B6372"/>
                </a:solidFill>
                <a:latin typeface="Arial"/>
              </a:rPr>
              <a:t>A = -1, B = +1, C = +1     Y = 172 N</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Run 8</a:t>
            </a:r>
          </a:p>
          <a:p>
            <a:pPr algn="l">
              <a:spcAft>
                <a:spcPts val="300"/>
              </a:spcAft>
            </a:pPr>
            <a:r>
              <a:rPr sz="1200" b="0">
                <a:solidFill>
                  <a:srgbClr val="5B6372"/>
                </a:solidFill>
                <a:latin typeface="Arial"/>
              </a:rPr>
              <a:t>A = +1, B = +1, C = +1     Y = 219 N</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Replication and pure error at Meridian</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Replicate pairs</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Run 1: 154, 149    Run 8: 219, 213</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Whole runs re-set-up, not the same part re-measured</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Pure error SD</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s from the within-pair ranges</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Average range 5.4 N -&gt; s about 4.8 N across 8 pairs</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Significance yardstick</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Effect significant if it exceeds ~2 x SE</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SE of an effect = 2s / sqrt(N) = 2(4.8)/4 = 2.4 -&gt; flag &gt; 4.8 N</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Without replication you have no pure error, so you must rely on normal plots or effect sparsity instead.</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MAIN EFFECTS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main effect is the average change in Y when a factor goes from low to high.</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Average all the runs where A is high, average all the runs where A is low, subtract. Every run contributes to every effect.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Calculating the main effects at Meridian</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Effect of A</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avg(A high) - avg(A low)</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(171+206+180+219)/4 - (154+162+161+172)/4 = 194.0 - 162.25 = +31.75 N</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Effect of B</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avg(B high) - avg(B low)</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(162+206+172+219)/4 - (154+171+161+180)/4 = 189.75 - 166.5 = +23.25 N</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Effect of C</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avg(C high) - avg(C low)</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(161+180+172+219)/4 - (154+171+162+206)/4 = 183.0 - 173.25 = +9.75 N</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Cure temperature (A) is the dominant factor; dwell time (C) is real but small.</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Calculating interaction effects</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AB interaction</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avg(AB=+1) - avg(AB=-1)</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(154+206+161+219)/4 - (171+162+180+172)/4 = 185.0 - 171.25 = +13.75 N</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AC interaction</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avg(AC=+1) - avg(AC=-1)</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(154+162+180+219)/4 - (171+206+161+172)/4 = 178.75 - 177.5 = +1.25 N</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ABC interaction</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Sign column = A x B x C</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(171+162+161+219)/4 - (154+206+180+172)/4 = 178.25 - 178.0 = +0.25 N</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Sign column for AB is just A multiplied by B, row by row. Same arithmetic, different column.</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Main effect plot vs interaction plot</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Main effect plot</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Y against one factor's two levels</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One line per factor, low on the left, high on the right</a:t>
            </a:r>
          </a:p>
          <a:p>
            <a:pPr>
              <a:spcAft>
                <a:spcPts val="700"/>
              </a:spcAft>
            </a:pPr>
            <a:r>
              <a:rPr sz="1200">
                <a:solidFill>
                  <a:srgbClr val="161B26"/>
                </a:solidFill>
                <a:latin typeface="Arial"/>
              </a:rPr>
              <a:t>•  STEEPER slope means a LARGER effect</a:t>
            </a:r>
          </a:p>
          <a:p>
            <a:pPr>
              <a:spcAft>
                <a:spcPts val="700"/>
              </a:spcAft>
            </a:pPr>
            <a:r>
              <a:rPr sz="1200">
                <a:solidFill>
                  <a:srgbClr val="161B26"/>
                </a:solidFill>
                <a:latin typeface="Arial"/>
              </a:rPr>
              <a:t>•  Flat line means the factor does nothing in this range</a:t>
            </a:r>
          </a:p>
          <a:p>
            <a:pPr>
              <a:spcAft>
                <a:spcPts val="700"/>
              </a:spcAft>
            </a:pPr>
            <a:r>
              <a:rPr sz="1200">
                <a:solidFill>
                  <a:srgbClr val="161B26"/>
                </a:solidFill>
                <a:latin typeface="Arial"/>
              </a:rPr>
              <a:t>•  Meridian: A is steepest, C is nearly flat</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Interaction plot</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Y against factor A, one line per level of B</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PARALLEL lines mean NO interaction</a:t>
            </a:r>
          </a:p>
          <a:p>
            <a:pPr>
              <a:spcAft>
                <a:spcPts val="700"/>
              </a:spcAft>
            </a:pPr>
            <a:r>
              <a:rPr sz="1200">
                <a:solidFill>
                  <a:srgbClr val="161B26"/>
                </a:solidFill>
                <a:latin typeface="Arial"/>
              </a:rPr>
              <a:t>•  NON-PARALLEL lines mean an interaction exists</a:t>
            </a:r>
          </a:p>
          <a:p>
            <a:pPr>
              <a:spcAft>
                <a:spcPts val="700"/>
              </a:spcAft>
            </a:pPr>
            <a:r>
              <a:rPr sz="1200">
                <a:solidFill>
                  <a:srgbClr val="161B26"/>
                </a:solidFill>
                <a:latin typeface="Arial"/>
              </a:rPr>
              <a:t>•  Crossing lines mean a strong reversal of effect</a:t>
            </a:r>
          </a:p>
          <a:p>
            <a:pPr>
              <a:spcAft>
                <a:spcPts val="700"/>
              </a:spcAft>
            </a:pPr>
            <a:r>
              <a:rPr sz="1200">
                <a:solidFill>
                  <a:srgbClr val="161B26"/>
                </a:solidFill>
                <a:latin typeface="Arial"/>
              </a:rPr>
              <a:t>•  Meridian AB: lines diverge sharply to the right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Reading the Meridian AB interaction plot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At low clamp pressure</a:t>
            </a:r>
          </a:p>
          <a:p>
            <a:pPr algn="l">
              <a:spcAft>
                <a:spcPts val="300"/>
              </a:spcAft>
            </a:pPr>
            <a:r>
              <a:rPr sz="1200" b="0">
                <a:solidFill>
                  <a:srgbClr val="5B6372"/>
                </a:solidFill>
                <a:latin typeface="Arial"/>
              </a:rPr>
              <a:t>Raising temperature 58 -&gt; 68 C gains only 18 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At high clamp pressure</a:t>
            </a:r>
          </a:p>
          <a:p>
            <a:pPr algn="l">
              <a:spcAft>
                <a:spcPts val="300"/>
              </a:spcAft>
            </a:pPr>
            <a:r>
              <a:rPr sz="1200" b="0">
                <a:solidFill>
                  <a:srgbClr val="5B6372"/>
                </a:solidFill>
                <a:latin typeface="Arial"/>
              </a:rPr>
              <a:t>The same temperature rise gains 45 N</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lines</a:t>
            </a:r>
          </a:p>
          <a:p>
            <a:pPr algn="l">
              <a:spcAft>
                <a:spcPts val="300"/>
              </a:spcAft>
            </a:pPr>
            <a:r>
              <a:rPr sz="1200" b="0">
                <a:solidFill>
                  <a:srgbClr val="5B6372"/>
                </a:solidFill>
                <a:latin typeface="Arial"/>
              </a:rPr>
              <a:t>Diverge sharply - the classic non-parallel signature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meaning</a:t>
            </a:r>
          </a:p>
          <a:p>
            <a:pPr algn="l">
              <a:spcAft>
                <a:spcPts val="300"/>
              </a:spcAft>
            </a:pPr>
            <a:r>
              <a:rPr sz="1200" b="0">
                <a:solidFill>
                  <a:srgbClr val="5B6372"/>
                </a:solidFill>
                <a:latin typeface="Arial"/>
              </a:rPr>
              <a:t>Temperature is worth far more when clamp pressure is high</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decision</a:t>
            </a:r>
          </a:p>
          <a:p>
            <a:pPr algn="l">
              <a:spcAft>
                <a:spcPts val="300"/>
              </a:spcAft>
            </a:pPr>
            <a:r>
              <a:rPr sz="1200" b="0">
                <a:solidFill>
                  <a:srgbClr val="5B6372"/>
                </a:solidFill>
                <a:latin typeface="Arial"/>
              </a:rPr>
              <a:t>Set both high; never optimise them independently</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OFAT trap</a:t>
            </a:r>
          </a:p>
          <a:p>
            <a:pPr algn="l">
              <a:spcAft>
                <a:spcPts val="300"/>
              </a:spcAft>
            </a:pPr>
            <a:r>
              <a:rPr sz="1200" b="0">
                <a:solidFill>
                  <a:srgbClr val="5B6372"/>
                </a:solidFill>
                <a:latin typeface="Arial"/>
              </a:rPr>
              <a:t>Testing temperature at 2.8 bar would have concluded 'temperature barely matters'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DOE - INTERPRETING INTERACTIONS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When an interaction is significant, never interpret its main effects alone.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statement 'raising cure temperature adds 32 N' is only true on average. It is 18 N in one condition and 45 N in another.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ways to decide which effects are real</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Pareto of effects</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Bar chart of absolute effect size</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Bars sorted largest to smallest</a:t>
            </a:r>
          </a:p>
          <a:p>
            <a:pPr>
              <a:spcAft>
                <a:spcPts val="700"/>
              </a:spcAft>
            </a:pPr>
            <a:r>
              <a:rPr sz="1200">
                <a:solidFill>
                  <a:srgbClr val="161B26"/>
                </a:solidFill>
                <a:latin typeface="Arial"/>
              </a:rPr>
              <a:t>•  A reference line drawn at the critical value</a:t>
            </a:r>
          </a:p>
          <a:p>
            <a:pPr>
              <a:spcAft>
                <a:spcPts val="700"/>
              </a:spcAft>
            </a:pPr>
            <a:r>
              <a:rPr sz="1200">
                <a:solidFill>
                  <a:srgbClr val="161B26"/>
                </a:solidFill>
                <a:latin typeface="Arial"/>
              </a:rPr>
              <a:t>•  Bars beyond the line are significant</a:t>
            </a:r>
          </a:p>
          <a:p>
            <a:pPr>
              <a:spcAft>
                <a:spcPts val="700"/>
              </a:spcAft>
            </a:pPr>
            <a:r>
              <a:rPr sz="1200">
                <a:solidFill>
                  <a:srgbClr val="161B26"/>
                </a:solidFill>
                <a:latin typeface="Arial"/>
              </a:rPr>
              <a:t>•  Fastest visual read for a review meeting</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Normal plot of effects</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Effects on normal probability paper</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Inert effects fall on a straight line (they are pure noise)</a:t>
            </a:r>
          </a:p>
          <a:p>
            <a:pPr>
              <a:spcAft>
                <a:spcPts val="700"/>
              </a:spcAft>
            </a:pPr>
            <a:r>
              <a:rPr sz="1200">
                <a:solidFill>
                  <a:srgbClr val="161B26"/>
                </a:solidFill>
                <a:latin typeface="Arial"/>
              </a:rPr>
              <a:t>•  REAL effects fall OFF the line, at the extremes</a:t>
            </a:r>
          </a:p>
          <a:p>
            <a:pPr>
              <a:spcAft>
                <a:spcPts val="700"/>
              </a:spcAft>
            </a:pPr>
            <a:r>
              <a:rPr sz="1200">
                <a:solidFill>
                  <a:srgbClr val="161B26"/>
                </a:solidFill>
                <a:latin typeface="Arial"/>
              </a:rPr>
              <a:t>•  Works even with NO replication - the key advantage</a:t>
            </a:r>
          </a:p>
          <a:p>
            <a:pPr>
              <a:spcAft>
                <a:spcPts val="700"/>
              </a:spcAft>
            </a:pPr>
            <a:r>
              <a:rPr sz="1200">
                <a:solidFill>
                  <a:srgbClr val="161B26"/>
                </a:solidFill>
                <a:latin typeface="Arial"/>
              </a:rPr>
              <a:t>•  Half-normal plot is the same idea on absolute values</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ANOVA / p-values</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Formal test against pure error</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Requires replication to get pure error</a:t>
            </a:r>
          </a:p>
          <a:p>
            <a:pPr>
              <a:spcAft>
                <a:spcPts val="700"/>
              </a:spcAft>
            </a:pPr>
            <a:r>
              <a:rPr sz="1200">
                <a:solidFill>
                  <a:srgbClr val="161B26"/>
                </a:solidFill>
                <a:latin typeface="Arial"/>
              </a:rPr>
              <a:t>•  Effect significant at p &lt; 0.05</a:t>
            </a:r>
          </a:p>
          <a:p>
            <a:pPr>
              <a:spcAft>
                <a:spcPts val="700"/>
              </a:spcAft>
            </a:pPr>
            <a:r>
              <a:rPr sz="1200">
                <a:solidFill>
                  <a:srgbClr val="161B26"/>
                </a:solidFill>
                <a:latin typeface="Arial"/>
              </a:rPr>
              <a:t>•  Gives R-squared and lack-of-fit as a bonus</a:t>
            </a:r>
          </a:p>
          <a:p>
            <a:pPr>
              <a:spcAft>
                <a:spcPts val="700"/>
              </a:spcAft>
            </a:pPr>
            <a:r>
              <a:rPr sz="1200">
                <a:solidFill>
                  <a:srgbClr val="161B26"/>
                </a:solidFill>
                <a:latin typeface="Arial"/>
              </a:rPr>
              <a:t>•  The number a sponsor will ask you for</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of effects: Meridian bond strength</a:t>
            </a:r>
          </a:p>
        </p:txBody>
      </p:sp>
      <p:cxnSp>
        <p:nvCxnSpPr>
          <p:cNvPr id="6" name="Connector 5"/>
          <p:cNvCxnSpPr/>
          <p:nvPr/>
        </p:nvCxnSpPr>
        <p:spPr>
          <a:xfrm>
            <a:off x="1234440" y="4983480"/>
            <a:ext cx="905256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234440" y="2148840"/>
            <a:ext cx="0" cy="283464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1536192" y="2432304"/>
            <a:ext cx="905256" cy="25511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34440" y="2139696"/>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32</a:t>
            </a:r>
          </a:p>
        </p:txBody>
      </p:sp>
      <p:sp>
        <p:nvSpPr>
          <p:cNvPr id="10" name="TextBox 9"/>
          <p:cNvSpPr txBox="1"/>
          <p:nvPr/>
        </p:nvSpPr>
        <p:spPr>
          <a:xfrm>
            <a:off x="114300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A: Cure temp</a:t>
            </a:r>
          </a:p>
        </p:txBody>
      </p:sp>
      <p:sp>
        <p:nvSpPr>
          <p:cNvPr id="11" name="Rectangle 10"/>
          <p:cNvSpPr/>
          <p:nvPr/>
        </p:nvSpPr>
        <p:spPr>
          <a:xfrm>
            <a:off x="3044952" y="3149823"/>
            <a:ext cx="905256" cy="183365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743200" y="2857215"/>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23</a:t>
            </a:r>
          </a:p>
        </p:txBody>
      </p:sp>
      <p:sp>
        <p:nvSpPr>
          <p:cNvPr id="13" name="TextBox 12"/>
          <p:cNvSpPr txBox="1"/>
          <p:nvPr/>
        </p:nvSpPr>
        <p:spPr>
          <a:xfrm>
            <a:off x="265176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B: Clamp pressure</a:t>
            </a:r>
          </a:p>
        </p:txBody>
      </p:sp>
      <p:sp>
        <p:nvSpPr>
          <p:cNvPr id="14" name="Rectangle 13"/>
          <p:cNvSpPr/>
          <p:nvPr/>
        </p:nvSpPr>
        <p:spPr>
          <a:xfrm>
            <a:off x="4553712" y="3867341"/>
            <a:ext cx="905256" cy="111613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251960" y="3574733"/>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14</a:t>
            </a:r>
          </a:p>
        </p:txBody>
      </p:sp>
      <p:sp>
        <p:nvSpPr>
          <p:cNvPr id="16" name="TextBox 15"/>
          <p:cNvSpPr txBox="1"/>
          <p:nvPr/>
        </p:nvSpPr>
        <p:spPr>
          <a:xfrm>
            <a:off x="416052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AB interaction</a:t>
            </a:r>
          </a:p>
        </p:txBody>
      </p:sp>
      <p:sp>
        <p:nvSpPr>
          <p:cNvPr id="17" name="Rectangle 16"/>
          <p:cNvSpPr/>
          <p:nvPr/>
        </p:nvSpPr>
        <p:spPr>
          <a:xfrm>
            <a:off x="6062472" y="4186238"/>
            <a:ext cx="905256" cy="7972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760720" y="3893630"/>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10</a:t>
            </a:r>
          </a:p>
        </p:txBody>
      </p:sp>
      <p:sp>
        <p:nvSpPr>
          <p:cNvPr id="19" name="TextBox 18"/>
          <p:cNvSpPr txBox="1"/>
          <p:nvPr/>
        </p:nvSpPr>
        <p:spPr>
          <a:xfrm>
            <a:off x="566928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C: Dwell time</a:t>
            </a:r>
          </a:p>
        </p:txBody>
      </p:sp>
      <p:sp>
        <p:nvSpPr>
          <p:cNvPr id="20" name="Rectangle 19"/>
          <p:cNvSpPr/>
          <p:nvPr/>
        </p:nvSpPr>
        <p:spPr>
          <a:xfrm>
            <a:off x="7571232" y="4903756"/>
            <a:ext cx="905256" cy="797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269480" y="4611148"/>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a:t>
            </a:r>
          </a:p>
        </p:txBody>
      </p:sp>
      <p:sp>
        <p:nvSpPr>
          <p:cNvPr id="22" name="TextBox 21"/>
          <p:cNvSpPr txBox="1"/>
          <p:nvPr/>
        </p:nvSpPr>
        <p:spPr>
          <a:xfrm>
            <a:off x="717804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AC</a:t>
            </a:r>
          </a:p>
        </p:txBody>
      </p:sp>
      <p:sp>
        <p:nvSpPr>
          <p:cNvPr id="23" name="Rectangle 22"/>
          <p:cNvSpPr/>
          <p:nvPr/>
        </p:nvSpPr>
        <p:spPr>
          <a:xfrm>
            <a:off x="9079992" y="4903756"/>
            <a:ext cx="905256" cy="797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778240" y="4611148"/>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a:t>
            </a:r>
          </a:p>
        </p:txBody>
      </p:sp>
      <p:sp>
        <p:nvSpPr>
          <p:cNvPr id="25" name="TextBox 24"/>
          <p:cNvSpPr txBox="1"/>
          <p:nvPr/>
        </p:nvSpPr>
        <p:spPr>
          <a:xfrm>
            <a:off x="868680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BC</a:t>
            </a:r>
          </a:p>
        </p:txBody>
      </p:sp>
      <p:cxnSp>
        <p:nvCxnSpPr>
          <p:cNvPr id="26" name="Connector 25"/>
          <p:cNvCxnSpPr/>
          <p:nvPr/>
        </p:nvCxnSpPr>
        <p:spPr>
          <a:xfrm flipV="1">
            <a:off x="1988820" y="3251200"/>
            <a:ext cx="1508760" cy="72440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497580" y="2810256"/>
            <a:ext cx="1508760" cy="440944"/>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5006340" y="2495296"/>
            <a:ext cx="1508760" cy="314960"/>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6515100" y="2463800"/>
            <a:ext cx="1508760" cy="31496"/>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023860" y="2432304"/>
            <a:ext cx="1508760" cy="31496"/>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924812" y="3911600"/>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28700" y="3838448"/>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40%</a:t>
            </a:r>
          </a:p>
        </p:txBody>
      </p:sp>
      <p:sp>
        <p:nvSpPr>
          <p:cNvPr id="33" name="Oval 32"/>
          <p:cNvSpPr/>
          <p:nvPr/>
        </p:nvSpPr>
        <p:spPr>
          <a:xfrm>
            <a:off x="3433572" y="3187192"/>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2537460" y="3114040"/>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68%</a:t>
            </a:r>
          </a:p>
        </p:txBody>
      </p:sp>
      <p:sp>
        <p:nvSpPr>
          <p:cNvPr id="35" name="Oval 34"/>
          <p:cNvSpPr/>
          <p:nvPr/>
        </p:nvSpPr>
        <p:spPr>
          <a:xfrm>
            <a:off x="4942332" y="274624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594860" y="2371344"/>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85%</a:t>
            </a:r>
          </a:p>
        </p:txBody>
      </p:sp>
      <p:sp>
        <p:nvSpPr>
          <p:cNvPr id="37" name="Oval 36"/>
          <p:cNvSpPr/>
          <p:nvPr/>
        </p:nvSpPr>
        <p:spPr>
          <a:xfrm>
            <a:off x="6451092" y="243128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103620" y="2056384"/>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98%</a:t>
            </a:r>
          </a:p>
        </p:txBody>
      </p:sp>
      <p:sp>
        <p:nvSpPr>
          <p:cNvPr id="39" name="Oval 38"/>
          <p:cNvSpPr/>
          <p:nvPr/>
        </p:nvSpPr>
        <p:spPr>
          <a:xfrm>
            <a:off x="7959852" y="2399792"/>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612380" y="2024888"/>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99%</a:t>
            </a:r>
          </a:p>
        </p:txBody>
      </p:sp>
      <p:sp>
        <p:nvSpPr>
          <p:cNvPr id="41" name="Oval 40"/>
          <p:cNvSpPr/>
          <p:nvPr/>
        </p:nvSpPr>
        <p:spPr>
          <a:xfrm>
            <a:off x="9468612" y="236829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121140" y="1993392"/>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100%</a:t>
            </a:r>
          </a:p>
        </p:txBody>
      </p:sp>
      <p:cxnSp>
        <p:nvCxnSpPr>
          <p:cNvPr id="43" name="Connector 42"/>
          <p:cNvCxnSpPr/>
          <p:nvPr/>
        </p:nvCxnSpPr>
        <p:spPr>
          <a:xfrm>
            <a:off x="1234440" y="2942539"/>
            <a:ext cx="9052560" cy="0"/>
          </a:xfrm>
          <a:prstGeom prst="line">
            <a:avLst/>
          </a:prstGeom>
          <a:ln w="12700">
            <a:solidFill>
              <a:srgbClr val="5B6372"/>
            </a:solidFill>
            <a:prstDash val="dash"/>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0341864" y="2796235"/>
            <a:ext cx="822960" cy="274320"/>
          </a:xfrm>
          <a:prstGeom prst="rect">
            <a:avLst/>
          </a:prstGeom>
          <a:noFill/>
        </p:spPr>
        <p:txBody>
          <a:bodyPr wrap="square" anchor="t">
            <a:spAutoFit/>
          </a:bodyPr>
          <a:lstStyle/>
          <a:p>
            <a:pPr algn="l">
              <a:spcAft>
                <a:spcPts val="400"/>
              </a:spcAft>
            </a:pPr>
            <a:r>
              <a:rPr sz="1000" b="1">
                <a:solidFill>
                  <a:srgbClr val="5B6372"/>
                </a:solidFill>
                <a:latin typeface="Arial"/>
              </a:rPr>
              <a:t>80%</a:t>
            </a:r>
          </a:p>
        </p:txBody>
      </p:sp>
      <p:sp>
        <p:nvSpPr>
          <p:cNvPr id="45" name="TextBox 44"/>
          <p:cNvSpPr txBox="1"/>
          <p:nvPr/>
        </p:nvSpPr>
        <p:spPr>
          <a:xfrm>
            <a:off x="777240" y="589788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Absolute effect size in newtons. Everything above the 4.8 N critical value is real: A, B, AB and C.</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Reading a normal probability plot of effects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logic</a:t>
            </a:r>
          </a:p>
          <a:p>
            <a:pPr algn="l">
              <a:spcAft>
                <a:spcPts val="300"/>
              </a:spcAft>
            </a:pPr>
            <a:r>
              <a:rPr sz="1200" b="0">
                <a:solidFill>
                  <a:srgbClr val="5B6372"/>
                </a:solidFill>
                <a:latin typeface="Arial"/>
              </a:rPr>
              <a:t>If a factor does nothing, its estimated effect is pure noise, so it is normal</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Noise effects</a:t>
            </a:r>
          </a:p>
          <a:p>
            <a:pPr algn="l">
              <a:spcAft>
                <a:spcPts val="300"/>
              </a:spcAft>
            </a:pPr>
            <a:r>
              <a:rPr sz="1200" b="0">
                <a:solidFill>
                  <a:srgbClr val="5B6372"/>
                </a:solidFill>
                <a:latin typeface="Arial"/>
              </a:rPr>
              <a:t>Plot as a straight line through the middle of the chart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Real effects</a:t>
            </a:r>
          </a:p>
          <a:p>
            <a:pPr algn="l">
              <a:spcAft>
                <a:spcPts val="300"/>
              </a:spcAft>
            </a:pPr>
            <a:r>
              <a:rPr sz="1200" b="0">
                <a:solidFill>
                  <a:srgbClr val="5B6372"/>
                </a:solidFill>
                <a:latin typeface="Arial"/>
              </a:rPr>
              <a:t>Fall clearly OFF that line, out at the tails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Positive effects</a:t>
            </a:r>
          </a:p>
          <a:p>
            <a:pPr algn="l">
              <a:spcAft>
                <a:spcPts val="300"/>
              </a:spcAft>
            </a:pPr>
            <a:r>
              <a:rPr sz="1200" b="0">
                <a:solidFill>
                  <a:srgbClr val="5B6372"/>
                </a:solidFill>
                <a:latin typeface="Arial"/>
              </a:rPr>
              <a:t>Sit above and to the right of the line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Negative effects</a:t>
            </a:r>
          </a:p>
          <a:p>
            <a:pPr algn="l">
              <a:spcAft>
                <a:spcPts val="300"/>
              </a:spcAft>
            </a:pPr>
            <a:r>
              <a:rPr sz="1200" b="0">
                <a:solidFill>
                  <a:srgbClr val="5B6372"/>
                </a:solidFill>
                <a:latin typeface="Arial"/>
              </a:rPr>
              <a:t>Sit below and to the left of the line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Why it matters</a:t>
            </a:r>
          </a:p>
          <a:p>
            <a:pPr algn="l">
              <a:spcAft>
                <a:spcPts val="300"/>
              </a:spcAft>
            </a:pPr>
            <a:r>
              <a:rPr sz="1200" b="0">
                <a:solidFill>
                  <a:srgbClr val="5B6372"/>
                </a:solidFill>
                <a:latin typeface="Arial"/>
              </a:rPr>
              <a:t>This works with an unreplicated design where you have no pure error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Building the Meridian prediction equation</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General form</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Y = b0 + b1(A) + b2(B) + b12(AB)</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Coefficients are HALF the effects, in coded -1/+1 units</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Meridian model</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Y = 178.1 + 15.9A + 11.6B + 6.9AB</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Grand mean 178.1 N; A, B and AB retained; C dropped for cycle time</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Predicted optimum</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A=+1, B=+1</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178.1 + 15.9 + 11.6 + 6.9 = 212.5 N predicted at 68 C, 4.2 bar</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Coefficient = effect / 2 because the coded range from -1 to +1 spans 2 units.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CONFIRMATION RUNS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If the confirmation runs fail, you do NOT roll out.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prediction is a hypothesis about the future. Confirmation runs test it. Rolling out an unconfirmed optimum is gambling with the sponsor's money.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Running the confirmation properly</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Set the process at the predicted optimum: 68 C, 4.2 bar</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Run 8-12 independent confirmation trials, randomised</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Compare the observed mean to the predicted 212.5 N</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Check it falls inside the prediction interval</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Only then move to pilot and rollout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confirmation result</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Predicted</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212.5 N, PI 203 to 222 N</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From the model at A=+1, B=+1</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Observed</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n=10, mean 209.4 N, s = 5.1 N</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Inside the prediction interval - the model is confirmed</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Decision</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Confirmed -&gt; pilot on Penang Line 3</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Bond strength margin over the 180 N spec rises from -12 to +29 N</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If observed had come back at 186 N, the model would be rejected and you return to the design.</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FRACTIONAL FACTORIAL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With 7 factors, a full factorial is 128 runs. A quarter-day of screening is 16.</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Fractional factorials buy that economy by deliberately trading away the high-order interactions you almost certainly do not need.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economics of 2^(k-p)</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Full factorial</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2^7 = 128 runs</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At 45 min per run that is 96 hours of line time</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Half fraction</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2^(7-1) = 64 runs</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One generator sacrificed; still very expensive</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Sixteenth fraction</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2^(7-4) = 16 runs</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12 hours. Screens 7 factors down to the vital 2 or 3</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p is the number of factors 'generated' from the others. Each unit of p halves the run count.</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a fractional design is built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Start with a base design</a:t>
            </a:r>
          </a:p>
          <a:p>
            <a:pPr algn="l">
              <a:spcAft>
                <a:spcPts val="300"/>
              </a:spcAft>
            </a:pPr>
            <a:r>
              <a:rPr sz="1200" b="0">
                <a:solidFill>
                  <a:srgbClr val="5B6372"/>
                </a:solidFill>
                <a:latin typeface="Arial"/>
              </a:rPr>
              <a:t>For 2^(7-4): a full 2^3 in factors A, B, C - just 8 rows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Generators</a:t>
            </a:r>
          </a:p>
          <a:p>
            <a:pPr algn="l">
              <a:spcAft>
                <a:spcPts val="300"/>
              </a:spcAft>
            </a:pPr>
            <a:r>
              <a:rPr sz="1200" b="0">
                <a:solidFill>
                  <a:srgbClr val="5B6372"/>
                </a:solidFill>
                <a:latin typeface="Arial"/>
              </a:rPr>
              <a:t>Assign the extra factors to interaction columns: D=AB, E=AC, F=BC, G=ABC</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Defining relation</a:t>
            </a:r>
          </a:p>
          <a:p>
            <a:pPr algn="l">
              <a:spcAft>
                <a:spcPts val="300"/>
              </a:spcAft>
            </a:pPr>
            <a:r>
              <a:rPr sz="1200" b="0">
                <a:solidFill>
                  <a:srgbClr val="5B6372"/>
                </a:solidFill>
                <a:latin typeface="Arial"/>
              </a:rPr>
              <a:t>I = ABD = ACE = BCF = ABCG and all their products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Alias structure</a:t>
            </a:r>
          </a:p>
          <a:p>
            <a:pPr algn="l">
              <a:spcAft>
                <a:spcPts val="300"/>
              </a:spcAft>
            </a:pPr>
            <a:r>
              <a:rPr sz="1200" b="0">
                <a:solidFill>
                  <a:srgbClr val="5B6372"/>
                </a:solidFill>
                <a:latin typeface="Arial"/>
              </a:rPr>
              <a:t>Every effect is aliased with several others; the relation tells you which</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consequence</a:t>
            </a:r>
          </a:p>
          <a:p>
            <a:pPr algn="l">
              <a:spcAft>
                <a:spcPts val="300"/>
              </a:spcAft>
            </a:pPr>
            <a:r>
              <a:rPr sz="1200" b="0">
                <a:solidFill>
                  <a:srgbClr val="5B6372"/>
                </a:solidFill>
                <a:latin typeface="Arial"/>
              </a:rPr>
              <a:t>You estimate a SUM of effects, never one effect on its own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bet</a:t>
            </a:r>
          </a:p>
          <a:p>
            <a:pPr algn="l">
              <a:spcAft>
                <a:spcPts val="300"/>
              </a:spcAft>
            </a:pPr>
            <a:r>
              <a:rPr sz="1200" b="0">
                <a:solidFill>
                  <a:srgbClr val="5B6372"/>
                </a:solidFill>
                <a:latin typeface="Arial"/>
              </a:rPr>
              <a:t>That the high-order terms in each sum are negligible - effect sparsity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Working out an alias: the arithmetic</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Generator</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D = AB, so I = ABD</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Multiply both sides by D; D squared = I, the identity column</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Alias of A</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A x I = A x ABD = BD</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So the A column also carries BD. You estimate A + BD</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Alias of AB</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AB x ABD = D</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The AB column IS the D column. They cannot be separated</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Rule: multiply any effect by the defining relation, and any letter squared drops out as I.</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CONFOUNDING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Confounding means two effects share one column. You cannot tell them apart.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design does not fail. It simply reports a sum. Knowing WHICH sum before you interpret the result is the whole discipline.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Resolution III, IV and V: what each one costs you</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Resolution III</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Shortest word has 3 letters</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MAIN effects aliased with 2-FACTOR interactions</a:t>
            </a:r>
          </a:p>
          <a:p>
            <a:pPr>
              <a:spcAft>
                <a:spcPts val="700"/>
              </a:spcAft>
            </a:pPr>
            <a:r>
              <a:rPr sz="1200">
                <a:solidFill>
                  <a:srgbClr val="161B26"/>
                </a:solidFill>
                <a:latin typeface="Arial"/>
              </a:rPr>
              <a:t>•  Cheapest design; 2^(7-4) screens 7 factors in 8 runs</a:t>
            </a:r>
          </a:p>
          <a:p>
            <a:pPr>
              <a:spcAft>
                <a:spcPts val="700"/>
              </a:spcAft>
            </a:pPr>
            <a:r>
              <a:rPr sz="1200">
                <a:solidFill>
                  <a:srgbClr val="161B26"/>
                </a:solidFill>
                <a:latin typeface="Arial"/>
              </a:rPr>
              <a:t>•  A big 'A' effect might really be a big BC interaction</a:t>
            </a:r>
          </a:p>
          <a:p>
            <a:pPr>
              <a:spcAft>
                <a:spcPts val="700"/>
              </a:spcAft>
            </a:pPr>
            <a:r>
              <a:rPr sz="1200">
                <a:solidFill>
                  <a:srgbClr val="161B26"/>
                </a:solidFill>
                <a:latin typeface="Arial"/>
              </a:rPr>
              <a:t>•  Use ONLY to screen many factors for the vital few</a:t>
            </a:r>
          </a:p>
          <a:p>
            <a:pPr>
              <a:spcAft>
                <a:spcPts val="700"/>
              </a:spcAft>
            </a:pPr>
            <a:r>
              <a:rPr sz="1200">
                <a:solidFill>
                  <a:srgbClr val="161B26"/>
                </a:solidFill>
                <a:latin typeface="Arial"/>
              </a:rPr>
              <a:t>•  Never use it to make a final settings decision</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Resolution IV</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Shortest word has 4 letters</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Main effects CLEAR of 2-factor interactions</a:t>
            </a:r>
          </a:p>
          <a:p>
            <a:pPr>
              <a:spcAft>
                <a:spcPts val="700"/>
              </a:spcAft>
            </a:pPr>
            <a:r>
              <a:rPr sz="1200">
                <a:solidFill>
                  <a:srgbClr val="161B26"/>
                </a:solidFill>
                <a:latin typeface="Arial"/>
              </a:rPr>
              <a:t>•  But 2-factor interactions are aliased WITH EACH OTHER</a:t>
            </a:r>
          </a:p>
          <a:p>
            <a:pPr>
              <a:spcAft>
                <a:spcPts val="700"/>
              </a:spcAft>
            </a:pPr>
            <a:r>
              <a:rPr sz="1200">
                <a:solidFill>
                  <a:srgbClr val="161B26"/>
                </a:solidFill>
                <a:latin typeface="Arial"/>
              </a:rPr>
              <a:t>•  2^(7-3) in 16 runs; the usual screening workhorse</a:t>
            </a:r>
          </a:p>
          <a:p>
            <a:pPr>
              <a:spcAft>
                <a:spcPts val="700"/>
              </a:spcAft>
            </a:pPr>
            <a:r>
              <a:rPr sz="1200">
                <a:solidFill>
                  <a:srgbClr val="161B26"/>
                </a:solidFill>
                <a:latin typeface="Arial"/>
              </a:rPr>
              <a:t>•  AB + CE is one column: you know an interaction is there</a:t>
            </a:r>
          </a:p>
          <a:p>
            <a:pPr>
              <a:spcAft>
                <a:spcPts val="700"/>
              </a:spcAft>
            </a:pPr>
            <a:r>
              <a:rPr sz="1200">
                <a:solidFill>
                  <a:srgbClr val="161B26"/>
                </a:solidFill>
                <a:latin typeface="Arial"/>
              </a:rPr>
              <a:t>•  You cannot yet say WHICH interaction it is</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Resolution V</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Shortest word has 5 letters</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Main effects AND 2-factor interactions all clear</a:t>
            </a:r>
          </a:p>
          <a:p>
            <a:pPr>
              <a:spcAft>
                <a:spcPts val="700"/>
              </a:spcAft>
            </a:pPr>
            <a:r>
              <a:rPr sz="1200">
                <a:solidFill>
                  <a:srgbClr val="161B26"/>
                </a:solidFill>
                <a:latin typeface="Arial"/>
              </a:rPr>
              <a:t>•  2FIs aliased only with 3-factor interactions</a:t>
            </a:r>
          </a:p>
          <a:p>
            <a:pPr>
              <a:spcAft>
                <a:spcPts val="700"/>
              </a:spcAft>
            </a:pPr>
            <a:r>
              <a:rPr sz="1200">
                <a:solidFill>
                  <a:srgbClr val="161B26"/>
                </a:solidFill>
                <a:latin typeface="Arial"/>
              </a:rPr>
              <a:t>•  2^(5-1) in 16 runs; the characterisation standard</a:t>
            </a:r>
          </a:p>
          <a:p>
            <a:pPr>
              <a:spcAft>
                <a:spcPts val="700"/>
              </a:spcAft>
            </a:pPr>
            <a:r>
              <a:rPr sz="1200">
                <a:solidFill>
                  <a:srgbClr val="161B26"/>
                </a:solidFill>
                <a:latin typeface="Arial"/>
              </a:rPr>
              <a:t>•  Safe to build a prediction model from</a:t>
            </a:r>
          </a:p>
          <a:p>
            <a:pPr>
              <a:spcAft>
                <a:spcPts val="700"/>
              </a:spcAft>
            </a:pPr>
            <a:r>
              <a:rPr sz="1200">
                <a:solidFill>
                  <a:srgbClr val="161B26"/>
                </a:solidFill>
                <a:latin typeface="Arial"/>
              </a:rPr>
              <a:t>•  Costs more runs - buy it when the decision matters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screening 7 factors on the Suzhou potting line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factors</a:t>
            </a:r>
          </a:p>
          <a:p>
            <a:pPr algn="l">
              <a:spcAft>
                <a:spcPts val="300"/>
              </a:spcAft>
            </a:pPr>
            <a:r>
              <a:rPr sz="1200" b="0">
                <a:solidFill>
                  <a:srgbClr val="5B6372"/>
                </a:solidFill>
                <a:latin typeface="Arial"/>
              </a:rPr>
              <a:t>A cure temp, B clamp, C dwell, D adhesive lot, E humidity, F fixture, G operator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design</a:t>
            </a:r>
          </a:p>
          <a:p>
            <a:pPr algn="l">
              <a:spcAft>
                <a:spcPts val="300"/>
              </a:spcAft>
            </a:pPr>
            <a:r>
              <a:rPr sz="1200" b="0">
                <a:solidFill>
                  <a:srgbClr val="5B6372"/>
                </a:solidFill>
                <a:latin typeface="Arial"/>
              </a:rPr>
              <a:t>2^(7-3) Resolution IV, 16 runs, randomised over 2 blocked days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result</a:t>
            </a:r>
          </a:p>
          <a:p>
            <a:pPr algn="l">
              <a:spcAft>
                <a:spcPts val="300"/>
              </a:spcAft>
            </a:pPr>
            <a:r>
              <a:rPr sz="1200" b="0">
                <a:solidFill>
                  <a:srgbClr val="5B6372"/>
                </a:solidFill>
                <a:latin typeface="Arial"/>
              </a:rPr>
              <a:t>A, C and F stand off the normal plot; B, D, E, G sit on the line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alias caution</a:t>
            </a:r>
          </a:p>
          <a:p>
            <a:pPr algn="l">
              <a:spcAft>
                <a:spcPts val="300"/>
              </a:spcAft>
            </a:pPr>
            <a:r>
              <a:rPr sz="1200" b="0">
                <a:solidFill>
                  <a:srgbClr val="5B6372"/>
                </a:solidFill>
                <a:latin typeface="Arial"/>
              </a:rPr>
              <a:t>The AC + FG column was significant - which one is it?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follow-up</a:t>
            </a:r>
          </a:p>
          <a:p>
            <a:pPr algn="l">
              <a:spcAft>
                <a:spcPts val="300"/>
              </a:spcAft>
            </a:pPr>
            <a:r>
              <a:rPr sz="1200" b="0">
                <a:solidFill>
                  <a:srgbClr val="5B6372"/>
                </a:solidFill>
                <a:latin typeface="Arial"/>
              </a:rPr>
              <a:t>Fold over to de-alias, or run a 2^3 full factorial on A, C, F</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outcome</a:t>
            </a:r>
          </a:p>
          <a:p>
            <a:pPr algn="l">
              <a:spcAft>
                <a:spcPts val="300"/>
              </a:spcAft>
            </a:pPr>
            <a:r>
              <a:rPr sz="1200" b="0">
                <a:solidFill>
                  <a:srgbClr val="5B6372"/>
                </a:solidFill>
                <a:latin typeface="Arial"/>
              </a:rPr>
              <a:t>7 factors reduced to 3 in 12 hours of line time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Fold-over: de-aliasing without starting again</a:t>
            </a:r>
          </a:p>
        </p:txBody>
      </p:sp>
      <p:sp>
        <p:nvSpPr>
          <p:cNvPr id="6" name="Rectangle 5"/>
          <p:cNvSpPr/>
          <p:nvPr/>
        </p:nvSpPr>
        <p:spPr>
          <a:xfrm>
            <a:off x="777240"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Run the original Res III fraction, 8 runs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Reverse ALL signs to build the mirror fraction, 8 more runs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Combine the two: 16 runs total</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The combined design is Resolution IV - main effects now clear</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Alternative: reverse ONE factor's signs to free that factor and its 2FIs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RESPONSE SURFACE METHODOLOGY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Two-level designs fit planes. Real optima sit on curves.</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2^k design has only two points per factor. Two points define a straight line. It is structurally incapable of seeing curvature.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Centre points: the cheapest curvature test there is</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What they are</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Runs at the midpoint of every factor</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Coded (0, 0, 0) - all factors at their mid-level</a:t>
            </a:r>
          </a:p>
          <a:p>
            <a:pPr>
              <a:spcAft>
                <a:spcPts val="700"/>
              </a:spcAft>
            </a:pPr>
            <a:r>
              <a:rPr sz="1200">
                <a:solidFill>
                  <a:srgbClr val="161B26"/>
                </a:solidFill>
                <a:latin typeface="Arial"/>
              </a:rPr>
              <a:t>•  Meridian: 63 C, 3.5 bar, 27.5 s</a:t>
            </a:r>
          </a:p>
          <a:p>
            <a:pPr>
              <a:spcAft>
                <a:spcPts val="700"/>
              </a:spcAft>
            </a:pPr>
            <a:r>
              <a:rPr sz="1200">
                <a:solidFill>
                  <a:srgbClr val="161B26"/>
                </a:solidFill>
                <a:latin typeface="Arial"/>
              </a:rPr>
              <a:t>•  Add 3 to 5 of them to any 2-level design</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What they test</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Factorial mean vs centre mean</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If no curvature, the centre runs land on the fitted plane</a:t>
            </a:r>
          </a:p>
          <a:p>
            <a:pPr>
              <a:spcAft>
                <a:spcPts val="700"/>
              </a:spcAft>
            </a:pPr>
            <a:r>
              <a:rPr sz="1200">
                <a:solidFill>
                  <a:srgbClr val="161B26"/>
                </a:solidFill>
                <a:latin typeface="Arial"/>
              </a:rPr>
              <a:t>•  If they sit well above or below, curvature is present</a:t>
            </a:r>
          </a:p>
          <a:p>
            <a:pPr>
              <a:spcAft>
                <a:spcPts val="700"/>
              </a:spcAft>
            </a:pPr>
            <a:r>
              <a:rPr sz="1200">
                <a:solidFill>
                  <a:srgbClr val="161B26"/>
                </a:solidFill>
                <a:latin typeface="Arial"/>
              </a:rPr>
              <a:t>•  A formal t-test on the difference gives a p-value</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Free bonus</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Pure error and drift detection</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Repeated centre points give pure error with no extra design</a:t>
            </a:r>
          </a:p>
          <a:p>
            <a:pPr>
              <a:spcAft>
                <a:spcPts val="700"/>
              </a:spcAft>
            </a:pPr>
            <a:r>
              <a:rPr sz="1200">
                <a:solidFill>
                  <a:srgbClr val="161B26"/>
                </a:solidFill>
                <a:latin typeface="Arial"/>
              </a:rPr>
              <a:t>•  Run some early and some late to detect process drift</a:t>
            </a:r>
          </a:p>
          <a:p>
            <a:pPr>
              <a:spcAft>
                <a:spcPts val="700"/>
              </a:spcAft>
            </a:pPr>
            <a:r>
              <a:rPr sz="1200">
                <a:solidFill>
                  <a:srgbClr val="161B26"/>
                </a:solidFill>
                <a:latin typeface="Arial"/>
              </a:rPr>
              <a:t>•  Costs 3-5 runs; tells you whether RSM is even needed</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curvature test at the potting station</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Factorial mean</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avg of the 8 corner runs</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178.1 N</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Centre mean</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avg of 5 centre-point runs</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196.3 N - well above the plane, not on it</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Curvature</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196.3 - 178.1 = +18.2 N, p = 0.003</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Significant curvature -&gt; the linear model is inadequate, go to RSM</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A positive curvature this large usually means the optimum lies INSIDE the region you tested.</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Steepest ascent: getting to the right neighbourhood first</a:t>
            </a:r>
          </a:p>
        </p:txBody>
      </p:sp>
      <p:sp>
        <p:nvSpPr>
          <p:cNvPr id="6" name="Rectangle 5"/>
          <p:cNvSpPr/>
          <p:nvPr/>
        </p:nvSpPr>
        <p:spPr>
          <a:xfrm>
            <a:off x="77724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78892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Fit the first-order model in the current region</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601468"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404872"/>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78892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The gradient points in the direction of steepest improvement</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4425696"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404872"/>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78892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Take steps along that path, proportional to each coefficient</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6249924"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404872"/>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78892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Run single trials along the path until Y stops improving</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8074152"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404872"/>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78892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Set up a new factorial with centre points at that best point</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6" name="Rectangle 35"/>
          <p:cNvSpPr/>
          <p:nvPr/>
        </p:nvSpPr>
        <p:spPr>
          <a:xfrm>
            <a:off x="989838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404872"/>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78892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Test for curvature there; if present, run the RSM design</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two standard response surface designs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Central Composite (CCD)</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Factorial + centre + axial</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Factorial core: the 2^k corner points</a:t>
            </a:r>
          </a:p>
          <a:p>
            <a:pPr>
              <a:spcAft>
                <a:spcPts val="700"/>
              </a:spcAft>
            </a:pPr>
            <a:r>
              <a:rPr sz="1200">
                <a:solidFill>
                  <a:srgbClr val="161B26"/>
                </a:solidFill>
                <a:latin typeface="Arial"/>
              </a:rPr>
              <a:t>•  Centre points: 3 to 6 replicated runs at (0,0)</a:t>
            </a:r>
          </a:p>
          <a:p>
            <a:pPr>
              <a:spcAft>
                <a:spcPts val="700"/>
              </a:spcAft>
            </a:pPr>
            <a:r>
              <a:rPr sz="1200">
                <a:solidFill>
                  <a:srgbClr val="161B26"/>
                </a:solidFill>
                <a:latin typeface="Arial"/>
              </a:rPr>
              <a:t>•  Axial or 'star' points at (+/-alpha, 0) and (0, +/-alpha)</a:t>
            </a:r>
          </a:p>
          <a:p>
            <a:pPr>
              <a:spcAft>
                <a:spcPts val="700"/>
              </a:spcAft>
            </a:pPr>
            <a:r>
              <a:rPr sz="1200">
                <a:solidFill>
                  <a:srgbClr val="161B26"/>
                </a:solidFill>
                <a:latin typeface="Arial"/>
              </a:rPr>
              <a:t>•  5 levels per factor; alpha = 1.682 for k=3 gives rotatability</a:t>
            </a:r>
          </a:p>
          <a:p>
            <a:pPr>
              <a:spcAft>
                <a:spcPts val="700"/>
              </a:spcAft>
            </a:pPr>
            <a:r>
              <a:rPr sz="1200">
                <a:solidFill>
                  <a:srgbClr val="161B26"/>
                </a:solidFill>
                <a:latin typeface="Arial"/>
              </a:rPr>
              <a:t>•  2^3 CCD = 8 + 6 + 6 = 20 runs</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Box-Behnken (BBD)</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Midpoints of the edges</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No corner points at all - only edge midpoints and centres</a:t>
            </a:r>
          </a:p>
          <a:p>
            <a:pPr>
              <a:spcAft>
                <a:spcPts val="700"/>
              </a:spcAft>
            </a:pPr>
            <a:r>
              <a:rPr sz="1200">
                <a:solidFill>
                  <a:srgbClr val="161B26"/>
                </a:solidFill>
                <a:latin typeface="Arial"/>
              </a:rPr>
              <a:t>•  Only 3 levels per factor, easier to set on real equipment</a:t>
            </a:r>
          </a:p>
          <a:p>
            <a:pPr>
              <a:spcAft>
                <a:spcPts val="700"/>
              </a:spcAft>
            </a:pPr>
            <a:r>
              <a:rPr sz="1200">
                <a:solidFill>
                  <a:srgbClr val="161B26"/>
                </a:solidFill>
                <a:latin typeface="Arial"/>
              </a:rPr>
              <a:t>•  Never runs all factors at their extremes simultaneously</a:t>
            </a:r>
          </a:p>
          <a:p>
            <a:pPr>
              <a:spcAft>
                <a:spcPts val="700"/>
              </a:spcAft>
            </a:pPr>
            <a:r>
              <a:rPr sz="1200">
                <a:solidFill>
                  <a:srgbClr val="161B26"/>
                </a:solidFill>
                <a:latin typeface="Arial"/>
              </a:rPr>
              <a:t>•  Use when a corner combination is unsafe or impossible</a:t>
            </a:r>
          </a:p>
          <a:p>
            <a:pPr>
              <a:spcAft>
                <a:spcPts val="700"/>
              </a:spcAft>
            </a:pPr>
            <a:r>
              <a:rPr sz="1200">
                <a:solidFill>
                  <a:srgbClr val="161B26"/>
                </a:solidFill>
                <a:latin typeface="Arial"/>
              </a:rPr>
              <a:t>•  3-factor BBD = 15 runs, slightly cheaper than the CCD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Meridian quadratic model</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Model form</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Y = b0 + b1A + b2B + b11A^2 + b22B^2 + b12AB</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Six terms for two factors; needs at least 6 distinct design points</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Fitted</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Y = 218.4 + 9.1A + 6.2B - 7.8A^2 - 4.1B^2 + 3.4AB</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R-squared 0.96; both quadratic terms strongly significant</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Stationary point</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Solve dY/dA = 0 and dY/dB = 0</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A = +0.71, B = +1.05 -&gt; 71.4 C and 4.4 bar, predicted 224.7 N</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Both quadratic coefficients are negative, so the surface is a dome and the stationary point is a MAXIMUM.</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Classifying the stationary point: three outcomes</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Maximum</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Both quadratic terms negative</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surface is a dome; contours are closed ellipses</a:t>
            </a:r>
          </a:p>
          <a:p>
            <a:pPr>
              <a:spcAft>
                <a:spcPts val="700"/>
              </a:spcAft>
            </a:pPr>
            <a:r>
              <a:rPr sz="1200">
                <a:solidFill>
                  <a:srgbClr val="161B26"/>
                </a:solidFill>
                <a:latin typeface="Arial"/>
              </a:rPr>
              <a:t>•  The stationary point is the optimum you want</a:t>
            </a:r>
          </a:p>
          <a:p>
            <a:pPr>
              <a:spcAft>
                <a:spcPts val="700"/>
              </a:spcAft>
            </a:pPr>
            <a:r>
              <a:rPr sz="1200">
                <a:solidFill>
                  <a:srgbClr val="161B26"/>
                </a:solidFill>
                <a:latin typeface="Arial"/>
              </a:rPr>
              <a:t>•  Meridian bond strength: -7.8 and -4.1, a clean maximum</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Minimum</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Both quadratic terms positive</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A bowl; contours are closed ellipses around the low point</a:t>
            </a:r>
          </a:p>
          <a:p>
            <a:pPr>
              <a:spcAft>
                <a:spcPts val="700"/>
              </a:spcAft>
            </a:pPr>
            <a:r>
              <a:rPr sz="1200">
                <a:solidFill>
                  <a:srgbClr val="161B26"/>
                </a:solidFill>
                <a:latin typeface="Arial"/>
              </a:rPr>
              <a:t>•  This is the optimum when smaller Y is better</a:t>
            </a:r>
          </a:p>
          <a:p>
            <a:pPr>
              <a:spcAft>
                <a:spcPts val="700"/>
              </a:spcAft>
            </a:pPr>
            <a:r>
              <a:rPr sz="1200">
                <a:solidFill>
                  <a:srgbClr val="161B26"/>
                </a:solidFill>
                <a:latin typeface="Arial"/>
              </a:rPr>
              <a:t>•  Leak rate and warranty returns behave this way</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SADDLE POINT</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Mixed signs</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A max in one direction and a min in the other</a:t>
            </a:r>
          </a:p>
          <a:p>
            <a:pPr>
              <a:spcAft>
                <a:spcPts val="700"/>
              </a:spcAft>
            </a:pPr>
            <a:r>
              <a:rPr sz="1200">
                <a:solidFill>
                  <a:srgbClr val="161B26"/>
                </a:solidFill>
                <a:latin typeface="Arial"/>
              </a:rPr>
              <a:t>•  Contours are hyperbolas, not closed ellipses</a:t>
            </a:r>
          </a:p>
          <a:p>
            <a:pPr>
              <a:spcAft>
                <a:spcPts val="700"/>
              </a:spcAft>
            </a:pPr>
            <a:r>
              <a:rPr sz="1200">
                <a:solidFill>
                  <a:srgbClr val="161B26"/>
                </a:solidFill>
                <a:latin typeface="Arial"/>
              </a:rPr>
              <a:t>•  The stationary point is NOT an optimum - do not set there</a:t>
            </a:r>
          </a:p>
          <a:p>
            <a:pPr>
              <a:spcAft>
                <a:spcPts val="700"/>
              </a:spcAft>
            </a:pPr>
            <a:r>
              <a:rPr sz="1200">
                <a:solidFill>
                  <a:srgbClr val="161B26"/>
                </a:solidFill>
                <a:latin typeface="Arial"/>
              </a:rPr>
              <a:t>•  Optimise along a ridge, at the edge of the safe region</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RSM - THE SADDLE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saddle point is the trap. It satisfies the maths and fails in production.</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gradient is zero, so the software reports a stationary point. But move a little in one direction and Y falls off a cliff.</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Optimising several responses at once: desirability</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The problem</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Responses conflict</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Bond strength wants 71 C and long dwell</a:t>
            </a:r>
          </a:p>
          <a:p>
            <a:pPr>
              <a:spcAft>
                <a:spcPts val="700"/>
              </a:spcAft>
            </a:pPr>
            <a:r>
              <a:rPr sz="1200">
                <a:solidFill>
                  <a:srgbClr val="161B26"/>
                </a:solidFill>
                <a:latin typeface="Arial"/>
              </a:rPr>
              <a:t>•  Cycle time wants short dwell</a:t>
            </a:r>
          </a:p>
          <a:p>
            <a:pPr>
              <a:spcAft>
                <a:spcPts val="700"/>
              </a:spcAft>
            </a:pPr>
            <a:r>
              <a:rPr sz="1200">
                <a:solidFill>
                  <a:srgbClr val="161B26"/>
                </a:solidFill>
                <a:latin typeface="Arial"/>
              </a:rPr>
              <a:t>•  Adhesive cost wants low clamp pressure</a:t>
            </a:r>
          </a:p>
          <a:p>
            <a:pPr>
              <a:spcAft>
                <a:spcPts val="700"/>
              </a:spcAft>
            </a:pPr>
            <a:r>
              <a:rPr sz="1200">
                <a:solidFill>
                  <a:srgbClr val="161B26"/>
                </a:solidFill>
                <a:latin typeface="Arial"/>
              </a:rPr>
              <a:t>•  No single setting is best for all three</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Desirability functions</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Convert each Y to 0-1</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d = 0 means completely unacceptable</a:t>
            </a:r>
          </a:p>
          <a:p>
            <a:pPr>
              <a:spcAft>
                <a:spcPts val="700"/>
              </a:spcAft>
            </a:pPr>
            <a:r>
              <a:rPr sz="1200">
                <a:solidFill>
                  <a:srgbClr val="161B26"/>
                </a:solidFill>
                <a:latin typeface="Arial"/>
              </a:rPr>
              <a:t>•  d = 1 means fully at target</a:t>
            </a:r>
          </a:p>
          <a:p>
            <a:pPr>
              <a:spcAft>
                <a:spcPts val="700"/>
              </a:spcAft>
            </a:pPr>
            <a:r>
              <a:rPr sz="1200">
                <a:solidFill>
                  <a:srgbClr val="161B26"/>
                </a:solidFill>
                <a:latin typeface="Arial"/>
              </a:rPr>
              <a:t>•  Larger-is-better, smaller-is-better, target-is-best shapes</a:t>
            </a:r>
          </a:p>
          <a:p>
            <a:pPr>
              <a:spcAft>
                <a:spcPts val="700"/>
              </a:spcAft>
            </a:pPr>
            <a:r>
              <a:rPr sz="1200">
                <a:solidFill>
                  <a:srgbClr val="161B26"/>
                </a:solidFill>
                <a:latin typeface="Arial"/>
              </a:rPr>
              <a:t>•  Weight each response by its business importance</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Overall D</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Geometric mean of the d values</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D = (d1 x d2 x ... x dn)^(1/n)</a:t>
            </a:r>
          </a:p>
          <a:p>
            <a:pPr>
              <a:spcAft>
                <a:spcPts val="700"/>
              </a:spcAft>
            </a:pPr>
            <a:r>
              <a:rPr sz="1200">
                <a:solidFill>
                  <a:srgbClr val="161B26"/>
                </a:solidFill>
                <a:latin typeface="Arial"/>
              </a:rPr>
              <a:t>•  Geometric, so any d = 0 forces D = 0</a:t>
            </a:r>
          </a:p>
          <a:p>
            <a:pPr>
              <a:spcAft>
                <a:spcPts val="700"/>
              </a:spcAft>
            </a:pPr>
            <a:r>
              <a:rPr sz="1200">
                <a:solidFill>
                  <a:srgbClr val="161B26"/>
                </a:solidFill>
                <a:latin typeface="Arial"/>
              </a:rPr>
              <a:t>•  One unacceptable response kills the whole setting - correctly</a:t>
            </a:r>
          </a:p>
          <a:p>
            <a:pPr>
              <a:spcAft>
                <a:spcPts val="700"/>
              </a:spcAft>
            </a:pPr>
            <a:r>
              <a:rPr sz="1200">
                <a:solidFill>
                  <a:srgbClr val="161B26"/>
                </a:solidFill>
                <a:latin typeface="Arial"/>
              </a:rPr>
              <a:t>•  Maximise D across the design space to get the compromise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ROBUST DESIGN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Do not fight the noise. Design so the noise stops mattering.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Taguchi's insight: you cannot control ambient humidity, but you can find the settings at which ambient humidity barely affects your output.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factors vs noise factors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Control factors</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You set them and they stay set</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Cure temperature setpoint, clamp pressure, dwell time</a:t>
            </a:r>
          </a:p>
          <a:p>
            <a:pPr>
              <a:spcAft>
                <a:spcPts val="700"/>
              </a:spcAft>
            </a:pPr>
            <a:r>
              <a:rPr sz="1200">
                <a:solidFill>
                  <a:srgbClr val="161B26"/>
                </a:solidFill>
                <a:latin typeface="Arial"/>
              </a:rPr>
              <a:t>•  Fixture design, adhesive grade, recipe parameters</a:t>
            </a:r>
          </a:p>
          <a:p>
            <a:pPr>
              <a:spcAft>
                <a:spcPts val="700"/>
              </a:spcAft>
            </a:pPr>
            <a:r>
              <a:rPr sz="1200">
                <a:solidFill>
                  <a:srgbClr val="161B26"/>
                </a:solidFill>
                <a:latin typeface="Arial"/>
              </a:rPr>
              <a:t>•  These are the dials you are allowed to turn</a:t>
            </a:r>
          </a:p>
          <a:p>
            <a:pPr>
              <a:spcAft>
                <a:spcPts val="700"/>
              </a:spcAft>
            </a:pPr>
            <a:r>
              <a:rPr sz="1200">
                <a:solidFill>
                  <a:srgbClr val="161B26"/>
                </a:solidFill>
                <a:latin typeface="Arial"/>
              </a:rPr>
              <a:t>•  Their levels go in the inner array</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Noise factors</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Real, influential, not controllable</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Ambient humidity, incoming adhesive viscosity variation</a:t>
            </a:r>
          </a:p>
          <a:p>
            <a:pPr>
              <a:spcAft>
                <a:spcPts val="700"/>
              </a:spcAft>
            </a:pPr>
            <a:r>
              <a:rPr sz="1200">
                <a:solidFill>
                  <a:srgbClr val="161B26"/>
                </a:solidFill>
                <a:latin typeface="Arial"/>
              </a:rPr>
              <a:t>•  Operator-to-operator differences, tool wear, line voltage</a:t>
            </a:r>
          </a:p>
          <a:p>
            <a:pPr>
              <a:spcAft>
                <a:spcPts val="700"/>
              </a:spcAft>
            </a:pPr>
            <a:r>
              <a:rPr sz="1200">
                <a:solidFill>
                  <a:srgbClr val="161B26"/>
                </a:solidFill>
                <a:latin typeface="Arial"/>
              </a:rPr>
              <a:t>•  Too expensive or impossible to control in production</a:t>
            </a:r>
          </a:p>
          <a:p>
            <a:pPr>
              <a:spcAft>
                <a:spcPts val="700"/>
              </a:spcAft>
            </a:pPr>
            <a:r>
              <a:rPr sz="1200">
                <a:solidFill>
                  <a:srgbClr val="161B26"/>
                </a:solidFill>
                <a:latin typeface="Arial"/>
              </a:rPr>
              <a:t>•  Deliberately VARIED in the outer array during the experiment</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THE TAGUCHI INSIGHT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lower mean with far less variation usually beats a higher mean that swings.</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Meridian setting A gives 224 N plus or minus 22. Setting B gives 214 N plus or minus 5. B never goes below spec. A does, one batch in twenty.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two settings, same spec, different risk</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Setting A</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mean 224 N, s = 11 N, LSL 180</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Z = (224-180)/11 = 4.0 -&gt; about 32 ppm below spec</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Setting B</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mean 214 N, s = 2.6 N, LSL 180</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Z = (214-180)/2.6 = 13.1 -&gt; effectively zero risk</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Choice</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Choose B</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10 N of mean given up to remove all the tail risk. Correct trade</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Six Sigma is about variation, not averages. The robust setting wins even with a lower mean.</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three signal-to-noise ratios</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Smaller-is-better</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Defects, leak rate, cycle time</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S/N = -10 log10( mean of y-squared )</a:t>
            </a:r>
          </a:p>
          <a:p>
            <a:pPr>
              <a:spcAft>
                <a:spcPts val="700"/>
              </a:spcAft>
            </a:pPr>
            <a:r>
              <a:rPr sz="1200">
                <a:solidFill>
                  <a:srgbClr val="161B26"/>
                </a:solidFill>
                <a:latin typeface="Arial"/>
              </a:rPr>
              <a:t>•  Ideal target is zero; no negative values possible</a:t>
            </a:r>
          </a:p>
          <a:p>
            <a:pPr>
              <a:spcAft>
                <a:spcPts val="700"/>
              </a:spcAft>
            </a:pPr>
            <a:r>
              <a:rPr sz="1200">
                <a:solidFill>
                  <a:srgbClr val="161B26"/>
                </a:solidFill>
                <a:latin typeface="Arial"/>
              </a:rPr>
              <a:t>•  Meridian leak rate and warranty returns use this</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Larger-is-better</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Bond strength, yield, life</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S/N = -10 log10( mean of 1/y-squared )</a:t>
            </a:r>
          </a:p>
          <a:p>
            <a:pPr>
              <a:spcAft>
                <a:spcPts val="700"/>
              </a:spcAft>
            </a:pPr>
            <a:r>
              <a:rPr sz="1200">
                <a:solidFill>
                  <a:srgbClr val="161B26"/>
                </a:solidFill>
                <a:latin typeface="Arial"/>
              </a:rPr>
              <a:t>•  No upper bound; more is always better</a:t>
            </a:r>
          </a:p>
          <a:p>
            <a:pPr>
              <a:spcAft>
                <a:spcPts val="700"/>
              </a:spcAft>
            </a:pPr>
            <a:r>
              <a:rPr sz="1200">
                <a:solidFill>
                  <a:srgbClr val="161B26"/>
                </a:solidFill>
                <a:latin typeface="Arial"/>
              </a:rPr>
              <a:t>•  Meridian bond pull strength uses this</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Nominal-is-best</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Dimensions, fill volume, flow rate</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S/N = 10 log10( mean-squared / variance )</a:t>
            </a:r>
          </a:p>
          <a:p>
            <a:pPr>
              <a:spcAft>
                <a:spcPts val="700"/>
              </a:spcAft>
            </a:pPr>
            <a:r>
              <a:rPr sz="1200">
                <a:solidFill>
                  <a:srgbClr val="161B26"/>
                </a:solidFill>
                <a:latin typeface="Arial"/>
              </a:rPr>
              <a:t>•  Two-step: maximise S/N, then adjust the mean to target</a:t>
            </a:r>
          </a:p>
          <a:p>
            <a:pPr>
              <a:spcAft>
                <a:spcPts val="700"/>
              </a:spcAft>
            </a:pPr>
            <a:r>
              <a:rPr sz="1200">
                <a:solidFill>
                  <a:srgbClr val="161B26"/>
                </a:solidFill>
                <a:latin typeface="Arial"/>
              </a:rPr>
              <a:t>•  Meridian pump flow rate calibration uses this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S/N ratio for the Meridian bond-strength study</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Setting A</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y = 241, 228, 219, 208</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S/N (larger-better) = 27.0 dB; mean 224, wide spread</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Setting B</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y = 217, 214, 212, 213</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S/N (larger-better) = 26.6 dB; mean 214, very tight</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Robustness</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Compare the SPREAD across noise</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A ranges 33 N across the noise conditions; B ranges 5 N</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S/N alone can mislead. Always inspect mean and variance separately as well as the ratio.</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robust operating window</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Definition</a:t>
            </a:r>
          </a:p>
          <a:p>
            <a:pPr algn="l">
              <a:spcAft>
                <a:spcPts val="300"/>
              </a:spcAft>
            </a:pPr>
            <a:r>
              <a:rPr sz="1200" b="0">
                <a:solidFill>
                  <a:srgbClr val="5B6372"/>
                </a:solidFill>
                <a:latin typeface="Arial"/>
              </a:rPr>
              <a:t>The range of settings over which Y stays acceptable despite noise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Where to find it</a:t>
            </a:r>
          </a:p>
          <a:p>
            <a:pPr algn="l">
              <a:spcAft>
                <a:spcPts val="300"/>
              </a:spcAft>
            </a:pPr>
            <a:r>
              <a:rPr sz="1200" b="0">
                <a:solidFill>
                  <a:srgbClr val="5B6372"/>
                </a:solidFill>
                <a:latin typeface="Arial"/>
              </a:rPr>
              <a:t>The flat plateau on the response surface, not the sharp peak</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Meridian's window</a:t>
            </a:r>
          </a:p>
          <a:p>
            <a:pPr algn="l">
              <a:spcAft>
                <a:spcPts val="300"/>
              </a:spcAft>
            </a:pPr>
            <a:r>
              <a:rPr sz="1200" b="0">
                <a:solidFill>
                  <a:srgbClr val="5B6372"/>
                </a:solidFill>
                <a:latin typeface="Arial"/>
              </a:rPr>
              <a:t>68 to 73 C at 4.1 to 4.6 bar keeps bond strength above 205 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Why it matters</a:t>
            </a:r>
          </a:p>
          <a:p>
            <a:pPr algn="l">
              <a:spcAft>
                <a:spcPts val="300"/>
              </a:spcAft>
            </a:pPr>
            <a:r>
              <a:rPr sz="1200" b="0">
                <a:solidFill>
                  <a:srgbClr val="5B6372"/>
                </a:solidFill>
                <a:latin typeface="Arial"/>
              </a:rPr>
              <a:t>Production drifts. Setpoints wander. Operators round numbers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What you hand over</a:t>
            </a:r>
          </a:p>
          <a:p>
            <a:pPr algn="l">
              <a:spcAft>
                <a:spcPts val="300"/>
              </a:spcAft>
            </a:pPr>
            <a:r>
              <a:rPr sz="1200" b="0">
                <a:solidFill>
                  <a:srgbClr val="5B6372"/>
                </a:solidFill>
                <a:latin typeface="Arial"/>
              </a:rPr>
              <a:t>A window in the control plan, not a single number nobody can hold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Black Belt test</a:t>
            </a:r>
          </a:p>
          <a:p>
            <a:pPr algn="l">
              <a:spcAft>
                <a:spcPts val="300"/>
              </a:spcAft>
            </a:pPr>
            <a:r>
              <a:rPr sz="1200" b="0">
                <a:solidFill>
                  <a:srgbClr val="5B6372"/>
                </a:solidFill>
                <a:latin typeface="Arial"/>
              </a:rPr>
              <a:t>Would this setting survive a wet Tuesday in Suzhou? If not, move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DOE STRATEGY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Screen, characterise, optimise, robustify, confirm.</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That sequence is the Black Belt's experimental strategy. Each stage answers a different question and buys the right amount of information.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complete experimental strategy</a:t>
            </a:r>
          </a:p>
        </p:txBody>
      </p:sp>
      <p:sp>
        <p:nvSpPr>
          <p:cNvPr id="6" name="Rectangle 5"/>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715768"/>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SCREEN: Res III or IV fractional over many factors</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715768"/>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CHARACTERISE: full or Res V factorial over the vital few</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715768"/>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TEST CURVATURE: add centre points; move by steepest ascent if needed</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715768"/>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OPTIMISE: CCD or Box-Behnken, fit the quadratic, find the stationary point</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715768"/>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ROBUSTIFY: cross with noise factors, choose the flat window</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6" name="Rectangle 35"/>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715768"/>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715768"/>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630168"/>
            <a:ext cx="1257300" cy="1472184"/>
          </a:xfrm>
          <a:prstGeom prst="rect">
            <a:avLst/>
          </a:prstGeom>
          <a:noFill/>
        </p:spPr>
        <p:txBody>
          <a:bodyPr wrap="square" anchor="t">
            <a:spAutoFit/>
          </a:bodyPr>
          <a:lstStyle/>
          <a:p>
            <a:pPr algn="ctr">
              <a:spcAft>
                <a:spcPts val="400"/>
              </a:spcAft>
            </a:pPr>
            <a:r>
              <a:rPr sz="1300" b="0">
                <a:solidFill>
                  <a:srgbClr val="161B26"/>
                </a:solidFill>
                <a:latin typeface="Arial"/>
              </a:rPr>
              <a:t>CONFIRM: independent runs at the chosen setting before any rollout</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DESIGN OF EXPERIMENTS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Runs invested at each stage of the Meridian programme</a:t>
            </a:r>
          </a:p>
        </p:txBody>
      </p:sp>
      <p:sp>
        <p:nvSpPr>
          <p:cNvPr id="6" name="Rectangle 5"/>
          <p:cNvSpPr/>
          <p:nvPr/>
        </p:nvSpPr>
        <p:spPr>
          <a:xfrm>
            <a:off x="914400" y="3870473"/>
            <a:ext cx="1905609" cy="166164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870473"/>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4089929"/>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Screen</a:t>
            </a:r>
          </a:p>
        </p:txBody>
      </p:sp>
      <p:sp>
        <p:nvSpPr>
          <p:cNvPr id="9" name="TextBox 8"/>
          <p:cNvSpPr txBox="1"/>
          <p:nvPr/>
        </p:nvSpPr>
        <p:spPr>
          <a:xfrm>
            <a:off x="1042416" y="4675145"/>
            <a:ext cx="1649577" cy="747247"/>
          </a:xfrm>
          <a:prstGeom prst="rect">
            <a:avLst/>
          </a:prstGeom>
          <a:noFill/>
        </p:spPr>
        <p:txBody>
          <a:bodyPr wrap="square" anchor="t">
            <a:spAutoFit/>
          </a:bodyPr>
          <a:lstStyle/>
          <a:p>
            <a:pPr algn="ctr">
              <a:spcAft>
                <a:spcPts val="400"/>
              </a:spcAft>
            </a:pPr>
            <a:r>
              <a:rPr sz="1100" b="0">
                <a:solidFill>
                  <a:srgbClr val="5B6372"/>
                </a:solidFill>
                <a:latin typeface="Arial"/>
              </a:rPr>
              <a:t>2^(7-3) Res IV, 16 runs. 7 factors down to 3</a:t>
            </a:r>
          </a:p>
        </p:txBody>
      </p:sp>
      <p:sp>
        <p:nvSpPr>
          <p:cNvPr id="10" name="Rectangle 9"/>
          <p:cNvSpPr/>
          <p:nvPr/>
        </p:nvSpPr>
        <p:spPr>
          <a:xfrm>
            <a:off x="3021177" y="3405775"/>
            <a:ext cx="1905609" cy="21263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021177" y="3405775"/>
            <a:ext cx="19056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130905" y="3625231"/>
            <a:ext cx="1686153" cy="548640"/>
          </a:xfrm>
          <a:prstGeom prst="rect">
            <a:avLst/>
          </a:prstGeom>
          <a:noFill/>
        </p:spPr>
        <p:txBody>
          <a:bodyPr wrap="square" anchor="t">
            <a:spAutoFit/>
          </a:bodyPr>
          <a:lstStyle/>
          <a:p>
            <a:pPr algn="ctr">
              <a:spcAft>
                <a:spcPts val="400"/>
              </a:spcAft>
            </a:pPr>
            <a:r>
              <a:rPr sz="1500" b="1">
                <a:solidFill>
                  <a:srgbClr val="10B981"/>
                </a:solidFill>
                <a:latin typeface="Arial"/>
              </a:rPr>
              <a:t>Characterise</a:t>
            </a:r>
          </a:p>
        </p:txBody>
      </p:sp>
      <p:sp>
        <p:nvSpPr>
          <p:cNvPr id="13" name="TextBox 12"/>
          <p:cNvSpPr txBox="1"/>
          <p:nvPr/>
        </p:nvSpPr>
        <p:spPr>
          <a:xfrm>
            <a:off x="3149193" y="4210447"/>
            <a:ext cx="1649577" cy="1211945"/>
          </a:xfrm>
          <a:prstGeom prst="rect">
            <a:avLst/>
          </a:prstGeom>
          <a:noFill/>
        </p:spPr>
        <p:txBody>
          <a:bodyPr wrap="square" anchor="t">
            <a:spAutoFit/>
          </a:bodyPr>
          <a:lstStyle/>
          <a:p>
            <a:pPr algn="ctr">
              <a:spcAft>
                <a:spcPts val="400"/>
              </a:spcAft>
            </a:pPr>
            <a:r>
              <a:rPr sz="1100" b="0">
                <a:solidFill>
                  <a:srgbClr val="5B6372"/>
                </a:solidFill>
                <a:latin typeface="Arial"/>
              </a:rPr>
              <a:t>2^3 full factorial + 3 centre points, 11 runs. Found the AB interaction</a:t>
            </a:r>
          </a:p>
        </p:txBody>
      </p:sp>
      <p:sp>
        <p:nvSpPr>
          <p:cNvPr id="14" name="Rectangle 13"/>
          <p:cNvSpPr/>
          <p:nvPr/>
        </p:nvSpPr>
        <p:spPr>
          <a:xfrm>
            <a:off x="5127954" y="2941077"/>
            <a:ext cx="1905609" cy="25910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127954" y="2941077"/>
            <a:ext cx="1905609"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237682" y="3160533"/>
            <a:ext cx="1686153" cy="548640"/>
          </a:xfrm>
          <a:prstGeom prst="rect">
            <a:avLst/>
          </a:prstGeom>
          <a:noFill/>
        </p:spPr>
        <p:txBody>
          <a:bodyPr wrap="square" anchor="t">
            <a:spAutoFit/>
          </a:bodyPr>
          <a:lstStyle/>
          <a:p>
            <a:pPr algn="ctr">
              <a:spcAft>
                <a:spcPts val="400"/>
              </a:spcAft>
            </a:pPr>
            <a:r>
              <a:rPr sz="1500" b="1">
                <a:solidFill>
                  <a:srgbClr val="7C3AED"/>
                </a:solidFill>
                <a:latin typeface="Arial"/>
              </a:rPr>
              <a:t>Optimise</a:t>
            </a:r>
          </a:p>
        </p:txBody>
      </p:sp>
      <p:sp>
        <p:nvSpPr>
          <p:cNvPr id="17" name="TextBox 16"/>
          <p:cNvSpPr txBox="1"/>
          <p:nvPr/>
        </p:nvSpPr>
        <p:spPr>
          <a:xfrm>
            <a:off x="5255970" y="3745749"/>
            <a:ext cx="1649577" cy="1676643"/>
          </a:xfrm>
          <a:prstGeom prst="rect">
            <a:avLst/>
          </a:prstGeom>
          <a:noFill/>
        </p:spPr>
        <p:txBody>
          <a:bodyPr wrap="square" anchor="t">
            <a:spAutoFit/>
          </a:bodyPr>
          <a:lstStyle/>
          <a:p>
            <a:pPr algn="ctr">
              <a:spcAft>
                <a:spcPts val="400"/>
              </a:spcAft>
            </a:pPr>
            <a:r>
              <a:rPr sz="1100" b="0">
                <a:solidFill>
                  <a:srgbClr val="5B6372"/>
                </a:solidFill>
                <a:latin typeface="Arial"/>
              </a:rPr>
              <a:t>Central composite, 20 runs. Located the 71.4 C / 4.4 bar maximum</a:t>
            </a:r>
          </a:p>
        </p:txBody>
      </p:sp>
      <p:sp>
        <p:nvSpPr>
          <p:cNvPr id="18" name="Rectangle 17"/>
          <p:cNvSpPr/>
          <p:nvPr/>
        </p:nvSpPr>
        <p:spPr>
          <a:xfrm>
            <a:off x="7234731" y="2476379"/>
            <a:ext cx="1905609" cy="30557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234731" y="2476379"/>
            <a:ext cx="1905609"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44459" y="2695835"/>
            <a:ext cx="1686153" cy="548640"/>
          </a:xfrm>
          <a:prstGeom prst="rect">
            <a:avLst/>
          </a:prstGeom>
          <a:noFill/>
        </p:spPr>
        <p:txBody>
          <a:bodyPr wrap="square" anchor="t">
            <a:spAutoFit/>
          </a:bodyPr>
          <a:lstStyle/>
          <a:p>
            <a:pPr algn="ctr">
              <a:spcAft>
                <a:spcPts val="400"/>
              </a:spcAft>
            </a:pPr>
            <a:r>
              <a:rPr sz="1500" b="1">
                <a:solidFill>
                  <a:srgbClr val="F59E0B"/>
                </a:solidFill>
                <a:latin typeface="Arial"/>
              </a:rPr>
              <a:t>Robustify</a:t>
            </a:r>
          </a:p>
        </p:txBody>
      </p:sp>
      <p:sp>
        <p:nvSpPr>
          <p:cNvPr id="21" name="TextBox 20"/>
          <p:cNvSpPr txBox="1"/>
          <p:nvPr/>
        </p:nvSpPr>
        <p:spPr>
          <a:xfrm>
            <a:off x="7362747" y="3281051"/>
            <a:ext cx="1649577" cy="2141341"/>
          </a:xfrm>
          <a:prstGeom prst="rect">
            <a:avLst/>
          </a:prstGeom>
          <a:noFill/>
        </p:spPr>
        <p:txBody>
          <a:bodyPr wrap="square" anchor="t">
            <a:spAutoFit/>
          </a:bodyPr>
          <a:lstStyle/>
          <a:p>
            <a:pPr algn="ctr">
              <a:spcAft>
                <a:spcPts val="400"/>
              </a:spcAft>
            </a:pPr>
            <a:r>
              <a:rPr sz="1100" b="0">
                <a:solidFill>
                  <a:srgbClr val="5B6372"/>
                </a:solidFill>
                <a:latin typeface="Arial"/>
              </a:rPr>
              <a:t>8 x 4 crossed array, 32 runs. Moved to the flat window at 70 C</a:t>
            </a:r>
          </a:p>
        </p:txBody>
      </p:sp>
      <p:sp>
        <p:nvSpPr>
          <p:cNvPr id="22" name="Rectangle 21"/>
          <p:cNvSpPr/>
          <p:nvPr/>
        </p:nvSpPr>
        <p:spPr>
          <a:xfrm>
            <a:off x="9341508" y="2011680"/>
            <a:ext cx="1905609"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9341508" y="2011680"/>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451236" y="2231136"/>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Confirm</a:t>
            </a:r>
          </a:p>
        </p:txBody>
      </p:sp>
      <p:sp>
        <p:nvSpPr>
          <p:cNvPr id="25" name="TextBox 24"/>
          <p:cNvSpPr txBox="1"/>
          <p:nvPr/>
        </p:nvSpPr>
        <p:spPr>
          <a:xfrm>
            <a:off x="9469524" y="2816352"/>
            <a:ext cx="1649577" cy="2606040"/>
          </a:xfrm>
          <a:prstGeom prst="rect">
            <a:avLst/>
          </a:prstGeom>
          <a:noFill/>
        </p:spPr>
        <p:txBody>
          <a:bodyPr wrap="square" anchor="t">
            <a:spAutoFit/>
          </a:bodyPr>
          <a:lstStyle/>
          <a:p>
            <a:pPr algn="ctr">
              <a:spcAft>
                <a:spcPts val="400"/>
              </a:spcAft>
            </a:pPr>
            <a:r>
              <a:rPr sz="1100" b="0">
                <a:solidFill>
                  <a:srgbClr val="5B6372"/>
                </a:solidFill>
                <a:latin typeface="Arial"/>
              </a:rPr>
              <a:t>10 runs at the chosen setting. Model held; pilot approved</a:t>
            </a:r>
          </a:p>
        </p:txBody>
      </p:sp>
      <p:cxnSp>
        <p:nvCxnSpPr>
          <p:cNvPr id="26" name="Connector 25"/>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89 runs total across five stages. A single 2^7 full factorial would have been 128 runs and answered less.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Improve phase: the result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First-pass yield</a:t>
            </a:r>
          </a:p>
          <a:p>
            <a:pPr algn="l">
              <a:spcAft>
                <a:spcPts val="300"/>
              </a:spcAft>
            </a:pPr>
            <a:r>
              <a:rPr sz="1200" b="0">
                <a:solidFill>
                  <a:srgbClr val="5B6372"/>
                </a:solidFill>
                <a:latin typeface="Arial"/>
              </a:rPr>
              <a:t>Penang Line 3 moved from 91.2 to 96.8 percent over the 4-week pilot</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Bond strength margin</a:t>
            </a:r>
          </a:p>
          <a:p>
            <a:pPr algn="l">
              <a:spcAft>
                <a:spcPts val="300"/>
              </a:spcAft>
            </a:pPr>
            <a:r>
              <a:rPr sz="1200" b="0">
                <a:solidFill>
                  <a:srgbClr val="5B6372"/>
                </a:solidFill>
                <a:latin typeface="Arial"/>
              </a:rPr>
              <a:t>From 12 N below the 180 N spec floor to 29 N above it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Warranty returns</a:t>
            </a:r>
          </a:p>
          <a:p>
            <a:pPr algn="l">
              <a:spcAft>
                <a:spcPts val="300"/>
              </a:spcAft>
            </a:pPr>
            <a:r>
              <a:rPr sz="1200" b="0">
                <a:solidFill>
                  <a:srgbClr val="5B6372"/>
                </a:solidFill>
                <a:latin typeface="Arial"/>
              </a:rPr>
              <a:t>Projected reduction of 61 percent on the M400 pump family</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FMEA</a:t>
            </a:r>
          </a:p>
          <a:p>
            <a:pPr algn="l">
              <a:spcAft>
                <a:spcPts val="300"/>
              </a:spcAft>
            </a:pPr>
            <a:r>
              <a:rPr sz="1200" b="0">
                <a:solidFill>
                  <a:srgbClr val="5B6372"/>
                </a:solidFill>
                <a:latin typeface="Arial"/>
              </a:rPr>
              <a:t>Highest RPN fell from 378 to 36 after the recipe lock and interlock</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Financial</a:t>
            </a:r>
          </a:p>
          <a:p>
            <a:pPr algn="l">
              <a:spcAft>
                <a:spcPts val="300"/>
              </a:spcAft>
            </a:pPr>
            <a:r>
              <a:rPr sz="1200" b="0">
                <a:solidFill>
                  <a:srgbClr val="5B6372"/>
                </a:solidFill>
                <a:latin typeface="Arial"/>
              </a:rPr>
              <a:t>SGD 610k annual benefit, 5.6 month payback, NPV SGD 1.29m</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Transferability</a:t>
            </a:r>
          </a:p>
          <a:p>
            <a:pPr algn="l">
              <a:spcAft>
                <a:spcPts val="300"/>
              </a:spcAft>
            </a:pPr>
            <a:r>
              <a:rPr sz="1200" b="0">
                <a:solidFill>
                  <a:srgbClr val="5B6372"/>
                </a:solidFill>
                <a:latin typeface="Arial"/>
              </a:rPr>
              <a:t>The robust window transferred to Suzhou with no re-optimisation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NEXT: CONTROL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You have found the optimum. Now the hard part: making it stay.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Every improvement decays without a control system. Control is where the savings become permanent, or quietly evaporate.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Improve</a:t>
            </a:r>
          </a:p>
        </p:txBody>
      </p:sp>
      <p:sp>
        <p:nvSpPr>
          <p:cNvPr id="6" name="Rectangle 5"/>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859889"/>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85988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Lab 22 — Solution Generation, Selection and Lean Countermeasures — In Depth</a:t>
            </a:r>
          </a:p>
          <a:p>
            <a:pPr algn="l">
              <a:spcAft>
                <a:spcPts val="300"/>
              </a:spcAft>
            </a:pPr>
            <a:r>
              <a:rPr sz="1100" b="0">
                <a:solidFill>
                  <a:srgbClr val="5B6372"/>
                </a:solidFill>
                <a:latin typeface="Arial"/>
              </a:rPr>
              <a:t>A scored solution selection matrix mapping each solution to a proven root cause.  •  Data: lab-22-solution-selection.xlsx</a:t>
            </a:r>
          </a:p>
        </p:txBody>
      </p:sp>
      <p:sp>
        <p:nvSpPr>
          <p:cNvPr id="11" name="Rectangle 10"/>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7816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7816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814523"/>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Lab 23 — Full Factorial Design of Experiments (Black Belt Only)</a:t>
            </a:r>
          </a:p>
          <a:p>
            <a:pPr algn="l">
              <a:spcAft>
                <a:spcPts val="300"/>
              </a:spcAft>
            </a:pPr>
            <a:r>
              <a:rPr sz="1100" b="0">
                <a:solidFill>
                  <a:srgbClr val="5B6372"/>
                </a:solidFill>
                <a:latin typeface="Arial"/>
              </a:rPr>
              <a:t>A designed 2^k full factorial experiment with main effects and interaction analysis.  •  Data: lab-23-full-factorial-doe.xlsx</a:t>
            </a:r>
          </a:p>
        </p:txBody>
      </p:sp>
      <p:sp>
        <p:nvSpPr>
          <p:cNvPr id="16" name="Rectangle 15"/>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19"/>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1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736238"/>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Lab 24 — Fractional Factorial Designs, Confounding and Resolution (Black Belt Only)</a:t>
            </a:r>
          </a:p>
          <a:p>
            <a:pPr algn="l">
              <a:spcAft>
                <a:spcPts val="300"/>
              </a:spcAft>
            </a:pPr>
            <a:r>
              <a:rPr sz="1100" b="0">
                <a:solidFill>
                  <a:srgbClr val="5B6372"/>
                </a:solidFill>
                <a:latin typeface="Arial"/>
              </a:rPr>
              <a:t>A fractional factorial screening design with a documented confounding structure.  •  Data: lab-24-fractional-factorial-doe.xlsx</a:t>
            </a:r>
          </a:p>
        </p:txBody>
      </p:sp>
      <p:sp>
        <p:nvSpPr>
          <p:cNvPr id="21" name="Rectangle 20"/>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462503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462503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4657953"/>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Lab 25 — Response Surface Methodology and Robust Design (Black Belt Only)</a:t>
            </a:r>
          </a:p>
          <a:p>
            <a:pPr algn="l">
              <a:spcAft>
                <a:spcPts val="300"/>
              </a:spcAft>
            </a:pPr>
            <a:r>
              <a:rPr sz="1100" b="0">
                <a:solidFill>
                  <a:srgbClr val="5B6372"/>
                </a:solidFill>
                <a:latin typeface="Arial"/>
              </a:rPr>
              <a:t>An RSM study locating optimal settings plus a robust design analysis against noise…  •  Data: lab-25-rsm-central-composite.xlsx</a:t>
            </a:r>
          </a:p>
        </p:txBody>
      </p:sp>
      <p:sp>
        <p:nvSpPr>
          <p:cNvPr id="26" name="Rectangle 25"/>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546749"/>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54674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5579668"/>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Lab 26 — FMEA, Pilot Design and Implementation Planning — In Depth</a:t>
            </a:r>
          </a:p>
          <a:p>
            <a:pPr algn="l">
              <a:spcAft>
                <a:spcPts val="300"/>
              </a:spcAft>
            </a:pPr>
            <a:r>
              <a:rPr sz="1100" b="0">
                <a:solidFill>
                  <a:srgbClr val="5B6372"/>
                </a:solidFill>
                <a:latin typeface="Arial"/>
              </a:rPr>
              <a:t>A completed FMEA with re-scored RPNs and a full pilot plan with success criteria.  •  Data: lab-26-fmea-worksheet.xlsx</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IMPROVE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Solution Generation, Selection and Lean Countermeasures — In Depth</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22</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Re-derive solution generation and the full Lean countermeasure toolkit, then select rigorously with a weighted matrix. Every solution must attack a PROVEN root cause from Lab 21 — solutions that address unproven causes are how projects quietly fail.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scored solution selection matrix mapping each solution to a proven root cause.</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Brainstorming, brainwriting, SCAMPER, benchmarking, 5S, poka-yoke, pull/JIT, Heijunka, Jidoka, standard work, selection matrix</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22 · Solution Generation, Selection and…</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Solution Generation, Selection and Lean Countermeasures — In Depth</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1-6 OF 12</a:t>
            </a:r>
          </a:p>
        </p:txBody>
      </p:sp>
      <p:sp>
        <p:nvSpPr>
          <p:cNvPr id="7" name="Rectangle 6"/>
          <p:cNvSpPr/>
          <p:nvPr/>
        </p:nvSpPr>
        <p:spPr>
          <a:xfrm>
            <a:off x="777240" y="2121408"/>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16331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6331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Take your ranked proven root causes from Lab 21. Every solution generated in this lab must trace to one of them.</a:t>
            </a:r>
          </a:p>
        </p:txBody>
      </p:sp>
      <p:sp>
        <p:nvSpPr>
          <p:cNvPr id="12" name="Rectangle 11"/>
          <p:cNvSpPr/>
          <p:nvPr/>
        </p:nvSpPr>
        <p:spPr>
          <a:xfrm>
            <a:off x="777240" y="2808731"/>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08731"/>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28506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285064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2863595"/>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Recap divergent generation techniques in full: brainstorming, brainwriting (6-3-5), SCAMPER, anti-solution thinking and analogy from other industries.</a:t>
            </a:r>
          </a:p>
        </p:txBody>
      </p:sp>
      <p:sp>
        <p:nvSpPr>
          <p:cNvPr id="17" name="Rectangle 16"/>
          <p:cNvSpPr/>
          <p:nvPr/>
        </p:nvSpPr>
        <p:spPr>
          <a:xfrm>
            <a:off x="777240" y="3496054"/>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496054"/>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53796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53796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550918"/>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Recap benchmarking and its four steps — plan, collect, analyse, adapt. Look outside your industry, where the best analogous processes usually are.</a:t>
            </a:r>
          </a:p>
        </p:txBody>
      </p:sp>
      <p:sp>
        <p:nvSpPr>
          <p:cNvPr id="22" name="Rectangle 21"/>
          <p:cNvSpPr/>
          <p:nvPr/>
        </p:nvSpPr>
        <p:spPr>
          <a:xfrm>
            <a:off x="777240" y="4183377"/>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183377"/>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2252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2252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238241"/>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Generate at least three candidate solutions for each proven root cause. One solution per cause means you have not really explored the space.</a:t>
            </a:r>
          </a:p>
        </p:txBody>
      </p:sp>
      <p:sp>
        <p:nvSpPr>
          <p:cNvPr id="27" name="Rectangle 26"/>
          <p:cNvSpPr/>
          <p:nvPr/>
        </p:nvSpPr>
        <p:spPr>
          <a:xfrm>
            <a:off x="777240" y="4870700"/>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4870700"/>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491260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491260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4925564"/>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Recap the Lean countermeasure toolkit in full: 5S, poka-yoke, pull systems, JIT, Heijunka (levelling), Jidoka (autonomation) and standard work.</a:t>
            </a:r>
          </a:p>
        </p:txBody>
      </p:sp>
      <p:sp>
        <p:nvSpPr>
          <p:cNvPr id="32" name="Rectangle 31"/>
          <p:cNvSpPr/>
          <p:nvPr/>
        </p:nvSpPr>
        <p:spPr>
          <a:xfrm>
            <a:off x="777240" y="5558023"/>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77240" y="5558023"/>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024128" y="559993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24128" y="559993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36" name="TextBox 35"/>
          <p:cNvSpPr txBox="1"/>
          <p:nvPr/>
        </p:nvSpPr>
        <p:spPr>
          <a:xfrm>
            <a:off x="1700784" y="5612887"/>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Recap poka-yoke levels specifically: prevention (error impossible), detection (error caught immediately) and warning (error flagged). Always prefer prevention.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22 · Solution Generation, Selection and…</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Solution Generation, Selection and Lean Countermeasures — In Depth</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7-12 OF 12</a:t>
            </a:r>
          </a:p>
        </p:txBody>
      </p:sp>
      <p:sp>
        <p:nvSpPr>
          <p:cNvPr id="7" name="Rectangle 6"/>
          <p:cNvSpPr/>
          <p:nvPr/>
        </p:nvSpPr>
        <p:spPr>
          <a:xfrm>
            <a:off x="777240" y="2121408"/>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16331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6331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1" name="TextBox 10"/>
          <p:cNvSpPr txBox="1"/>
          <p:nvPr/>
        </p:nvSpPr>
        <p:spPr>
          <a:xfrm>
            <a:off x="1700784" y="2176272"/>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Map each Lean tool to the root causes in your capstone it could plausibly address, and generate at least two poka-yoke ideas.</a:t>
            </a:r>
          </a:p>
        </p:txBody>
      </p:sp>
      <p:sp>
        <p:nvSpPr>
          <p:cNvPr id="12" name="Rectangle 11"/>
          <p:cNvSpPr/>
          <p:nvPr/>
        </p:nvSpPr>
        <p:spPr>
          <a:xfrm>
            <a:off x="777240" y="2808731"/>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08731"/>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28506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285064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16" name="TextBox 15"/>
          <p:cNvSpPr txBox="1"/>
          <p:nvPr/>
        </p:nvSpPr>
        <p:spPr>
          <a:xfrm>
            <a:off x="1700784" y="2863595"/>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Build the weighted solution selection matrix. Criteria typically: impact on Y, implementation cost, time to benefit, technical risk, ease of adoption and sustainability.</a:t>
            </a:r>
          </a:p>
        </p:txBody>
      </p:sp>
      <p:sp>
        <p:nvSpPr>
          <p:cNvPr id="17" name="Rectangle 16"/>
          <p:cNvSpPr/>
          <p:nvPr/>
        </p:nvSpPr>
        <p:spPr>
          <a:xfrm>
            <a:off x="777240" y="3496054"/>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496054"/>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53796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53796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1" name="TextBox 20"/>
          <p:cNvSpPr txBox="1"/>
          <p:nvPr/>
        </p:nvSpPr>
        <p:spPr>
          <a:xfrm>
            <a:off x="1700784" y="3550918"/>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Weight the criteria with your sponsor, not alone — the weighting reflects business priorities that are theirs to set.</a:t>
            </a:r>
          </a:p>
        </p:txBody>
      </p:sp>
      <p:sp>
        <p:nvSpPr>
          <p:cNvPr id="22" name="Rectangle 21"/>
          <p:cNvSpPr/>
          <p:nvPr/>
        </p:nvSpPr>
        <p:spPr>
          <a:xfrm>
            <a:off x="777240" y="4183377"/>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183377"/>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2252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2252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26" name="TextBox 25"/>
          <p:cNvSpPr txBox="1"/>
          <p:nvPr/>
        </p:nvSpPr>
        <p:spPr>
          <a:xfrm>
            <a:off x="1700784" y="4238241"/>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Score every candidate solution and compute weighted totals.</a:t>
            </a:r>
          </a:p>
        </p:txBody>
      </p:sp>
      <p:sp>
        <p:nvSpPr>
          <p:cNvPr id="27" name="Rectangle 26"/>
          <p:cNvSpPr/>
          <p:nvPr/>
        </p:nvSpPr>
        <p:spPr>
          <a:xfrm>
            <a:off x="777240" y="4870700"/>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4870700"/>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491260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491260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31" name="TextBox 30"/>
          <p:cNvSpPr txBox="1"/>
          <p:nvPr/>
        </p:nvSpPr>
        <p:spPr>
          <a:xfrm>
            <a:off x="1700784" y="4925564"/>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Sanity-check the top-ranked solutions: do they collectively address the causes explaining most of the Y gap? If not, revisit generation.</a:t>
            </a:r>
          </a:p>
        </p:txBody>
      </p:sp>
      <p:sp>
        <p:nvSpPr>
          <p:cNvPr id="32" name="Rectangle 31"/>
          <p:cNvSpPr/>
          <p:nvPr/>
        </p:nvSpPr>
        <p:spPr>
          <a:xfrm>
            <a:off x="777240" y="5558023"/>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77240" y="5558023"/>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024128" y="559993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24128" y="559993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12</a:t>
            </a:r>
          </a:p>
        </p:txBody>
      </p:sp>
      <p:sp>
        <p:nvSpPr>
          <p:cNvPr id="36" name="TextBox 35"/>
          <p:cNvSpPr txBox="1"/>
          <p:nvPr/>
        </p:nvSpPr>
        <p:spPr>
          <a:xfrm>
            <a:off x="1700784" y="5612887"/>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Identify which solutions have controllable factors suitable for DOE optimisation in Labs 23-25.</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22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Solution Generation, Selection and Lean Countermeasures — In Depth</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solution traces to a proven root cause, criteria weights are agreed with the sponsor, and your selected set collectively addresses the majority of the quantified Y gap.</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IMPROVE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Full Factorial Design of Experiments (Black Belt Only)</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23</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BLACK BELT ONLY — the Green Belt course mentions DOE in passing; the Black Belt owns it. One-factor-at-a-time experimentation is slower, less informative and structurally incapable of detecting interactions. Full factorial designs estimate every main effect AND every interaction.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designed 2^k full factorial experiment with main effects and interaction analysis.</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OFAT vs DOE, 2^k factorial, factors &amp; levels, randomisation, replication, blocking, main effects, interaction plots, effect significance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23 · Full Factorial Design of Experiments…</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Full Factorial Design of Experiments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15</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Understand why OFAT fails: it cannot detect interactions at all, and it requires more runs for less information than a factorial design.</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the DOE vocabulary in full: factor, level, response, run, effect, interaction, replication, randomisation, blocking and experimental error.</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Select 3 factors from your capstone that you can actually control and vary — temperature, speed, pressure, batch size, staffing level or method variant.</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Set two levels for each factor — low (-1) and high (+1). Set them wide enough to produce a detectable effect but within safe operating limits.</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Build the 2^3 design matrix: 8 runs covering every combination of the three factors, in standard order.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23 · Full Factorial Design of Experiments…</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Full Factorial Design of Experiments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6-10 OF 15</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Decide replication. Replicates give an estimate of pure experimental error and let you test effect significance — 2 replicates gives 16 runs.</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RANDOMISE the run order. Randomisation protects against unknown time-varying nuisance factors and is not optional.</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Use blocking if runs must span shifts, days or material lots — block on the nuisance factor so it does not contaminate the effects.</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Execute the experiment, holding all non-experimental factors constant and recording anything unexpected during each run.</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Calculate main effects: the average response at the high level minus the average at the low level, for each factor.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23 · Full Factorial Design of Experiments…</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Full Factorial Design of Experiments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11-15 OF 15</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Calculate interaction effects for AB, AC, BC and the three-way ABC.</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Plot main effects (steeper slope means larger effect) and interaction plots (non-parallel lines mean interaction present).</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Test effect significance using a Pareto of effects or a normal probability plot of effects — points off the line are real effects.</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Build the prediction equation from the significant effects and identify the factor settings that optimise your Y.</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Run confirmation trials at the predicted optimum. If the confirmation fails, the model is missing something — do not roll out.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23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Full Factorial Design of Experiments (Black Belt Only)</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design is fully randomised with replication, you have computed and plotted both main effects and interactions, effect significance is assessed statistically, and confirmation runs validate the predicted optimum.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IMPROVE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Fractional Factorial Designs, Confounding and Resolution (Black Belt Only)</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24</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BLACK BELT ONLY. A full factorial on 7 factors needs 128 runs — usually unaffordable. Fractional factorials screen many factors in a fraction of the runs by deliberately trading away the ability to separate certain effects. The critical skill is knowing exactly WHAT you traded away, which is what resolution tells you.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fractional factorial screening design with a documented confounding structure.</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2^(k-p) designs, generators, defining relation, alias structure, confounding, Resolution III/IV/V, screening, fold-over designs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24 · Fractional Factorial Designs…</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Fractional Factorial Designs, Confounding and Resolution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13</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Understand the economics: 2^7 full factorial = 128 runs; a 2^(7-4) fractional = 16 runs. The saving is real but it is paid for in resolving power.</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Understand confounding (aliasing): in a fractional design, some effects are mathematically indistinguishable from others.</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Learn the generator and defining relation — the algebra that determines exactly which effects are aliased with which.</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Learn the resolution scale precisely. RESOLUTION III: main effects aliased with two-factor interactions. RESOLUTION IV: main effects clear of two-factor interactions, but two-factor interactions aliased with each other. RESOLUTION V: main effects and two-factor interactions all clear.</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Understand the selection rule: use Resolution III only for early screening of many factors; use IV or V when you intend to interpret interactions.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24 · Fractional Factorial Designs…</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Fractional Factorial Designs, Confounding and Resolution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6-9 OF 13</a:t>
            </a:r>
          </a:p>
        </p:txBody>
      </p:sp>
      <p:sp>
        <p:nvSpPr>
          <p:cNvPr id="7" name="Rectangle 6"/>
          <p:cNvSpPr/>
          <p:nvPr/>
        </p:nvSpPr>
        <p:spPr>
          <a:xfrm>
            <a:off x="777240" y="212140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3351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3351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Select 5 or more candidate factors from your capstone for a screening experiment.</a:t>
            </a:r>
          </a:p>
        </p:txBody>
      </p:sp>
      <p:sp>
        <p:nvSpPr>
          <p:cNvPr id="12" name="Rectangle 11"/>
          <p:cNvSpPr/>
          <p:nvPr/>
        </p:nvSpPr>
        <p:spPr>
          <a:xfrm>
            <a:off x="777240" y="315239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15239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36613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36613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20725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Choose your fraction based on your run budget, and write down the resulting resolution BEFORE running anything.</a:t>
            </a:r>
          </a:p>
        </p:txBody>
      </p:sp>
      <p:sp>
        <p:nvSpPr>
          <p:cNvPr id="17" name="Rectangle 16"/>
          <p:cNvSpPr/>
          <p:nvPr/>
        </p:nvSpPr>
        <p:spPr>
          <a:xfrm>
            <a:off x="777240" y="418337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418337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439711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439711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423824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Generate the design matrix and write out the complete alias structure. You must be able to state what each estimated effect is confounded with.</a:t>
            </a:r>
          </a:p>
        </p:txBody>
      </p:sp>
      <p:sp>
        <p:nvSpPr>
          <p:cNvPr id="22" name="Rectangle 21"/>
          <p:cNvSpPr/>
          <p:nvPr/>
        </p:nvSpPr>
        <p:spPr>
          <a:xfrm>
            <a:off x="777240" y="521436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521436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542810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542810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526922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Apply effect sparsity and hierarchy: usually few factors dominate, and low-order effects are more likely to be real than high-order ones.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24 · Fractional Factorial Designs…</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Fractional Factorial Designs, Confounding and Resolution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10-13 OF 13</a:t>
            </a:r>
          </a:p>
        </p:txBody>
      </p:sp>
      <p:sp>
        <p:nvSpPr>
          <p:cNvPr id="7" name="Rectangle 6"/>
          <p:cNvSpPr/>
          <p:nvPr/>
        </p:nvSpPr>
        <p:spPr>
          <a:xfrm>
            <a:off x="777240" y="212140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3351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3351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11" name="TextBox 10"/>
          <p:cNvSpPr txBox="1"/>
          <p:nvPr/>
        </p:nvSpPr>
        <p:spPr>
          <a:xfrm>
            <a:off x="1700784" y="217627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Randomise and execute the screening experiment.</a:t>
            </a:r>
          </a:p>
        </p:txBody>
      </p:sp>
      <p:sp>
        <p:nvSpPr>
          <p:cNvPr id="12" name="Rectangle 11"/>
          <p:cNvSpPr/>
          <p:nvPr/>
        </p:nvSpPr>
        <p:spPr>
          <a:xfrm>
            <a:off x="777240" y="315239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15239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36613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36613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16" name="TextBox 15"/>
          <p:cNvSpPr txBox="1"/>
          <p:nvPr/>
        </p:nvSpPr>
        <p:spPr>
          <a:xfrm>
            <a:off x="1700784" y="320725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Analyse the effects and identify the vital few factors. Where an important effect is confounded, state the ambiguity explicitly rather than assuming the main effect is the real one.</a:t>
            </a:r>
          </a:p>
        </p:txBody>
      </p:sp>
      <p:sp>
        <p:nvSpPr>
          <p:cNvPr id="17" name="Rectangle 16"/>
          <p:cNvSpPr/>
          <p:nvPr/>
        </p:nvSpPr>
        <p:spPr>
          <a:xfrm>
            <a:off x="777240" y="418337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418337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439711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439711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12</a:t>
            </a:r>
          </a:p>
        </p:txBody>
      </p:sp>
      <p:sp>
        <p:nvSpPr>
          <p:cNvPr id="21" name="TextBox 20"/>
          <p:cNvSpPr txBox="1"/>
          <p:nvPr/>
        </p:nvSpPr>
        <p:spPr>
          <a:xfrm>
            <a:off x="1700784" y="423824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Resolve critical ambiguity with a fold-over design — a second fraction that de-aliases the effects you care about.</a:t>
            </a:r>
          </a:p>
        </p:txBody>
      </p:sp>
      <p:sp>
        <p:nvSpPr>
          <p:cNvPr id="22" name="Rectangle 21"/>
          <p:cNvSpPr/>
          <p:nvPr/>
        </p:nvSpPr>
        <p:spPr>
          <a:xfrm>
            <a:off x="777240" y="521436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521436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542810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542810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13</a:t>
            </a:r>
          </a:p>
        </p:txBody>
      </p:sp>
      <p:sp>
        <p:nvSpPr>
          <p:cNvPr id="26" name="TextBox 25"/>
          <p:cNvSpPr txBox="1"/>
          <p:nvPr/>
        </p:nvSpPr>
        <p:spPr>
          <a:xfrm>
            <a:off x="1700784" y="526922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Take the screened vital few factors forward to a full factorial or RSM study in Lab 25.</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24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Fractional Factorial Designs, Confounding and Resolution (Black Belt Only)</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stated the design resolution before running, wrote out the complete alias structure, and any ambiguous conclusion is either declared explicitly or resolved by a fold-over.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IMPROVE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Response Surface Methodology and Robust Design (Black Belt Only)</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25</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BLACK BELT ONLY. Factorial designs find WHICH factors matter; RSM finds the OPTIMUM SETTINGS by modelling curvature that a two-level design cannot see. Taguchi robust design then goes further — setting the process so it performs consistently despite noise you cannot control.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RSM study locating optimal settings plus a robust design analysis against noise factors.</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Curvature &amp; centre points, steepest ascent, central composite design, Box-Behnken, contour &amp; surface plots, Taguchi, signal-to-noise, control vs noise factors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25 · Response Surface Methodology and…</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Response Surface Methodology and Robust Design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15</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Understand the limitation of 2-level designs: with only two levels per factor they fit a straight line and cannot detect curvature at all.</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Add CENTRE POINTS to your factorial design to test for curvature. A significant centre-point effect means the true response is curved and a linear model will mislead you.</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If no curvature is present and you are far from the optimum, use steepest ascent — move the factor settings in the direction of greatest improvement and re-experiment.</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Once curvature appears, you are near the optimum and need a second-order design.</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Learn the central composite design (CCD): a factorial core, plus centre points, plus axial (star) points that add the third level needed to estimate quadratic terms.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25 · Response Surface Methodology and…</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Response Surface Methodology and Robust Design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6-10 OF 15</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Learn the Box-Behnken alternative: fewer runs than CCD and it never requires extreme corner combinations, which matters when corners are unsafe or infeasible.</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Design and run an RSM study on the 2-3 vital factors from Lab 24.</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Fit the second-order model including linear, quadratic and interaction terms.</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Generate contour and 3D surface plots to visualise the response surface and locate the optimum region.</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Find the stationary point and classify it — maximum, minimum or saddle. A saddle point means the optimum lies at a boundary, not in the middle.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25 · Response Surface Methodology and…</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Response Surface Methodology and Robust Design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11-15 OF 15</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Use desirability functions if you must optimise several responses at once with competing optima.</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Now robust design. Separate your factors into CONTROL factors (you set them) and NOISE factors (ambient conditions, material variation, operator, wear).</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Understand the Taguchi insight: choose control factor settings at which the response is LEAST SENSITIVE to noise — a slightly lower mean with far less variation usually wins.</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Compute the signal-to-noise ratio for candidate settings, using the correct form for your objective (smaller-is-better, larger-is-better or nominal-is-best).</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Select the robust operating window and run confirmation trials under deliberately varied noise conditions.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25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Response Surface Methodology and Robust Design (Black Belt Only)</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Curvature is tested with centre points, your second-order model is visualised as a contour or surface plot with a classified stationary point, and the robust settings are confirmed under varied noise conditions.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IMPROVE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FMEA, Pilot Design and Implementation Planning — In Depth</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26</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Re-derive FMEA in full, then design the pilot that proves your improvement works before it is scaled. A Black Belt never rolls out an unpiloted change across sites — the cost of being wrong at scale is exactly what the pilot buys down.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FMEA with re-scored RPNs and a full pilot plan with success criteria.</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FMEA, severity/occurrence/detection, RPN, risk mitigation, pilot design, success criteria, implementation planning, cost-benefit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26 · FMEA, Pilot Design and Implementation…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FMEA, Pilot Design and Implementation Planning — In Depth</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14</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FMEA in full: failure mode, effect, cause, current controls, and the three ratings that combine into the risk priority number.</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Recap the scoring scales precisely: Severity (impact if it occurs), Occurrence (likelihood) and Detection (probability of catching it BEFORE the customer does — note the inverted scale).</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Build the FMEA for your selected improvement. For each process step, ask what could fail, what happens if it does, and what would cause it.</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Score S, O and D on 1-10 scales and calculate RPN = S x O x D.</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Apply the severity override rule: any failure mode with Severity 9-10 requires action regardless of how low its RPN is.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26 · FMEA, Pilot Design and Implementation…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FMEA, Pilot Design and Implementation Planning — In Depth</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6-10 OF 14</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Rank by RPN and define mitigation for every high-RPN mode, targeting the component you can most cheaply move — usually Detection, sometimes Occurrence.</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RE-SCORE after mitigation and record the residual RPN. An FMEA without re-scoring has not demonstrated that risk was actually reduced.</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Design the pilot: scope (which line, site or segment), duration, sample size and the exact data to be collected.</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Define quantitative success criteria BEFORE the pilot starts, expressed against your Lab 3 baseline. Criteria defined afterwards get rationalised.</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Plan the comparison: before/after, or better, a control group running the unchanged process concurrently to rule out external effects.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26 · FMEA, Pilot Design and Implementation…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FMEA, Pilot Design and Implementation Planning — In Depth</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11-14 OF 14</a:t>
            </a:r>
          </a:p>
        </p:txBody>
      </p:sp>
      <p:sp>
        <p:nvSpPr>
          <p:cNvPr id="7" name="Rectangle 6"/>
          <p:cNvSpPr/>
          <p:nvPr/>
        </p:nvSpPr>
        <p:spPr>
          <a:xfrm>
            <a:off x="777240" y="212140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3351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3351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11" name="TextBox 10"/>
          <p:cNvSpPr txBox="1"/>
          <p:nvPr/>
        </p:nvSpPr>
        <p:spPr>
          <a:xfrm>
            <a:off x="1700784" y="217627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Define the stop conditions — what result would cause you to halt the pilot rather than push through.</a:t>
            </a:r>
          </a:p>
        </p:txBody>
      </p:sp>
      <p:sp>
        <p:nvSpPr>
          <p:cNvPr id="12" name="Rectangle 11"/>
          <p:cNvSpPr/>
          <p:nvPr/>
        </p:nvSpPr>
        <p:spPr>
          <a:xfrm>
            <a:off x="777240" y="315239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15239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36613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36613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12</a:t>
            </a:r>
          </a:p>
        </p:txBody>
      </p:sp>
      <p:sp>
        <p:nvSpPr>
          <p:cNvPr id="16" name="TextBox 15"/>
          <p:cNvSpPr txBox="1"/>
          <p:nvPr/>
        </p:nvSpPr>
        <p:spPr>
          <a:xfrm>
            <a:off x="1700784" y="320725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Build the implementation plan: tasks, owners, dates, training, communication, systems changes and documentation updates.</a:t>
            </a:r>
          </a:p>
        </p:txBody>
      </p:sp>
      <p:sp>
        <p:nvSpPr>
          <p:cNvPr id="17" name="Rectangle 16"/>
          <p:cNvSpPr/>
          <p:nvPr/>
        </p:nvSpPr>
        <p:spPr>
          <a:xfrm>
            <a:off x="777240" y="418337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418337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439711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439711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13</a:t>
            </a:r>
          </a:p>
        </p:txBody>
      </p:sp>
      <p:sp>
        <p:nvSpPr>
          <p:cNvPr id="21" name="TextBox 20"/>
          <p:cNvSpPr txBox="1"/>
          <p:nvPr/>
        </p:nvSpPr>
        <p:spPr>
          <a:xfrm>
            <a:off x="1700784" y="423824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Complete the cost-benefit analysis: implementation cost, annualised benefit, payback period and NPV where the investment is material.</a:t>
            </a:r>
          </a:p>
        </p:txBody>
      </p:sp>
      <p:sp>
        <p:nvSpPr>
          <p:cNvPr id="22" name="Rectangle 21"/>
          <p:cNvSpPr/>
          <p:nvPr/>
        </p:nvSpPr>
        <p:spPr>
          <a:xfrm>
            <a:off x="777240" y="521436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521436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542810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542810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14</a:t>
            </a:r>
          </a:p>
        </p:txBody>
      </p:sp>
      <p:sp>
        <p:nvSpPr>
          <p:cNvPr id="26" name="TextBox 25"/>
          <p:cNvSpPr txBox="1"/>
          <p:nvPr/>
        </p:nvSpPr>
        <p:spPr>
          <a:xfrm>
            <a:off x="1700784" y="526922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Run the pilot (or design it fully for post-course execution) and test the results statistically against the baseline — a visual improvement is not proof.</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26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FMEA, Pilot Design and Implementation Planning — In Depth</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FMEA is re-scored post-mitigation with the severity override applied, pilot success criteria were defined before starting, and the improvement is tested statistically against the documented baseline.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Improve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400">
                <a:solidFill>
                  <a:srgbClr val="161B26"/>
                </a:solidFill>
                <a:latin typeface="Arial"/>
              </a:rPr>
              <a:t>•  Solution generation &amp; selection — in depth — Brainstorming, brainwriting, benchmarking and weighted solution selection matrices, re-derived in full.</a:t>
            </a:r>
          </a:p>
          <a:p>
            <a:pPr>
              <a:spcAft>
                <a:spcPts val="1000"/>
              </a:spcAft>
            </a:pPr>
            <a:r>
              <a:rPr sz="1400">
                <a:solidFill>
                  <a:srgbClr val="161B26"/>
                </a:solidFill>
                <a:latin typeface="Arial"/>
              </a:rPr>
              <a:t>•  Lean countermeasures — in depth — 5S, poka-yoke, pull, JIT, Heijunka, Jidoka and standard work — the Lean toolkit taught thoroughly.</a:t>
            </a:r>
          </a:p>
          <a:p>
            <a:pPr>
              <a:spcAft>
                <a:spcPts val="1000"/>
              </a:spcAft>
            </a:pPr>
            <a:r>
              <a:rPr sz="1400">
                <a:solidFill>
                  <a:srgbClr val="161B26"/>
                </a:solidFill>
                <a:latin typeface="Arial"/>
              </a:rPr>
              <a:t>•  FMEA and RPN — in depth — Severity, Occurrence and Detection scoring, RPN calculation and the re-scored post-mitigation FMEA.</a:t>
            </a:r>
          </a:p>
          <a:p>
            <a:pPr>
              <a:spcAft>
                <a:spcPts val="1000"/>
              </a:spcAft>
            </a:pPr>
            <a:r>
              <a:rPr sz="1400">
                <a:solidFill>
                  <a:srgbClr val="161B26"/>
                </a:solidFill>
                <a:latin typeface="Arial"/>
              </a:rPr>
              <a:t>•  Why DOE beats OFAT — One-factor-at-a-time misses interactions and wastes runs. DOE varies factors together, by design.</a:t>
            </a:r>
          </a:p>
          <a:p>
            <a:pPr>
              <a:spcAft>
                <a:spcPts val="1000"/>
              </a:spcAft>
            </a:pPr>
            <a:r>
              <a:rPr sz="1400">
                <a:solidFill>
                  <a:srgbClr val="161B26"/>
                </a:solidFill>
                <a:latin typeface="Arial"/>
              </a:rPr>
              <a:t>•  Full factorial design — 2^k designs estimate every main effect and every interaction — the gold standard when runs are affordable.</a:t>
            </a:r>
          </a:p>
          <a:p>
            <a:pPr>
              <a:spcAft>
                <a:spcPts val="1000"/>
              </a:spcAft>
            </a:pPr>
            <a:r>
              <a:rPr sz="1400">
                <a:solidFill>
                  <a:srgbClr val="161B26"/>
                </a:solidFill>
                <a:latin typeface="Arial"/>
              </a:rPr>
              <a:t>•  Main effects &amp; interaction plots — Read the design: a non-parallel interaction plot means the effect of one X depends on another.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CONTROL</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Control at Black Belt Depth — Advanced SPC &amp; Sustaining</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SPC recap · CUSUM · EWMA · Short-run charts · Multivariate SPC · Control plan governance · Financial validation · Handover</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C</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12%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Control (1)</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SPC and control charts — in depth</a:t>
            </a:r>
          </a:p>
          <a:p>
            <a:pPr algn="l">
              <a:spcAft>
                <a:spcPts val="300"/>
              </a:spcAft>
            </a:pPr>
            <a:r>
              <a:rPr sz="1100" b="0">
                <a:solidFill>
                  <a:srgbClr val="5B6372"/>
                </a:solidFill>
                <a:latin typeface="Arial"/>
              </a:rPr>
              <a:t>Chart anatomy, control limits, chart selection (Xbar-R, Xbar-S, I-MR, p, np, c, u) and out-of-control rules, in full.</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Capability and control plans — in depth</a:t>
            </a:r>
          </a:p>
          <a:p>
            <a:pPr algn="l">
              <a:spcAft>
                <a:spcPts val="300"/>
              </a:spcAft>
            </a:pPr>
            <a:r>
              <a:rPr sz="1100" b="0">
                <a:solidFill>
                  <a:srgbClr val="5B6372"/>
                </a:solidFill>
                <a:latin typeface="Arial"/>
              </a:rPr>
              <a:t>Cp, Cpk, Pp, Ppk, control limits vs specification limits, control plans, SOPs and response plans re-derived.</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Limits of Shewhart charts</a:t>
            </a:r>
          </a:p>
          <a:p>
            <a:pPr algn="l">
              <a:spcAft>
                <a:spcPts val="300"/>
              </a:spcAft>
            </a:pPr>
            <a:r>
              <a:rPr sz="1100" b="0">
                <a:solidFill>
                  <a:srgbClr val="5B6372"/>
                </a:solidFill>
                <a:latin typeface="Arial"/>
              </a:rPr>
              <a:t>Shewhart charts are slow to detect small sustained shifts — which is exactly what a drifting process does.</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CUSUM charts</a:t>
            </a:r>
          </a:p>
          <a:p>
            <a:pPr algn="l">
              <a:spcAft>
                <a:spcPts val="300"/>
              </a:spcAft>
            </a:pPr>
            <a:r>
              <a:rPr sz="1100" b="0">
                <a:solidFill>
                  <a:srgbClr val="5B6372"/>
                </a:solidFill>
                <a:latin typeface="Arial"/>
              </a:rPr>
              <a:t>Cumulative sum charts accumulate small deviations, detecting a sustained 1-sigma shift far faster.</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EWMA charts</a:t>
            </a:r>
          </a:p>
          <a:p>
            <a:pPr algn="l">
              <a:spcAft>
                <a:spcPts val="300"/>
              </a:spcAft>
            </a:pPr>
            <a:r>
              <a:rPr sz="1100" b="0">
                <a:solidFill>
                  <a:srgbClr val="5B6372"/>
                </a:solidFill>
                <a:latin typeface="Arial"/>
              </a:rPr>
              <a:t>Exponentially weighted moving average — tunable memory, strong for small shifts and autocorrelated data.</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Short-run SPC</a:t>
            </a:r>
          </a:p>
          <a:p>
            <a:pPr algn="l">
              <a:spcAft>
                <a:spcPts val="300"/>
              </a:spcAft>
            </a:pPr>
            <a:r>
              <a:rPr sz="1100" b="0">
                <a:solidFill>
                  <a:srgbClr val="5B6372"/>
                </a:solidFill>
                <a:latin typeface="Arial"/>
              </a:rPr>
              <a:t>High-mix low-volume processes never gather 25 subgroups per part. Standardise and chart across parts.</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Multivariate SPC</a:t>
            </a:r>
          </a:p>
          <a:p>
            <a:pPr algn="l">
              <a:spcAft>
                <a:spcPts val="300"/>
              </a:spcAft>
            </a:pPr>
            <a:r>
              <a:rPr sz="1100" b="0">
                <a:solidFill>
                  <a:srgbClr val="5B6372"/>
                </a:solidFill>
                <a:latin typeface="Arial"/>
              </a:rPr>
              <a:t>When several correlated characteristics matter, Hotelling's T-squared beats several separate charts.</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Control plan governance</a:t>
            </a:r>
          </a:p>
          <a:p>
            <a:pPr algn="l">
              <a:spcAft>
                <a:spcPts val="300"/>
              </a:spcAft>
            </a:pPr>
            <a:r>
              <a:rPr sz="1100" b="0">
                <a:solidFill>
                  <a:srgbClr val="5B6372"/>
                </a:solidFill>
                <a:latin typeface="Arial"/>
              </a:rPr>
              <a:t>The Black Belt audits control plans across the portfolio — not just their own project.</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12%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Control (2)</a:t>
            </a:r>
          </a:p>
        </p:txBody>
      </p:sp>
      <p:sp>
        <p:nvSpPr>
          <p:cNvPr id="6" name="Rectangle 5"/>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4206240"/>
          </a:xfrm>
          <a:prstGeom prst="rect">
            <a:avLst/>
          </a:prstGeom>
          <a:noFill/>
        </p:spPr>
        <p:txBody>
          <a:bodyPr wrap="square" anchor="ctr">
            <a:spAutoFit/>
          </a:bodyPr>
          <a:lstStyle/>
          <a:p>
            <a:pPr algn="l">
              <a:spcAft>
                <a:spcPts val="300"/>
              </a:spcAft>
            </a:pPr>
            <a:r>
              <a:rPr sz="1500" b="1">
                <a:solidFill>
                  <a:srgbClr val="161B26"/>
                </a:solidFill>
                <a:latin typeface="Arial"/>
              </a:rPr>
              <a:t>Financial benefits validation</a:t>
            </a:r>
          </a:p>
          <a:p>
            <a:pPr algn="l">
              <a:spcAft>
                <a:spcPts val="300"/>
              </a:spcAft>
            </a:pPr>
            <a:r>
              <a:rPr sz="1100" b="0">
                <a:solidFill>
                  <a:srgbClr val="5B6372"/>
                </a:solidFill>
                <a:latin typeface="Arial"/>
              </a:rPr>
              <a:t>Benefits are not real until Finance signs them. Hard, soft and cost-avoidance are booked differently.</a:t>
            </a:r>
          </a:p>
        </p:txBody>
      </p:sp>
      <p:sp>
        <p:nvSpPr>
          <p:cNvPr id="11" name="Rectangle 10"/>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3703320"/>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4206240"/>
          </a:xfrm>
          <a:prstGeom prst="rect">
            <a:avLst/>
          </a:prstGeom>
          <a:noFill/>
        </p:spPr>
        <p:txBody>
          <a:bodyPr wrap="square" anchor="ctr">
            <a:spAutoFit/>
          </a:bodyPr>
          <a:lstStyle/>
          <a:p>
            <a:pPr algn="l">
              <a:spcAft>
                <a:spcPts val="300"/>
              </a:spcAft>
            </a:pPr>
            <a:r>
              <a:rPr sz="1500" b="1">
                <a:solidFill>
                  <a:srgbClr val="161B26"/>
                </a:solidFill>
                <a:latin typeface="Arial"/>
              </a:rPr>
              <a:t>Handover and closure</a:t>
            </a:r>
          </a:p>
          <a:p>
            <a:pPr algn="l">
              <a:spcAft>
                <a:spcPts val="300"/>
              </a:spcAft>
            </a:pPr>
            <a:r>
              <a:rPr sz="1100" b="0">
                <a:solidFill>
                  <a:srgbClr val="5B6372"/>
                </a:solidFill>
                <a:latin typeface="Arial"/>
              </a:rPr>
              <a:t>Transfer to the process owner, verify sustained performance, then formally close and harvest the lessons.</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CONTROL - BLACK BELT DEPTH</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 improvement you cannot hold</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is an improvement you did not make. Control is where the money is banked.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Control delivers at Black Belt level</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Recap taught to teaching depth</a:t>
            </a:r>
          </a:p>
          <a:p>
            <a:pPr algn="l">
              <a:spcAft>
                <a:spcPts val="300"/>
              </a:spcAft>
            </a:pPr>
            <a:r>
              <a:rPr sz="1200" b="0">
                <a:solidFill>
                  <a:srgbClr val="5B6372"/>
                </a:solidFill>
                <a:latin typeface="Arial"/>
              </a:rPr>
              <a:t>SPC, chart selection, run rules, capability, control plan - deep enough to coach</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Advanced detection schemes</a:t>
            </a:r>
          </a:p>
          <a:p>
            <a:pPr algn="l">
              <a:spcAft>
                <a:spcPts val="300"/>
              </a:spcAft>
            </a:pPr>
            <a:r>
              <a:rPr sz="1200" b="0">
                <a:solidFill>
                  <a:srgbClr val="5B6372"/>
                </a:solidFill>
                <a:latin typeface="Arial"/>
              </a:rPr>
              <a:t>CUSUM and EWMA find the small sustained shifts Shewhart charts miss for weeks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Charts for awkward processes</a:t>
            </a:r>
          </a:p>
          <a:p>
            <a:pPr algn="l">
              <a:spcAft>
                <a:spcPts val="300"/>
              </a:spcAft>
            </a:pPr>
            <a:r>
              <a:rPr sz="1200" b="0">
                <a:solidFill>
                  <a:srgbClr val="5B6372"/>
                </a:solidFill>
                <a:latin typeface="Arial"/>
              </a:rPr>
              <a:t>Short-run SPC for high-mix, multivariate SPC for correlated characteristics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Autocorrelation handled</a:t>
            </a:r>
          </a:p>
          <a:p>
            <a:pPr algn="l">
              <a:spcAft>
                <a:spcPts val="300"/>
              </a:spcAft>
            </a:pPr>
            <a:r>
              <a:rPr sz="1200" b="0">
                <a:solidFill>
                  <a:srgbClr val="5B6372"/>
                </a:solidFill>
                <a:latin typeface="Arial"/>
              </a:rPr>
              <a:t>Chemical and continuous-flow data breaks the Shewhart assumption outright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Portfolio control plan governance</a:t>
            </a:r>
          </a:p>
          <a:p>
            <a:pPr algn="l">
              <a:spcAft>
                <a:spcPts val="300"/>
              </a:spcAft>
            </a:pPr>
            <a:r>
              <a:rPr sz="1200" b="0">
                <a:solidFill>
                  <a:srgbClr val="5B6372"/>
                </a:solidFill>
                <a:latin typeface="Arial"/>
              </a:rPr>
              <a:t>You audit control plans across every project, not just your own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Finance-validated benefits</a:t>
            </a:r>
          </a:p>
          <a:p>
            <a:pPr algn="l">
              <a:spcAft>
                <a:spcPts val="300"/>
              </a:spcAft>
            </a:pPr>
            <a:r>
              <a:rPr sz="1200" b="0">
                <a:solidFill>
                  <a:srgbClr val="5B6372"/>
                </a:solidFill>
                <a:latin typeface="Arial"/>
              </a:rPr>
              <a:t>Hard, soft and cost-avoidance benefits signed off before closure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Control phase step sequence</a:t>
            </a:r>
          </a:p>
        </p:txBody>
      </p:sp>
      <p:pic>
        <p:nvPicPr>
          <p:cNvPr id="6" name="Picture 5" descr="control-steps.png"/>
          <p:cNvPicPr>
            <a:picLocks noChangeAspect="1"/>
          </p:cNvPicPr>
          <p:nvPr/>
        </p:nvPicPr>
        <p:blipFill>
          <a:blip r:embed="rId2"/>
          <a:stretch>
            <a:fillRect/>
          </a:stretch>
        </p:blipFill>
        <p:spPr>
          <a:xfrm>
            <a:off x="2190379" y="1737360"/>
            <a:ext cx="7810937" cy="4160520"/>
          </a:xfrm>
          <a:prstGeom prst="rect">
            <a:avLst/>
          </a:prstGeom>
        </p:spPr>
      </p:pic>
      <p:sp>
        <p:nvSpPr>
          <p:cNvPr id="7" name="TextBox 6"/>
          <p:cNvSpPr txBox="1"/>
          <p:nvPr/>
        </p:nvSpPr>
        <p:spPr>
          <a:xfrm>
            <a:off x="777240" y="6007608"/>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Monitor the improved process, document it, then hand it over to a named owner with a written reaction plan.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RECAP IN DEPTH - SPC</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Statistical Process Control</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Re-derived in full - because you must be able to teach it, not merely use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RECAP - SPC</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Anatomy of a control chart</a:t>
            </a:r>
          </a:p>
        </p:txBody>
      </p:sp>
      <p:pic>
        <p:nvPicPr>
          <p:cNvPr id="6" name="Picture 5" descr="control-charts-intro.png"/>
          <p:cNvPicPr>
            <a:picLocks noChangeAspect="1"/>
          </p:cNvPicPr>
          <p:nvPr/>
        </p:nvPicPr>
        <p:blipFill>
          <a:blip r:embed="rId2"/>
          <a:stretch>
            <a:fillRect/>
          </a:stretch>
        </p:blipFill>
        <p:spPr>
          <a:xfrm>
            <a:off x="3031126" y="1737360"/>
            <a:ext cx="6129442" cy="4160520"/>
          </a:xfrm>
          <a:prstGeom prst="rect">
            <a:avLst/>
          </a:prstGeom>
        </p:spPr>
      </p:pic>
      <p:sp>
        <p:nvSpPr>
          <p:cNvPr id="7" name="TextBox 6"/>
          <p:cNvSpPr txBox="1"/>
          <p:nvPr/>
        </p:nvSpPr>
        <p:spPr>
          <a:xfrm>
            <a:off x="777240" y="6007608"/>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Centre line at the process average, upper and lower control limits at plus and minus 3 sigma of the plotted statistic.</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RECAP - SPC</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Chart anatomy - every element and what it means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Centre line (CL)</a:t>
            </a:r>
          </a:p>
          <a:p>
            <a:pPr algn="l">
              <a:spcAft>
                <a:spcPts val="300"/>
              </a:spcAft>
            </a:pPr>
            <a:r>
              <a:rPr sz="1200" b="0">
                <a:solidFill>
                  <a:srgbClr val="5B6372"/>
                </a:solidFill>
                <a:latin typeface="Arial"/>
              </a:rPr>
              <a:t>The process average of the plotted statistic - Xbar-bar, Rbar, pbar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Upper control limit (UCL)</a:t>
            </a:r>
          </a:p>
          <a:p>
            <a:pPr algn="l">
              <a:spcAft>
                <a:spcPts val="300"/>
              </a:spcAft>
            </a:pPr>
            <a:r>
              <a:rPr sz="1200" b="0">
                <a:solidFill>
                  <a:srgbClr val="5B6372"/>
                </a:solidFill>
                <a:latin typeface="Arial"/>
              </a:rPr>
              <a:t>CL + 3 sigma of the plotted statistic - the voice of the process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Lower control limit (LCL)</a:t>
            </a:r>
          </a:p>
          <a:p>
            <a:pPr algn="l">
              <a:spcAft>
                <a:spcPts val="300"/>
              </a:spcAft>
            </a:pPr>
            <a:r>
              <a:rPr sz="1200" b="0">
                <a:solidFill>
                  <a:srgbClr val="5B6372"/>
                </a:solidFill>
                <a:latin typeface="Arial"/>
              </a:rPr>
              <a:t>CL - 3 sigma; truncated at zero for ranges and attribute counts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Plotted points</a:t>
            </a:r>
          </a:p>
          <a:p>
            <a:pPr algn="l">
              <a:spcAft>
                <a:spcPts val="300"/>
              </a:spcAft>
            </a:pPr>
            <a:r>
              <a:rPr sz="1200" b="0">
                <a:solidFill>
                  <a:srgbClr val="5B6372"/>
                </a:solidFill>
                <a:latin typeface="Arial"/>
              </a:rPr>
              <a:t>Subgroup statistics IN TIME ORDER - order is the entire information content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Zones A, B, C</a:t>
            </a:r>
          </a:p>
          <a:p>
            <a:pPr algn="l">
              <a:spcAft>
                <a:spcPts val="300"/>
              </a:spcAft>
            </a:pPr>
            <a:r>
              <a:rPr sz="1200" b="0">
                <a:solidFill>
                  <a:srgbClr val="5B6372"/>
                </a:solidFill>
                <a:latin typeface="Arial"/>
              </a:rPr>
              <a:t>Each 1 sigma wide either side of CL - the run rules are defined on these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Sample and frequency</a:t>
            </a:r>
          </a:p>
          <a:p>
            <a:pPr algn="l">
              <a:spcAft>
                <a:spcPts val="300"/>
              </a:spcAft>
            </a:pPr>
            <a:r>
              <a:rPr sz="1200" b="0">
                <a:solidFill>
                  <a:srgbClr val="5B6372"/>
                </a:solidFill>
                <a:latin typeface="Arial"/>
              </a:rPr>
              <a:t>Rational subgroup size and interval, chosen deliberately, recorded on the chart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RECAP - SPC</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Why 3 sigma - and not 2 or 4</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At 3 sigma</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Shewhart's economic balance</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False alarm rate 0.27 percent - about 1 in 370 points</a:t>
            </a:r>
          </a:p>
          <a:p>
            <a:pPr>
              <a:spcAft>
                <a:spcPts val="700"/>
              </a:spcAft>
            </a:pPr>
            <a:r>
              <a:rPr sz="1200">
                <a:solidFill>
                  <a:srgbClr val="161B26"/>
                </a:solidFill>
                <a:latin typeface="Arial"/>
              </a:rPr>
              <a:t>•  Roughly one false signal per year on a daily chart</a:t>
            </a:r>
          </a:p>
          <a:p>
            <a:pPr>
              <a:spcAft>
                <a:spcPts val="700"/>
              </a:spcAft>
            </a:pPr>
            <a:r>
              <a:rPr sz="1200">
                <a:solidFill>
                  <a:srgbClr val="161B26"/>
                </a:solidFill>
                <a:latin typeface="Arial"/>
              </a:rPr>
              <a:t>•  Cheap enough that people still trust the chart</a:t>
            </a:r>
          </a:p>
          <a:p>
            <a:pPr>
              <a:spcAft>
                <a:spcPts val="700"/>
              </a:spcAft>
            </a:pPr>
            <a:r>
              <a:rPr sz="1200">
                <a:solidFill>
                  <a:srgbClr val="161B26"/>
                </a:solidFill>
                <a:latin typeface="Arial"/>
              </a:rPr>
              <a:t>•  Wide enough to ignore ordinary common cause noise</a:t>
            </a:r>
          </a:p>
          <a:p>
            <a:pPr>
              <a:spcAft>
                <a:spcPts val="700"/>
              </a:spcAft>
            </a:pPr>
            <a:r>
              <a:rPr sz="1200">
                <a:solidFill>
                  <a:srgbClr val="161B26"/>
                </a:solidFill>
                <a:latin typeface="Arial"/>
              </a:rPr>
              <a:t>•  Not a statistical law - an economic compromise</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At 2 sigma</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Too many false alarms</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False alarm rate 4.6 percent - 1 in 22 points</a:t>
            </a:r>
          </a:p>
          <a:p>
            <a:pPr>
              <a:spcAft>
                <a:spcPts val="700"/>
              </a:spcAft>
            </a:pPr>
            <a:r>
              <a:rPr sz="1200">
                <a:solidFill>
                  <a:srgbClr val="161B26"/>
                </a:solidFill>
                <a:latin typeface="Arial"/>
              </a:rPr>
              <a:t>•  A daily chart cries wolf every month</a:t>
            </a:r>
          </a:p>
          <a:p>
            <a:pPr>
              <a:spcAft>
                <a:spcPts val="700"/>
              </a:spcAft>
            </a:pPr>
            <a:r>
              <a:rPr sz="1200">
                <a:solidFill>
                  <a:srgbClr val="161B26"/>
                </a:solidFill>
                <a:latin typeface="Arial"/>
              </a:rPr>
              <a:t>•  Operators stop investigating - the chart dies</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At 4 sigma</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Too many missed signals</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False alarms almost vanish - so do real signals</a:t>
            </a:r>
          </a:p>
          <a:p>
            <a:pPr>
              <a:spcAft>
                <a:spcPts val="700"/>
              </a:spcAft>
            </a:pPr>
            <a:r>
              <a:rPr sz="1200">
                <a:solidFill>
                  <a:srgbClr val="161B26"/>
                </a:solidFill>
                <a:latin typeface="Arial"/>
              </a:rPr>
              <a:t>•  Real shifts sit inside the limits for months</a:t>
            </a:r>
          </a:p>
          <a:p>
            <a:pPr>
              <a:spcAft>
                <a:spcPts val="700"/>
              </a:spcAft>
            </a:pPr>
            <a:r>
              <a:rPr sz="1200">
                <a:solidFill>
                  <a:srgbClr val="161B26"/>
                </a:solidFill>
                <a:latin typeface="Arial"/>
              </a:rPr>
              <a:t>•  The chart becomes decorative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RECAP - THE CLASSIC ERROR</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Control limits are NOT specification limits</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They come from different sources, mean different things, and must never be plotted together.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RECAP - SPC</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limits vs specification limits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Control limits</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The VOICE OF THE PROCESS</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Calculated FROM the process data itself</a:t>
            </a:r>
          </a:p>
          <a:p>
            <a:pPr>
              <a:spcAft>
                <a:spcPts val="700"/>
              </a:spcAft>
            </a:pPr>
            <a:r>
              <a:rPr sz="1200">
                <a:solidFill>
                  <a:srgbClr val="161B26"/>
                </a:solidFill>
                <a:latin typeface="Arial"/>
              </a:rPr>
              <a:t>•  Answer: what is this process actually doing?</a:t>
            </a:r>
          </a:p>
          <a:p>
            <a:pPr>
              <a:spcAft>
                <a:spcPts val="700"/>
              </a:spcAft>
            </a:pPr>
            <a:r>
              <a:rPr sz="1200">
                <a:solidFill>
                  <a:srgbClr val="161B26"/>
                </a:solidFill>
                <a:latin typeface="Arial"/>
              </a:rPr>
              <a:t>•  Move when the process genuinely changes</a:t>
            </a:r>
          </a:p>
          <a:p>
            <a:pPr>
              <a:spcAft>
                <a:spcPts val="700"/>
              </a:spcAft>
            </a:pPr>
            <a:r>
              <a:rPr sz="1200">
                <a:solidFill>
                  <a:srgbClr val="161B26"/>
                </a:solidFill>
                <a:latin typeface="Arial"/>
              </a:rPr>
              <a:t>•  Used to detect special causes</a:t>
            </a:r>
          </a:p>
          <a:p>
            <a:pPr>
              <a:spcAft>
                <a:spcPts val="700"/>
              </a:spcAft>
            </a:pPr>
            <a:r>
              <a:rPr sz="1200">
                <a:solidFill>
                  <a:srgbClr val="161B26"/>
                </a:solidFill>
                <a:latin typeface="Arial"/>
              </a:rPr>
              <a:t>•  Live on the control chart</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Specification limits</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The VOICE OF THE CUSTOMER</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Set by the customer, design or regulator</a:t>
            </a:r>
          </a:p>
          <a:p>
            <a:pPr>
              <a:spcAft>
                <a:spcPts val="700"/>
              </a:spcAft>
            </a:pPr>
            <a:r>
              <a:rPr sz="1200">
                <a:solidFill>
                  <a:srgbClr val="161B26"/>
                </a:solidFill>
                <a:latin typeface="Arial"/>
              </a:rPr>
              <a:t>•  Answer: what does the customer require?</a:t>
            </a:r>
          </a:p>
          <a:p>
            <a:pPr>
              <a:spcAft>
                <a:spcPts val="700"/>
              </a:spcAft>
            </a:pPr>
            <a:r>
              <a:rPr sz="1200">
                <a:solidFill>
                  <a:srgbClr val="161B26"/>
                </a:solidFill>
                <a:latin typeface="Arial"/>
              </a:rPr>
              <a:t>•  Change only via engineering change control</a:t>
            </a:r>
          </a:p>
          <a:p>
            <a:pPr>
              <a:spcAft>
                <a:spcPts val="700"/>
              </a:spcAft>
            </a:pPr>
            <a:r>
              <a:rPr sz="1200">
                <a:solidFill>
                  <a:srgbClr val="161B26"/>
                </a:solidFill>
                <a:latin typeface="Arial"/>
              </a:rPr>
              <a:t>•  Used to judge conformance and capability</a:t>
            </a:r>
          </a:p>
          <a:p>
            <a:pPr>
              <a:spcAft>
                <a:spcPts val="700"/>
              </a:spcAft>
            </a:pPr>
            <a:r>
              <a:rPr sz="1200">
                <a:solidFill>
                  <a:srgbClr val="161B26"/>
                </a:solidFill>
                <a:latin typeface="Arial"/>
              </a:rPr>
              <a:t>•  Live on the drawing and in the capability study</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RECAP - SPC</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Four consequences of confusing the two</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Spec limits drawn on the chart</a:t>
            </a:r>
          </a:p>
          <a:p>
            <a:pPr algn="l">
              <a:spcAft>
                <a:spcPts val="300"/>
              </a:spcAft>
            </a:pPr>
            <a:r>
              <a:rPr sz="1200" b="0">
                <a:solidFill>
                  <a:srgbClr val="5B6372"/>
                </a:solidFill>
                <a:latin typeface="Arial"/>
              </a:rPr>
              <a:t>Every point inside spec looks fine - real special causes are invisible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Limits widened to pass</a:t>
            </a:r>
          </a:p>
          <a:p>
            <a:pPr algn="l">
              <a:spcAft>
                <a:spcPts val="300"/>
              </a:spcAft>
            </a:pPr>
            <a:r>
              <a:rPr sz="1200" b="0">
                <a:solidFill>
                  <a:srgbClr val="5B6372"/>
                </a:solidFill>
                <a:latin typeface="Arial"/>
              </a:rPr>
              <a:t>Somebody sets UCL at the spec so the chart stops alarming. Fraud, not control</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 control read as capable</a:t>
            </a:r>
          </a:p>
          <a:p>
            <a:pPr algn="l">
              <a:spcAft>
                <a:spcPts val="300"/>
              </a:spcAft>
            </a:pPr>
            <a:r>
              <a:rPr sz="1200" b="0">
                <a:solidFill>
                  <a:srgbClr val="5B6372"/>
                </a:solidFill>
                <a:latin typeface="Arial"/>
              </a:rPr>
              <a:t>A stable process can be stably terrible. Control says nothing about the spec</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Capable read as in control</a:t>
            </a:r>
          </a:p>
          <a:p>
            <a:pPr algn="l">
              <a:spcAft>
                <a:spcPts val="300"/>
              </a:spcAft>
            </a:pPr>
            <a:r>
              <a:rPr sz="1200" b="0">
                <a:solidFill>
                  <a:srgbClr val="5B6372"/>
                </a:solidFill>
                <a:latin typeface="Arial"/>
              </a:rPr>
              <a:t>A capable process can be drifting. Capability says nothing about stability</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RECAP - CHART SELECTION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Chart selection is a decision tree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Data type, then subgroup size, then what you are counting. Get it wrong and the limits are wrong.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RECAP - CHART SELECTION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control chart selection map</a:t>
            </a:r>
          </a:p>
        </p:txBody>
      </p:sp>
      <p:pic>
        <p:nvPicPr>
          <p:cNvPr id="6" name="Picture 5" descr="control-chart-selection.png"/>
          <p:cNvPicPr>
            <a:picLocks noChangeAspect="1"/>
          </p:cNvPicPr>
          <p:nvPr/>
        </p:nvPicPr>
        <p:blipFill>
          <a:blip r:embed="rId2"/>
          <a:stretch>
            <a:fillRect/>
          </a:stretch>
        </p:blipFill>
        <p:spPr>
          <a:xfrm>
            <a:off x="2138381" y="1737360"/>
            <a:ext cx="7914933" cy="4160520"/>
          </a:xfrm>
          <a:prstGeom prst="rect">
            <a:avLst/>
          </a:prstGeom>
        </p:spPr>
      </p:pic>
      <p:sp>
        <p:nvSpPr>
          <p:cNvPr id="7" name="TextBox 6"/>
          <p:cNvSpPr txBox="1"/>
          <p:nvPr/>
        </p:nvSpPr>
        <p:spPr>
          <a:xfrm>
            <a:off x="777240" y="6007608"/>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Continuous data branches on subgroup size; attribute data branches on defectives versus defects and on constant versus varying sample.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RECAP - CHART SELECTION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CONTINUOUS data - select on subgroup size n</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 = 1  -&gt;  I-MR</a:t>
            </a:r>
          </a:p>
          <a:p>
            <a:pPr algn="l">
              <a:spcAft>
                <a:spcPts val="300"/>
              </a:spcAft>
            </a:pPr>
            <a:r>
              <a:rPr sz="1200" b="0">
                <a:solidFill>
                  <a:srgbClr val="5B6372"/>
                </a:solidFill>
                <a:latin typeface="Arial"/>
              </a:rPr>
              <a:t>Individuals and moving range. Slow processes, batch results, one reading per period</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 = 2 to 8  -&gt;  Xbar-R</a:t>
            </a:r>
          </a:p>
          <a:p>
            <a:pPr algn="l">
              <a:spcAft>
                <a:spcPts val="300"/>
              </a:spcAft>
            </a:pPr>
            <a:r>
              <a:rPr sz="1200" b="0">
                <a:solidFill>
                  <a:srgbClr val="5B6372"/>
                </a:solidFill>
                <a:latin typeface="Arial"/>
              </a:rPr>
              <a:t>Average and range. The workhorse - range is easy for operators to compute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 &gt;= 9  -&gt;  Xbar-S</a:t>
            </a:r>
          </a:p>
          <a:p>
            <a:pPr algn="l">
              <a:spcAft>
                <a:spcPts val="300"/>
              </a:spcAft>
            </a:pPr>
            <a:r>
              <a:rPr sz="1200" b="0">
                <a:solidFill>
                  <a:srgbClr val="5B6372"/>
                </a:solidFill>
                <a:latin typeface="Arial"/>
              </a:rPr>
              <a:t>Average and standard deviation. At large n the range wastes information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Always a PAIR</a:t>
            </a:r>
          </a:p>
          <a:p>
            <a:pPr algn="l">
              <a:spcAft>
                <a:spcPts val="300"/>
              </a:spcAft>
            </a:pPr>
            <a:r>
              <a:rPr sz="1200" b="0">
                <a:solidFill>
                  <a:srgbClr val="5B6372"/>
                </a:solidFill>
                <a:latin typeface="Arial"/>
              </a:rPr>
              <a:t>One chart for the centre, one for the spread. Read the spread chart FIRST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Why the pair matters</a:t>
            </a:r>
          </a:p>
          <a:p>
            <a:pPr algn="l">
              <a:spcAft>
                <a:spcPts val="300"/>
              </a:spcAft>
            </a:pPr>
            <a:r>
              <a:rPr sz="1200" b="0">
                <a:solidFill>
                  <a:srgbClr val="5B6372"/>
                </a:solidFill>
                <a:latin typeface="Arial"/>
              </a:rPr>
              <a:t>If the range chart is out of control, the Xbar limits are computed from noise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Meridian example</a:t>
            </a:r>
          </a:p>
          <a:p>
            <a:pPr algn="l">
              <a:spcAft>
                <a:spcPts val="300"/>
              </a:spcAft>
            </a:pPr>
            <a:r>
              <a:rPr sz="1200" b="0">
                <a:solidFill>
                  <a:srgbClr val="5B6372"/>
                </a:solidFill>
                <a:latin typeface="Arial"/>
              </a:rPr>
              <a:t>Fill volume n=5 every hour -&gt; Xbar-R; monthly OTIF percentage n=1 -&gt; I-MR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RECAP - CHART SELECTION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ATTRIBUTE data - defectives versus defects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DEFECTIVE = the unit fails</a:t>
            </a:r>
          </a:p>
          <a:p>
            <a:pPr algn="l">
              <a:spcAft>
                <a:spcPts val="300"/>
              </a:spcAft>
            </a:pPr>
            <a:r>
              <a:rPr sz="1200" b="0">
                <a:solidFill>
                  <a:srgbClr val="5B6372"/>
                </a:solidFill>
                <a:latin typeface="Arial"/>
              </a:rPr>
              <a:t>One pump either passes or fails. Binomial. Count units, not faults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DEFECT = one fault found</a:t>
            </a:r>
          </a:p>
          <a:p>
            <a:pPr algn="l">
              <a:spcAft>
                <a:spcPts val="300"/>
              </a:spcAft>
            </a:pPr>
            <a:r>
              <a:rPr sz="1200" b="0">
                <a:solidFill>
                  <a:srgbClr val="5B6372"/>
                </a:solidFill>
                <a:latin typeface="Arial"/>
              </a:rPr>
              <a:t>One pump may carry three faults. Poisson. Count faults, not units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np chart</a:t>
            </a:r>
          </a:p>
          <a:p>
            <a:pPr algn="l">
              <a:spcAft>
                <a:spcPts val="300"/>
              </a:spcAft>
            </a:pPr>
            <a:r>
              <a:rPr sz="1200" b="0">
                <a:solidFill>
                  <a:srgbClr val="5B6372"/>
                </a:solidFill>
                <a:latin typeface="Arial"/>
              </a:rPr>
              <a:t>Number defective, CONSTANT sample size - e.g. exactly 200 pumps inspected daily</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 chart</a:t>
            </a:r>
          </a:p>
          <a:p>
            <a:pPr algn="l">
              <a:spcAft>
                <a:spcPts val="300"/>
              </a:spcAft>
            </a:pPr>
            <a:r>
              <a:rPr sz="1200" b="0">
                <a:solidFill>
                  <a:srgbClr val="5B6372"/>
                </a:solidFill>
                <a:latin typeface="Arial"/>
              </a:rPr>
              <a:t>Proportion defective, VARYING sample size - limits step in and out with 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 chart</a:t>
            </a:r>
          </a:p>
          <a:p>
            <a:pPr algn="l">
              <a:spcAft>
                <a:spcPts val="300"/>
              </a:spcAft>
            </a:pPr>
            <a:r>
              <a:rPr sz="1200" b="0">
                <a:solidFill>
                  <a:srgbClr val="5B6372"/>
                </a:solidFill>
                <a:latin typeface="Arial"/>
              </a:rPr>
              <a:t>Count of defects, CONSTANT opportunity - faults per finished pump assembly</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u chart</a:t>
            </a:r>
          </a:p>
          <a:p>
            <a:pPr algn="l">
              <a:spcAft>
                <a:spcPts val="300"/>
              </a:spcAft>
            </a:pPr>
            <a:r>
              <a:rPr sz="1200" b="0">
                <a:solidFill>
                  <a:srgbClr val="5B6372"/>
                </a:solidFill>
                <a:latin typeface="Arial"/>
              </a:rPr>
              <a:t>Defects per unit, VARYING opportunity - faults per batch of differing size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RECAP - CHART SELECTION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 four attribute charts chosen correctly</a:t>
            </a:r>
          </a:p>
        </p:txBody>
      </p:sp>
      <p:sp>
        <p:nvSpPr>
          <p:cNvPr id="6" name="Rectangle 5"/>
          <p:cNvSpPr/>
          <p:nvPr/>
        </p:nvSpPr>
        <p:spPr>
          <a:xfrm>
            <a:off x="777240" y="1783080"/>
            <a:ext cx="246659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246659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064258" cy="457200"/>
          </a:xfrm>
          <a:prstGeom prst="rect">
            <a:avLst/>
          </a:prstGeom>
          <a:noFill/>
        </p:spPr>
        <p:txBody>
          <a:bodyPr wrap="square" anchor="t">
            <a:spAutoFit/>
          </a:bodyPr>
          <a:lstStyle/>
          <a:p>
            <a:pPr algn="l">
              <a:spcAft>
                <a:spcPts val="400"/>
              </a:spcAft>
            </a:pPr>
            <a:r>
              <a:rPr sz="1800" b="1">
                <a:solidFill>
                  <a:srgbClr val="1F6FEB"/>
                </a:solidFill>
                <a:latin typeface="Arial"/>
              </a:rPr>
              <a:t>np chart</a:t>
            </a:r>
          </a:p>
        </p:txBody>
      </p:sp>
      <p:sp>
        <p:nvSpPr>
          <p:cNvPr id="9" name="TextBox 8"/>
          <p:cNvSpPr txBox="1"/>
          <p:nvPr/>
        </p:nvSpPr>
        <p:spPr>
          <a:xfrm>
            <a:off x="978408" y="2532888"/>
            <a:ext cx="2064258" cy="457200"/>
          </a:xfrm>
          <a:prstGeom prst="rect">
            <a:avLst/>
          </a:prstGeom>
          <a:noFill/>
        </p:spPr>
        <p:txBody>
          <a:bodyPr wrap="square" anchor="t">
            <a:spAutoFit/>
          </a:bodyPr>
          <a:lstStyle/>
          <a:p>
            <a:pPr algn="l">
              <a:spcAft>
                <a:spcPts val="400"/>
              </a:spcAft>
            </a:pPr>
            <a:r>
              <a:rPr sz="1200" b="0">
                <a:solidFill>
                  <a:srgbClr val="5B6372"/>
                </a:solidFill>
                <a:latin typeface="Arial"/>
              </a:rPr>
              <a:t>Singapore final test</a:t>
            </a:r>
          </a:p>
        </p:txBody>
      </p:sp>
      <p:sp>
        <p:nvSpPr>
          <p:cNvPr id="10" name="TextBox 9"/>
          <p:cNvSpPr txBox="1"/>
          <p:nvPr/>
        </p:nvSpPr>
        <p:spPr>
          <a:xfrm>
            <a:off x="978408" y="3081528"/>
            <a:ext cx="2064258" cy="2743200"/>
          </a:xfrm>
          <a:prstGeom prst="rect">
            <a:avLst/>
          </a:prstGeom>
          <a:noFill/>
        </p:spPr>
        <p:txBody>
          <a:bodyPr wrap="square">
            <a:spAutoFit/>
          </a:bodyPr>
          <a:lstStyle/>
          <a:p>
            <a:pPr>
              <a:spcAft>
                <a:spcPts val="700"/>
              </a:spcAft>
            </a:pPr>
            <a:r>
              <a:rPr sz="1200">
                <a:solidFill>
                  <a:srgbClr val="161B26"/>
                </a:solidFill>
                <a:latin typeface="Arial"/>
              </a:rPr>
              <a:t>•  Exactly 250 pumps tested every shift</a:t>
            </a:r>
          </a:p>
          <a:p>
            <a:pPr>
              <a:spcAft>
                <a:spcPts val="700"/>
              </a:spcAft>
            </a:pPr>
            <a:r>
              <a:rPr sz="1200">
                <a:solidFill>
                  <a:srgbClr val="161B26"/>
                </a:solidFill>
                <a:latin typeface="Arial"/>
              </a:rPr>
              <a:t>•  Count of pumps failing final test</a:t>
            </a:r>
          </a:p>
          <a:p>
            <a:pPr>
              <a:spcAft>
                <a:spcPts val="700"/>
              </a:spcAft>
            </a:pPr>
            <a:r>
              <a:rPr sz="1200">
                <a:solidFill>
                  <a:srgbClr val="161B26"/>
                </a:solidFill>
                <a:latin typeface="Arial"/>
              </a:rPr>
              <a:t>•  Constant n, defectives -&gt; np</a:t>
            </a:r>
          </a:p>
        </p:txBody>
      </p:sp>
      <p:sp>
        <p:nvSpPr>
          <p:cNvPr id="11" name="Rectangle 10"/>
          <p:cNvSpPr/>
          <p:nvPr/>
        </p:nvSpPr>
        <p:spPr>
          <a:xfrm>
            <a:off x="3499866" y="1783080"/>
            <a:ext cx="246659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499866" y="1783080"/>
            <a:ext cx="246659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701034" y="2039112"/>
            <a:ext cx="2064258" cy="457200"/>
          </a:xfrm>
          <a:prstGeom prst="rect">
            <a:avLst/>
          </a:prstGeom>
          <a:noFill/>
        </p:spPr>
        <p:txBody>
          <a:bodyPr wrap="square" anchor="t">
            <a:spAutoFit/>
          </a:bodyPr>
          <a:lstStyle/>
          <a:p>
            <a:pPr algn="l">
              <a:spcAft>
                <a:spcPts val="400"/>
              </a:spcAft>
            </a:pPr>
            <a:r>
              <a:rPr sz="1800" b="1">
                <a:solidFill>
                  <a:srgbClr val="10B981"/>
                </a:solidFill>
                <a:latin typeface="Arial"/>
              </a:rPr>
              <a:t>p chart</a:t>
            </a:r>
          </a:p>
        </p:txBody>
      </p:sp>
      <p:sp>
        <p:nvSpPr>
          <p:cNvPr id="14" name="TextBox 13"/>
          <p:cNvSpPr txBox="1"/>
          <p:nvPr/>
        </p:nvSpPr>
        <p:spPr>
          <a:xfrm>
            <a:off x="3701034" y="2532888"/>
            <a:ext cx="2064258" cy="457200"/>
          </a:xfrm>
          <a:prstGeom prst="rect">
            <a:avLst/>
          </a:prstGeom>
          <a:noFill/>
        </p:spPr>
        <p:txBody>
          <a:bodyPr wrap="square" anchor="t">
            <a:spAutoFit/>
          </a:bodyPr>
          <a:lstStyle/>
          <a:p>
            <a:pPr algn="l">
              <a:spcAft>
                <a:spcPts val="400"/>
              </a:spcAft>
            </a:pPr>
            <a:r>
              <a:rPr sz="1200" b="0">
                <a:solidFill>
                  <a:srgbClr val="5B6372"/>
                </a:solidFill>
                <a:latin typeface="Arial"/>
              </a:rPr>
              <a:t>Penang incoming inspection</a:t>
            </a:r>
          </a:p>
        </p:txBody>
      </p:sp>
      <p:sp>
        <p:nvSpPr>
          <p:cNvPr id="15" name="TextBox 14"/>
          <p:cNvSpPr txBox="1"/>
          <p:nvPr/>
        </p:nvSpPr>
        <p:spPr>
          <a:xfrm>
            <a:off x="3701034" y="3081528"/>
            <a:ext cx="2064258" cy="2743200"/>
          </a:xfrm>
          <a:prstGeom prst="rect">
            <a:avLst/>
          </a:prstGeom>
          <a:noFill/>
        </p:spPr>
        <p:txBody>
          <a:bodyPr wrap="square">
            <a:spAutoFit/>
          </a:bodyPr>
          <a:lstStyle/>
          <a:p>
            <a:pPr>
              <a:spcAft>
                <a:spcPts val="700"/>
              </a:spcAft>
            </a:pPr>
            <a:r>
              <a:rPr sz="1200">
                <a:solidFill>
                  <a:srgbClr val="161B26"/>
                </a:solidFill>
                <a:latin typeface="Arial"/>
              </a:rPr>
              <a:t>•  Lot sizes vary from 80 to 600 units</a:t>
            </a:r>
          </a:p>
          <a:p>
            <a:pPr>
              <a:spcAft>
                <a:spcPts val="700"/>
              </a:spcAft>
            </a:pPr>
            <a:r>
              <a:rPr sz="1200">
                <a:solidFill>
                  <a:srgbClr val="161B26"/>
                </a:solidFill>
                <a:latin typeface="Arial"/>
              </a:rPr>
              <a:t>•  Proportion of lots rejected</a:t>
            </a:r>
          </a:p>
          <a:p>
            <a:pPr>
              <a:spcAft>
                <a:spcPts val="700"/>
              </a:spcAft>
            </a:pPr>
            <a:r>
              <a:rPr sz="1200">
                <a:solidFill>
                  <a:srgbClr val="161B26"/>
                </a:solidFill>
                <a:latin typeface="Arial"/>
              </a:rPr>
              <a:t>•  Varying n, defectives -&gt; p</a:t>
            </a:r>
          </a:p>
        </p:txBody>
      </p:sp>
      <p:sp>
        <p:nvSpPr>
          <p:cNvPr id="16" name="Rectangle 15"/>
          <p:cNvSpPr/>
          <p:nvPr/>
        </p:nvSpPr>
        <p:spPr>
          <a:xfrm>
            <a:off x="6222492" y="1783080"/>
            <a:ext cx="246659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22492" y="1783080"/>
            <a:ext cx="246659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23660" y="2039112"/>
            <a:ext cx="2064258" cy="457200"/>
          </a:xfrm>
          <a:prstGeom prst="rect">
            <a:avLst/>
          </a:prstGeom>
          <a:noFill/>
        </p:spPr>
        <p:txBody>
          <a:bodyPr wrap="square" anchor="t">
            <a:spAutoFit/>
          </a:bodyPr>
          <a:lstStyle/>
          <a:p>
            <a:pPr algn="l">
              <a:spcAft>
                <a:spcPts val="400"/>
              </a:spcAft>
            </a:pPr>
            <a:r>
              <a:rPr sz="1800" b="1">
                <a:solidFill>
                  <a:srgbClr val="7C3AED"/>
                </a:solidFill>
                <a:latin typeface="Arial"/>
              </a:rPr>
              <a:t>c chart</a:t>
            </a:r>
          </a:p>
        </p:txBody>
      </p:sp>
      <p:sp>
        <p:nvSpPr>
          <p:cNvPr id="19" name="TextBox 18"/>
          <p:cNvSpPr txBox="1"/>
          <p:nvPr/>
        </p:nvSpPr>
        <p:spPr>
          <a:xfrm>
            <a:off x="6423660" y="2532888"/>
            <a:ext cx="2064258" cy="457200"/>
          </a:xfrm>
          <a:prstGeom prst="rect">
            <a:avLst/>
          </a:prstGeom>
          <a:noFill/>
        </p:spPr>
        <p:txBody>
          <a:bodyPr wrap="square" anchor="t">
            <a:spAutoFit/>
          </a:bodyPr>
          <a:lstStyle/>
          <a:p>
            <a:pPr algn="l">
              <a:spcAft>
                <a:spcPts val="400"/>
              </a:spcAft>
            </a:pPr>
            <a:r>
              <a:rPr sz="1200" b="0">
                <a:solidFill>
                  <a:srgbClr val="5B6372"/>
                </a:solidFill>
                <a:latin typeface="Arial"/>
              </a:rPr>
              <a:t>Suzhou cosmetic audit</a:t>
            </a:r>
          </a:p>
        </p:txBody>
      </p:sp>
      <p:sp>
        <p:nvSpPr>
          <p:cNvPr id="20" name="TextBox 19"/>
          <p:cNvSpPr txBox="1"/>
          <p:nvPr/>
        </p:nvSpPr>
        <p:spPr>
          <a:xfrm>
            <a:off x="6423660" y="3081528"/>
            <a:ext cx="2064258" cy="2743200"/>
          </a:xfrm>
          <a:prstGeom prst="rect">
            <a:avLst/>
          </a:prstGeom>
          <a:noFill/>
        </p:spPr>
        <p:txBody>
          <a:bodyPr wrap="square">
            <a:spAutoFit/>
          </a:bodyPr>
          <a:lstStyle/>
          <a:p>
            <a:pPr>
              <a:spcAft>
                <a:spcPts val="700"/>
              </a:spcAft>
            </a:pPr>
            <a:r>
              <a:rPr sz="1200">
                <a:solidFill>
                  <a:srgbClr val="161B26"/>
                </a:solidFill>
                <a:latin typeface="Arial"/>
              </a:rPr>
              <a:t>•  One finished pump audited per hour</a:t>
            </a:r>
          </a:p>
          <a:p>
            <a:pPr>
              <a:spcAft>
                <a:spcPts val="700"/>
              </a:spcAft>
            </a:pPr>
            <a:r>
              <a:rPr sz="1200">
                <a:solidFill>
                  <a:srgbClr val="161B26"/>
                </a:solidFill>
                <a:latin typeface="Arial"/>
              </a:rPr>
              <a:t>•  Number of cosmetic faults per pump</a:t>
            </a:r>
          </a:p>
          <a:p>
            <a:pPr>
              <a:spcAft>
                <a:spcPts val="700"/>
              </a:spcAft>
            </a:pPr>
            <a:r>
              <a:rPr sz="1200">
                <a:solidFill>
                  <a:srgbClr val="161B26"/>
                </a:solidFill>
                <a:latin typeface="Arial"/>
              </a:rPr>
              <a:t>•  Constant opportunity, defects -&gt; c</a:t>
            </a:r>
          </a:p>
        </p:txBody>
      </p:sp>
      <p:sp>
        <p:nvSpPr>
          <p:cNvPr id="21" name="Rectangle 20"/>
          <p:cNvSpPr/>
          <p:nvPr/>
        </p:nvSpPr>
        <p:spPr>
          <a:xfrm>
            <a:off x="8945118" y="1783080"/>
            <a:ext cx="2466594"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8945118" y="1783080"/>
            <a:ext cx="2466594"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146286" y="2039112"/>
            <a:ext cx="2064258" cy="457200"/>
          </a:xfrm>
          <a:prstGeom prst="rect">
            <a:avLst/>
          </a:prstGeom>
          <a:noFill/>
        </p:spPr>
        <p:txBody>
          <a:bodyPr wrap="square" anchor="t">
            <a:spAutoFit/>
          </a:bodyPr>
          <a:lstStyle/>
          <a:p>
            <a:pPr algn="l">
              <a:spcAft>
                <a:spcPts val="400"/>
              </a:spcAft>
            </a:pPr>
            <a:r>
              <a:rPr sz="1800" b="1">
                <a:solidFill>
                  <a:srgbClr val="F59E0B"/>
                </a:solidFill>
                <a:latin typeface="Arial"/>
              </a:rPr>
              <a:t>u chart</a:t>
            </a:r>
          </a:p>
        </p:txBody>
      </p:sp>
      <p:sp>
        <p:nvSpPr>
          <p:cNvPr id="24" name="TextBox 23"/>
          <p:cNvSpPr txBox="1"/>
          <p:nvPr/>
        </p:nvSpPr>
        <p:spPr>
          <a:xfrm>
            <a:off x="9146286" y="2532888"/>
            <a:ext cx="2064258" cy="457200"/>
          </a:xfrm>
          <a:prstGeom prst="rect">
            <a:avLst/>
          </a:prstGeom>
          <a:noFill/>
        </p:spPr>
        <p:txBody>
          <a:bodyPr wrap="square" anchor="t">
            <a:spAutoFit/>
          </a:bodyPr>
          <a:lstStyle/>
          <a:p>
            <a:pPr algn="l">
              <a:spcAft>
                <a:spcPts val="400"/>
              </a:spcAft>
            </a:pPr>
            <a:r>
              <a:rPr sz="1200" b="0">
                <a:solidFill>
                  <a:srgbClr val="5B6372"/>
                </a:solidFill>
                <a:latin typeface="Arial"/>
              </a:rPr>
              <a:t>Warranty returns</a:t>
            </a:r>
          </a:p>
        </p:txBody>
      </p:sp>
      <p:sp>
        <p:nvSpPr>
          <p:cNvPr id="25" name="TextBox 24"/>
          <p:cNvSpPr txBox="1"/>
          <p:nvPr/>
        </p:nvSpPr>
        <p:spPr>
          <a:xfrm>
            <a:off x="9146286" y="3081528"/>
            <a:ext cx="2064258" cy="2743200"/>
          </a:xfrm>
          <a:prstGeom prst="rect">
            <a:avLst/>
          </a:prstGeom>
          <a:noFill/>
        </p:spPr>
        <p:txBody>
          <a:bodyPr wrap="square">
            <a:spAutoFit/>
          </a:bodyPr>
          <a:lstStyle/>
          <a:p>
            <a:pPr>
              <a:spcAft>
                <a:spcPts val="700"/>
              </a:spcAft>
            </a:pPr>
            <a:r>
              <a:rPr sz="1200">
                <a:solidFill>
                  <a:srgbClr val="161B26"/>
                </a:solidFill>
                <a:latin typeface="Arial"/>
              </a:rPr>
              <a:t>•  Faults reported per 1000 units shipped</a:t>
            </a:r>
          </a:p>
          <a:p>
            <a:pPr>
              <a:spcAft>
                <a:spcPts val="700"/>
              </a:spcAft>
            </a:pPr>
            <a:r>
              <a:rPr sz="1200">
                <a:solidFill>
                  <a:srgbClr val="161B26"/>
                </a:solidFill>
                <a:latin typeface="Arial"/>
              </a:rPr>
              <a:t>•  Shipment volume varies each month</a:t>
            </a:r>
          </a:p>
          <a:p>
            <a:pPr>
              <a:spcAft>
                <a:spcPts val="700"/>
              </a:spcAft>
            </a:pPr>
            <a:r>
              <a:rPr sz="1200">
                <a:solidFill>
                  <a:srgbClr val="161B26"/>
                </a:solidFill>
                <a:latin typeface="Arial"/>
              </a:rPr>
              <a:t>•  Varying opportunity, defects -&gt; u</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RECAP - LIMITS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Computing control limits with the constants</a:t>
            </a:r>
          </a:p>
        </p:txBody>
      </p:sp>
      <p:pic>
        <p:nvPicPr>
          <p:cNvPr id="6" name="Picture 5" descr="control-limits-calc.png"/>
          <p:cNvPicPr>
            <a:picLocks noChangeAspect="1"/>
          </p:cNvPicPr>
          <p:nvPr/>
        </p:nvPicPr>
        <p:blipFill>
          <a:blip r:embed="rId2"/>
          <a:stretch>
            <a:fillRect/>
          </a:stretch>
        </p:blipFill>
        <p:spPr>
          <a:xfrm>
            <a:off x="2709020" y="1737360"/>
            <a:ext cx="6773654" cy="4160520"/>
          </a:xfrm>
          <a:prstGeom prst="rect">
            <a:avLst/>
          </a:prstGeom>
        </p:spPr>
      </p:pic>
      <p:sp>
        <p:nvSpPr>
          <p:cNvPr id="7" name="TextBox 6"/>
          <p:cNvSpPr txBox="1"/>
          <p:nvPr/>
        </p:nvSpPr>
        <p:spPr>
          <a:xfrm>
            <a:off x="777240" y="6007608"/>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The A2, D3 and D4 constants convert the average range into 3-sigma limits without ever computing a standard deviation.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RECAP - LIMITS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Xbar-R control limits - the constants</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Xbar chart</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UCL/LCL = Xbar-bar +/- A2 x Rbar</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A2 depends only on subgroup size n</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R chart upper</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UCL(R) = D4 x Rbar</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D4 = 2.114 at n=5</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R chart lower</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LCL(R) = D3 x Rbar</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D3 = 0 for n &lt;= 6, so LCL(R) = 0</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A2 = 0.577 at n=5, 0.729 at n=4, 1.023 at n=3. The constants replace a sigma estimate.</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RECAP - LIMITS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worked example - Singapore fill volume, n = 5</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Data</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Xbar-bar = 10.02 mL, Rbar = 0.18 mL</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25 subgroups of 5, hourly, over 3 shifts</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Xbar limits</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10.02 +/- 0.577 x 0.18</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UCL = 10.124, LCL = 9.916 mL</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R chart limits</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UCL = 2.114 x 0.18 = 0.381</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LCL = 0 x 0.18 = 0 (n = 5)</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Spec is 9.80 to 10.20 mL. The control limits sit well inside spec - process voice narrower than customer voice.</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RECAP - RUN RULES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point inside the limits can still be a signal</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Western Electric run rules read the PATTERN, not just the extremes.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RECAP - RUN RULES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Out-of-control patterns on a chart</a:t>
            </a:r>
          </a:p>
        </p:txBody>
      </p:sp>
      <p:pic>
        <p:nvPicPr>
          <p:cNvPr id="6" name="Picture 5" descr="spc-out-of-control.png"/>
          <p:cNvPicPr>
            <a:picLocks noChangeAspect="1"/>
          </p:cNvPicPr>
          <p:nvPr/>
        </p:nvPicPr>
        <p:blipFill>
          <a:blip r:embed="rId2"/>
          <a:stretch>
            <a:fillRect/>
          </a:stretch>
        </p:blipFill>
        <p:spPr>
          <a:xfrm>
            <a:off x="2988966" y="1737360"/>
            <a:ext cx="6213763" cy="4160520"/>
          </a:xfrm>
          <a:prstGeom prst="rect">
            <a:avLst/>
          </a:prstGeom>
        </p:spPr>
      </p:pic>
      <p:sp>
        <p:nvSpPr>
          <p:cNvPr id="7" name="TextBox 6"/>
          <p:cNvSpPr txBox="1"/>
          <p:nvPr/>
        </p:nvSpPr>
        <p:spPr>
          <a:xfrm>
            <a:off x="777240" y="6007608"/>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Beyond-limit points, runs on one side, trends and hugging - each pattern has a different physical cause.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RECAP - RUN RULES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Western Electric rules in full</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Rule 1 - beyond 3 sigma</a:t>
            </a:r>
          </a:p>
          <a:p>
            <a:pPr algn="l">
              <a:spcAft>
                <a:spcPts val="300"/>
              </a:spcAft>
            </a:pPr>
            <a:r>
              <a:rPr sz="1200" b="0">
                <a:solidFill>
                  <a:srgbClr val="5B6372"/>
                </a:solidFill>
                <a:latin typeface="Arial"/>
              </a:rPr>
              <a:t>Any single point outside a control limit. The classic special cause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Rule 2 - 2 of 3 beyond 2 sigma</a:t>
            </a:r>
          </a:p>
          <a:p>
            <a:pPr algn="l">
              <a:spcAft>
                <a:spcPts val="300"/>
              </a:spcAft>
            </a:pPr>
            <a:r>
              <a:rPr sz="1200" b="0">
                <a:solidFill>
                  <a:srgbClr val="5B6372"/>
                </a:solidFill>
                <a:latin typeface="Arial"/>
              </a:rPr>
              <a:t>Two of three consecutive points in zone A on the SAME side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Rule 3 - 4 of 5 beyond 1 sigma</a:t>
            </a:r>
          </a:p>
          <a:p>
            <a:pPr algn="l">
              <a:spcAft>
                <a:spcPts val="300"/>
              </a:spcAft>
            </a:pPr>
            <a:r>
              <a:rPr sz="1200" b="0">
                <a:solidFill>
                  <a:srgbClr val="5B6372"/>
                </a:solidFill>
                <a:latin typeface="Arial"/>
              </a:rPr>
              <a:t>Four of five consecutive points beyond 1 sigma, SAME side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Rule 4 - 8 on one side</a:t>
            </a:r>
          </a:p>
          <a:p>
            <a:pPr algn="l">
              <a:spcAft>
                <a:spcPts val="300"/>
              </a:spcAft>
            </a:pPr>
            <a:r>
              <a:rPr sz="1200" b="0">
                <a:solidFill>
                  <a:srgbClr val="5B6372"/>
                </a:solidFill>
                <a:latin typeface="Arial"/>
              </a:rPr>
              <a:t>Eight consecutive points on one side of the centre line - a shift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Rule 5 - trend</a:t>
            </a:r>
          </a:p>
          <a:p>
            <a:pPr algn="l">
              <a:spcAft>
                <a:spcPts val="300"/>
              </a:spcAft>
            </a:pPr>
            <a:r>
              <a:rPr sz="1200" b="0">
                <a:solidFill>
                  <a:srgbClr val="5B6372"/>
                </a:solidFill>
                <a:latin typeface="Arial"/>
              </a:rPr>
              <a:t>Six or seven consecutive points steadily rising or falling - tool wear, fouling</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Rule 6 - hugging the CL</a:t>
            </a:r>
          </a:p>
          <a:p>
            <a:pPr algn="l">
              <a:spcAft>
                <a:spcPts val="300"/>
              </a:spcAft>
            </a:pPr>
            <a:r>
              <a:rPr sz="1200" b="0">
                <a:solidFill>
                  <a:srgbClr val="5B6372"/>
                </a:solidFill>
                <a:latin typeface="Arial"/>
              </a:rPr>
              <a:t>15 consecutive points inside 1 sigma. Suspiciously good - check the data</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RECAP - RUN RULES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Black Belt caveat on run rules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Rules multiply false alarms</a:t>
            </a:r>
          </a:p>
          <a:p>
            <a:pPr algn="l">
              <a:spcAft>
                <a:spcPts val="300"/>
              </a:spcAft>
            </a:pPr>
            <a:r>
              <a:rPr sz="1200" b="0">
                <a:solidFill>
                  <a:srgbClr val="5B6372"/>
                </a:solidFill>
                <a:latin typeface="Arial"/>
              </a:rPr>
              <a:t>Each rule has its own false-alarm rate - all six together is far above 0.27 percent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All six on a daily chart</a:t>
            </a:r>
          </a:p>
          <a:p>
            <a:pPr algn="l">
              <a:spcAft>
                <a:spcPts val="300"/>
              </a:spcAft>
            </a:pPr>
            <a:r>
              <a:rPr sz="1200" b="0">
                <a:solidFill>
                  <a:srgbClr val="5B6372"/>
                </a:solidFill>
                <a:latin typeface="Arial"/>
              </a:rPr>
              <a:t>Combined false alarm roughly 1 percent - about one nuisance signal per quarter</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Choose rules deliberately</a:t>
            </a:r>
          </a:p>
          <a:p>
            <a:pPr algn="l">
              <a:spcAft>
                <a:spcPts val="300"/>
              </a:spcAft>
            </a:pPr>
            <a:r>
              <a:rPr sz="1200" b="0">
                <a:solidFill>
                  <a:srgbClr val="5B6372"/>
                </a:solidFill>
                <a:latin typeface="Arial"/>
              </a:rPr>
              <a:t>Rules 1 and 4 on a stable, well-understood process is often enough</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Never let software decide</a:t>
            </a:r>
          </a:p>
          <a:p>
            <a:pPr algn="l">
              <a:spcAft>
                <a:spcPts val="300"/>
              </a:spcAft>
            </a:pPr>
            <a:r>
              <a:rPr sz="1200" b="0">
                <a:solidFill>
                  <a:srgbClr val="5B6372"/>
                </a:solidFill>
                <a:latin typeface="Arial"/>
              </a:rPr>
              <a:t>Default rule sets differ between packages. Specify yours in the control plan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RECAP - CAPABILITY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Capability recap - Cp, Cpk, Pp, Ppk</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Four indices, two questions: is the spread small enough, and is it centred?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RECAP - CAPABILITY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four capability indices</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Cp</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Cp = (USL - LSL) / (6 x s-within)</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Potential - spread only, ignores centring</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Cpk</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Cpk = min[(USL-Xbar), (Xbar-LSL)] / (3 x s-within)</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Actual - penalises off-centre</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Pp / Ppk</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Same formulas with s-TOTAL</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Long-term performance including shift-to-shift drift</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Cp and Cpk use WITHIN-subgroup variation; Pp and Ppk use TOTAL variation. Reporting the wrong pair flatters the process.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RECAP - CAPABILITY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worked example - Suzhou seal force</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Given</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USL = 62 N, LSL = 48 N, Xbar = 56.4 N</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s-within = 1.55 N, s-total = 2.10 N</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Cp and Cpk</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Cp = 14 / 9.30 = 1.51</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Cpk = min(5.6, 8.4) / 4.65 = 1.20</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Pp and Ppk</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Pp = 14 / 12.60 = 1.11</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Ppk = 5.6 / 6.30 = 0.89</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Cpk 1.20 but Ppk 0.89 - the process is good within a shift and drifts BETWEEN shifts. That gap is the project.</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RECAP - CAPABILITY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Reading the gaps between the indices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Cp much greater than Cpk</a:t>
            </a:r>
          </a:p>
          <a:p>
            <a:pPr algn="l">
              <a:spcAft>
                <a:spcPts val="300"/>
              </a:spcAft>
            </a:pPr>
            <a:r>
              <a:rPr sz="1200" b="0">
                <a:solidFill>
                  <a:srgbClr val="5B6372"/>
                </a:solidFill>
                <a:latin typeface="Arial"/>
              </a:rPr>
              <a:t>Spread is fine, process is OFF-CENTRE. Re-centre - do not launch variation work</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Cpk much greater than Ppk</a:t>
            </a:r>
          </a:p>
          <a:p>
            <a:pPr algn="l">
              <a:spcAft>
                <a:spcPts val="300"/>
              </a:spcAft>
            </a:pPr>
            <a:r>
              <a:rPr sz="1200" b="0">
                <a:solidFill>
                  <a:srgbClr val="5B6372"/>
                </a:solidFill>
                <a:latin typeface="Arial"/>
              </a:rPr>
              <a:t>Good within subgroup, drifting between them. Hunt the between-shift X</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Cp roughly equals Cpk</a:t>
            </a:r>
          </a:p>
          <a:p>
            <a:pPr algn="l">
              <a:spcAft>
                <a:spcPts val="300"/>
              </a:spcAft>
            </a:pPr>
            <a:r>
              <a:rPr sz="1200" b="0">
                <a:solidFill>
                  <a:srgbClr val="5B6372"/>
                </a:solidFill>
                <a:latin typeface="Arial"/>
              </a:rPr>
              <a:t>Centred. Any shortfall is genuine spread - variation reduction is the right project</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Cpk equals Ppk</a:t>
            </a:r>
          </a:p>
          <a:p>
            <a:pPr algn="l">
              <a:spcAft>
                <a:spcPts val="300"/>
              </a:spcAft>
            </a:pPr>
            <a:r>
              <a:rPr sz="1200" b="0">
                <a:solidFill>
                  <a:srgbClr val="5B6372"/>
                </a:solidFill>
                <a:latin typeface="Arial"/>
              </a:rPr>
              <a:t>Within and total variation agree - the process is genuinely stable over time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RECAP - CONTROL PLAN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control plan format</a:t>
            </a:r>
          </a:p>
        </p:txBody>
      </p:sp>
      <p:pic>
        <p:nvPicPr>
          <p:cNvPr id="6" name="Picture 5" descr="control-plan-format.png"/>
          <p:cNvPicPr>
            <a:picLocks noChangeAspect="1"/>
          </p:cNvPicPr>
          <p:nvPr/>
        </p:nvPicPr>
        <p:blipFill>
          <a:blip r:embed="rId2"/>
          <a:stretch>
            <a:fillRect/>
          </a:stretch>
        </p:blipFill>
        <p:spPr>
          <a:xfrm>
            <a:off x="975207" y="1737360"/>
            <a:ext cx="10241280" cy="3403719"/>
          </a:xfrm>
          <a:prstGeom prst="rect">
            <a:avLst/>
          </a:prstGeom>
        </p:spPr>
      </p:pic>
      <p:sp>
        <p:nvSpPr>
          <p:cNvPr id="7" name="TextBox 6"/>
          <p:cNvSpPr txBox="1"/>
          <p:nvPr/>
        </p:nvSpPr>
        <p:spPr>
          <a:xfrm>
            <a:off x="777240" y="5250807"/>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One row per characteristic: what is measured, how, how often, by whom, against what limits, and what happens on a signal.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RECAP - CONTROL PLAN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Every control plan row - the mandatory columns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Process step and characteristic</a:t>
            </a:r>
          </a:p>
          <a:p>
            <a:pPr algn="l">
              <a:spcAft>
                <a:spcPts val="300"/>
              </a:spcAft>
            </a:pPr>
            <a:r>
              <a:rPr sz="1200" b="0">
                <a:solidFill>
                  <a:srgbClr val="5B6372"/>
                </a:solidFill>
                <a:latin typeface="Arial"/>
              </a:rPr>
              <a:t>Where in the flow, and exactly which X or Y is being controlled</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Specification and limits</a:t>
            </a:r>
          </a:p>
          <a:p>
            <a:pPr algn="l">
              <a:spcAft>
                <a:spcPts val="300"/>
              </a:spcAft>
            </a:pPr>
            <a:r>
              <a:rPr sz="1200" b="0">
                <a:solidFill>
                  <a:srgbClr val="5B6372"/>
                </a:solidFill>
                <a:latin typeface="Arial"/>
              </a:rPr>
              <a:t>Target with tolerance, plus the control limits if charted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Measurement method and gauge</a:t>
            </a:r>
          </a:p>
          <a:p>
            <a:pPr algn="l">
              <a:spcAft>
                <a:spcPts val="300"/>
              </a:spcAft>
            </a:pPr>
            <a:r>
              <a:rPr sz="1200" b="0">
                <a:solidFill>
                  <a:srgbClr val="5B6372"/>
                </a:solidFill>
                <a:latin typeface="Arial"/>
              </a:rPr>
              <a:t>Which instrument, and the MSA result that qualified it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Sample size and frequency</a:t>
            </a:r>
          </a:p>
          <a:p>
            <a:pPr algn="l">
              <a:spcAft>
                <a:spcPts val="300"/>
              </a:spcAft>
            </a:pPr>
            <a:r>
              <a:rPr sz="1200" b="0">
                <a:solidFill>
                  <a:srgbClr val="5B6372"/>
                </a:solidFill>
                <a:latin typeface="Arial"/>
              </a:rPr>
              <a:t>The rational subgroup and interval, chosen not inherited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Control method</a:t>
            </a:r>
          </a:p>
          <a:p>
            <a:pPr algn="l">
              <a:spcAft>
                <a:spcPts val="300"/>
              </a:spcAft>
            </a:pPr>
            <a:r>
              <a:rPr sz="1200" b="0">
                <a:solidFill>
                  <a:srgbClr val="5B6372"/>
                </a:solidFill>
                <a:latin typeface="Arial"/>
              </a:rPr>
              <a:t>Chart type, checklist, poka-yoke, automated interlock</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Reaction plan and owner</a:t>
            </a:r>
          </a:p>
          <a:p>
            <a:pPr algn="l">
              <a:spcAft>
                <a:spcPts val="300"/>
              </a:spcAft>
            </a:pPr>
            <a:r>
              <a:rPr sz="1200" b="0">
                <a:solidFill>
                  <a:srgbClr val="5B6372"/>
                </a:solidFill>
                <a:latin typeface="Arial"/>
              </a:rPr>
              <a:t>The named person and the exact action on an out-of-control signal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RECAP - CONTROL PLAN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three layers that hold a gain</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SOP</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method written down</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new way of working, step by step</a:t>
            </a:r>
          </a:p>
          <a:p>
            <a:pPr>
              <a:spcAft>
                <a:spcPts val="700"/>
              </a:spcAft>
            </a:pPr>
            <a:r>
              <a:rPr sz="1200">
                <a:solidFill>
                  <a:srgbClr val="161B26"/>
                </a:solidFill>
                <a:latin typeface="Arial"/>
              </a:rPr>
              <a:t>•  Version controlled with an effective date</a:t>
            </a:r>
          </a:p>
          <a:p>
            <a:pPr>
              <a:spcAft>
                <a:spcPts val="700"/>
              </a:spcAft>
            </a:pPr>
            <a:r>
              <a:rPr sz="1200">
                <a:solidFill>
                  <a:srgbClr val="161B26"/>
                </a:solidFill>
                <a:latin typeface="Arial"/>
              </a:rPr>
              <a:t>•  Training record for every affected operator</a:t>
            </a:r>
          </a:p>
          <a:p>
            <a:pPr>
              <a:spcAft>
                <a:spcPts val="700"/>
              </a:spcAft>
            </a:pPr>
            <a:r>
              <a:rPr sz="1200">
                <a:solidFill>
                  <a:srgbClr val="161B26"/>
                </a:solidFill>
                <a:latin typeface="Arial"/>
              </a:rPr>
              <a:t>•  Reviewed when the process changes</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Visual management</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state visible at a glance</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Chart at the machine, not in a monthly pack</a:t>
            </a:r>
          </a:p>
          <a:p>
            <a:pPr>
              <a:spcAft>
                <a:spcPts val="700"/>
              </a:spcAft>
            </a:pPr>
            <a:r>
              <a:rPr sz="1200">
                <a:solidFill>
                  <a:srgbClr val="161B26"/>
                </a:solidFill>
                <a:latin typeface="Arial"/>
              </a:rPr>
              <a:t>•  Red/green status visible from the aisle</a:t>
            </a:r>
          </a:p>
          <a:p>
            <a:pPr>
              <a:spcAft>
                <a:spcPts val="700"/>
              </a:spcAft>
            </a:pPr>
            <a:r>
              <a:rPr sz="1200">
                <a:solidFill>
                  <a:srgbClr val="161B26"/>
                </a:solidFill>
                <a:latin typeface="Arial"/>
              </a:rPr>
              <a:t>•  Shadow boards, floor markings, andon</a:t>
            </a:r>
          </a:p>
          <a:p>
            <a:pPr>
              <a:spcAft>
                <a:spcPts val="700"/>
              </a:spcAft>
            </a:pPr>
            <a:r>
              <a:rPr sz="1200">
                <a:solidFill>
                  <a:srgbClr val="161B26"/>
                </a:solidFill>
                <a:latin typeface="Arial"/>
              </a:rPr>
              <a:t>•  A stranger can see if the process is healthy</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Response plan</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action on a signal</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IF the chart signals THEN do exactly this</a:t>
            </a:r>
          </a:p>
          <a:p>
            <a:pPr>
              <a:spcAft>
                <a:spcPts val="700"/>
              </a:spcAft>
            </a:pPr>
            <a:r>
              <a:rPr sz="1200">
                <a:solidFill>
                  <a:srgbClr val="161B26"/>
                </a:solidFill>
                <a:latin typeface="Arial"/>
              </a:rPr>
              <a:t>•  Contain, adjust, escalate - in that order</a:t>
            </a:r>
          </a:p>
          <a:p>
            <a:pPr>
              <a:spcAft>
                <a:spcPts val="700"/>
              </a:spcAft>
            </a:pPr>
            <a:r>
              <a:rPr sz="1200">
                <a:solidFill>
                  <a:srgbClr val="161B26"/>
                </a:solidFill>
                <a:latin typeface="Arial"/>
              </a:rPr>
              <a:t>•  Named owner and escalation path</a:t>
            </a:r>
          </a:p>
          <a:p>
            <a:pPr>
              <a:spcAft>
                <a:spcPts val="700"/>
              </a:spcAft>
            </a:pPr>
            <a:r>
              <a:rPr sz="1200">
                <a:solidFill>
                  <a:srgbClr val="161B26"/>
                </a:solidFill>
                <a:latin typeface="Arial"/>
              </a:rPr>
              <a:t>•  Rehearsed, not written and filed</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RECAP - CONTROL PLAN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Mistake-proofing beats monitoring</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Level 1 - eliminate</a:t>
            </a:r>
          </a:p>
          <a:p>
            <a:pPr algn="l">
              <a:spcAft>
                <a:spcPts val="300"/>
              </a:spcAft>
            </a:pPr>
            <a:r>
              <a:rPr sz="1200" b="0">
                <a:solidFill>
                  <a:srgbClr val="5B6372"/>
                </a:solidFill>
                <a:latin typeface="Arial"/>
              </a:rPr>
              <a:t>Redesign so the error is physically impossible. The strongest control</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Level 2 - prevent</a:t>
            </a:r>
          </a:p>
          <a:p>
            <a:pPr algn="l">
              <a:spcAft>
                <a:spcPts val="300"/>
              </a:spcAft>
            </a:pPr>
            <a:r>
              <a:rPr sz="1200" b="0">
                <a:solidFill>
                  <a:srgbClr val="5B6372"/>
                </a:solidFill>
                <a:latin typeface="Arial"/>
              </a:rPr>
              <a:t>Poka-yoke: the fixture only accepts the part one way round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Level 3 - detect at source</a:t>
            </a:r>
          </a:p>
          <a:p>
            <a:pPr algn="l">
              <a:spcAft>
                <a:spcPts val="300"/>
              </a:spcAft>
            </a:pPr>
            <a:r>
              <a:rPr sz="1200" b="0">
                <a:solidFill>
                  <a:srgbClr val="5B6372"/>
                </a:solidFill>
                <a:latin typeface="Arial"/>
              </a:rPr>
              <a:t>Automatic interlock stops the line the moment the error occurs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Level 4 - detect downstream</a:t>
            </a:r>
          </a:p>
          <a:p>
            <a:pPr algn="l">
              <a:spcAft>
                <a:spcPts val="300"/>
              </a:spcAft>
            </a:pPr>
            <a:r>
              <a:rPr sz="1200" b="0">
                <a:solidFill>
                  <a:srgbClr val="5B6372"/>
                </a:solidFill>
                <a:latin typeface="Arial"/>
              </a:rPr>
              <a:t>Inspection or a control chart finds it after the fact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Level 5 - depend on people</a:t>
            </a:r>
          </a:p>
          <a:p>
            <a:pPr algn="l">
              <a:spcAft>
                <a:spcPts val="300"/>
              </a:spcAft>
            </a:pPr>
            <a:r>
              <a:rPr sz="1200" b="0">
                <a:solidFill>
                  <a:srgbClr val="5B6372"/>
                </a:solidFill>
                <a:latin typeface="Arial"/>
              </a:rPr>
              <a:t>Training and vigilance. The weakest control - it decays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Design rule</a:t>
            </a:r>
          </a:p>
          <a:p>
            <a:pPr algn="l">
              <a:spcAft>
                <a:spcPts val="300"/>
              </a:spcAft>
            </a:pPr>
            <a:r>
              <a:rPr sz="1200" b="0">
                <a:solidFill>
                  <a:srgbClr val="5B6372"/>
                </a:solidFill>
                <a:latin typeface="Arial"/>
              </a:rPr>
              <a:t>Push every control as far UP this list as the budget allows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BLACK BELT ONLY - ARL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Average Run Length - the honest measure of a chart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ARL definition</a:t>
            </a:r>
          </a:p>
          <a:p>
            <a:pPr algn="l">
              <a:spcAft>
                <a:spcPts val="300"/>
              </a:spcAft>
            </a:pPr>
            <a:r>
              <a:rPr sz="1200" b="0">
                <a:solidFill>
                  <a:srgbClr val="5B6372"/>
                </a:solidFill>
                <a:latin typeface="Arial"/>
              </a:rPr>
              <a:t>The average number of subgroups plotted before the chart signals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ARL-0 - in control</a:t>
            </a:r>
          </a:p>
          <a:p>
            <a:pPr algn="l">
              <a:spcAft>
                <a:spcPts val="300"/>
              </a:spcAft>
            </a:pPr>
            <a:r>
              <a:rPr sz="1200" b="0">
                <a:solidFill>
                  <a:srgbClr val="5B6372"/>
                </a:solidFill>
                <a:latin typeface="Arial"/>
              </a:rPr>
              <a:t>How long between FALSE alarms. For 3-sigma Shewhart, ARL-0 = 370</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ARL-1 - out of control</a:t>
            </a:r>
          </a:p>
          <a:p>
            <a:pPr algn="l">
              <a:spcAft>
                <a:spcPts val="300"/>
              </a:spcAft>
            </a:pPr>
            <a:r>
              <a:rPr sz="1200" b="0">
                <a:solidFill>
                  <a:srgbClr val="5B6372"/>
                </a:solidFill>
                <a:latin typeface="Arial"/>
              </a:rPr>
              <a:t>How long to DETECT a real shift. Smaller is better</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number that matters</a:t>
            </a:r>
          </a:p>
          <a:p>
            <a:pPr algn="l">
              <a:spcAft>
                <a:spcPts val="300"/>
              </a:spcAft>
            </a:pPr>
            <a:r>
              <a:rPr sz="1200" b="0">
                <a:solidFill>
                  <a:srgbClr val="5B6372"/>
                </a:solidFill>
                <a:latin typeface="Arial"/>
              </a:rPr>
              <a:t>ARL-1 for the smallest shift you actually care about catching</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Chart comparison rule</a:t>
            </a:r>
          </a:p>
          <a:p>
            <a:pPr algn="l">
              <a:spcAft>
                <a:spcPts val="300"/>
              </a:spcAft>
            </a:pPr>
            <a:r>
              <a:rPr sz="1200" b="0">
                <a:solidFill>
                  <a:srgbClr val="5B6372"/>
                </a:solidFill>
                <a:latin typeface="Arial"/>
              </a:rPr>
              <a:t>Compare charts at EQUAL ARL-0, then see which has the lower ARL-1</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Why it is not taught at GB</a:t>
            </a:r>
          </a:p>
          <a:p>
            <a:pPr algn="l">
              <a:spcAft>
                <a:spcPts val="300"/>
              </a:spcAft>
            </a:pPr>
            <a:r>
              <a:rPr sz="1200" b="0">
                <a:solidFill>
                  <a:srgbClr val="5B6372"/>
                </a:solidFill>
                <a:latin typeface="Arial"/>
              </a:rPr>
              <a:t>Green Belts use the chart. Black Belts choose between charts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BLACK BELT ONLY - ARL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Shewhart ARL - the uncomfortable arithmetic</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In control</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ARL-0 = 1 / 0.0027 = 370</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One false alarm every 370 subgroups</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3-sigma shift</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ARL-1 = about 2</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Detected almost immediately - the easy case</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1-sigma shift</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ARL-1 = about 44</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Forty-four subgroups before the chart notices</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Rule 1 alone, subgroup n=5. The 1-sigma case is the one that quietly destroys the project benefit.</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BLACK BELT ONLY - ARL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 what an ARL of 44 costs</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The shift</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Penang line 2 fill volume</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Fill mean drifts 1 sigma high after a pump reseal</a:t>
            </a:r>
          </a:p>
          <a:p>
            <a:pPr>
              <a:spcAft>
                <a:spcPts val="700"/>
              </a:spcAft>
            </a:pPr>
            <a:r>
              <a:rPr sz="1200">
                <a:solidFill>
                  <a:srgbClr val="161B26"/>
                </a:solidFill>
                <a:latin typeface="Arial"/>
              </a:rPr>
              <a:t>•  Still inside spec - no customer complaint yet</a:t>
            </a:r>
          </a:p>
          <a:p>
            <a:pPr>
              <a:spcAft>
                <a:spcPts val="700"/>
              </a:spcAft>
            </a:pPr>
            <a:r>
              <a:rPr sz="1200">
                <a:solidFill>
                  <a:srgbClr val="161B26"/>
                </a:solidFill>
                <a:latin typeface="Arial"/>
              </a:rPr>
              <a:t>•  Xbar-R chart, subgroups hourly, n = 5</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The delay</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44 subgroups = 44 hours</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Roughly 5.5 shifts before the chart signals</a:t>
            </a:r>
          </a:p>
          <a:p>
            <a:pPr>
              <a:spcAft>
                <a:spcPts val="700"/>
              </a:spcAft>
            </a:pPr>
            <a:r>
              <a:rPr sz="1200">
                <a:solidFill>
                  <a:srgbClr val="161B26"/>
                </a:solidFill>
                <a:latin typeface="Arial"/>
              </a:rPr>
              <a:t>•  About 26,000 units filled off target</a:t>
            </a:r>
          </a:p>
          <a:p>
            <a:pPr>
              <a:spcAft>
                <a:spcPts val="700"/>
              </a:spcAft>
            </a:pPr>
            <a:r>
              <a:rPr sz="1200">
                <a:solidFill>
                  <a:srgbClr val="161B26"/>
                </a:solidFill>
                <a:latin typeface="Arial"/>
              </a:rPr>
              <a:t>•  Overfill cost alone about SGD 19,000</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The structural cause</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chart has no memory</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Each point judged ALONE against the limits</a:t>
            </a:r>
          </a:p>
          <a:p>
            <a:pPr>
              <a:spcAft>
                <a:spcPts val="700"/>
              </a:spcAft>
            </a:pPr>
            <a:r>
              <a:rPr sz="1200">
                <a:solidFill>
                  <a:srgbClr val="161B26"/>
                </a:solidFill>
                <a:latin typeface="Arial"/>
              </a:rPr>
              <a:t>•  Yesterday's evidence is discarded entirely</a:t>
            </a:r>
          </a:p>
          <a:p>
            <a:pPr>
              <a:spcAft>
                <a:spcPts val="700"/>
              </a:spcAft>
            </a:pPr>
            <a:r>
              <a:rPr sz="1200">
                <a:solidFill>
                  <a:srgbClr val="161B26"/>
                </a:solidFill>
                <a:latin typeface="Arial"/>
              </a:rPr>
              <a:t>•  A shift small relative to sigma never breaches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BLACK BELT ONLY - CUSUM</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BLACK BELT ONLY: CUSUM</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Accumulate every small deviation from target until the total becomes undeniable.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BLACK BELT ONLY - CUSUM</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the CUSUM works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Deviation from TARGET</a:t>
            </a:r>
          </a:p>
          <a:p>
            <a:pPr algn="l">
              <a:spcAft>
                <a:spcPts val="300"/>
              </a:spcAft>
            </a:pPr>
            <a:r>
              <a:rPr sz="1200" b="0">
                <a:solidFill>
                  <a:srgbClr val="5B6372"/>
                </a:solidFill>
                <a:latin typeface="Arial"/>
              </a:rPr>
              <a:t>Each point contributes its distance from target, not from the mean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Deviations accumulate</a:t>
            </a:r>
          </a:p>
          <a:p>
            <a:pPr algn="l">
              <a:spcAft>
                <a:spcPts val="300"/>
              </a:spcAft>
            </a:pPr>
            <a:r>
              <a:rPr sz="1200" b="0">
                <a:solidFill>
                  <a:srgbClr val="5B6372"/>
                </a:solidFill>
                <a:latin typeface="Arial"/>
              </a:rPr>
              <a:t>Small biased-high deviations add up; random ones cancel out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Reset at zero</a:t>
            </a:r>
          </a:p>
          <a:p>
            <a:pPr algn="l">
              <a:spcAft>
                <a:spcPts val="300"/>
              </a:spcAft>
            </a:pPr>
            <a:r>
              <a:rPr sz="1200" b="0">
                <a:solidFill>
                  <a:srgbClr val="5B6372"/>
                </a:solidFill>
                <a:latin typeface="Arial"/>
              </a:rPr>
              <a:t>The sum is floored at zero so an in-control process stays flat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Two one-sided sums</a:t>
            </a:r>
          </a:p>
          <a:p>
            <a:pPr algn="l">
              <a:spcAft>
                <a:spcPts val="300"/>
              </a:spcAft>
            </a:pPr>
            <a:r>
              <a:rPr sz="1200" b="0">
                <a:solidFill>
                  <a:srgbClr val="5B6372"/>
                </a:solidFill>
                <a:latin typeface="Arial"/>
              </a:rPr>
              <a:t>An UPPER CUSUM for high shifts and a LOWER CUSUM for low shifts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Signal on h</a:t>
            </a:r>
          </a:p>
          <a:p>
            <a:pPr algn="l">
              <a:spcAft>
                <a:spcPts val="300"/>
              </a:spcAft>
            </a:pPr>
            <a:r>
              <a:rPr sz="1200" b="0">
                <a:solidFill>
                  <a:srgbClr val="5B6372"/>
                </a:solidFill>
                <a:latin typeface="Arial"/>
              </a:rPr>
              <a:t>Signal when either sum exceeds the decision interval h</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payoff</a:t>
            </a:r>
          </a:p>
          <a:p>
            <a:pPr algn="l">
              <a:spcAft>
                <a:spcPts val="300"/>
              </a:spcAft>
            </a:pPr>
            <a:r>
              <a:rPr sz="1200" b="0">
                <a:solidFill>
                  <a:srgbClr val="5B6372"/>
                </a:solidFill>
                <a:latin typeface="Arial"/>
              </a:rPr>
              <a:t>A 1-sigma shift detected in about 8 subgroups instead of 44</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BLACK BELT ONLY - CUSUM</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CUSUM equations</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Upper CUSUM</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C+(i) = max[0, x(i) - (T + k) + C+(i-1)]</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Accumulates evidence of a HIGH shift</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Lower CUSUM</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C-(i) = max[0, (T - k) - x(i) + C-(i-1)]</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Accumulates evidence of a LOW shift</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Signal rule</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Signal if C+ &gt; h or C- &gt; h</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h is the decision interval, in sigma units</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T = target. Both sums start at zero and are floored at zero - that floor is what keeps a stable process flat.</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BLACK BELT ONLY - CUSUM</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Choosing k and h - the two design parameters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k = the reference value</a:t>
            </a:r>
          </a:p>
          <a:p>
            <a:pPr algn="l">
              <a:spcAft>
                <a:spcPts val="300"/>
              </a:spcAft>
            </a:pPr>
            <a:r>
              <a:rPr sz="1200" b="0">
                <a:solidFill>
                  <a:srgbClr val="5B6372"/>
                </a:solidFill>
                <a:latin typeface="Arial"/>
              </a:rPr>
              <a:t>Set k to HALF the shift you want to detect, in sigma units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k for a 1-sigma shift</a:t>
            </a:r>
          </a:p>
          <a:p>
            <a:pPr algn="l">
              <a:spcAft>
                <a:spcPts val="300"/>
              </a:spcAft>
            </a:pPr>
            <a:r>
              <a:rPr sz="1200" b="0">
                <a:solidFill>
                  <a:srgbClr val="5B6372"/>
                </a:solidFill>
                <a:latin typeface="Arial"/>
              </a:rPr>
              <a:t>k = 0.5 sigma. This is by far the most common setting</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h = the decision interval</a:t>
            </a:r>
          </a:p>
          <a:p>
            <a:pPr algn="l">
              <a:spcAft>
                <a:spcPts val="300"/>
              </a:spcAft>
            </a:pPr>
            <a:r>
              <a:rPr sz="1200" b="0">
                <a:solidFill>
                  <a:srgbClr val="5B6372"/>
                </a:solidFill>
                <a:latin typeface="Arial"/>
              </a:rPr>
              <a:t>Typically 4 to 5 sigma. h = 5 with k = 0.5 gives ARL-0 near 465</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Larger h</a:t>
            </a:r>
          </a:p>
          <a:p>
            <a:pPr algn="l">
              <a:spcAft>
                <a:spcPts val="300"/>
              </a:spcAft>
            </a:pPr>
            <a:r>
              <a:rPr sz="1200" b="0">
                <a:solidFill>
                  <a:srgbClr val="5B6372"/>
                </a:solidFill>
                <a:latin typeface="Arial"/>
              </a:rPr>
              <a:t>Fewer false alarms, slower detection. Trades ARL-1 for ARL-0</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Smaller k</a:t>
            </a:r>
          </a:p>
          <a:p>
            <a:pPr algn="l">
              <a:spcAft>
                <a:spcPts val="300"/>
              </a:spcAft>
            </a:pPr>
            <a:r>
              <a:rPr sz="1200" b="0">
                <a:solidFill>
                  <a:srgbClr val="5B6372"/>
                </a:solidFill>
                <a:latin typeface="Arial"/>
              </a:rPr>
              <a:t>Tuned for smaller shifts, but slower against large ones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trade you are making</a:t>
            </a:r>
          </a:p>
          <a:p>
            <a:pPr algn="l">
              <a:spcAft>
                <a:spcPts val="300"/>
              </a:spcAft>
            </a:pPr>
            <a:r>
              <a:rPr sz="1200" b="0">
                <a:solidFill>
                  <a:srgbClr val="5B6372"/>
                </a:solidFill>
                <a:latin typeface="Arial"/>
              </a:rPr>
              <a:t>CUSUM is fast on SMALL shifts and slightly SLOWER than Shewhart on huge ones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BLACK BELT ONLY - CUSUM</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worked CUSUM - Penang fill volume</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Design</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T = 10.00 mL, sigma = 0.04, k = 0.02, h = 0.20</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k = 0.5 sigma, h = 5 sigma</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Points 1-4</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10.01, 10.02, 10.03, 10.04</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C+ = 0, 0, 0.01, 0.03 - accumulating</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Points 5-8</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10.04, 10.05, 10.04, 10.05</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C+ = 0.05, 0.08, 0.10, 0.13 - climbing</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By point 11 C+ exceeds h = 0.20 and signals. No individual point came near the 3-sigma Shewhart limit of 10.12.</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BLACK BELT ONLY - CUSUM</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CUSUM versus Shewhart on the same Penang data</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Shewhart Xbar-R</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Judges each point alone</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UCL = 10.124 mL - never breached</a:t>
            </a:r>
          </a:p>
          <a:p>
            <a:pPr>
              <a:spcAft>
                <a:spcPts val="700"/>
              </a:spcAft>
            </a:pPr>
            <a:r>
              <a:rPr sz="1200">
                <a:solidFill>
                  <a:srgbClr val="161B26"/>
                </a:solidFill>
                <a:latin typeface="Arial"/>
              </a:rPr>
              <a:t>•  Rule 4 (8 on one side) eventually fires at point 13</a:t>
            </a:r>
          </a:p>
          <a:p>
            <a:pPr>
              <a:spcAft>
                <a:spcPts val="700"/>
              </a:spcAft>
            </a:pPr>
            <a:r>
              <a:rPr sz="1200">
                <a:solidFill>
                  <a:srgbClr val="161B26"/>
                </a:solidFill>
                <a:latin typeface="Arial"/>
              </a:rPr>
              <a:t>•  No signal at all if the drift is under 8 points</a:t>
            </a:r>
          </a:p>
          <a:p>
            <a:pPr>
              <a:spcAft>
                <a:spcPts val="700"/>
              </a:spcAft>
            </a:pPr>
            <a:r>
              <a:rPr sz="1200">
                <a:solidFill>
                  <a:srgbClr val="161B26"/>
                </a:solidFill>
                <a:latin typeface="Arial"/>
              </a:rPr>
              <a:t>•  Detected the 1-sigma shift at subgroup 44 on average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CUSUM</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Accumulates the evidence</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Signals at point 11 in this run</a:t>
            </a:r>
          </a:p>
          <a:p>
            <a:pPr>
              <a:spcAft>
                <a:spcPts val="700"/>
              </a:spcAft>
            </a:pPr>
            <a:r>
              <a:rPr sz="1200">
                <a:solidFill>
                  <a:srgbClr val="161B26"/>
                </a:solidFill>
                <a:latin typeface="Arial"/>
              </a:rPr>
              <a:t>•  Average detection about 8 subgroups</a:t>
            </a:r>
          </a:p>
          <a:p>
            <a:pPr>
              <a:spcAft>
                <a:spcPts val="700"/>
              </a:spcAft>
            </a:pPr>
            <a:r>
              <a:rPr sz="1200">
                <a:solidFill>
                  <a:srgbClr val="161B26"/>
                </a:solidFill>
                <a:latin typeface="Arial"/>
              </a:rPr>
              <a:t>•  Roughly 5 times faster on this shift size</a:t>
            </a:r>
          </a:p>
          <a:p>
            <a:pPr>
              <a:spcAft>
                <a:spcPts val="700"/>
              </a:spcAft>
            </a:pPr>
            <a:r>
              <a:rPr sz="1200">
                <a:solidFill>
                  <a:srgbClr val="161B26"/>
                </a:solidFill>
                <a:latin typeface="Arial"/>
              </a:rPr>
              <a:t>•  The plotted sum also estimates WHEN the shift began</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BLACK BELT ONLY - EWMA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BLACK BELT ONLY: EWMA</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Exponentially weighted moving average - tunable memory, and it survives autocorrelation.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BLACK BELT ONLY - EWMA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EWMA statistic</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The recursion</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z(i) = lambda x(i) + (1 - lambda) z(i-1)</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z(0) = target; lambda between 0 and 1</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Weight decay</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Weight on the point k steps back = lambda(1-lambda)^k</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Geometrically decaying memory</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Control limits</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T +/- L x sigma x sqrt[lambda / (2 - lambda)]</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L is typically 2.7 to 3.0</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Every past point still contributes - but its weight halves away geometrically. That is the memory.</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BLACK BELT ONLY - EWMA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Choosing lambda - the single design decision</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lambda = 0.10 to 0.20</a:t>
            </a:r>
          </a:p>
          <a:p>
            <a:pPr algn="l">
              <a:spcAft>
                <a:spcPts val="300"/>
              </a:spcAft>
            </a:pPr>
            <a:r>
              <a:rPr sz="1200" b="0">
                <a:solidFill>
                  <a:srgbClr val="5B6372"/>
                </a:solidFill>
                <a:latin typeface="Arial"/>
              </a:rPr>
              <a:t>Long memory, narrow limits. Best for SMALL sustained shifts. The usual choice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lambda = 0.20</a:t>
            </a:r>
          </a:p>
          <a:p>
            <a:pPr algn="l">
              <a:spcAft>
                <a:spcPts val="300"/>
              </a:spcAft>
            </a:pPr>
            <a:r>
              <a:rPr sz="1200" b="0">
                <a:solidFill>
                  <a:srgbClr val="5B6372"/>
                </a:solidFill>
                <a:latin typeface="Arial"/>
              </a:rPr>
              <a:t>The most common default - detects a 1-sigma shift in about 10 subgroups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lambda = 0.40 and above</a:t>
            </a:r>
          </a:p>
          <a:p>
            <a:pPr algn="l">
              <a:spcAft>
                <a:spcPts val="300"/>
              </a:spcAft>
            </a:pPr>
            <a:r>
              <a:rPr sz="1200" b="0">
                <a:solidFill>
                  <a:srgbClr val="5B6372"/>
                </a:solidFill>
                <a:latin typeface="Arial"/>
              </a:rPr>
              <a:t>Short memory, wider limits - behaviour approaches a Shewhart chart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lambda = 1.00</a:t>
            </a:r>
          </a:p>
          <a:p>
            <a:pPr algn="l">
              <a:spcAft>
                <a:spcPts val="300"/>
              </a:spcAft>
            </a:pPr>
            <a:r>
              <a:rPr sz="1200" b="0">
                <a:solidFill>
                  <a:srgbClr val="5B6372"/>
                </a:solidFill>
                <a:latin typeface="Arial"/>
              </a:rPr>
              <a:t>No memory at all - the EWMA IS the individuals chart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Match lambda to shift size</a:t>
            </a:r>
          </a:p>
          <a:p>
            <a:pPr algn="l">
              <a:spcAft>
                <a:spcPts val="300"/>
              </a:spcAft>
            </a:pPr>
            <a:r>
              <a:rPr sz="1200" b="0">
                <a:solidFill>
                  <a:srgbClr val="5B6372"/>
                </a:solidFill>
                <a:latin typeface="Arial"/>
              </a:rPr>
              <a:t>Small shift to detect -&gt; small lambda. Large shift -&gt; larger lambda</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Set L with lambda</a:t>
            </a:r>
          </a:p>
          <a:p>
            <a:pPr algn="l">
              <a:spcAft>
                <a:spcPts val="300"/>
              </a:spcAft>
            </a:pPr>
            <a:r>
              <a:rPr sz="1200" b="0">
                <a:solidFill>
                  <a:srgbClr val="5B6372"/>
                </a:solidFill>
                <a:latin typeface="Arial"/>
              </a:rPr>
              <a:t>L = 2.7 with lambda = 0.10 gives ARL-0 near 500. Tune the pair, not one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BLACK BELT ONLY - EWMA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worked EWMA - Suzhou cure oven temperature</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Design</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T = 180 C, sigma = 1.2, lambda = 0.20, L = 2.7</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Steady-state limits 180 +/- 1.08 C</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Points 1-4</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180.6, 181.1, 180.9, 181.4</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z = 180.12, 180.32, 180.43, 180.63</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Points 5-7</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181.2, 181.6, 181.5</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z = 180.75, 180.92, 181.03 - signals at point 8</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Individual readings never exceed 183.6 (the 3-sigma individuals limit). The smoothed statistic crosses in 8 points.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BLACK BELT ONLY - EWMA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CUSUM or EWMA - choosing between them</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CUSUM</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Sharper on a known shift size</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Slightly faster when you know the shift to detect</a:t>
            </a:r>
          </a:p>
          <a:p>
            <a:pPr>
              <a:spcAft>
                <a:spcPts val="700"/>
              </a:spcAft>
            </a:pPr>
            <a:r>
              <a:rPr sz="1200">
                <a:solidFill>
                  <a:srgbClr val="161B26"/>
                </a:solidFill>
                <a:latin typeface="Arial"/>
              </a:rPr>
              <a:t>•  The sum estimates when the shift started</a:t>
            </a:r>
          </a:p>
          <a:p>
            <a:pPr>
              <a:spcAft>
                <a:spcPts val="700"/>
              </a:spcAft>
            </a:pPr>
            <a:r>
              <a:rPr sz="1200">
                <a:solidFill>
                  <a:srgbClr val="161B26"/>
                </a:solidFill>
                <a:latin typeface="Arial"/>
              </a:rPr>
              <a:t>•  Two statistics to plot and read</a:t>
            </a:r>
          </a:p>
          <a:p>
            <a:pPr>
              <a:spcAft>
                <a:spcPts val="700"/>
              </a:spcAft>
            </a:pPr>
            <a:r>
              <a:rPr sz="1200">
                <a:solidFill>
                  <a:srgbClr val="161B26"/>
                </a:solidFill>
                <a:latin typeface="Arial"/>
              </a:rPr>
              <a:t>•  Less intuitive for operators</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EWMA</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More forgiving and more general</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One smoothed line plotted like a normal chart</a:t>
            </a:r>
          </a:p>
          <a:p>
            <a:pPr>
              <a:spcAft>
                <a:spcPts val="700"/>
              </a:spcAft>
            </a:pPr>
            <a:r>
              <a:rPr sz="1200">
                <a:solidFill>
                  <a:srgbClr val="161B26"/>
                </a:solidFill>
                <a:latin typeface="Arial"/>
              </a:rPr>
              <a:t>•  Performs well across a RANGE of shift sizes</a:t>
            </a:r>
          </a:p>
          <a:p>
            <a:pPr>
              <a:spcAft>
                <a:spcPts val="700"/>
              </a:spcAft>
            </a:pPr>
            <a:r>
              <a:rPr sz="1200">
                <a:solidFill>
                  <a:srgbClr val="161B26"/>
                </a:solidFill>
                <a:latin typeface="Arial"/>
              </a:rPr>
              <a:t>•  Handles AUTOCORRELATED data - CUSUM does not</a:t>
            </a:r>
          </a:p>
          <a:p>
            <a:pPr>
              <a:spcAft>
                <a:spcPts val="700"/>
              </a:spcAft>
            </a:pPr>
            <a:r>
              <a:rPr sz="1200">
                <a:solidFill>
                  <a:srgbClr val="161B26"/>
                </a:solidFill>
                <a:latin typeface="Arial"/>
              </a:rPr>
              <a:t>•  Easier for operators to interpret</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In practice</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Black Belt's default</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EWMA for most processes - readability wins</a:t>
            </a:r>
          </a:p>
          <a:p>
            <a:pPr>
              <a:spcAft>
                <a:spcPts val="700"/>
              </a:spcAft>
            </a:pPr>
            <a:r>
              <a:rPr sz="1200">
                <a:solidFill>
                  <a:srgbClr val="161B26"/>
                </a:solidFill>
                <a:latin typeface="Arial"/>
              </a:rPr>
              <a:t>•  CUSUM when the shift size is known and detection speed is critical</a:t>
            </a:r>
          </a:p>
          <a:p>
            <a:pPr>
              <a:spcAft>
                <a:spcPts val="700"/>
              </a:spcAft>
            </a:pPr>
            <a:r>
              <a:rPr sz="1200">
                <a:solidFill>
                  <a:srgbClr val="161B26"/>
                </a:solidFill>
                <a:latin typeface="Arial"/>
              </a:rPr>
              <a:t>•  Either one ALWAYS paired with a Shewhart chart for spikes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BLACK BELT ONLY - AUTOCORRELATION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BLACK BELT ONLY: Autocorrelation</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If this reading predicts the next one, Shewhart limits are far too narrow - and the chart screams.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BLACK BELT ONLY - AUTOCORRELATION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Where autocorrelation comes from</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Chemical and batch processes</a:t>
            </a:r>
          </a:p>
          <a:p>
            <a:pPr algn="l">
              <a:spcAft>
                <a:spcPts val="300"/>
              </a:spcAft>
            </a:pPr>
            <a:r>
              <a:rPr sz="1200" b="0">
                <a:solidFill>
                  <a:srgbClr val="5B6372"/>
                </a:solidFill>
                <a:latin typeface="Arial"/>
              </a:rPr>
              <a:t>Reactor contents carry over - this hour's concentration sets next hour's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Continuous flow</a:t>
            </a:r>
          </a:p>
          <a:p>
            <a:pPr algn="l">
              <a:spcAft>
                <a:spcPts val="300"/>
              </a:spcAft>
            </a:pPr>
            <a:r>
              <a:rPr sz="1200" b="0">
                <a:solidFill>
                  <a:srgbClr val="5B6372"/>
                </a:solidFill>
                <a:latin typeface="Arial"/>
              </a:rPr>
              <a:t>Tanks, ovens and dryers have thermal inertia measured in hours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High-frequency sampling</a:t>
            </a:r>
          </a:p>
          <a:p>
            <a:pPr algn="l">
              <a:spcAft>
                <a:spcPts val="300"/>
              </a:spcAft>
            </a:pPr>
            <a:r>
              <a:rPr sz="1200" b="0">
                <a:solidFill>
                  <a:srgbClr val="5B6372"/>
                </a:solidFill>
                <a:latin typeface="Arial"/>
              </a:rPr>
              <a:t>Sample faster than the process can change and every reading resembles the last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Feedback control loops</a:t>
            </a:r>
          </a:p>
          <a:p>
            <a:pPr algn="l">
              <a:spcAft>
                <a:spcPts val="300"/>
              </a:spcAft>
            </a:pPr>
            <a:r>
              <a:rPr sz="1200" b="0">
                <a:solidFill>
                  <a:srgbClr val="5B6372"/>
                </a:solidFill>
                <a:latin typeface="Arial"/>
              </a:rPr>
              <a:t>A PID controller deliberately makes the next reading depend on the last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Meridian case</a:t>
            </a:r>
          </a:p>
          <a:p>
            <a:pPr algn="l">
              <a:spcAft>
                <a:spcPts val="300"/>
              </a:spcAft>
            </a:pPr>
            <a:r>
              <a:rPr sz="1200" b="0">
                <a:solidFill>
                  <a:srgbClr val="5B6372"/>
                </a:solidFill>
                <a:latin typeface="Arial"/>
              </a:rPr>
              <a:t>Suzhou adhesive viscosity sampled every 5 minutes from a 400 L heated vessel</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tell-tale</a:t>
            </a:r>
          </a:p>
          <a:p>
            <a:pPr algn="l">
              <a:spcAft>
                <a:spcPts val="300"/>
              </a:spcAft>
            </a:pPr>
            <a:r>
              <a:rPr sz="1200" b="0">
                <a:solidFill>
                  <a:srgbClr val="5B6372"/>
                </a:solidFill>
                <a:latin typeface="Arial"/>
              </a:rPr>
              <a:t>Lag-1 autocorrelation above about 0.5 on the baseline data</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BLACK BELT ONLY - AUTOCORRELATION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autocorrelation does to a Shewhart chart</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The mechanism</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Sigma is underestimated</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Moving-range sigma assumes consecutive points are independent</a:t>
            </a:r>
          </a:p>
          <a:p>
            <a:pPr>
              <a:spcAft>
                <a:spcPts val="700"/>
              </a:spcAft>
            </a:pPr>
            <a:r>
              <a:rPr sz="1200">
                <a:solidFill>
                  <a:srgbClr val="161B26"/>
                </a:solidFill>
                <a:latin typeface="Arial"/>
              </a:rPr>
              <a:t>•  Correlated points sit close together, so MR is small</a:t>
            </a:r>
          </a:p>
          <a:p>
            <a:pPr>
              <a:spcAft>
                <a:spcPts val="700"/>
              </a:spcAft>
            </a:pPr>
            <a:r>
              <a:rPr sz="1200">
                <a:solidFill>
                  <a:srgbClr val="161B26"/>
                </a:solidFill>
                <a:latin typeface="Arial"/>
              </a:rPr>
              <a:t>•  Small MR gives a small sigma estimate</a:t>
            </a:r>
          </a:p>
          <a:p>
            <a:pPr>
              <a:spcAft>
                <a:spcPts val="700"/>
              </a:spcAft>
            </a:pPr>
            <a:r>
              <a:rPr sz="1200">
                <a:solidFill>
                  <a:srgbClr val="161B26"/>
                </a:solidFill>
                <a:latin typeface="Arial"/>
              </a:rPr>
              <a:t>•  Small sigma gives limits far too narrow</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The symptom</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Constant false alarms</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20 to 40 percent of points outside the limits</a:t>
            </a:r>
          </a:p>
          <a:p>
            <a:pPr>
              <a:spcAft>
                <a:spcPts val="700"/>
              </a:spcAft>
            </a:pPr>
            <a:r>
              <a:rPr sz="1200">
                <a:solidFill>
                  <a:srgbClr val="161B26"/>
                </a:solidFill>
                <a:latin typeface="Arial"/>
              </a:rPr>
              <a:t>•  Long runs on one side firing Rule 4 continually</a:t>
            </a:r>
          </a:p>
          <a:p>
            <a:pPr>
              <a:spcAft>
                <a:spcPts val="700"/>
              </a:spcAft>
            </a:pPr>
            <a:r>
              <a:rPr sz="1200">
                <a:solidFill>
                  <a:srgbClr val="161B26"/>
                </a:solidFill>
                <a:latin typeface="Arial"/>
              </a:rPr>
              <a:t>•  The process is genuinely stable - the chart is wrong</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The damage</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chart is abandoned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Operators learn every signal is noise</a:t>
            </a:r>
          </a:p>
          <a:p>
            <a:pPr>
              <a:spcAft>
                <a:spcPts val="700"/>
              </a:spcAft>
            </a:pPr>
            <a:r>
              <a:rPr sz="1200">
                <a:solidFill>
                  <a:srgbClr val="161B26"/>
                </a:solidFill>
                <a:latin typeface="Arial"/>
              </a:rPr>
              <a:t>•  They stop investigating - including the real ones</a:t>
            </a:r>
          </a:p>
          <a:p>
            <a:pPr>
              <a:spcAft>
                <a:spcPts val="700"/>
              </a:spcAft>
            </a:pPr>
            <a:r>
              <a:rPr sz="1200">
                <a:solidFill>
                  <a:srgbClr val="161B26"/>
                </a:solidFill>
                <a:latin typeface="Arial"/>
              </a:rPr>
              <a:t>•  This is how SPC programmes quietly die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BLACK BELT ONLY - AUTOCORRELATION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Diagnosing and fixing autocorrelation</a:t>
            </a:r>
          </a:p>
        </p:txBody>
      </p:sp>
      <p:sp>
        <p:nvSpPr>
          <p:cNvPr id="6" name="Rectangle 5"/>
          <p:cNvSpPr/>
          <p:nvPr/>
        </p:nvSpPr>
        <p:spPr>
          <a:xfrm>
            <a:off x="77724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513332"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8146" y="2788920"/>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814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Plot the data in time order and look for long smooth waves</a:t>
            </a:r>
          </a:p>
        </p:txBody>
      </p:sp>
      <p:sp>
        <p:nvSpPr>
          <p:cNvPr id="11" name="TextBox 10"/>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2" name="Rectangle 11"/>
          <p:cNvSpPr/>
          <p:nvPr/>
        </p:nvSpPr>
        <p:spPr>
          <a:xfrm>
            <a:off x="2601468"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601468" y="2404872"/>
            <a:ext cx="1513332"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992374" y="2788920"/>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9237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2729484"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Compute the lag-1 autocorrelation on 50+ baseline points</a:t>
            </a:r>
          </a:p>
        </p:txBody>
      </p:sp>
      <p:sp>
        <p:nvSpPr>
          <p:cNvPr id="17" name="TextBox 16"/>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8" name="Rectangle 17"/>
          <p:cNvSpPr/>
          <p:nvPr/>
        </p:nvSpPr>
        <p:spPr>
          <a:xfrm>
            <a:off x="4425696"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25696" y="2404872"/>
            <a:ext cx="1513332"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816602" y="2788920"/>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816602"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4553712"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If it exceeds about 0.5, the Shewhart assumption is broken</a:t>
            </a:r>
          </a:p>
        </p:txBody>
      </p:sp>
      <p:sp>
        <p:nvSpPr>
          <p:cNvPr id="23" name="TextBox 22"/>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24" name="Rectangle 23"/>
          <p:cNvSpPr/>
          <p:nvPr/>
        </p:nvSpPr>
        <p:spPr>
          <a:xfrm>
            <a:off x="6249924"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249924" y="2404872"/>
            <a:ext cx="1513332"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640830" y="2788920"/>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64083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6377940"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Fix 1: sample LESS often, until consecutive readings are independent</a:t>
            </a:r>
          </a:p>
        </p:txBody>
      </p:sp>
      <p:sp>
        <p:nvSpPr>
          <p:cNvPr id="29" name="TextBox 28"/>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0" name="Rectangle 29"/>
          <p:cNvSpPr/>
          <p:nvPr/>
        </p:nvSpPr>
        <p:spPr>
          <a:xfrm>
            <a:off x="8074152"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074152" y="2404872"/>
            <a:ext cx="1513332"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465058" y="2788920"/>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6505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8202168"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Fix 2: use an EWMA chart, which tolerates the correlation</a:t>
            </a:r>
          </a:p>
        </p:txBody>
      </p:sp>
      <p:sp>
        <p:nvSpPr>
          <p:cNvPr id="35" name="TextBox 34"/>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6" name="Rectangle 35"/>
          <p:cNvSpPr/>
          <p:nvPr/>
        </p:nvSpPr>
        <p:spPr>
          <a:xfrm>
            <a:off x="9898380" y="2404872"/>
            <a:ext cx="1513332"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898380" y="2404872"/>
            <a:ext cx="1513332"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89286" y="2788920"/>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289286"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6</a:t>
            </a:r>
          </a:p>
        </p:txBody>
      </p:sp>
      <p:sp>
        <p:nvSpPr>
          <p:cNvPr id="40" name="TextBox 39"/>
          <p:cNvSpPr txBox="1"/>
          <p:nvPr/>
        </p:nvSpPr>
        <p:spPr>
          <a:xfrm>
            <a:off x="10026396" y="3703320"/>
            <a:ext cx="1257300" cy="1325880"/>
          </a:xfrm>
          <a:prstGeom prst="rect">
            <a:avLst/>
          </a:prstGeom>
          <a:noFill/>
        </p:spPr>
        <p:txBody>
          <a:bodyPr wrap="square" anchor="t">
            <a:spAutoFit/>
          </a:bodyPr>
          <a:lstStyle/>
          <a:p>
            <a:pPr algn="ctr">
              <a:spcAft>
                <a:spcPts val="400"/>
              </a:spcAft>
            </a:pPr>
            <a:r>
              <a:rPr sz="1300" b="0">
                <a:solidFill>
                  <a:srgbClr val="161B26"/>
                </a:solidFill>
                <a:latin typeface="Arial"/>
              </a:rPr>
              <a:t>Fix 3: fit a time-series model and chart the RESIDUALS</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BLACK BELT ONLY - SHORT RUN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BLACK BELT ONLY: Short-run SPC</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High-mix low-volume never gets 25 subgroups per part number. Chart the deviation instead.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BLACK BELT ONLY - SHORT RUN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short-run problem</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rule you cannot meet</a:t>
            </a:r>
          </a:p>
          <a:p>
            <a:pPr algn="l">
              <a:spcAft>
                <a:spcPts val="300"/>
              </a:spcAft>
            </a:pPr>
            <a:r>
              <a:rPr sz="1200" b="0">
                <a:solidFill>
                  <a:srgbClr val="5B6372"/>
                </a:solidFill>
                <a:latin typeface="Arial"/>
              </a:rPr>
              <a:t>Control limits need 25+ subgroups. A 40-unit run gives you 8</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High mix, low volume</a:t>
            </a:r>
          </a:p>
          <a:p>
            <a:pPr algn="l">
              <a:spcAft>
                <a:spcPts val="300"/>
              </a:spcAft>
            </a:pPr>
            <a:r>
              <a:rPr sz="1200" b="0">
                <a:solidFill>
                  <a:srgbClr val="5B6372"/>
                </a:solidFill>
                <a:latin typeface="Arial"/>
              </a:rPr>
              <a:t>Meridian Singapore runs 34 pump variants across one assembly cell</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Per-part charts fail</a:t>
            </a:r>
          </a:p>
          <a:p>
            <a:pPr algn="l">
              <a:spcAft>
                <a:spcPts val="300"/>
              </a:spcAft>
            </a:pPr>
            <a:r>
              <a:rPr sz="1200" b="0">
                <a:solidFill>
                  <a:srgbClr val="5B6372"/>
                </a:solidFill>
                <a:latin typeface="Arial"/>
              </a:rPr>
              <a:t>34 charts, none with enough data, all with meaningless limits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cell is the constant</a:t>
            </a:r>
          </a:p>
          <a:p>
            <a:pPr algn="l">
              <a:spcAft>
                <a:spcPts val="300"/>
              </a:spcAft>
            </a:pPr>
            <a:r>
              <a:rPr sz="1200" b="0">
                <a:solidFill>
                  <a:srgbClr val="5B6372"/>
                </a:solidFill>
                <a:latin typeface="Arial"/>
              </a:rPr>
              <a:t>The same fixture, operator and method make every variant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insight</a:t>
            </a:r>
          </a:p>
          <a:p>
            <a:pPr algn="l">
              <a:spcAft>
                <a:spcPts val="300"/>
              </a:spcAft>
            </a:pPr>
            <a:r>
              <a:rPr sz="1200" b="0">
                <a:solidFill>
                  <a:srgbClr val="5B6372"/>
                </a:solidFill>
                <a:latin typeface="Arial"/>
              </a:rPr>
              <a:t>Chart the PROCESS, not the part. Variation belongs to the cell</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method</a:t>
            </a:r>
          </a:p>
          <a:p>
            <a:pPr algn="l">
              <a:spcAft>
                <a:spcPts val="300"/>
              </a:spcAft>
            </a:pPr>
            <a:r>
              <a:rPr sz="1200" b="0">
                <a:solidFill>
                  <a:srgbClr val="5B6372"/>
                </a:solidFill>
                <a:latin typeface="Arial"/>
              </a:rPr>
              <a:t>Transform every part onto one common scale, then chart them together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BLACK BELT ONLY - SHORT RUN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two short-run transformations</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DNOM chart</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plotted = x - nominal(part)</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Deviation from nominal. Use when spread is similar across parts</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Standardised chart</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plotted = (x - nominal) / sigma(part)</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Use when parts have DIFFERENT spreads</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Limits</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DNOM: 0 +/- A2 x Rbar-pooled</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Standardised: 0 +/- 3, always</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Both centre every part at zero, so one chart carries the whole product mix on a single scale.</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BLACK BELT ONLY - SHORT RUN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worked DNOM - Singapore assembly cell</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Part A</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Nominal 24.0 mm, measured 24.03</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Plotted = +0.03</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Part B</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Nominal 31.5 mm, measured 31.46</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Plotted = -0.04</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Part C</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Nominal 18.2 mm, measured 18.25</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Plotted = +0.05</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Three different parts, one chart, one set of limits. The cell now has 300 points instead of 34 charts of 8.</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BLACK BELT ONLY - MULTIVARIATE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BLACK BELT ONLY: Multivariate SPC</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Five separate charts inflate your false alarms - and still miss the failure that matters most.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BLACK BELT ONLY - MULTIVARIATE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Problem 1 - false alarm inflation</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One chart</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P(signal) = 0.0027</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The familiar 3-sigma false alarm rate</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Five charts</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1 - (1 - 0.0027)^5 = 0.0134</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1.34 percent - five times worse</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Ten charts</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1 - (1 - 0.0027)^10 = 0.0267</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2.67 percent - a false alarm every 37 points</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The same alpha-inflation logic as repeated t-tests. More charts means more crying wolf.</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BLACK BELT ONLY - MULTIVARIATE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Problem 2 - the failure separate charts CANNOT see</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Two correlated CTQs</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Meridian pump body</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Bore diameter and piston diameter</a:t>
            </a:r>
          </a:p>
          <a:p>
            <a:pPr>
              <a:spcAft>
                <a:spcPts val="700"/>
              </a:spcAft>
            </a:pPr>
            <a:r>
              <a:rPr sz="1200">
                <a:solidFill>
                  <a:srgbClr val="161B26"/>
                </a:solidFill>
                <a:latin typeface="Arial"/>
              </a:rPr>
              <a:t>•  Historically they track together - r = 0.86</a:t>
            </a:r>
          </a:p>
          <a:p>
            <a:pPr>
              <a:spcAft>
                <a:spcPts val="700"/>
              </a:spcAft>
            </a:pPr>
            <a:r>
              <a:rPr sz="1200">
                <a:solidFill>
                  <a:srgbClr val="161B26"/>
                </a:solidFill>
                <a:latin typeface="Arial"/>
              </a:rPr>
              <a:t>•  Both machined from the same billet, same thermal cycle</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Both charts pass</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Each looks perfectly normal</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Bore = 12.03 mm, well inside its limits</a:t>
            </a:r>
          </a:p>
          <a:p>
            <a:pPr>
              <a:spcAft>
                <a:spcPts val="700"/>
              </a:spcAft>
            </a:pPr>
            <a:r>
              <a:rPr sz="1200">
                <a:solidFill>
                  <a:srgbClr val="161B26"/>
                </a:solidFill>
                <a:latin typeface="Arial"/>
              </a:rPr>
              <a:t>•  Piston = 11.88 mm, well inside its limits</a:t>
            </a:r>
          </a:p>
          <a:p>
            <a:pPr>
              <a:spcAft>
                <a:spcPts val="700"/>
              </a:spcAft>
            </a:pPr>
            <a:r>
              <a:rPr sz="1200">
                <a:solidFill>
                  <a:srgbClr val="161B26"/>
                </a:solidFill>
                <a:latin typeface="Arial"/>
              </a:rPr>
              <a:t>•  Two green charts, no signal, no action taken</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The product is scrap</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COMBINATION is impossible</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That bore-piston pair has never occurred before</a:t>
            </a:r>
          </a:p>
          <a:p>
            <a:pPr>
              <a:spcAft>
                <a:spcPts val="700"/>
              </a:spcAft>
            </a:pPr>
            <a:r>
              <a:rPr sz="1200">
                <a:solidFill>
                  <a:srgbClr val="161B26"/>
                </a:solidFill>
                <a:latin typeface="Arial"/>
              </a:rPr>
              <a:t>•  Clearance is 0.15 mm against a 0.06 mm design</a:t>
            </a:r>
          </a:p>
          <a:p>
            <a:pPr>
              <a:spcAft>
                <a:spcPts val="700"/>
              </a:spcAft>
            </a:pPr>
            <a:r>
              <a:rPr sz="1200">
                <a:solidFill>
                  <a:srgbClr val="161B26"/>
                </a:solidFill>
                <a:latin typeface="Arial"/>
              </a:rPr>
              <a:t>•  The correlation broke - only a joint chart sees it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BLACK BELT ONLY - MULTIVARIATE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Hotelling's T-squared</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The statistic</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T2 = n (x-bar - mu)' S-inverse (x-bar - mu)</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Squared distance in p dimensions</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What S-inverse does</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The covariance matrix inverse</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It accounts for the CORRELATION between variables</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Control limit</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UCL from the F-distribution</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Function of p variables, m subgroups, n subgroup size</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T2 is a generalised squared distance from the process centroid, scaled by how the variables normally co-vary.</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BLACK BELT ONLY - MULTIVARIATE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Reading the T-squared chart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One chart, all variables</a:t>
            </a:r>
          </a:p>
          <a:p>
            <a:pPr algn="l">
              <a:spcAft>
                <a:spcPts val="300"/>
              </a:spcAft>
            </a:pPr>
            <a:r>
              <a:rPr sz="1200" b="0">
                <a:solidFill>
                  <a:srgbClr val="5B6372"/>
                </a:solidFill>
                <a:latin typeface="Arial"/>
              </a:rPr>
              <a:t>A single line replaces p separate charts - and one honest alpha</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NO lower control limit</a:t>
            </a:r>
          </a:p>
          <a:p>
            <a:pPr algn="l">
              <a:spcAft>
                <a:spcPts val="300"/>
              </a:spcAft>
            </a:pPr>
            <a:r>
              <a:rPr sz="1200" b="0">
                <a:solidFill>
                  <a:srgbClr val="5B6372"/>
                </a:solidFill>
                <a:latin typeface="Arial"/>
              </a:rPr>
              <a:t>T2 is a squared distance, so it cannot be negative. Only an upper limit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limit comes from F</a:t>
            </a:r>
          </a:p>
          <a:p>
            <a:pPr algn="l">
              <a:spcAft>
                <a:spcPts val="300"/>
              </a:spcAft>
            </a:pPr>
            <a:r>
              <a:rPr sz="1200" b="0">
                <a:solidFill>
                  <a:srgbClr val="5B6372"/>
                </a:solidFill>
                <a:latin typeface="Arial"/>
              </a:rPr>
              <a:t>UCL uses the F-distribution, not 3 sigma - the geometry is different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It sees correlation breaks</a:t>
            </a:r>
          </a:p>
          <a:p>
            <a:pPr algn="l">
              <a:spcAft>
                <a:spcPts val="300"/>
              </a:spcAft>
            </a:pPr>
            <a:r>
              <a:rPr sz="1200" b="0">
                <a:solidFill>
                  <a:srgbClr val="5B6372"/>
                </a:solidFill>
                <a:latin typeface="Arial"/>
              </a:rPr>
              <a:t>A point can signal with EVERY variable inside its own limits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It does not say which variable</a:t>
            </a:r>
          </a:p>
          <a:p>
            <a:pPr algn="l">
              <a:spcAft>
                <a:spcPts val="300"/>
              </a:spcAft>
            </a:pPr>
            <a:r>
              <a:rPr sz="1200" b="0">
                <a:solidFill>
                  <a:srgbClr val="5B6372"/>
                </a:solidFill>
                <a:latin typeface="Arial"/>
              </a:rPr>
              <a:t>The signal is a distance. Diagnosis needs decomposition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Pair it with a spread chart</a:t>
            </a:r>
          </a:p>
          <a:p>
            <a:pPr algn="l">
              <a:spcAft>
                <a:spcPts val="300"/>
              </a:spcAft>
            </a:pPr>
            <a:r>
              <a:rPr sz="1200" b="0">
                <a:solidFill>
                  <a:srgbClr val="5B6372"/>
                </a:solidFill>
                <a:latin typeface="Arial"/>
              </a:rPr>
              <a:t>T2 watches the centroid; a generalised variance chart watches the spread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BLACK BELT ONLY - MULTIVARIATE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When multivariate SPC earns its keep</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Use it when CTQs correlate</a:t>
            </a:r>
          </a:p>
          <a:p>
            <a:pPr algn="l">
              <a:spcAft>
                <a:spcPts val="300"/>
              </a:spcAft>
            </a:pPr>
            <a:r>
              <a:rPr sz="1200" b="0">
                <a:solidFill>
                  <a:srgbClr val="5B6372"/>
                </a:solidFill>
                <a:latin typeface="Arial"/>
              </a:rPr>
              <a:t>Correlation above about 0.5 - separate charts are then misleading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Use it when p is large</a:t>
            </a:r>
          </a:p>
          <a:p>
            <a:pPr algn="l">
              <a:spcAft>
                <a:spcPts val="300"/>
              </a:spcAft>
            </a:pPr>
            <a:r>
              <a:rPr sz="1200" b="0">
                <a:solidFill>
                  <a:srgbClr val="5B6372"/>
                </a:solidFill>
                <a:latin typeface="Arial"/>
              </a:rPr>
              <a:t>Five or more characteristics on one product or process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Use it for assemblies</a:t>
            </a:r>
          </a:p>
          <a:p>
            <a:pPr algn="l">
              <a:spcAft>
                <a:spcPts val="300"/>
              </a:spcAft>
            </a:pPr>
            <a:r>
              <a:rPr sz="1200" b="0">
                <a:solidFill>
                  <a:srgbClr val="5B6372"/>
                </a:solidFill>
                <a:latin typeface="Arial"/>
              </a:rPr>
              <a:t>Mating dimensions where the FIT, not each part, is the requirement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Do NOT use it if independent</a:t>
            </a:r>
          </a:p>
          <a:p>
            <a:pPr algn="l">
              <a:spcAft>
                <a:spcPts val="300"/>
              </a:spcAft>
            </a:pPr>
            <a:r>
              <a:rPr sz="1200" b="0">
                <a:solidFill>
                  <a:srgbClr val="5B6372"/>
                </a:solidFill>
                <a:latin typeface="Arial"/>
              </a:rPr>
              <a:t>Uncorrelated variables - separate charts are clearer and diagnostic</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Do NOT use it without software</a:t>
            </a:r>
          </a:p>
          <a:p>
            <a:pPr algn="l">
              <a:spcAft>
                <a:spcPts val="300"/>
              </a:spcAft>
            </a:pPr>
            <a:r>
              <a:rPr sz="1200" b="0">
                <a:solidFill>
                  <a:srgbClr val="5B6372"/>
                </a:solidFill>
                <a:latin typeface="Arial"/>
              </a:rPr>
              <a:t>The matrix algebra is not a spreadsheet job for the shop floor</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Do NOT use it without training</a:t>
            </a:r>
          </a:p>
          <a:p>
            <a:pPr algn="l">
              <a:spcAft>
                <a:spcPts val="300"/>
              </a:spcAft>
            </a:pPr>
            <a:r>
              <a:rPr sz="1200" b="0">
                <a:solidFill>
                  <a:srgbClr val="5B6372"/>
                </a:solidFill>
                <a:latin typeface="Arial"/>
              </a:rPr>
              <a:t>A T2 signal with no decomposition is a mystery, not a control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BLACK BELT ONLY - GOVERNANCE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BLACK BELT ONLY: Governing control plans</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You do not audit your own project. You audit the portfolio - and find the decay.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BLACK BELT ONLY - GOVERNANCE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audit cadence across a portfolio</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30 days after handover</a:t>
            </a:r>
          </a:p>
          <a:p>
            <a:pPr algn="l">
              <a:spcAft>
                <a:spcPts val="300"/>
              </a:spcAft>
            </a:pPr>
            <a:r>
              <a:rPr sz="1200" b="0">
                <a:solidFill>
                  <a:srgbClr val="5B6372"/>
                </a:solidFill>
                <a:latin typeface="Arial"/>
              </a:rPr>
              <a:t>Is the chart being plotted? Does the owner know they own it?</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60 days</a:t>
            </a:r>
          </a:p>
          <a:p>
            <a:pPr algn="l">
              <a:spcAft>
                <a:spcPts val="300"/>
              </a:spcAft>
            </a:pPr>
            <a:r>
              <a:rPr sz="1200" b="0">
                <a:solidFill>
                  <a:srgbClr val="5B6372"/>
                </a:solidFill>
                <a:latin typeface="Arial"/>
              </a:rPr>
              <a:t>Have any signals occurred? Was the reaction plan actually followed?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90 days</a:t>
            </a:r>
          </a:p>
          <a:p>
            <a:pPr algn="l">
              <a:spcAft>
                <a:spcPts val="300"/>
              </a:spcAft>
            </a:pPr>
            <a:r>
              <a:rPr sz="1200" b="0">
                <a:solidFill>
                  <a:srgbClr val="5B6372"/>
                </a:solidFill>
                <a:latin typeface="Arial"/>
              </a:rPr>
              <a:t>Is capability holding? Has the benefit rate held against the Finance model?</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Then quarterly</a:t>
            </a:r>
          </a:p>
          <a:p>
            <a:pPr algn="l">
              <a:spcAft>
                <a:spcPts val="300"/>
              </a:spcAft>
            </a:pPr>
            <a:r>
              <a:rPr sz="1200" b="0">
                <a:solidFill>
                  <a:srgbClr val="5B6372"/>
                </a:solidFill>
                <a:latin typeface="Arial"/>
              </a:rPr>
              <a:t>Rolling sample of control plans across all closed projects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Trigger audits</a:t>
            </a:r>
          </a:p>
          <a:p>
            <a:pPr algn="l">
              <a:spcAft>
                <a:spcPts val="300"/>
              </a:spcAft>
            </a:pPr>
            <a:r>
              <a:rPr sz="1200" b="0">
                <a:solidFill>
                  <a:srgbClr val="5B6372"/>
                </a:solidFill>
                <a:latin typeface="Arial"/>
              </a:rPr>
              <a:t>Any customer complaint, scrap spike or process change forces an off-cycle audit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Report to the steering committee</a:t>
            </a:r>
          </a:p>
          <a:p>
            <a:pPr algn="l">
              <a:spcAft>
                <a:spcPts val="300"/>
              </a:spcAft>
            </a:pPr>
            <a:r>
              <a:rPr sz="1200" b="0">
                <a:solidFill>
                  <a:srgbClr val="5B6372"/>
                </a:solidFill>
                <a:latin typeface="Arial"/>
              </a:rPr>
              <a:t>Sustainment status by project - a standing agenda item</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BLACK BELT ONLY - GOVERNANCE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common decay mode - and how to catch it</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What auditors see</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Everything looks compliant</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Charts printed, posted, up to date</a:t>
            </a:r>
          </a:p>
          <a:p>
            <a:pPr>
              <a:spcAft>
                <a:spcPts val="700"/>
              </a:spcAft>
            </a:pPr>
            <a:r>
              <a:rPr sz="1200">
                <a:solidFill>
                  <a:srgbClr val="161B26"/>
                </a:solidFill>
                <a:latin typeface="Arial"/>
              </a:rPr>
              <a:t>•  SOP present at the workstation</a:t>
            </a:r>
          </a:p>
          <a:p>
            <a:pPr>
              <a:spcAft>
                <a:spcPts val="700"/>
              </a:spcAft>
            </a:pPr>
            <a:r>
              <a:rPr sz="1200">
                <a:solidFill>
                  <a:srgbClr val="161B26"/>
                </a:solidFill>
                <a:latin typeface="Arial"/>
              </a:rPr>
              <a:t>•  Owner named on the control plan</a:t>
            </a:r>
          </a:p>
          <a:p>
            <a:pPr>
              <a:spcAft>
                <a:spcPts val="700"/>
              </a:spcAft>
            </a:pPr>
            <a:r>
              <a:rPr sz="1200">
                <a:solidFill>
                  <a:srgbClr val="161B26"/>
                </a:solidFill>
                <a:latin typeface="Arial"/>
              </a:rPr>
              <a:t>•  The tick-box audit passes cleanly</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What is actually happening</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Signals are never actioned</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Out-of-control points plotted and left uncircled</a:t>
            </a:r>
          </a:p>
          <a:p>
            <a:pPr>
              <a:spcAft>
                <a:spcPts val="700"/>
              </a:spcAft>
            </a:pPr>
            <a:r>
              <a:rPr sz="1200">
                <a:solidFill>
                  <a:srgbClr val="161B26"/>
                </a:solidFill>
                <a:latin typeface="Arial"/>
              </a:rPr>
              <a:t>•  No investigation record for any of them</a:t>
            </a:r>
          </a:p>
          <a:p>
            <a:pPr>
              <a:spcAft>
                <a:spcPts val="700"/>
              </a:spcAft>
            </a:pPr>
            <a:r>
              <a:rPr sz="1200">
                <a:solidFill>
                  <a:srgbClr val="161B26"/>
                </a:solidFill>
                <a:latin typeface="Arial"/>
              </a:rPr>
              <a:t>•  The chart has become a record, not a control</a:t>
            </a:r>
          </a:p>
          <a:p>
            <a:pPr>
              <a:spcAft>
                <a:spcPts val="700"/>
              </a:spcAft>
            </a:pPr>
            <a:r>
              <a:rPr sz="1200">
                <a:solidFill>
                  <a:srgbClr val="161B26"/>
                </a:solidFill>
                <a:latin typeface="Arial"/>
              </a:rPr>
              <a:t>•  The gain has already begun to erode</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The audit that catches it</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Trace signals, not charts</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Pick the last three out-of-control points</a:t>
            </a:r>
          </a:p>
          <a:p>
            <a:pPr>
              <a:spcAft>
                <a:spcPts val="700"/>
              </a:spcAft>
            </a:pPr>
            <a:r>
              <a:rPr sz="1200">
                <a:solidFill>
                  <a:srgbClr val="161B26"/>
                </a:solidFill>
                <a:latin typeface="Arial"/>
              </a:rPr>
              <a:t>•  Demand the dated investigation for each</a:t>
            </a:r>
          </a:p>
          <a:p>
            <a:pPr>
              <a:spcAft>
                <a:spcPts val="700"/>
              </a:spcAft>
            </a:pPr>
            <a:r>
              <a:rPr sz="1200">
                <a:solidFill>
                  <a:srgbClr val="161B26"/>
                </a:solidFill>
                <a:latin typeface="Arial"/>
              </a:rPr>
              <a:t>•  No record means the control plan has failed</a:t>
            </a:r>
          </a:p>
          <a:p>
            <a:pPr>
              <a:spcAft>
                <a:spcPts val="700"/>
              </a:spcAft>
            </a:pPr>
            <a:r>
              <a:rPr sz="1200">
                <a:solidFill>
                  <a:srgbClr val="161B26"/>
                </a:solidFill>
                <a:latin typeface="Arial"/>
              </a:rPr>
              <a:t>•  This one test finds most sustainment failures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BLACK BELT ONLY - FINANCE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BLACK BELT ONLY: Benefits are not real</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until Finance signs them. Hard, soft and cost-avoidance are booked in three different ways.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BLACK BELT ONLY - FINANCE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three benefit categories</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HARD benefit</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Hits the P&amp;L</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A cost line genuinely falls or revenue genuinely rises</a:t>
            </a:r>
          </a:p>
          <a:p>
            <a:pPr>
              <a:spcAft>
                <a:spcPts val="700"/>
              </a:spcAft>
            </a:pPr>
            <a:r>
              <a:rPr sz="1200">
                <a:solidFill>
                  <a:srgbClr val="161B26"/>
                </a:solidFill>
                <a:latin typeface="Arial"/>
              </a:rPr>
              <a:t>•  Scrap, rework, overtime, freight, warranty claims</a:t>
            </a:r>
          </a:p>
          <a:p>
            <a:pPr>
              <a:spcAft>
                <a:spcPts val="700"/>
              </a:spcAft>
            </a:pPr>
            <a:r>
              <a:rPr sz="1200">
                <a:solidFill>
                  <a:srgbClr val="161B26"/>
                </a:solidFill>
                <a:latin typeface="Arial"/>
              </a:rPr>
              <a:t>•  Traceable to a general ledger account</a:t>
            </a:r>
          </a:p>
          <a:p>
            <a:pPr>
              <a:spcAft>
                <a:spcPts val="700"/>
              </a:spcAft>
            </a:pPr>
            <a:r>
              <a:rPr sz="1200">
                <a:solidFill>
                  <a:srgbClr val="161B26"/>
                </a:solidFill>
                <a:latin typeface="Arial"/>
              </a:rPr>
              <a:t>•  Finance books it into the budget</a:t>
            </a:r>
          </a:p>
          <a:p>
            <a:pPr>
              <a:spcAft>
                <a:spcPts val="700"/>
              </a:spcAft>
            </a:pPr>
            <a:r>
              <a:rPr sz="1200">
                <a:solidFill>
                  <a:srgbClr val="161B26"/>
                </a:solidFill>
                <a:latin typeface="Arial"/>
              </a:rPr>
              <a:t>•  Meridian: scrap down SGD 340k per year</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SOFT benefit</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Capacity or time released</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Hours or machine capacity freed but not yet monetised</a:t>
            </a:r>
          </a:p>
          <a:p>
            <a:pPr>
              <a:spcAft>
                <a:spcPts val="700"/>
              </a:spcAft>
            </a:pPr>
            <a:r>
              <a:rPr sz="1200">
                <a:solidFill>
                  <a:srgbClr val="161B26"/>
                </a:solidFill>
                <a:latin typeface="Arial"/>
              </a:rPr>
              <a:t>•  Real only if the freed resource is REDEPLOYED</a:t>
            </a:r>
          </a:p>
          <a:p>
            <a:pPr>
              <a:spcAft>
                <a:spcPts val="700"/>
              </a:spcAft>
            </a:pPr>
            <a:r>
              <a:rPr sz="1200">
                <a:solidFill>
                  <a:srgbClr val="161B26"/>
                </a:solidFill>
                <a:latin typeface="Arial"/>
              </a:rPr>
              <a:t>•  Finance will not book it without a redeployment plan</a:t>
            </a:r>
          </a:p>
          <a:p>
            <a:pPr>
              <a:spcAft>
                <a:spcPts val="700"/>
              </a:spcAft>
            </a:pPr>
            <a:r>
              <a:rPr sz="1200">
                <a:solidFill>
                  <a:srgbClr val="161B26"/>
                </a:solidFill>
                <a:latin typeface="Arial"/>
              </a:rPr>
              <a:t>•  Claim it separately, never inside the hard number</a:t>
            </a:r>
          </a:p>
          <a:p>
            <a:pPr>
              <a:spcAft>
                <a:spcPts val="700"/>
              </a:spcAft>
            </a:pPr>
            <a:r>
              <a:rPr sz="1200">
                <a:solidFill>
                  <a:srgbClr val="161B26"/>
                </a:solidFill>
                <a:latin typeface="Arial"/>
              </a:rPr>
              <a:t>•  Meridian: 2.1 FTE of inspection time released</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COST AVOIDANCE</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 future cost prevented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A cost that would have occurred but now will not</a:t>
            </a:r>
          </a:p>
          <a:p>
            <a:pPr>
              <a:spcAft>
                <a:spcPts val="700"/>
              </a:spcAft>
            </a:pPr>
            <a:r>
              <a:rPr sz="1200">
                <a:solidFill>
                  <a:srgbClr val="161B26"/>
                </a:solidFill>
                <a:latin typeface="Arial"/>
              </a:rPr>
              <a:t>•  Avoided capital, avoided headcount, avoided penalty</a:t>
            </a:r>
          </a:p>
          <a:p>
            <a:pPr>
              <a:spcAft>
                <a:spcPts val="700"/>
              </a:spcAft>
            </a:pPr>
            <a:r>
              <a:rPr sz="1200">
                <a:solidFill>
                  <a:srgbClr val="161B26"/>
                </a:solidFill>
                <a:latin typeface="Arial"/>
              </a:rPr>
              <a:t>•  Never reduces the current budget - nothing to cut</a:t>
            </a:r>
          </a:p>
          <a:p>
            <a:pPr>
              <a:spcAft>
                <a:spcPts val="700"/>
              </a:spcAft>
            </a:pPr>
            <a:r>
              <a:rPr sz="1200">
                <a:solidFill>
                  <a:srgbClr val="161B26"/>
                </a:solidFill>
                <a:latin typeface="Arial"/>
              </a:rPr>
              <a:t>•  Requires an agreed counterfactual baseline</a:t>
            </a:r>
          </a:p>
          <a:p>
            <a:pPr>
              <a:spcAft>
                <a:spcPts val="700"/>
              </a:spcAft>
            </a:pPr>
            <a:r>
              <a:rPr sz="1200">
                <a:solidFill>
                  <a:srgbClr val="161B26"/>
                </a:solidFill>
                <a:latin typeface="Arial"/>
              </a:rPr>
              <a:t>•  Meridian: SGD 1.2M line avoided by capacity gain</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BLACK BELT ONLY - FINANCE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Why Finance treats them differently</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Hard benefits cut a budget</a:t>
            </a:r>
          </a:p>
          <a:p>
            <a:pPr algn="l">
              <a:spcAft>
                <a:spcPts val="300"/>
              </a:spcAft>
            </a:pPr>
            <a:r>
              <a:rPr sz="1200" b="0">
                <a:solidFill>
                  <a:srgbClr val="5B6372"/>
                </a:solidFill>
                <a:latin typeface="Arial"/>
              </a:rPr>
              <a:t>A real budget line is reduced and somebody is held to the new number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Soft benefits cut nothing</a:t>
            </a:r>
          </a:p>
          <a:p>
            <a:pPr algn="l">
              <a:spcAft>
                <a:spcPts val="300"/>
              </a:spcAft>
            </a:pPr>
            <a:r>
              <a:rPr sz="1200" b="0">
                <a:solidFill>
                  <a:srgbClr val="5B6372"/>
                </a:solidFill>
                <a:latin typeface="Arial"/>
              </a:rPr>
              <a:t>Freed hours stay on the payroll until redeployed or removed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Avoidance never appears</a:t>
            </a:r>
          </a:p>
          <a:p>
            <a:pPr algn="l">
              <a:spcAft>
                <a:spcPts val="300"/>
              </a:spcAft>
            </a:pPr>
            <a:r>
              <a:rPr sz="1200" b="0">
                <a:solidFill>
                  <a:srgbClr val="5B6372"/>
                </a:solidFill>
                <a:latin typeface="Arial"/>
              </a:rPr>
              <a:t>There is no line item for a cost that never happened</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Double counting is the risk</a:t>
            </a:r>
          </a:p>
          <a:p>
            <a:pPr algn="l">
              <a:spcAft>
                <a:spcPts val="300"/>
              </a:spcAft>
            </a:pPr>
            <a:r>
              <a:rPr sz="1200" b="0">
                <a:solidFill>
                  <a:srgbClr val="5B6372"/>
                </a:solidFill>
                <a:latin typeface="Arial"/>
              </a:rPr>
              <a:t>Two projects touching the same scrap line both claim the full saving</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Annualisation is disputed</a:t>
            </a:r>
          </a:p>
          <a:p>
            <a:pPr algn="l">
              <a:spcAft>
                <a:spcPts val="300"/>
              </a:spcAft>
            </a:pPr>
            <a:r>
              <a:rPr sz="1200" b="0">
                <a:solidFill>
                  <a:srgbClr val="5B6372"/>
                </a:solidFill>
                <a:latin typeface="Arial"/>
              </a:rPr>
              <a:t>Three good months does not entitle you to a twelve-month number</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Credibility is the real asset</a:t>
            </a:r>
          </a:p>
          <a:p>
            <a:pPr algn="l">
              <a:spcAft>
                <a:spcPts val="300"/>
              </a:spcAft>
            </a:pPr>
            <a:r>
              <a:rPr sz="1200" b="0">
                <a:solidFill>
                  <a:srgbClr val="5B6372"/>
                </a:solidFill>
                <a:latin typeface="Arial"/>
              </a:rPr>
              <a:t>One inflated claim and the programme's numbers are discounted forever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BLACK BELT ONLY - FINANCE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benefits validation and sign-off process</a:t>
            </a:r>
          </a:p>
        </p:txBody>
      </p:sp>
      <p:sp>
        <p:nvSpPr>
          <p:cNvPr id="6" name="Rectangle 5"/>
          <p:cNvSpPr/>
          <p:nvPr/>
        </p:nvSpPr>
        <p:spPr>
          <a:xfrm>
            <a:off x="777240"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Agree the baseline and measurement method with Finance BEFORE Improve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Measure the post-improvement performance over at least 3 months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Apply the agreed standard costs - Finance owns the rates, not you</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Separate hard, soft and cost-avoidance into three explicit lines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Finance controller signs; benefit enters the tracker at the SIGNED figure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BLACK BELT ONLY - FINANCE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worked benefit - Penang fill volume project</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Hard</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26,000 units x 0.09 mL overfill x SGD 0.14/mL</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SGD 328k per year, scrap line reduced</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Soft</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0.8 FTE of rework released</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SGD 46k - claimed ONLY with a redeployment plan</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Avoidance</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Recall provision no longer required</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SGD 180k - stated separately, never added in</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Report SGD 328k signed hard benefit. Soft and avoidance are shown, labelled, and never merged into the headline.</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CONTROL - CLOSURE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Closure is a transaction</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Ownership transfers, sustainment is verified, lessons are harvested - then the project ends.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CLOSURE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handover sequence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Process owner named and formally accepts the control plan</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Operators trained on the new SOP with a signed training record</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Charts running in production with a rehearsed reaction plan</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30/60/90-day sustainability audits scheduled in the owner's calendar</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Finance signs the benefit; steering committee formally closes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CLOSURE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30/60/90-day sustainability audit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Day 30 - is it running?</a:t>
            </a:r>
          </a:p>
          <a:p>
            <a:pPr algn="l">
              <a:spcAft>
                <a:spcPts val="300"/>
              </a:spcAft>
            </a:pPr>
            <a:r>
              <a:rPr sz="1200" b="0">
                <a:solidFill>
                  <a:srgbClr val="5B6372"/>
                </a:solidFill>
                <a:latin typeface="Arial"/>
              </a:rPr>
              <a:t>Charts plotted, SOP in use, owner engaged. Fix mechanics now, cheaply</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Day 60 - is it working?</a:t>
            </a:r>
          </a:p>
          <a:p>
            <a:pPr algn="l">
              <a:spcAft>
                <a:spcPts val="300"/>
              </a:spcAft>
            </a:pPr>
            <a:r>
              <a:rPr sz="1200" b="0">
                <a:solidFill>
                  <a:srgbClr val="5B6372"/>
                </a:solidFill>
                <a:latin typeface="Arial"/>
              </a:rPr>
              <a:t>Signals investigated and closed. Reaction plan actually exercised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Day 90 - is it holding?</a:t>
            </a:r>
          </a:p>
          <a:p>
            <a:pPr algn="l">
              <a:spcAft>
                <a:spcPts val="300"/>
              </a:spcAft>
            </a:pPr>
            <a:r>
              <a:rPr sz="1200" b="0">
                <a:solidFill>
                  <a:srgbClr val="5B6372"/>
                </a:solidFill>
                <a:latin typeface="Arial"/>
              </a:rPr>
              <a:t>Capability at or above the improved level, benefit rate on plan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If it has slipped</a:t>
            </a:r>
          </a:p>
          <a:p>
            <a:pPr algn="l">
              <a:spcAft>
                <a:spcPts val="300"/>
              </a:spcAft>
            </a:pPr>
            <a:r>
              <a:rPr sz="1200" b="0">
                <a:solidFill>
                  <a:srgbClr val="5B6372"/>
                </a:solidFill>
                <a:latin typeface="Arial"/>
              </a:rPr>
              <a:t>Reopen with the sponsor. Do NOT quietly write off the benefit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Who does the audit</a:t>
            </a:r>
          </a:p>
          <a:p>
            <a:pPr algn="l">
              <a:spcAft>
                <a:spcPts val="300"/>
              </a:spcAft>
            </a:pPr>
            <a:r>
              <a:rPr sz="1200" b="0">
                <a:solidFill>
                  <a:srgbClr val="5B6372"/>
                </a:solidFill>
                <a:latin typeface="Arial"/>
              </a:rPr>
              <a:t>The Black Belt, not the process owner. Independence is the point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output</a:t>
            </a:r>
          </a:p>
          <a:p>
            <a:pPr algn="l">
              <a:spcAft>
                <a:spcPts val="300"/>
              </a:spcAft>
            </a:pPr>
            <a:r>
              <a:rPr sz="1200" b="0">
                <a:solidFill>
                  <a:srgbClr val="5B6372"/>
                </a:solidFill>
                <a:latin typeface="Arial"/>
              </a:rPr>
              <a:t>A one-page sustainment status per project into the portfolio review</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BLACK BELT DEPTH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phase - what you must be able to do now</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Select and build any chart</a:t>
            </a:r>
          </a:p>
          <a:p>
            <a:pPr algn="l">
              <a:spcAft>
                <a:spcPts val="300"/>
              </a:spcAft>
            </a:pPr>
            <a:r>
              <a:rPr sz="1200" b="0">
                <a:solidFill>
                  <a:srgbClr val="5B6372"/>
                </a:solidFill>
                <a:latin typeface="Arial"/>
              </a:rPr>
              <a:t>Continuous or attribute, and justify the choice from first principles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Explain why Shewhart is slow</a:t>
            </a:r>
          </a:p>
          <a:p>
            <a:pPr algn="l">
              <a:spcAft>
                <a:spcPts val="300"/>
              </a:spcAft>
            </a:pPr>
            <a:r>
              <a:rPr sz="1200" b="0">
                <a:solidFill>
                  <a:srgbClr val="5B6372"/>
                </a:solidFill>
                <a:latin typeface="Arial"/>
              </a:rPr>
              <a:t>ARL, the lack of memory, and what a 1-sigma shift costs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Design a CUSUM or EWMA</a:t>
            </a:r>
          </a:p>
          <a:p>
            <a:pPr algn="l">
              <a:spcAft>
                <a:spcPts val="300"/>
              </a:spcAft>
            </a:pPr>
            <a:r>
              <a:rPr sz="1200" b="0">
                <a:solidFill>
                  <a:srgbClr val="5B6372"/>
                </a:solidFill>
                <a:latin typeface="Arial"/>
              </a:rPr>
              <a:t>Choose k and h, or lambda and L, for a stated shift size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Handle awkward data</a:t>
            </a:r>
          </a:p>
          <a:p>
            <a:pPr algn="l">
              <a:spcAft>
                <a:spcPts val="300"/>
              </a:spcAft>
            </a:pPr>
            <a:r>
              <a:rPr sz="1200" b="0">
                <a:solidFill>
                  <a:srgbClr val="5B6372"/>
                </a:solidFill>
                <a:latin typeface="Arial"/>
              </a:rPr>
              <a:t>Autocorrelation, short runs, correlated multivariate characteristics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Govern control plans</a:t>
            </a:r>
          </a:p>
          <a:p>
            <a:pPr algn="l">
              <a:spcAft>
                <a:spcPts val="300"/>
              </a:spcAft>
            </a:pPr>
            <a:r>
              <a:rPr sz="1200" b="0">
                <a:solidFill>
                  <a:srgbClr val="5B6372"/>
                </a:solidFill>
                <a:latin typeface="Arial"/>
              </a:rPr>
              <a:t>Audit a portfolio and detect the signals-never-actioned decay mode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Validate the money</a:t>
            </a:r>
          </a:p>
          <a:p>
            <a:pPr algn="l">
              <a:spcAft>
                <a:spcPts val="300"/>
              </a:spcAft>
            </a:pPr>
            <a:r>
              <a:rPr sz="1200" b="0">
                <a:solidFill>
                  <a:srgbClr val="5B6372"/>
                </a:solidFill>
                <a:latin typeface="Arial"/>
              </a:rPr>
              <a:t>Split hard, soft and avoidance, and defend attribution to a CFO</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Control</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749808"/>
          </a:xfrm>
          <a:prstGeom prst="rect">
            <a:avLst/>
          </a:prstGeom>
          <a:noFill/>
        </p:spPr>
        <p:txBody>
          <a:bodyPr wrap="square" anchor="ctr">
            <a:spAutoFit/>
          </a:bodyPr>
          <a:lstStyle/>
          <a:p>
            <a:pPr algn="l">
              <a:spcAft>
                <a:spcPts val="300"/>
              </a:spcAft>
            </a:pPr>
            <a:r>
              <a:rPr sz="1500" b="1">
                <a:solidFill>
                  <a:srgbClr val="161B26"/>
                </a:solidFill>
                <a:latin typeface="Arial"/>
              </a:rPr>
              <a:t>Lab 27 — Statistical Process Control and Chart Selection — In Depth</a:t>
            </a:r>
          </a:p>
          <a:p>
            <a:pPr algn="l">
              <a:spcAft>
                <a:spcPts val="300"/>
              </a:spcAft>
            </a:pPr>
            <a:r>
              <a:rPr sz="1100" b="0">
                <a:solidFill>
                  <a:srgbClr val="5B6372"/>
                </a:solidFill>
                <a:latin typeface="Arial"/>
              </a:rPr>
              <a:t>A correctly selected and constructed control chart for your capstone Y with applied…  •  Data: lab-27-spc-control-charts.xlsx</a:t>
            </a:r>
          </a:p>
        </p:txBody>
      </p:sp>
      <p:sp>
        <p:nvSpPr>
          <p:cNvPr id="11" name="Rectangle 10"/>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312724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3044952"/>
            <a:ext cx="9482328" cy="749808"/>
          </a:xfrm>
          <a:prstGeom prst="rect">
            <a:avLst/>
          </a:prstGeom>
          <a:noFill/>
        </p:spPr>
        <p:txBody>
          <a:bodyPr wrap="square" anchor="ctr">
            <a:spAutoFit/>
          </a:bodyPr>
          <a:lstStyle/>
          <a:p>
            <a:pPr algn="l">
              <a:spcAft>
                <a:spcPts val="300"/>
              </a:spcAft>
            </a:pPr>
            <a:r>
              <a:rPr sz="1500" b="1">
                <a:solidFill>
                  <a:srgbClr val="161B26"/>
                </a:solidFill>
                <a:latin typeface="Arial"/>
              </a:rPr>
              <a:t>Lab 28 — CUSUM, EWMA and Short-Run SPC (Black Belt Only)</a:t>
            </a:r>
          </a:p>
          <a:p>
            <a:pPr algn="l">
              <a:spcAft>
                <a:spcPts val="300"/>
              </a:spcAft>
            </a:pPr>
            <a:r>
              <a:rPr sz="1100" b="0">
                <a:solidFill>
                  <a:srgbClr val="5B6372"/>
                </a:solidFill>
                <a:latin typeface="Arial"/>
              </a:rPr>
              <a:t>CUSUM and EWMA charts on your capstone data plus a short-run standardised chart.  •  Data: lab-28-cusum-ewma-shortrun.xlsx</a:t>
            </a:r>
          </a:p>
        </p:txBody>
      </p:sp>
      <p:sp>
        <p:nvSpPr>
          <p:cNvPr id="16" name="Rectangle 15"/>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27939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9482328" cy="749808"/>
          </a:xfrm>
          <a:prstGeom prst="rect">
            <a:avLst/>
          </a:prstGeom>
          <a:noFill/>
        </p:spPr>
        <p:txBody>
          <a:bodyPr wrap="square" anchor="ctr">
            <a:spAutoFit/>
          </a:bodyPr>
          <a:lstStyle/>
          <a:p>
            <a:pPr algn="l">
              <a:spcAft>
                <a:spcPts val="300"/>
              </a:spcAft>
            </a:pPr>
            <a:r>
              <a:rPr sz="1500" b="1">
                <a:solidFill>
                  <a:srgbClr val="161B26"/>
                </a:solidFill>
                <a:latin typeface="Arial"/>
              </a:rPr>
              <a:t>Lab 29 — Multivariate SPC and Control Plan Governance (Black Belt Only)</a:t>
            </a:r>
          </a:p>
          <a:p>
            <a:pPr algn="l">
              <a:spcAft>
                <a:spcPts val="300"/>
              </a:spcAft>
            </a:pPr>
            <a:r>
              <a:rPr sz="1100" b="0">
                <a:solidFill>
                  <a:srgbClr val="5B6372"/>
                </a:solidFill>
                <a:latin typeface="Arial"/>
              </a:rPr>
              <a:t>A Hotelling T-squared chart plus a governed control plan for your capstone.  •  Data: lab-29-multivariate-spc-control-plan.xlsx</a:t>
            </a:r>
          </a:p>
        </p:txBody>
      </p:sp>
      <p:sp>
        <p:nvSpPr>
          <p:cNvPr id="21" name="Rectangle 20"/>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5349240"/>
            <a:ext cx="9482328" cy="749808"/>
          </a:xfrm>
          <a:prstGeom prst="rect">
            <a:avLst/>
          </a:prstGeom>
          <a:noFill/>
        </p:spPr>
        <p:txBody>
          <a:bodyPr wrap="square" anchor="ctr">
            <a:spAutoFit/>
          </a:bodyPr>
          <a:lstStyle/>
          <a:p>
            <a:pPr algn="l">
              <a:spcAft>
                <a:spcPts val="300"/>
              </a:spcAft>
            </a:pPr>
            <a:r>
              <a:rPr sz="1500" b="1">
                <a:solidFill>
                  <a:srgbClr val="161B26"/>
                </a:solidFill>
                <a:latin typeface="Arial"/>
              </a:rPr>
              <a:t>Lab 30 — Financial Benefits Validation, Handover and Project Closure</a:t>
            </a:r>
          </a:p>
          <a:p>
            <a:pPr algn="l">
              <a:spcAft>
                <a:spcPts val="300"/>
              </a:spcAft>
            </a:pPr>
            <a:r>
              <a:rPr sz="1100" b="0">
                <a:solidFill>
                  <a:srgbClr val="5B6372"/>
                </a:solidFill>
                <a:latin typeface="Arial"/>
              </a:rPr>
              <a:t>A Finance-validated benefits statement and a signed handover and closure pack.  •  Data: lab-30-benefit-validation.xlsx</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CONTROL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Statistical Process Control and Chart Selection — In Depth</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27</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A full re-derivation of SPC — chart anatomy, the selection logic, control limits and the out-of-control rules. You must be able to teach this to Green Belts and audit their chart choices, which is a core Black Belt accountability.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correctly selected and constructed control chart for your capstone Y with applied run rules.</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Chart anatomy, control limits, Xbar-R, Xbar-S, I-MR, p, np, c, u charts, Western Electric rules, control vs spec limits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27 · Statistical Process Control and Chart…</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Statistical Process Control and Chart Selection — In Depth</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1-6 OF 11</a:t>
            </a:r>
          </a:p>
        </p:txBody>
      </p:sp>
      <p:sp>
        <p:nvSpPr>
          <p:cNvPr id="7" name="Rectangle 6"/>
          <p:cNvSpPr/>
          <p:nvPr/>
        </p:nvSpPr>
        <p:spPr>
          <a:xfrm>
            <a:off x="777240" y="2121408"/>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16331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6331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Recap SPC purpose in full: distinguish signal from noise over time, so drift is caught before it becomes a defect.</a:t>
            </a:r>
          </a:p>
        </p:txBody>
      </p:sp>
      <p:sp>
        <p:nvSpPr>
          <p:cNvPr id="12" name="Rectangle 11"/>
          <p:cNvSpPr/>
          <p:nvPr/>
        </p:nvSpPr>
        <p:spPr>
          <a:xfrm>
            <a:off x="777240" y="2808731"/>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08731"/>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28506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285064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2863595"/>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Recap chart anatomy: centre line, upper and lower control limits at +/- 3 sigma, and why 3 sigma balances false alarms against missed signals.</a:t>
            </a:r>
          </a:p>
        </p:txBody>
      </p:sp>
      <p:sp>
        <p:nvSpPr>
          <p:cNvPr id="17" name="Rectangle 16"/>
          <p:cNvSpPr/>
          <p:nvPr/>
        </p:nvSpPr>
        <p:spPr>
          <a:xfrm>
            <a:off x="777240" y="3496054"/>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496054"/>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53796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53796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550918"/>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Establish the critical distinction: CONTROL limits come from the process's own voice (the data); SPECIFICATION limits come from the customer. They are unrelated and must never be drawn on the same axis as if comparable.</a:t>
            </a:r>
          </a:p>
        </p:txBody>
      </p:sp>
      <p:sp>
        <p:nvSpPr>
          <p:cNvPr id="22" name="Rectangle 21"/>
          <p:cNvSpPr/>
          <p:nvPr/>
        </p:nvSpPr>
        <p:spPr>
          <a:xfrm>
            <a:off x="777240" y="4183377"/>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183377"/>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2252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2252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238241"/>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Learn the chart selection logic in full. Continuous data: subgroup size 1 = I-MR; 2-8 = Xbar-R; 9+ = Xbar-S.</a:t>
            </a:r>
          </a:p>
        </p:txBody>
      </p:sp>
      <p:sp>
        <p:nvSpPr>
          <p:cNvPr id="27" name="Rectangle 26"/>
          <p:cNvSpPr/>
          <p:nvPr/>
        </p:nvSpPr>
        <p:spPr>
          <a:xfrm>
            <a:off x="777240" y="4870700"/>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4870700"/>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491260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491260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4925564"/>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Learn the attribute branch: defectives with constant sample size = np; varying = p. Defects with constant opportunity = c; varying = u.</a:t>
            </a:r>
          </a:p>
        </p:txBody>
      </p:sp>
      <p:sp>
        <p:nvSpPr>
          <p:cNvPr id="32" name="Rectangle 31"/>
          <p:cNvSpPr/>
          <p:nvPr/>
        </p:nvSpPr>
        <p:spPr>
          <a:xfrm>
            <a:off x="777240" y="5558023"/>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77240" y="5558023"/>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024128" y="559993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24128" y="559993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36" name="TextBox 35"/>
          <p:cNvSpPr txBox="1"/>
          <p:nvPr/>
        </p:nvSpPr>
        <p:spPr>
          <a:xfrm>
            <a:off x="1700784" y="5612887"/>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Select the correct chart for your capstone Y and write down the justification. Selecting the wrong chart produces wrong limits and false confidence.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27 · Statistical Process Control and Chart…</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Statistical Process Control and Chart Selection — In Depth</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7-11 OF 11</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Collect at least 25 subgroups of baseline data — fewer gives control limits too unstable to be trustworthy.</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Calculate the control limits using the correct constants (A2, D3, D4 for Xbar-R; equivalent constants for other charts).</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Plot the chart and apply the Western Electric run rules in full: 1 point beyond 3 sigma; 2 of 3 beyond 2 sigma; 4 of 5 beyond 1 sigma; 8 consecutive on one side; trends; and hugging the centre line.</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Investigate every signal. If a special cause is found and removed, recalculate the limits excluding that point — but only with a documented assignable cause.</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Confirm the process is stable before proceeding. An unstable process has no meaningful capability and cannot be controlled by a control plan alone.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27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Statistical Process Control and Chart Selection — In Depth</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chart selection is justified against the selection logic, limits are computed from 25+ subgroups with the correct constants, and all run rules are applied with every signal investigated.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CONTROL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CUSUM, EWMA and Short-Run SPC (Black Belt Only)</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28</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BLACK BELT ONLY. Shewhart charts are poor at detecting small sustained shifts — they may take dozens of subgroups to react to a 1-sigma drift, which is precisely how a process degrades unnoticed after a project closes. CUSUM and EWMA solve this, and short-run methods handle high-mix low-volume processes Shewhart cannot chart at all.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CUSUM and EWMA charts on your capstone data plus a short-run standardised chart.</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ARL, CUSUM, decision interval, V-mask, EWMA, lambda weighting, autocorrelation, short-run standardised charts, DNOM</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28 · CUSUM, EWMA and Short-Run SPC (Black…</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CUSUM, EWMA and Short-Run SPC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15</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Understand Average Run Length (ARL): the expected number of subgroups before a chart signals. For a 1-sigma shift, a Shewhart Xbar chart has an ARL around 44 — far too slow.</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Understand the structural reason: a Shewhart chart considers only the CURRENT point and has no memory of the recent past.</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Learn CUSUM: it accumulates deviations from target, so a small persistent bias adds up into a detectable signal rather than being repeatedly dismissed as noise.</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Set up the CUSUM parameters: the reference value k (typically half the shift you want to detect) and the decision interval h (typically 4 or 5 sigma).</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Build upper and lower CUSUM statistics for your capstone data and plot them against the decision interval.</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28 · CUSUM, EWMA and Short-Run SPC (Black…</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CUSUM, EWMA and Short-Run SPC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6-10 OF 15</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Compare the CUSUM detection point against the Shewhart chart from Lab 27 on the same data — CUSUM typically detects a sustained small shift several subgroups sooner.</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Learn EWMA: each point is a weighted average of all history, with weights decaying geometrically. Lambda controls the memory.</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Choose lambda deliberately: small lambda (0.1-0.2) gives long memory and strong small-shift detection; large lambda (0.4+) approaches Shewhart behaviour.</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Build the EWMA chart with its widening initial control limits, and note that EWMA also handles autocorrelated data far better than Shewhart.</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Test your capstone data for autocorrelation. Chemical, batch and continuous-flow processes are frequently autocorrelated, which makes Shewhart limits far too narrow and generates constant false alarms.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28 · CUSUM, EWMA and Short-Run SPC (Black…</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CUSUM, EWMA and Short-Run SPC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11-15 OF 15</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Now short-run SPC. Understand the problem: high-mix low-volume processes never accumulate 25 subgroups of any single part number.</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Learn the deviation-from-nominal (DNOM) approach: plot (measurement - part nominal) so different part numbers share one chart.</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Learn the standardised approach for parts with differing variances: plot (measurement - nominal) / sigma_part, putting all parts on a common scale.</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Build a short-run chart for a multi-product step in your capstone, or for Meridian's shared assembly line across pump variants.</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Decide which chart type belongs in your capstone control plan and justify the choice against shift size, autocorrelation and product mix.</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28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CUSUM, EWMA and Short-Run SPC (Black Belt Only)</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built CUSUM and EWMA charts and compared their detection speed against Shewhart on the same data, tested for autocorrelation, and justified your final chart selection for the control plan.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CONTROL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Multivariate SPC and Control Plan Governance (Black Belt Only)</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29</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BLACK BELT ONLY. When several correlated characteristics matter, running separate charts inflates false alarms and — more dangerously — misses failures visible only in the correlation structure. Then step up to the portfolio view: the Black Belt audits control plans across projects, not just their own.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Hotelling T-squared chart plus a governed control plan for your capstone.</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Multivariate SPC, Hotelling T-squared, correlation structure, false alarm inflation, control plan, response plan, audit cadence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29 · Multivariate SPC and Control Plan…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Multivariate SPC and Control Plan Governance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13</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Understand the false alarm problem: 5 separate charts each at alpha = 0.0027 gives a combined false alarm rate over 1.3 percent — five times intended.</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Understand the more serious failure: two characteristics can each sit within their own limits while their COMBINATION is impossible, and separate charts will never see it.</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Identify a set of correlated characteristics in your capstone — dimensions on one part, or related cycle times across linked steps.</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Compute the correlation matrix and confirm the characteristics are genuinely correlated. If they are independent, separate charts are fine.</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Learn Hotelling's T-squared: it collapses several correlated characteristics into one statistic accounting for the covariance structure.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29 · Multivariate SPC and Control Plan…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Multivariate SPC and Control Plan Governance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6-9 OF 13</a:t>
            </a:r>
          </a:p>
        </p:txBody>
      </p:sp>
      <p:sp>
        <p:nvSpPr>
          <p:cNvPr id="7" name="Rectangle 6"/>
          <p:cNvSpPr/>
          <p:nvPr/>
        </p:nvSpPr>
        <p:spPr>
          <a:xfrm>
            <a:off x="777240" y="212140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3351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3351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Build the T-squared chart with its upper control limit from the F-distribution, and note there is no lower limit — T-squared is always positive.</a:t>
            </a:r>
          </a:p>
        </p:txBody>
      </p:sp>
      <p:sp>
        <p:nvSpPr>
          <p:cNvPr id="12" name="Rectangle 11"/>
          <p:cNvSpPr/>
          <p:nvPr/>
        </p:nvSpPr>
        <p:spPr>
          <a:xfrm>
            <a:off x="777240" y="315239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15239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36613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36613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20725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Understand the interpretation difficulty: a T-squared signal tells you something is wrong but not which variable. Use decomposition or individual charts as a follow-up diagnostic.</a:t>
            </a:r>
          </a:p>
        </p:txBody>
      </p:sp>
      <p:sp>
        <p:nvSpPr>
          <p:cNvPr id="17" name="Rectangle 16"/>
          <p:cNvSpPr/>
          <p:nvPr/>
        </p:nvSpPr>
        <p:spPr>
          <a:xfrm>
            <a:off x="777240" y="418337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418337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439711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439711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423824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Now build your capstone control plan in full: for each critical X and the Y — the metric, target, specification, measurement method, sample size, frequency, chart type, owner and reaction plan.</a:t>
            </a:r>
          </a:p>
        </p:txBody>
      </p:sp>
      <p:sp>
        <p:nvSpPr>
          <p:cNvPr id="22" name="Rectangle 21"/>
          <p:cNvSpPr/>
          <p:nvPr/>
        </p:nvSpPr>
        <p:spPr>
          <a:xfrm>
            <a:off x="777240" y="521436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521436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542810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542810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526922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Write the reaction plan for each metric as a specific instruction: containment action, escalation path, named owner and time limit. 'Investigate' is not a reaction plan.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29 · Multivariate SPC and Control Plan…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Multivariate SPC and Control Plan Governance (Black Belt Only)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10-13 OF 13</a:t>
            </a:r>
          </a:p>
        </p:txBody>
      </p:sp>
      <p:sp>
        <p:nvSpPr>
          <p:cNvPr id="7" name="Rectangle 6"/>
          <p:cNvSpPr/>
          <p:nvPr/>
        </p:nvSpPr>
        <p:spPr>
          <a:xfrm>
            <a:off x="777240" y="212140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3351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3351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11" name="TextBox 10"/>
          <p:cNvSpPr txBox="1"/>
          <p:nvPr/>
        </p:nvSpPr>
        <p:spPr>
          <a:xfrm>
            <a:off x="1700784" y="217627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Add the control plan to the process documentation and update the SOP, training material and visual management boards.</a:t>
            </a:r>
          </a:p>
        </p:txBody>
      </p:sp>
      <p:sp>
        <p:nvSpPr>
          <p:cNvPr id="12" name="Rectangle 11"/>
          <p:cNvSpPr/>
          <p:nvPr/>
        </p:nvSpPr>
        <p:spPr>
          <a:xfrm>
            <a:off x="777240" y="315239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15239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36613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36613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16" name="TextBox 15"/>
          <p:cNvSpPr txBox="1"/>
          <p:nvPr/>
        </p:nvSpPr>
        <p:spPr>
          <a:xfrm>
            <a:off x="1700784" y="320725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Step up to portfolio governance: as Black Belt you audit control plans across multiple projects. Define your audit cadence and criteria.</a:t>
            </a:r>
          </a:p>
        </p:txBody>
      </p:sp>
      <p:sp>
        <p:nvSpPr>
          <p:cNvPr id="17" name="Rectangle 16"/>
          <p:cNvSpPr/>
          <p:nvPr/>
        </p:nvSpPr>
        <p:spPr>
          <a:xfrm>
            <a:off x="777240" y="418337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418337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439711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439711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12</a:t>
            </a:r>
          </a:p>
        </p:txBody>
      </p:sp>
      <p:sp>
        <p:nvSpPr>
          <p:cNvPr id="21" name="TextBox 20"/>
          <p:cNvSpPr txBox="1"/>
          <p:nvPr/>
        </p:nvSpPr>
        <p:spPr>
          <a:xfrm>
            <a:off x="1700784" y="423824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Define what a control plan audit checks: is the chart still being maintained, are signals being actioned, is the owner still in post, and has the process drifted since handover?</a:t>
            </a:r>
          </a:p>
        </p:txBody>
      </p:sp>
      <p:sp>
        <p:nvSpPr>
          <p:cNvPr id="22" name="Rectangle 21"/>
          <p:cNvSpPr/>
          <p:nvPr/>
        </p:nvSpPr>
        <p:spPr>
          <a:xfrm>
            <a:off x="777240" y="521436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521436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542810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542810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13</a:t>
            </a:r>
          </a:p>
        </p:txBody>
      </p:sp>
      <p:sp>
        <p:nvSpPr>
          <p:cNvPr id="26" name="TextBox 25"/>
          <p:cNvSpPr txBox="1"/>
          <p:nvPr/>
        </p:nvSpPr>
        <p:spPr>
          <a:xfrm>
            <a:off x="1700784" y="526922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Identify the most common decay mode — charts maintained but signals never actioned — and write your countermeasure for 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29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Multivariate SPC and Control Plan Governance (Black Belt Only)</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correlated characteristics are confirmed by a correlation matrix before applying T-squared, every control plan metric has a specific named reaction plan, and you have defined an audit cadence with explicit criteria.</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CONTROL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Financial Benefits Validation, Handover and Project Closure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30</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Benefits are not real until Finance signs them. This lab converts your improvement into a validated financial number, transfers ownership to the process owner, and formally closes the project — the step most often skipped, and the reason gains quietly evaporate. CAPSTONE BUILDING BLOCK — the output of this lab goes directly into your capstone project pack, which you present to the steering committee on Day 5.</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Finance-validated benefits statement and a signed handover and closure pack.</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Hard vs soft benefits, cost avoidance, benefit validation, Finance sign-off, handover, sustainability audit, lessons learned, closure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30 · Financial Benefits Validation…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Financial Benefits Validation, Handover and Project Closure</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1-5 OF 14</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Learn the benefit categories precisely. HARD: cost reduction that appears in the P&amp;L. SOFT: capacity or time released without a headcount or cost change. COST AVOIDANCE: costs not incurred that would have been.</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Understand why the distinction matters: Finance books these differently, and claiming soft benefits as hard is the fastest way to lose credibility with a CFO.</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Quantify your capstone's benefit against the Lab 3 baseline, using post-improvement data over a defensible period, not a single good week.</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Verify the improvement is statistically significant, not a favourable run — apply a hypothesis test comparing post-improvement against baseline.</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Confirm sustained performance with your control chart: the shift must hold for a meaningful period before the benefit can be booked.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30 · Financial Benefits Validation…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Financial Benefits Validation, Handover and Project Closure</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6-10 OF 14</a:t>
            </a:r>
          </a:p>
        </p:txBody>
      </p:sp>
      <p:sp>
        <p:nvSpPr>
          <p:cNvPr id="7" name="Rectangle 6"/>
          <p:cNvSpPr/>
          <p:nvPr/>
        </p:nvSpPr>
        <p:spPr>
          <a:xfrm>
            <a:off x="777240" y="2121408"/>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23205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23205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11" name="TextBox 10"/>
          <p:cNvSpPr txBox="1"/>
          <p:nvPr/>
        </p:nvSpPr>
        <p:spPr>
          <a:xfrm>
            <a:off x="1700784" y="2176272"/>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Separate your benefit into hard, soft and cost-avoidance components and state each explicitly.</a:t>
            </a:r>
          </a:p>
        </p:txBody>
      </p:sp>
      <p:sp>
        <p:nvSpPr>
          <p:cNvPr id="12" name="Rectangle 11"/>
          <p:cNvSpPr/>
          <p:nvPr/>
        </p:nvSpPr>
        <p:spPr>
          <a:xfrm>
            <a:off x="777240" y="2946196"/>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946196"/>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05683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05683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6" name="TextBox 15"/>
          <p:cNvSpPr txBox="1"/>
          <p:nvPr/>
        </p:nvSpPr>
        <p:spPr>
          <a:xfrm>
            <a:off x="1700784" y="3001060"/>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Take the calculation to Finance and obtain sign-off. Expect challenge on the baseline period, the attribution and whether other changes could explain the result.</a:t>
            </a:r>
          </a:p>
        </p:txBody>
      </p:sp>
      <p:sp>
        <p:nvSpPr>
          <p:cNvPr id="17" name="Rectangle 16"/>
          <p:cNvSpPr/>
          <p:nvPr/>
        </p:nvSpPr>
        <p:spPr>
          <a:xfrm>
            <a:off x="777240" y="3770984"/>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770984"/>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88162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88162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21" name="TextBox 20"/>
          <p:cNvSpPr txBox="1"/>
          <p:nvPr/>
        </p:nvSpPr>
        <p:spPr>
          <a:xfrm>
            <a:off x="1700784" y="3825848"/>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Prepare your attribution argument: what else changed in the period, and why the improvement is attributable to your intervention rather than to those.</a:t>
            </a:r>
          </a:p>
        </p:txBody>
      </p:sp>
      <p:sp>
        <p:nvSpPr>
          <p:cNvPr id="22" name="Rectangle 21"/>
          <p:cNvSpPr/>
          <p:nvPr/>
        </p:nvSpPr>
        <p:spPr>
          <a:xfrm>
            <a:off x="777240" y="4595772"/>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595772"/>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70641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70641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6" name="TextBox 25"/>
          <p:cNvSpPr txBox="1"/>
          <p:nvPr/>
        </p:nvSpPr>
        <p:spPr>
          <a:xfrm>
            <a:off x="1700784" y="4650636"/>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Build the handover pack: control plan, updated SOPs, training records, control charts, reaction plans and the named process owner.</a:t>
            </a:r>
          </a:p>
        </p:txBody>
      </p:sp>
      <p:sp>
        <p:nvSpPr>
          <p:cNvPr id="27" name="Rectangle 26"/>
          <p:cNvSpPr/>
          <p:nvPr/>
        </p:nvSpPr>
        <p:spPr>
          <a:xfrm>
            <a:off x="777240" y="5420560"/>
            <a:ext cx="10634472"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5420560"/>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553120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53120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31" name="TextBox 30"/>
          <p:cNvSpPr txBox="1"/>
          <p:nvPr/>
        </p:nvSpPr>
        <p:spPr>
          <a:xfrm>
            <a:off x="1700784" y="5475424"/>
            <a:ext cx="9509760" cy="568756"/>
          </a:xfrm>
          <a:prstGeom prst="rect">
            <a:avLst/>
          </a:prstGeom>
          <a:noFill/>
        </p:spPr>
        <p:txBody>
          <a:bodyPr wrap="square" anchor="ctr">
            <a:spAutoFit/>
          </a:bodyPr>
          <a:lstStyle/>
          <a:p>
            <a:pPr algn="l">
              <a:spcAft>
                <a:spcPts val="400"/>
              </a:spcAft>
            </a:pPr>
            <a:r>
              <a:rPr sz="1300" b="0">
                <a:solidFill>
                  <a:srgbClr val="161B26"/>
                </a:solidFill>
                <a:latin typeface="Arial"/>
              </a:rPr>
              <a:t>Conduct the handover meeting with the process owner. They must accept ownership explicitly — an assumed handover is a failed handover.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30 · Financial Benefits Validation…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Financial Benefits Validation, Handover and Project Closure</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11-14 OF 14</a:t>
            </a:r>
          </a:p>
        </p:txBody>
      </p:sp>
      <p:sp>
        <p:nvSpPr>
          <p:cNvPr id="7" name="Rectangle 6"/>
          <p:cNvSpPr/>
          <p:nvPr/>
        </p:nvSpPr>
        <p:spPr>
          <a:xfrm>
            <a:off x="777240" y="212140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33514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33514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11" name="TextBox 10"/>
          <p:cNvSpPr txBox="1"/>
          <p:nvPr/>
        </p:nvSpPr>
        <p:spPr>
          <a:xfrm>
            <a:off x="1700784" y="217627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Schedule the sustainability audit at 30, 60 and 90 days post-handover, with a named auditor and defined criteria.</a:t>
            </a:r>
          </a:p>
        </p:txBody>
      </p:sp>
      <p:sp>
        <p:nvSpPr>
          <p:cNvPr id="12" name="Rectangle 11"/>
          <p:cNvSpPr/>
          <p:nvPr/>
        </p:nvSpPr>
        <p:spPr>
          <a:xfrm>
            <a:off x="777240" y="315239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15239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336613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336613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12</a:t>
            </a:r>
          </a:p>
        </p:txBody>
      </p:sp>
      <p:sp>
        <p:nvSpPr>
          <p:cNvPr id="16" name="TextBox 15"/>
          <p:cNvSpPr txBox="1"/>
          <p:nvPr/>
        </p:nvSpPr>
        <p:spPr>
          <a:xfrm>
            <a:off x="1700784" y="320725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Run the lessons learned session: what worked, what did not, what you would do differently, and what transfers to the Green Belts you mentor.</a:t>
            </a:r>
          </a:p>
        </p:txBody>
      </p:sp>
      <p:sp>
        <p:nvSpPr>
          <p:cNvPr id="17" name="Rectangle 16"/>
          <p:cNvSpPr/>
          <p:nvPr/>
        </p:nvSpPr>
        <p:spPr>
          <a:xfrm>
            <a:off x="777240" y="4183378"/>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4183378"/>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4397118"/>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439711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13</a:t>
            </a:r>
          </a:p>
        </p:txBody>
      </p:sp>
      <p:sp>
        <p:nvSpPr>
          <p:cNvPr id="21" name="TextBox 20"/>
          <p:cNvSpPr txBox="1"/>
          <p:nvPr/>
        </p:nvSpPr>
        <p:spPr>
          <a:xfrm>
            <a:off x="1700784" y="4238242"/>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Formally close the project with sponsor sign-off, and archive the full DMAIC storyboard.</a:t>
            </a:r>
          </a:p>
        </p:txBody>
      </p:sp>
      <p:sp>
        <p:nvSpPr>
          <p:cNvPr id="22" name="Rectangle 21"/>
          <p:cNvSpPr/>
          <p:nvPr/>
        </p:nvSpPr>
        <p:spPr>
          <a:xfrm>
            <a:off x="777240" y="5214363"/>
            <a:ext cx="10634472" cy="88468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5214363"/>
            <a:ext cx="82296" cy="8846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542810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542810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14</a:t>
            </a:r>
          </a:p>
        </p:txBody>
      </p:sp>
      <p:sp>
        <p:nvSpPr>
          <p:cNvPr id="26" name="TextBox 25"/>
          <p:cNvSpPr txBox="1"/>
          <p:nvPr/>
        </p:nvSpPr>
        <p:spPr>
          <a:xfrm>
            <a:off x="1700784" y="5269227"/>
            <a:ext cx="9509760" cy="774953"/>
          </a:xfrm>
          <a:prstGeom prst="rect">
            <a:avLst/>
          </a:prstGeom>
          <a:noFill/>
        </p:spPr>
        <p:txBody>
          <a:bodyPr wrap="square" anchor="ctr">
            <a:spAutoFit/>
          </a:bodyPr>
          <a:lstStyle/>
          <a:p>
            <a:pPr algn="l">
              <a:spcAft>
                <a:spcPts val="400"/>
              </a:spcAft>
            </a:pPr>
            <a:r>
              <a:rPr sz="1300" b="0">
                <a:solidFill>
                  <a:srgbClr val="161B26"/>
                </a:solidFill>
                <a:latin typeface="Arial"/>
              </a:rPr>
              <a:t>Update the project portfolio from Lab 2 — record the closed project's realised benefit and select the next project.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30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Financial Benefits Validation, Handover and Project Closure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benefit is separated into hard, soft and cost-avoidance components, validated statistically and signed off by Finance, and the process owner has explicitly accepted handover with a scheduled sustainability audit.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Control</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400">
                <a:solidFill>
                  <a:srgbClr val="161B26"/>
                </a:solidFill>
                <a:latin typeface="Arial"/>
              </a:rPr>
              <a:t>•  SPC and control charts — in depth — Chart anatomy, control limits, chart selection (Xbar-R, Xbar-S, I-MR, p, np, c, u) and out-of-control rules, in full.</a:t>
            </a:r>
          </a:p>
          <a:p>
            <a:pPr>
              <a:spcAft>
                <a:spcPts val="1000"/>
              </a:spcAft>
            </a:pPr>
            <a:r>
              <a:rPr sz="1400">
                <a:solidFill>
                  <a:srgbClr val="161B26"/>
                </a:solidFill>
                <a:latin typeface="Arial"/>
              </a:rPr>
              <a:t>•  Capability and control plans — in depth — Cp, Cpk, Pp, Ppk, control limits vs specification limits, control plans, SOPs and response plans re-derived.</a:t>
            </a:r>
          </a:p>
          <a:p>
            <a:pPr>
              <a:spcAft>
                <a:spcPts val="1000"/>
              </a:spcAft>
            </a:pPr>
            <a:r>
              <a:rPr sz="1400">
                <a:solidFill>
                  <a:srgbClr val="161B26"/>
                </a:solidFill>
                <a:latin typeface="Arial"/>
              </a:rPr>
              <a:t>•  Limits of Shewhart charts — Shewhart charts are slow to detect small sustained shifts — which is exactly what a drifting process does.</a:t>
            </a:r>
          </a:p>
          <a:p>
            <a:pPr>
              <a:spcAft>
                <a:spcPts val="1000"/>
              </a:spcAft>
            </a:pPr>
            <a:r>
              <a:rPr sz="1400">
                <a:solidFill>
                  <a:srgbClr val="161B26"/>
                </a:solidFill>
                <a:latin typeface="Arial"/>
              </a:rPr>
              <a:t>•  CUSUM charts — Cumulative sum charts accumulate small deviations, detecting a sustained 1-sigma shift far faster.</a:t>
            </a:r>
          </a:p>
          <a:p>
            <a:pPr>
              <a:spcAft>
                <a:spcPts val="1000"/>
              </a:spcAft>
            </a:pPr>
            <a:r>
              <a:rPr sz="1400">
                <a:solidFill>
                  <a:srgbClr val="161B26"/>
                </a:solidFill>
                <a:latin typeface="Arial"/>
              </a:rPr>
              <a:t>•  EWMA charts — Exponentially weighted moving average — tunable memory, strong for small shifts and autocorrelated data.</a:t>
            </a:r>
          </a:p>
          <a:p>
            <a:pPr>
              <a:spcAft>
                <a:spcPts val="1000"/>
              </a:spcAft>
            </a:pPr>
            <a:r>
              <a:rPr sz="1400">
                <a:solidFill>
                  <a:srgbClr val="161B26"/>
                </a:solidFill>
                <a:latin typeface="Arial"/>
              </a:rPr>
              <a:t>•  Short-run SPC — High-mix low-volume processes never gather 25 subgroups per part. Standardise and chart across parts.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CAPSTONE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Capstone Project &amp; Steering Committee Presentation</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A3 storyboard · Consolidating your DMAIC artifacts · Presenting to sponsors · Defending the analysis · Programme leadership</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CAP</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CAPSTONE · 10%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Capstone</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The A3 storyboard</a:t>
            </a:r>
          </a:p>
          <a:p>
            <a:pPr algn="l">
              <a:spcAft>
                <a:spcPts val="300"/>
              </a:spcAft>
            </a:pPr>
            <a:r>
              <a:rPr sz="1100" b="0">
                <a:solidFill>
                  <a:srgbClr val="5B6372"/>
                </a:solidFill>
                <a:latin typeface="Arial"/>
              </a:rPr>
              <a:t>One page tells the whole project: background, current state, analysis, countermeasures, results, next steps.</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Consolidating your artifacts</a:t>
            </a:r>
          </a:p>
          <a:p>
            <a:pPr algn="l">
              <a:spcAft>
                <a:spcPts val="300"/>
              </a:spcAft>
            </a:pPr>
            <a:r>
              <a:rPr sz="1100" b="0">
                <a:solidFill>
                  <a:srgbClr val="5B6372"/>
                </a:solidFill>
                <a:latin typeface="Arial"/>
              </a:rPr>
              <a:t>Every lab from Day 1 produced one piece of your capstone — now assemble them into one narrative.</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Telling the data story</a:t>
            </a:r>
          </a:p>
          <a:p>
            <a:pPr algn="l">
              <a:spcAft>
                <a:spcPts val="300"/>
              </a:spcAft>
            </a:pPr>
            <a:r>
              <a:rPr sz="1100" b="0">
                <a:solidFill>
                  <a:srgbClr val="5B6372"/>
                </a:solidFill>
                <a:latin typeface="Arial"/>
              </a:rPr>
              <a:t>Lead with the business impact, support it with the statistics — never the other way round.</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Presenting to a steering committee</a:t>
            </a:r>
          </a:p>
          <a:p>
            <a:pPr algn="l">
              <a:spcAft>
                <a:spcPts val="300"/>
              </a:spcAft>
            </a:pPr>
            <a:r>
              <a:rPr sz="1100" b="0">
                <a:solidFill>
                  <a:srgbClr val="5B6372"/>
                </a:solidFill>
                <a:latin typeface="Arial"/>
              </a:rPr>
              <a:t>Sponsors want the decision, the risk and the money in the first two minutes.</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Defending the analysis</a:t>
            </a:r>
          </a:p>
          <a:p>
            <a:pPr algn="l">
              <a:spcAft>
                <a:spcPts val="300"/>
              </a:spcAft>
            </a:pPr>
            <a:r>
              <a:rPr sz="1100" b="0">
                <a:solidFill>
                  <a:srgbClr val="5B6372"/>
                </a:solidFill>
                <a:latin typeface="Arial"/>
              </a:rPr>
              <a:t>Expect challenge on sample size, assumptions and confounding — prepare the evidence for each.</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Handover and sustainability</a:t>
            </a:r>
          </a:p>
          <a:p>
            <a:pPr algn="l">
              <a:spcAft>
                <a:spcPts val="300"/>
              </a:spcAft>
            </a:pPr>
            <a:r>
              <a:rPr sz="1100" b="0">
                <a:solidFill>
                  <a:srgbClr val="5B6372"/>
                </a:solidFill>
                <a:latin typeface="Arial"/>
              </a:rPr>
              <a:t>Show who owns the process now, how it is monitored, and what triggers escalation.</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Lessons learned</a:t>
            </a:r>
          </a:p>
          <a:p>
            <a:pPr algn="l">
              <a:spcAft>
                <a:spcPts val="300"/>
              </a:spcAft>
            </a:pPr>
            <a:r>
              <a:rPr sz="1100" b="0">
                <a:solidFill>
                  <a:srgbClr val="5B6372"/>
                </a:solidFill>
                <a:latin typeface="Arial"/>
              </a:rPr>
              <a:t>Harvest what transfers to the next project and to the Green Belts you will mentor.</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500" b="1">
                <a:solidFill>
                  <a:srgbClr val="161B26"/>
                </a:solidFill>
                <a:latin typeface="Arial"/>
              </a:rPr>
              <a:t>Your Black Belt journey</a:t>
            </a:r>
          </a:p>
          <a:p>
            <a:pPr algn="l">
              <a:spcAft>
                <a:spcPts val="300"/>
              </a:spcAft>
            </a:pPr>
            <a:r>
              <a:rPr sz="1100" b="0">
                <a:solidFill>
                  <a:srgbClr val="5B6372"/>
                </a:solidFill>
                <a:latin typeface="Arial"/>
              </a:rPr>
              <a:t>Certification, project logging, mentoring obligations and continuing practice.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CAPSTONE - DAY 5</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Two things happen on Day 5</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You sit the WSQ assessment, AND you present the capstone you have been building since Lab 1.</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CAPSTONE - DAY 5</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this course is assessed</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THE WSQ ASSESSMENT</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Required for certification</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Written Assessment (WA) - Short-Answer Questions (SAQ)</a:t>
            </a:r>
          </a:p>
          <a:p>
            <a:pPr>
              <a:spcAft>
                <a:spcPts val="700"/>
              </a:spcAft>
            </a:pPr>
            <a:r>
              <a:rPr sz="1200">
                <a:solidFill>
                  <a:srgbClr val="161B26"/>
                </a:solidFill>
                <a:latin typeface="Arial"/>
              </a:rPr>
              <a:t>•  Case Study (CS) - an applied DMAIC case study</a:t>
            </a:r>
          </a:p>
          <a:p>
            <a:pPr>
              <a:spcAft>
                <a:spcPts val="700"/>
              </a:spcAft>
            </a:pPr>
            <a:r>
              <a:rPr sz="1200">
                <a:solidFill>
                  <a:srgbClr val="161B26"/>
                </a:solidFill>
                <a:latin typeface="Arial"/>
              </a:rPr>
              <a:t>•  Both are OPEN BOOK - slides, Learner Guide, approved materials</a:t>
            </a:r>
          </a:p>
          <a:p>
            <a:pPr>
              <a:spcAft>
                <a:spcPts val="700"/>
              </a:spcAft>
            </a:pPr>
            <a:r>
              <a:rPr sz="1200">
                <a:solidFill>
                  <a:srgbClr val="161B26"/>
                </a:solidFill>
                <a:latin typeface="Arial"/>
              </a:rPr>
              <a:t>•  WA covers the knowledge (K1, K2); CS covers the abilities (A1-A5)</a:t>
            </a:r>
          </a:p>
          <a:p>
            <a:pPr>
              <a:spcAft>
                <a:spcPts val="700"/>
              </a:spcAft>
            </a:pPr>
            <a:r>
              <a:rPr sz="1200">
                <a:solidFill>
                  <a:srgbClr val="161B26"/>
                </a:solidFill>
                <a:latin typeface="Arial"/>
              </a:rPr>
              <a:t>•  75 percent attendance is required to be eligible</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THE CAPSTONE</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Additional course deliverable</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CAPSTONE PROJECT REPORT - your consolidated DMAIC storyboard</a:t>
            </a:r>
          </a:p>
          <a:p>
            <a:pPr>
              <a:spcAft>
                <a:spcPts val="700"/>
              </a:spcAft>
            </a:pPr>
            <a:r>
              <a:rPr sz="1200">
                <a:solidFill>
                  <a:srgbClr val="161B26"/>
                </a:solidFill>
                <a:latin typeface="Arial"/>
              </a:rPr>
              <a:t>•  The STEERING COMMITTEE PRESENTATION - 15 minutes plus defence</a:t>
            </a:r>
          </a:p>
          <a:p>
            <a:pPr>
              <a:spcAft>
                <a:spcPts val="700"/>
              </a:spcAft>
            </a:pPr>
            <a:r>
              <a:rPr sz="1200">
                <a:solidFill>
                  <a:srgbClr val="161B26"/>
                </a:solidFill>
                <a:latin typeface="Arial"/>
              </a:rPr>
              <a:t>•  Built from the artifacts you produced in every lab since Lab 1</a:t>
            </a:r>
          </a:p>
          <a:p>
            <a:pPr>
              <a:spcAft>
                <a:spcPts val="700"/>
              </a:spcAft>
            </a:pPr>
            <a:r>
              <a:rPr sz="1200">
                <a:solidFill>
                  <a:srgbClr val="161B26"/>
                </a:solidFill>
                <a:latin typeface="Arial"/>
              </a:rPr>
              <a:t>•  On TOP of the WSQ papers, not a replacement for them</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WHY BOTH</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Certification and capability</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papers evidence the competency standard for WSQ</a:t>
            </a:r>
          </a:p>
          <a:p>
            <a:pPr>
              <a:spcAft>
                <a:spcPts val="700"/>
              </a:spcAft>
            </a:pPr>
            <a:r>
              <a:rPr sz="1200">
                <a:solidFill>
                  <a:srgbClr val="161B26"/>
                </a:solidFill>
                <a:latin typeface="Arial"/>
              </a:rPr>
              <a:t>•  The capstone evidences that you can actually run a project</a:t>
            </a:r>
          </a:p>
          <a:p>
            <a:pPr>
              <a:spcAft>
                <a:spcPts val="700"/>
              </a:spcAft>
            </a:pPr>
            <a:r>
              <a:rPr sz="1200">
                <a:solidFill>
                  <a:srgbClr val="161B26"/>
                </a:solidFill>
                <a:latin typeface="Arial"/>
              </a:rPr>
              <a:t>•  No employer asks for your exam score alone</a:t>
            </a:r>
          </a:p>
          <a:p>
            <a:pPr>
              <a:spcAft>
                <a:spcPts val="700"/>
              </a:spcAft>
            </a:pPr>
            <a:r>
              <a:rPr sz="1200">
                <a:solidFill>
                  <a:srgbClr val="161B26"/>
                </a:solidFill>
                <a:latin typeface="Arial"/>
              </a:rPr>
              <a:t>•  Defending an analysis under challenge is the real skill</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CAPSTONE - YOUR ARTIFACTS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You have been building this since Day 1</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Every lab in this course advanced YOUR project by exactly one artifact.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CAPSTONE - YOUR ARTIFACTS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DEFINE - the artifacts you already hold</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Project charter</a:t>
            </a:r>
          </a:p>
          <a:p>
            <a:pPr algn="l">
              <a:spcAft>
                <a:spcPts val="300"/>
              </a:spcAft>
            </a:pPr>
            <a:r>
              <a:rPr sz="1200" b="0">
                <a:solidFill>
                  <a:srgbClr val="5B6372"/>
                </a:solidFill>
                <a:latin typeface="Arial"/>
              </a:rPr>
              <a:t>Problem, goal, scope, business case, sponsor, team - re-baselined at each tollgate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Y = f(X) statement</a:t>
            </a:r>
          </a:p>
          <a:p>
            <a:pPr algn="l">
              <a:spcAft>
                <a:spcPts val="300"/>
              </a:spcAft>
            </a:pPr>
            <a:r>
              <a:rPr sz="1200" b="0">
                <a:solidFill>
                  <a:srgbClr val="5B6372"/>
                </a:solidFill>
                <a:latin typeface="Arial"/>
              </a:rPr>
              <a:t>Your business Y named, with the candidate Xs you set out to test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Baseline sigma level</a:t>
            </a:r>
          </a:p>
          <a:p>
            <a:pPr algn="l">
              <a:spcAft>
                <a:spcPts val="300"/>
              </a:spcAft>
            </a:pPr>
            <a:r>
              <a:rPr sz="1200" b="0">
                <a:solidFill>
                  <a:srgbClr val="5B6372"/>
                </a:solidFill>
                <a:latin typeface="Arial"/>
              </a:rPr>
              <a:t>DPMO and sigma computed from real data, before any change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VOC and Kano analysis</a:t>
            </a:r>
          </a:p>
          <a:p>
            <a:pPr algn="l">
              <a:spcAft>
                <a:spcPts val="300"/>
              </a:spcAft>
            </a:pPr>
            <a:r>
              <a:rPr sz="1200" b="0">
                <a:solidFill>
                  <a:srgbClr val="5B6372"/>
                </a:solidFill>
                <a:latin typeface="Arial"/>
              </a:rPr>
              <a:t>Customer needs captured and classified basic, performance, delighter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CTQ flowdown</a:t>
            </a:r>
          </a:p>
          <a:p>
            <a:pPr algn="l">
              <a:spcAft>
                <a:spcPts val="300"/>
              </a:spcAft>
            </a:pPr>
            <a:r>
              <a:rPr sz="1200" b="0">
                <a:solidFill>
                  <a:srgbClr val="5B6372"/>
                </a:solidFill>
                <a:latin typeface="Arial"/>
              </a:rPr>
              <a:t>Business Y cascaded to sub-Ys and then to controllable process Xs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SIPOC and stakeholder plan</a:t>
            </a:r>
          </a:p>
          <a:p>
            <a:pPr algn="l">
              <a:spcAft>
                <a:spcPts val="300"/>
              </a:spcAft>
            </a:pPr>
            <a:r>
              <a:rPr sz="1200" b="0">
                <a:solidFill>
                  <a:srgbClr val="5B6372"/>
                </a:solidFill>
                <a:latin typeface="Arial"/>
              </a:rPr>
              <a:t>Process boundaries agreed, and a move planned per stakeholder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CAPSTONE - YOUR ARTIFACTS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MEASURE - the artifacts you already hold</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Value stream map</a:t>
            </a:r>
          </a:p>
          <a:p>
            <a:pPr algn="l">
              <a:spcAft>
                <a:spcPts val="300"/>
              </a:spcAft>
            </a:pPr>
            <a:r>
              <a:rPr sz="1200" b="0">
                <a:solidFill>
                  <a:srgbClr val="5B6372"/>
                </a:solidFill>
                <a:latin typeface="Arial"/>
              </a:rPr>
              <a:t>Current state with cycle time, wait time and the process efficiency ratio</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Gage R&amp;R study</a:t>
            </a:r>
          </a:p>
          <a:p>
            <a:pPr algn="l">
              <a:spcAft>
                <a:spcPts val="300"/>
              </a:spcAft>
            </a:pPr>
            <a:r>
              <a:rPr sz="1200" b="0">
                <a:solidFill>
                  <a:srgbClr val="5B6372"/>
                </a:solidFill>
                <a:latin typeface="Arial"/>
              </a:rPr>
              <a:t>Continuous MSA with percent study variation and the accept/reject decision</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Attribute MSA and Kappa</a:t>
            </a:r>
          </a:p>
          <a:p>
            <a:pPr algn="l">
              <a:spcAft>
                <a:spcPts val="300"/>
              </a:spcAft>
            </a:pPr>
            <a:r>
              <a:rPr sz="1200" b="0">
                <a:solidFill>
                  <a:srgbClr val="5B6372"/>
                </a:solidFill>
                <a:latin typeface="Arial"/>
              </a:rPr>
              <a:t>Inspector agreement quantified beyond chance, judged against 0.75</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Baseline capability</a:t>
            </a:r>
          </a:p>
          <a:p>
            <a:pPr algn="l">
              <a:spcAft>
                <a:spcPts val="300"/>
              </a:spcAft>
            </a:pPr>
            <a:r>
              <a:rPr sz="1200" b="0">
                <a:solidFill>
                  <a:srgbClr val="5B6372"/>
                </a:solidFill>
                <a:latin typeface="Arial"/>
              </a:rPr>
              <a:t>Cp, Cpk, Pp and Ppk with the within-versus-total variation gap explained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Data collection plan</a:t>
            </a:r>
          </a:p>
          <a:p>
            <a:pPr algn="l">
              <a:spcAft>
                <a:spcPts val="300"/>
              </a:spcAft>
            </a:pPr>
            <a:r>
              <a:rPr sz="1200" b="0">
                <a:solidFill>
                  <a:srgbClr val="5B6372"/>
                </a:solidFill>
                <a:latin typeface="Arial"/>
              </a:rPr>
              <a:t>Operational definitions, sampling scheme and the sample size calculation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measurement verdict</a:t>
            </a:r>
          </a:p>
          <a:p>
            <a:pPr algn="l">
              <a:spcAft>
                <a:spcPts val="300"/>
              </a:spcAft>
            </a:pPr>
            <a:r>
              <a:rPr sz="1200" b="0">
                <a:solidFill>
                  <a:srgbClr val="5B6372"/>
                </a:solidFill>
                <a:latin typeface="Arial"/>
              </a:rPr>
              <a:t>Written evidence that your data was trustworthy BEFORE you analysed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CAPSTONE - YOUR ARTIFACTS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ANALYZE - the artifacts you already hold</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Pareto analysis</a:t>
            </a:r>
          </a:p>
          <a:p>
            <a:pPr algn="l">
              <a:spcAft>
                <a:spcPts val="300"/>
              </a:spcAft>
            </a:pPr>
            <a:r>
              <a:rPr sz="1200" b="0">
                <a:solidFill>
                  <a:srgbClr val="5B6372"/>
                </a:solidFill>
                <a:latin typeface="Arial"/>
              </a:rPr>
              <a:t>The vital few categories carrying most of the defect or cost</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Fishbone and 5 Whys</a:t>
            </a:r>
          </a:p>
          <a:p>
            <a:pPr algn="l">
              <a:spcAft>
                <a:spcPts val="300"/>
              </a:spcAft>
            </a:pPr>
            <a:r>
              <a:rPr sz="1200" b="0">
                <a:solidFill>
                  <a:srgbClr val="5B6372"/>
                </a:solidFill>
                <a:latin typeface="Arial"/>
              </a:rPr>
              <a:t>Structured cause hypotheses by 5M+E, driven down to root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Hypothesis tests</a:t>
            </a:r>
          </a:p>
          <a:p>
            <a:pPr algn="l">
              <a:spcAft>
                <a:spcPts val="300"/>
              </a:spcAft>
            </a:pPr>
            <a:r>
              <a:rPr sz="1200" b="0">
                <a:solidFill>
                  <a:srgbClr val="5B6372"/>
                </a:solidFill>
                <a:latin typeface="Arial"/>
              </a:rPr>
              <a:t>Named test, assumptions checked, p-value, and the business conclusion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Multiple regression model</a:t>
            </a:r>
          </a:p>
          <a:p>
            <a:pPr algn="l">
              <a:spcAft>
                <a:spcPts val="300"/>
              </a:spcAft>
            </a:pPr>
            <a:r>
              <a:rPr sz="1200" b="0">
                <a:solidFill>
                  <a:srgbClr val="5B6372"/>
                </a:solidFill>
                <a:latin typeface="Arial"/>
              </a:rPr>
              <a:t>Coefficients, adjusted R-squared, VIF and residual diagnostics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ANOVA results</a:t>
            </a:r>
          </a:p>
          <a:p>
            <a:pPr algn="l">
              <a:spcAft>
                <a:spcPts val="300"/>
              </a:spcAft>
            </a:pPr>
            <a:r>
              <a:rPr sz="1200" b="0">
                <a:solidFill>
                  <a:srgbClr val="5B6372"/>
                </a:solidFill>
                <a:latin typeface="Arial"/>
              </a:rPr>
              <a:t>Group means compared without inflating alpha, interactions examined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Multi-vari study</a:t>
            </a:r>
          </a:p>
          <a:p>
            <a:pPr algn="l">
              <a:spcAft>
                <a:spcPts val="300"/>
              </a:spcAft>
            </a:pPr>
            <a:r>
              <a:rPr sz="1200" b="0">
                <a:solidFill>
                  <a:srgbClr val="5B6372"/>
                </a:solidFill>
                <a:latin typeface="Arial"/>
              </a:rPr>
              <a:t>Positional, cyclical and temporal variation separated before spending money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CAPSTONE - YOUR ARTIFACTS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IMPROVE and CONTROL - the artifacts you already hold</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DOE design and results</a:t>
            </a:r>
          </a:p>
          <a:p>
            <a:pPr algn="l">
              <a:spcAft>
                <a:spcPts val="300"/>
              </a:spcAft>
            </a:pPr>
            <a:r>
              <a:rPr sz="1200" b="0">
                <a:solidFill>
                  <a:srgbClr val="5B6372"/>
                </a:solidFill>
                <a:latin typeface="Arial"/>
              </a:rPr>
              <a:t>Factors, levels, design matrix, resolution, main effects and interactions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RSM optimum</a:t>
            </a:r>
          </a:p>
          <a:p>
            <a:pPr algn="l">
              <a:spcAft>
                <a:spcPts val="300"/>
              </a:spcAft>
            </a:pPr>
            <a:r>
              <a:rPr sz="1200" b="0">
                <a:solidFill>
                  <a:srgbClr val="5B6372"/>
                </a:solidFill>
                <a:latin typeface="Arial"/>
              </a:rPr>
              <a:t>Optimal settings for the vital few Xs, with the confirmation run</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FMEA before and after</a:t>
            </a:r>
          </a:p>
          <a:p>
            <a:pPr algn="l">
              <a:spcAft>
                <a:spcPts val="300"/>
              </a:spcAft>
            </a:pPr>
            <a:r>
              <a:rPr sz="1200" b="0">
                <a:solidFill>
                  <a:srgbClr val="5B6372"/>
                </a:solidFill>
                <a:latin typeface="Arial"/>
              </a:rPr>
              <a:t>RPN scored, mitigated, and re-scored to prove the risk actually fell</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Pilot results</a:t>
            </a:r>
          </a:p>
          <a:p>
            <a:pPr algn="l">
              <a:spcAft>
                <a:spcPts val="300"/>
              </a:spcAft>
            </a:pPr>
            <a:r>
              <a:rPr sz="1200" b="0">
                <a:solidFill>
                  <a:srgbClr val="5B6372"/>
                </a:solidFill>
                <a:latin typeface="Arial"/>
              </a:rPr>
              <a:t>The improvement confirmed at small scale before the full roll-out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SPC and CUSUM/EWMA</a:t>
            </a:r>
          </a:p>
          <a:p>
            <a:pPr algn="l">
              <a:spcAft>
                <a:spcPts val="300"/>
              </a:spcAft>
            </a:pPr>
            <a:r>
              <a:rPr sz="1200" b="0">
                <a:solidFill>
                  <a:srgbClr val="5B6372"/>
                </a:solidFill>
                <a:latin typeface="Arial"/>
              </a:rPr>
              <a:t>The chart now running in production, with its design justified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Control plan and benefit</a:t>
            </a:r>
          </a:p>
          <a:p>
            <a:pPr algn="l">
              <a:spcAft>
                <a:spcPts val="300"/>
              </a:spcAft>
            </a:pPr>
            <a:r>
              <a:rPr sz="1200" b="0">
                <a:solidFill>
                  <a:srgbClr val="5B6372"/>
                </a:solidFill>
                <a:latin typeface="Arial"/>
              </a:rPr>
              <a:t>Owner, reaction plan, audit schedule, and the Finance-validated number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CAPSTONE - YOUR ARTIFACTS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Assembling the artifact set into a narrative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Lay out all 24 artifacts in DMAIC order on one table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Mark each one: main deck, appendix, or working file only</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Check every claim in the main deck has an artifact behind it</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Find the gaps - a claim with no artifact is a claim you cannot defend</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Build the A3 from the main-deck set only</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CAPSTONE - A3</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A3 storyboard</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One page. If it does not fit on one page, you have not finished thinking.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CAPSTONE - A3</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seven A3 boxes</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1. Background</a:t>
            </a:r>
          </a:p>
          <a:p>
            <a:pPr algn="l">
              <a:spcAft>
                <a:spcPts val="300"/>
              </a:spcAft>
            </a:pPr>
            <a:r>
              <a:rPr sz="1200" b="0">
                <a:solidFill>
                  <a:srgbClr val="5B6372"/>
                </a:solidFill>
                <a:latin typeface="Arial"/>
              </a:rPr>
              <a:t>Why this problem, why now, and which business objective it serves</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2. Current state</a:t>
            </a:r>
          </a:p>
          <a:p>
            <a:pPr algn="l">
              <a:spcAft>
                <a:spcPts val="300"/>
              </a:spcAft>
            </a:pPr>
            <a:r>
              <a:rPr sz="1200" b="0">
                <a:solidFill>
                  <a:srgbClr val="5B6372"/>
                </a:solidFill>
                <a:latin typeface="Arial"/>
              </a:rPr>
              <a:t>The baseline with data - process map, capability, cost of the problem</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3. Goal</a:t>
            </a:r>
          </a:p>
          <a:p>
            <a:pPr algn="l">
              <a:spcAft>
                <a:spcPts val="300"/>
              </a:spcAft>
            </a:pPr>
            <a:r>
              <a:rPr sz="1200" b="0">
                <a:solidFill>
                  <a:srgbClr val="5B6372"/>
                </a:solidFill>
                <a:latin typeface="Arial"/>
              </a:rPr>
              <a:t>The target condition, measurable, with a date. Specific enough to fail</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4. Root cause analysis</a:t>
            </a:r>
          </a:p>
          <a:p>
            <a:pPr algn="l">
              <a:spcAft>
                <a:spcPts val="300"/>
              </a:spcAft>
            </a:pPr>
            <a:r>
              <a:rPr sz="1200" b="0">
                <a:solidFill>
                  <a:srgbClr val="5B6372"/>
                </a:solidFill>
                <a:latin typeface="Arial"/>
              </a:rPr>
              <a:t>The causal chain, and the statistical evidence that established it</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5. Countermeasures</a:t>
            </a:r>
          </a:p>
          <a:p>
            <a:pPr algn="l">
              <a:spcAft>
                <a:spcPts val="300"/>
              </a:spcAft>
            </a:pPr>
            <a:r>
              <a:rPr sz="1200" b="0">
                <a:solidFill>
                  <a:srgbClr val="5B6372"/>
                </a:solidFill>
                <a:latin typeface="Arial"/>
              </a:rPr>
              <a:t>What you changed, why that change, and how it was validated</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6. Results</a:t>
            </a:r>
          </a:p>
          <a:p>
            <a:pPr algn="l">
              <a:spcAft>
                <a:spcPts val="300"/>
              </a:spcAft>
            </a:pPr>
            <a:r>
              <a:rPr sz="1200" b="0">
                <a:solidFill>
                  <a:srgbClr val="5B6372"/>
                </a:solidFill>
                <a:latin typeface="Arial"/>
              </a:rPr>
              <a:t>Before versus after, with the Finance-signed benefit figure</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7. Follow-up</a:t>
            </a:r>
          </a:p>
          <a:p>
            <a:pPr algn="l">
              <a:spcAft>
                <a:spcPts val="300"/>
              </a:spcAft>
            </a:pPr>
            <a:r>
              <a:rPr sz="1200" b="0">
                <a:solidFill>
                  <a:srgbClr val="5B6372"/>
                </a:solidFill>
                <a:latin typeface="Arial"/>
              </a:rPr>
              <a:t>Owner, control plan, audit dates, and the replication targets</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CAPSTONE - A3</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60-second visual test</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The test</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Hand it to a stranger</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Give the A3 to someone outside the project</a:t>
            </a:r>
          </a:p>
          <a:p>
            <a:pPr>
              <a:spcAft>
                <a:spcPts val="700"/>
              </a:spcAft>
            </a:pPr>
            <a:r>
              <a:rPr sz="1200">
                <a:solidFill>
                  <a:srgbClr val="161B26"/>
                </a:solidFill>
                <a:latin typeface="Arial"/>
              </a:rPr>
              <a:t>•  Give them 60 seconds, then take it back</a:t>
            </a:r>
          </a:p>
          <a:p>
            <a:pPr>
              <a:spcAft>
                <a:spcPts val="700"/>
              </a:spcAft>
            </a:pPr>
            <a:r>
              <a:rPr sz="1200">
                <a:solidFill>
                  <a:srgbClr val="161B26"/>
                </a:solidFill>
                <a:latin typeface="Arial"/>
              </a:rPr>
              <a:t>•  Ask: what was the problem, and what fixed it?</a:t>
            </a:r>
          </a:p>
          <a:p>
            <a:pPr>
              <a:spcAft>
                <a:spcPts val="700"/>
              </a:spcAft>
            </a:pPr>
            <a:r>
              <a:rPr sz="1200">
                <a:solidFill>
                  <a:srgbClr val="161B26"/>
                </a:solidFill>
                <a:latin typeface="Arial"/>
              </a:rPr>
              <a:t>•  If they cannot say, the A3 has failed</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Why it fails</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usual causes</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Too much text and not enough charts</a:t>
            </a:r>
          </a:p>
          <a:p>
            <a:pPr>
              <a:spcAft>
                <a:spcPts val="700"/>
              </a:spcAft>
            </a:pPr>
            <a:r>
              <a:rPr sz="1200">
                <a:solidFill>
                  <a:srgbClr val="161B26"/>
                </a:solidFill>
                <a:latin typeface="Arial"/>
              </a:rPr>
              <a:t>•  Charts with no annotation of the point they make</a:t>
            </a:r>
          </a:p>
          <a:p>
            <a:pPr>
              <a:spcAft>
                <a:spcPts val="700"/>
              </a:spcAft>
            </a:pPr>
            <a:r>
              <a:rPr sz="1200">
                <a:solidFill>
                  <a:srgbClr val="161B26"/>
                </a:solidFill>
                <a:latin typeface="Arial"/>
              </a:rPr>
              <a:t>•  No visible before-and-after comparison</a:t>
            </a:r>
          </a:p>
          <a:p>
            <a:pPr>
              <a:spcAft>
                <a:spcPts val="700"/>
              </a:spcAft>
            </a:pPr>
            <a:r>
              <a:rPr sz="1200">
                <a:solidFill>
                  <a:srgbClr val="161B26"/>
                </a:solidFill>
                <a:latin typeface="Arial"/>
              </a:rPr>
              <a:t>•  The benefit figure buried in a paragraph</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The fix</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Make it visual</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One clear chart per box, annotated with its conclusion</a:t>
            </a:r>
          </a:p>
          <a:p>
            <a:pPr>
              <a:spcAft>
                <a:spcPts val="700"/>
              </a:spcAft>
            </a:pPr>
            <a:r>
              <a:rPr sz="1200">
                <a:solidFill>
                  <a:srgbClr val="161B26"/>
                </a:solidFill>
                <a:latin typeface="Arial"/>
              </a:rPr>
              <a:t>•  Before and after side by side, same scale</a:t>
            </a:r>
          </a:p>
          <a:p>
            <a:pPr>
              <a:spcAft>
                <a:spcPts val="700"/>
              </a:spcAft>
            </a:pPr>
            <a:r>
              <a:rPr sz="1200">
                <a:solidFill>
                  <a:srgbClr val="161B26"/>
                </a:solidFill>
                <a:latin typeface="Arial"/>
              </a:rPr>
              <a:t>•  The money in large type where the eye lands</a:t>
            </a:r>
          </a:p>
          <a:p>
            <a:pPr>
              <a:spcAft>
                <a:spcPts val="700"/>
              </a:spcAft>
            </a:pPr>
            <a:r>
              <a:rPr sz="1200">
                <a:solidFill>
                  <a:srgbClr val="161B26"/>
                </a:solidFill>
                <a:latin typeface="Arial"/>
              </a:rPr>
              <a:t>•  Words only where a chart genuinely cannot carry it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CAPSTONE - A3</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Meridian A3 - the seven boxes filled in</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Background</a:t>
            </a:r>
          </a:p>
          <a:p>
            <a:pPr algn="l">
              <a:spcAft>
                <a:spcPts val="300"/>
              </a:spcAft>
            </a:pPr>
            <a:r>
              <a:rPr sz="1200" b="0">
                <a:solidFill>
                  <a:srgbClr val="5B6372"/>
                </a:solidFill>
                <a:latin typeface="Arial"/>
              </a:rPr>
              <a:t>Penang line 2 overfill costing SGD 41k/month; OTIF at risk from rework</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Current state</a:t>
            </a:r>
          </a:p>
          <a:p>
            <a:pPr algn="l">
              <a:spcAft>
                <a:spcPts val="300"/>
              </a:spcAft>
            </a:pPr>
            <a:r>
              <a:rPr sz="1200" b="0">
                <a:solidFill>
                  <a:srgbClr val="5B6372"/>
                </a:solidFill>
                <a:latin typeface="Arial"/>
              </a:rPr>
              <a:t>Fill mean 10.09 mL against 10.00 target; Cpk 0.81; 8.4 percent rework</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Goal</a:t>
            </a:r>
          </a:p>
          <a:p>
            <a:pPr algn="l">
              <a:spcAft>
                <a:spcPts val="300"/>
              </a:spcAft>
            </a:pPr>
            <a:r>
              <a:rPr sz="1200" b="0">
                <a:solidFill>
                  <a:srgbClr val="5B6372"/>
                </a:solidFill>
                <a:latin typeface="Arial"/>
              </a:rPr>
              <a:t>Fill mean within 0.02 mL of target and Cpk above 1.33 by end of Q3</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Root cause</a:t>
            </a:r>
          </a:p>
          <a:p>
            <a:pPr algn="l">
              <a:spcAft>
                <a:spcPts val="300"/>
              </a:spcAft>
            </a:pPr>
            <a:r>
              <a:rPr sz="1200" b="0">
                <a:solidFill>
                  <a:srgbClr val="5B6372"/>
                </a:solidFill>
                <a:latin typeface="Arial"/>
              </a:rPr>
              <a:t>DOE: pump reseal torque x dwell time interaction drives the mean shift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Countermeasures</a:t>
            </a:r>
          </a:p>
          <a:p>
            <a:pPr algn="l">
              <a:spcAft>
                <a:spcPts val="300"/>
              </a:spcAft>
            </a:pPr>
            <a:r>
              <a:rPr sz="1200" b="0">
                <a:solidFill>
                  <a:srgbClr val="5B6372"/>
                </a:solidFill>
                <a:latin typeface="Arial"/>
              </a:rPr>
              <a:t>Torque spec tightened, dwell time fixed at RSM optimum, poka-yoke fitted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Results</a:t>
            </a:r>
          </a:p>
          <a:p>
            <a:pPr algn="l">
              <a:spcAft>
                <a:spcPts val="300"/>
              </a:spcAft>
            </a:pPr>
            <a:r>
              <a:rPr sz="1200" b="0">
                <a:solidFill>
                  <a:srgbClr val="5B6372"/>
                </a:solidFill>
                <a:latin typeface="Arial"/>
              </a:rPr>
              <a:t>Mean 10.005 mL, Cpk 1.41, rework 1.2 percent, SGD 328k signed hard benefit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CAPSTONE - PRESENTING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steering committee is not your team</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They have twenty minutes, three other projects, and one question: what do you need from us?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CAPSTONE - PRESENTING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audiences in one room</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The SPONSOR</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Owns the money and the mandate</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Wants: the benefit, the risk, and the ask</a:t>
            </a:r>
          </a:p>
          <a:p>
            <a:pPr>
              <a:spcAft>
                <a:spcPts val="700"/>
              </a:spcAft>
            </a:pPr>
            <a:r>
              <a:rPr sz="1200">
                <a:solidFill>
                  <a:srgbClr val="161B26"/>
                </a:solidFill>
                <a:latin typeface="Arial"/>
              </a:rPr>
              <a:t>•  Fears: an overclaim they will have to defend upward</a:t>
            </a:r>
          </a:p>
          <a:p>
            <a:pPr>
              <a:spcAft>
                <a:spcPts val="700"/>
              </a:spcAft>
            </a:pPr>
            <a:r>
              <a:rPr sz="1200">
                <a:solidFill>
                  <a:srgbClr val="161B26"/>
                </a:solidFill>
                <a:latin typeface="Arial"/>
              </a:rPr>
              <a:t>•  Give them: the signed number and the decision required</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The PROCESS OWNER</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Lives with it after you leave</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Wants: to know exactly what changes for their team</a:t>
            </a:r>
          </a:p>
          <a:p>
            <a:pPr>
              <a:spcAft>
                <a:spcPts val="700"/>
              </a:spcAft>
            </a:pPr>
            <a:r>
              <a:rPr sz="1200">
                <a:solidFill>
                  <a:srgbClr val="161B26"/>
                </a:solidFill>
                <a:latin typeface="Arial"/>
              </a:rPr>
              <a:t>•  Fears: inheriting something unworkable or unresourced</a:t>
            </a:r>
          </a:p>
          <a:p>
            <a:pPr>
              <a:spcAft>
                <a:spcPts val="700"/>
              </a:spcAft>
            </a:pPr>
            <a:r>
              <a:rPr sz="1200">
                <a:solidFill>
                  <a:srgbClr val="161B26"/>
                </a:solidFill>
                <a:latin typeface="Arial"/>
              </a:rPr>
              <a:t>•  Give them: the control plan, the training, the support</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FINANCE</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Guards the credibility of the number</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Wants: baseline, method, attribution, and the split</a:t>
            </a:r>
          </a:p>
          <a:p>
            <a:pPr>
              <a:spcAft>
                <a:spcPts val="700"/>
              </a:spcAft>
            </a:pPr>
            <a:r>
              <a:rPr sz="1200">
                <a:solidFill>
                  <a:srgbClr val="161B26"/>
                </a:solidFill>
                <a:latin typeface="Arial"/>
              </a:rPr>
              <a:t>•  Fears: soft benefits smuggled into the headline</a:t>
            </a:r>
          </a:p>
          <a:p>
            <a:pPr>
              <a:spcAft>
                <a:spcPts val="700"/>
              </a:spcAft>
            </a:pPr>
            <a:r>
              <a:rPr sz="1200">
                <a:solidFill>
                  <a:srgbClr val="161B26"/>
                </a:solidFill>
                <a:latin typeface="Arial"/>
              </a:rPr>
              <a:t>•  Give them: hard, soft and avoidance, clearly separated</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CAPSTONE - PRESENTING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two-minute rule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Decision, benefit and ask in the first two minutes. Everything after that is support.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CAPSTONE - PRESENTING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Two openings for the same project</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The wrong opening</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Chronological</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Good morning, I will start with some background</a:t>
            </a:r>
          </a:p>
          <a:p>
            <a:pPr>
              <a:spcAft>
                <a:spcPts val="700"/>
              </a:spcAft>
            </a:pPr>
            <a:r>
              <a:rPr sz="1200">
                <a:solidFill>
                  <a:srgbClr val="161B26"/>
                </a:solidFill>
                <a:latin typeface="Arial"/>
              </a:rPr>
              <a:t>•  Slide 4: our SIPOC diagram</a:t>
            </a:r>
          </a:p>
          <a:p>
            <a:pPr>
              <a:spcAft>
                <a:spcPts val="700"/>
              </a:spcAft>
            </a:pPr>
            <a:r>
              <a:rPr sz="1200">
                <a:solidFill>
                  <a:srgbClr val="161B26"/>
                </a:solidFill>
                <a:latin typeface="Arial"/>
              </a:rPr>
              <a:t>•  Slide 9: the Gage R&amp;R results</a:t>
            </a:r>
          </a:p>
          <a:p>
            <a:pPr>
              <a:spcAft>
                <a:spcPts val="700"/>
              </a:spcAft>
            </a:pPr>
            <a:r>
              <a:rPr sz="1200">
                <a:solidFill>
                  <a:srgbClr val="161B26"/>
                </a:solidFill>
                <a:latin typeface="Arial"/>
              </a:rPr>
              <a:t>•  Slide 22: and so the benefit is...</a:t>
            </a:r>
          </a:p>
          <a:p>
            <a:pPr>
              <a:spcAft>
                <a:spcPts val="700"/>
              </a:spcAft>
            </a:pPr>
            <a:r>
              <a:rPr sz="1200">
                <a:solidFill>
                  <a:srgbClr val="161B26"/>
                </a:solidFill>
                <a:latin typeface="Arial"/>
              </a:rPr>
              <a:t>•  By slide 9 half the room is on email</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The right opening</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Decision first</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I need approval to roll this to Singapore and Suzhou</a:t>
            </a:r>
          </a:p>
          <a:p>
            <a:pPr>
              <a:spcAft>
                <a:spcPts val="700"/>
              </a:spcAft>
            </a:pPr>
            <a:r>
              <a:rPr sz="1200">
                <a:solidFill>
                  <a:srgbClr val="161B26"/>
                </a:solidFill>
                <a:latin typeface="Arial"/>
              </a:rPr>
              <a:t>•  SGD 328k signed hard benefit, verified over 3 months</a:t>
            </a:r>
          </a:p>
          <a:p>
            <a:pPr>
              <a:spcAft>
                <a:spcPts val="700"/>
              </a:spcAft>
            </a:pPr>
            <a:r>
              <a:rPr sz="1200">
                <a:solidFill>
                  <a:srgbClr val="161B26"/>
                </a:solidFill>
                <a:latin typeface="Arial"/>
              </a:rPr>
              <a:t>•  The ask is 2 engineer-months and a 4-week line window</a:t>
            </a:r>
          </a:p>
          <a:p>
            <a:pPr>
              <a:spcAft>
                <a:spcPts val="700"/>
              </a:spcAft>
            </a:pPr>
            <a:r>
              <a:rPr sz="1200">
                <a:solidFill>
                  <a:srgbClr val="161B26"/>
                </a:solidFill>
                <a:latin typeface="Arial"/>
              </a:rPr>
              <a:t>•  One risk: Suzhou uses a different pump. Mitigation follows</a:t>
            </a:r>
          </a:p>
          <a:p>
            <a:pPr>
              <a:spcAft>
                <a:spcPts val="700"/>
              </a:spcAft>
            </a:pPr>
            <a:r>
              <a:rPr sz="1200">
                <a:solidFill>
                  <a:srgbClr val="161B26"/>
                </a:solidFill>
                <a:latin typeface="Arial"/>
              </a:rPr>
              <a:t>•  The evidence is next. Full analysis in the appendix</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CAPSTONE - PRESENTING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8 to 10 slide main deck</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1. The decision and the ask</a:t>
            </a:r>
          </a:p>
          <a:p>
            <a:pPr algn="l">
              <a:spcAft>
                <a:spcPts val="300"/>
              </a:spcAft>
            </a:pPr>
            <a:r>
              <a:rPr sz="1200" b="0">
                <a:solidFill>
                  <a:srgbClr val="5B6372"/>
                </a:solidFill>
                <a:latin typeface="Arial"/>
              </a:rPr>
              <a:t>One slide. The whole point of the meeting</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2. Problem and business impact</a:t>
            </a:r>
          </a:p>
          <a:p>
            <a:pPr algn="l">
              <a:spcAft>
                <a:spcPts val="300"/>
              </a:spcAft>
            </a:pPr>
            <a:r>
              <a:rPr sz="1200" b="0">
                <a:solidFill>
                  <a:srgbClr val="5B6372"/>
                </a:solidFill>
                <a:latin typeface="Arial"/>
              </a:rPr>
              <a:t>What it costs, tied to a business objective</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3. Baseline with data</a:t>
            </a:r>
          </a:p>
          <a:p>
            <a:pPr algn="l">
              <a:spcAft>
                <a:spcPts val="300"/>
              </a:spcAft>
            </a:pPr>
            <a:r>
              <a:rPr sz="1200" b="0">
                <a:solidFill>
                  <a:srgbClr val="5B6372"/>
                </a:solidFill>
                <a:latin typeface="Arial"/>
              </a:rPr>
              <a:t>Capability or defect rate, before any change</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4. The root cause established</a:t>
            </a:r>
          </a:p>
          <a:p>
            <a:pPr algn="l">
              <a:spcAft>
                <a:spcPts val="300"/>
              </a:spcAft>
            </a:pPr>
            <a:r>
              <a:rPr sz="1200" b="0">
                <a:solidFill>
                  <a:srgbClr val="5B6372"/>
                </a:solidFill>
                <a:latin typeface="Arial"/>
              </a:rPr>
              <a:t>One chart that proves the causal X</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5. What we changed</a:t>
            </a:r>
          </a:p>
          <a:p>
            <a:pPr algn="l">
              <a:spcAft>
                <a:spcPts val="300"/>
              </a:spcAft>
            </a:pPr>
            <a:r>
              <a:rPr sz="1200" b="0">
                <a:solidFill>
                  <a:srgbClr val="5B6372"/>
                </a:solidFill>
                <a:latin typeface="Arial"/>
              </a:rPr>
              <a:t>The countermeasures, in plain language</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6. Results and the benefit</a:t>
            </a:r>
          </a:p>
          <a:p>
            <a:pPr algn="l">
              <a:spcAft>
                <a:spcPts val="300"/>
              </a:spcAft>
            </a:pPr>
            <a:r>
              <a:rPr sz="1200" b="0">
                <a:solidFill>
                  <a:srgbClr val="5B6372"/>
                </a:solidFill>
                <a:latin typeface="Arial"/>
              </a:rPr>
              <a:t>Before versus after, plus the signed number</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7. How it is sustained</a:t>
            </a:r>
          </a:p>
          <a:p>
            <a:pPr algn="l">
              <a:spcAft>
                <a:spcPts val="300"/>
              </a:spcAft>
            </a:pPr>
            <a:r>
              <a:rPr sz="1200" b="0">
                <a:solidFill>
                  <a:srgbClr val="5B6372"/>
                </a:solidFill>
                <a:latin typeface="Arial"/>
              </a:rPr>
              <a:t>Owner, control chart, reaction plan, audit dates</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600" b="1">
                <a:solidFill>
                  <a:srgbClr val="161B26"/>
                </a:solidFill>
                <a:latin typeface="Arial"/>
              </a:rPr>
              <a:t>8. Risks and next steps</a:t>
            </a:r>
          </a:p>
          <a:p>
            <a:pPr algn="l">
              <a:spcAft>
                <a:spcPts val="300"/>
              </a:spcAft>
            </a:pPr>
            <a:r>
              <a:rPr sz="1200" b="0">
                <a:solidFill>
                  <a:srgbClr val="5B6372"/>
                </a:solidFill>
                <a:latin typeface="Arial"/>
              </a:rPr>
              <a:t>Named risks, mitigations, and the replication plan</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CAPSTONE - PRESENTING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Projector legibility - the rules that get broken</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Minimum 18 point</a:t>
            </a:r>
          </a:p>
          <a:p>
            <a:pPr algn="l">
              <a:spcAft>
                <a:spcPts val="300"/>
              </a:spcAft>
            </a:pPr>
            <a:r>
              <a:rPr sz="1200" b="0">
                <a:solidFill>
                  <a:srgbClr val="5B6372"/>
                </a:solidFill>
                <a:latin typeface="Arial"/>
              </a:rPr>
              <a:t>Anything smaller is unreadable from the back of a boardroom</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Never paste a spreadsheet</a:t>
            </a:r>
          </a:p>
          <a:p>
            <a:pPr algn="l">
              <a:spcAft>
                <a:spcPts val="300"/>
              </a:spcAft>
            </a:pPr>
            <a:r>
              <a:rPr sz="1200" b="0">
                <a:solidFill>
                  <a:srgbClr val="5B6372"/>
                </a:solidFill>
                <a:latin typeface="Arial"/>
              </a:rPr>
              <a:t>Screenshot of a 12-column table equals zero communicated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Label the axes in words</a:t>
            </a:r>
          </a:p>
          <a:p>
            <a:pPr algn="l">
              <a:spcAft>
                <a:spcPts val="300"/>
              </a:spcAft>
            </a:pPr>
            <a:r>
              <a:rPr sz="1200" b="0">
                <a:solidFill>
                  <a:srgbClr val="5B6372"/>
                </a:solidFill>
                <a:latin typeface="Arial"/>
              </a:rPr>
              <a:t>Fill volume (mL), not Var1. The room does not know your variables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Annotate the conclusion</a:t>
            </a:r>
          </a:p>
          <a:p>
            <a:pPr algn="l">
              <a:spcAft>
                <a:spcPts val="300"/>
              </a:spcAft>
            </a:pPr>
            <a:r>
              <a:rPr sz="1200" b="0">
                <a:solidFill>
                  <a:srgbClr val="5B6372"/>
                </a:solidFill>
                <a:latin typeface="Arial"/>
              </a:rPr>
              <a:t>Put the takeaway ON the chart, not only in your narration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Test on the actual projector</a:t>
            </a:r>
          </a:p>
          <a:p>
            <a:pPr algn="l">
              <a:spcAft>
                <a:spcPts val="300"/>
              </a:spcAft>
            </a:pPr>
            <a:r>
              <a:rPr sz="1200" b="0">
                <a:solidFill>
                  <a:srgbClr val="5B6372"/>
                </a:solidFill>
                <a:latin typeface="Arial"/>
              </a:rPr>
              <a:t>Pale greys and thin lines vanish on a washed-out screen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One idea per slide</a:t>
            </a:r>
          </a:p>
          <a:p>
            <a:pPr algn="l">
              <a:spcAft>
                <a:spcPts val="300"/>
              </a:spcAft>
            </a:pPr>
            <a:r>
              <a:rPr sz="1200" b="0">
                <a:solidFill>
                  <a:srgbClr val="5B6372"/>
                </a:solidFill>
                <a:latin typeface="Arial"/>
              </a:rPr>
              <a:t>If it needs two headlines, it is two slides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CAPSTONE - PRESENTING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Stating statistics in business language</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What you would write</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Correct but unusable</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p = 0.003, so we reject the null hypothesis</a:t>
            </a:r>
          </a:p>
          <a:p>
            <a:pPr>
              <a:spcAft>
                <a:spcPts val="700"/>
              </a:spcAft>
            </a:pPr>
            <a:r>
              <a:rPr sz="1200">
                <a:solidFill>
                  <a:srgbClr val="161B26"/>
                </a:solidFill>
                <a:latin typeface="Arial"/>
              </a:rPr>
              <a:t>•  Adjusted R-squared = 0.78, VIF all below 3</a:t>
            </a:r>
          </a:p>
          <a:p>
            <a:pPr>
              <a:spcAft>
                <a:spcPts val="700"/>
              </a:spcAft>
            </a:pPr>
            <a:r>
              <a:rPr sz="1200">
                <a:solidFill>
                  <a:srgbClr val="161B26"/>
                </a:solidFill>
                <a:latin typeface="Arial"/>
              </a:rPr>
              <a:t>•  Cpk improved from 0.81 to 1.41</a:t>
            </a:r>
          </a:p>
          <a:p>
            <a:pPr>
              <a:spcAft>
                <a:spcPts val="700"/>
              </a:spcAft>
            </a:pPr>
            <a:r>
              <a:rPr sz="1200">
                <a:solidFill>
                  <a:srgbClr val="161B26"/>
                </a:solidFill>
                <a:latin typeface="Arial"/>
              </a:rPr>
              <a:t>•  The DOE showed a significant AB interaction</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What you should say</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Same evidence, business language</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difference is real - under 1 chance in 300 it is luck</a:t>
            </a:r>
          </a:p>
          <a:p>
            <a:pPr>
              <a:spcAft>
                <a:spcPts val="700"/>
              </a:spcAft>
            </a:pPr>
            <a:r>
              <a:rPr sz="1200">
                <a:solidFill>
                  <a:srgbClr val="161B26"/>
                </a:solidFill>
                <a:latin typeface="Arial"/>
              </a:rPr>
              <a:t>•  These two factors explain about 78 percent of the variation</a:t>
            </a:r>
          </a:p>
          <a:p>
            <a:pPr>
              <a:spcAft>
                <a:spcPts val="700"/>
              </a:spcAft>
            </a:pPr>
            <a:r>
              <a:rPr sz="1200">
                <a:solidFill>
                  <a:srgbClr val="161B26"/>
                </a:solidFill>
                <a:latin typeface="Arial"/>
              </a:rPr>
              <a:t>•  Defect risk fell from roughly 1 in 100 to under 1 in 10,000</a:t>
            </a:r>
          </a:p>
          <a:p>
            <a:pPr>
              <a:spcAft>
                <a:spcPts val="700"/>
              </a:spcAft>
            </a:pPr>
            <a:r>
              <a:rPr sz="1200">
                <a:solidFill>
                  <a:srgbClr val="161B26"/>
                </a:solidFill>
                <a:latin typeface="Arial"/>
              </a:rPr>
              <a:t>•  Torque only matters at the longer dwell time - they interact</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The rule</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Numbers in the appendix</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Say the business meaning out loud</a:t>
            </a:r>
          </a:p>
          <a:p>
            <a:pPr>
              <a:spcAft>
                <a:spcPts val="700"/>
              </a:spcAft>
            </a:pPr>
            <a:r>
              <a:rPr sz="1200">
                <a:solidFill>
                  <a:srgbClr val="161B26"/>
                </a:solidFill>
                <a:latin typeface="Arial"/>
              </a:rPr>
              <a:t>•  Have the statistic on the slide in small type</a:t>
            </a:r>
          </a:p>
          <a:p>
            <a:pPr>
              <a:spcAft>
                <a:spcPts val="700"/>
              </a:spcAft>
            </a:pPr>
            <a:r>
              <a:rPr sz="1200">
                <a:solidFill>
                  <a:srgbClr val="161B26"/>
                </a:solidFill>
                <a:latin typeface="Arial"/>
              </a:rPr>
              <a:t>•  Have the full output in the appendix, indexed</a:t>
            </a:r>
          </a:p>
          <a:p>
            <a:pPr>
              <a:spcAft>
                <a:spcPts val="700"/>
              </a:spcAft>
            </a:pPr>
            <a:r>
              <a:rPr sz="1200">
                <a:solidFill>
                  <a:srgbClr val="161B26"/>
                </a:solidFill>
                <a:latin typeface="Arial"/>
              </a:rPr>
              <a:t>•  Never make the room do the translation</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CAPSTONE - APPENDIX</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appendix is where you win the challenge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main deck makes the case. The appendix proves it - on demand, in seconds.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CAPSTONE - APPENDIX</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belongs in the appendix</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Full statistical output</a:t>
            </a:r>
          </a:p>
          <a:p>
            <a:pPr algn="l">
              <a:spcAft>
                <a:spcPts val="300"/>
              </a:spcAft>
            </a:pPr>
            <a:r>
              <a:rPr sz="1200" b="0">
                <a:solidFill>
                  <a:srgbClr val="5B6372"/>
                </a:solidFill>
                <a:latin typeface="Arial"/>
              </a:rPr>
              <a:t>Regression tables, ANOVA tables, test statistics, confidence intervals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complete MSA study</a:t>
            </a:r>
          </a:p>
          <a:p>
            <a:pPr algn="l">
              <a:spcAft>
                <a:spcPts val="300"/>
              </a:spcAft>
            </a:pPr>
            <a:r>
              <a:rPr sz="1200" b="0">
                <a:solidFill>
                  <a:srgbClr val="5B6372"/>
                </a:solidFill>
                <a:latin typeface="Arial"/>
              </a:rPr>
              <a:t>Gage R&amp;R and Kappa results with the accept/reject decision</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full DOE</a:t>
            </a:r>
          </a:p>
          <a:p>
            <a:pPr algn="l">
              <a:spcAft>
                <a:spcPts val="300"/>
              </a:spcAft>
            </a:pPr>
            <a:r>
              <a:rPr sz="1200" b="0">
                <a:solidFill>
                  <a:srgbClr val="5B6372"/>
                </a:solidFill>
                <a:latin typeface="Arial"/>
              </a:rPr>
              <a:t>Design matrix, alias structure, all effects, the confirmation run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Assumption checks</a:t>
            </a:r>
          </a:p>
          <a:p>
            <a:pPr algn="l">
              <a:spcAft>
                <a:spcPts val="300"/>
              </a:spcAft>
            </a:pPr>
            <a:r>
              <a:rPr sz="1200" b="0">
                <a:solidFill>
                  <a:srgbClr val="5B6372"/>
                </a:solidFill>
                <a:latin typeface="Arial"/>
              </a:rPr>
              <a:t>Normality, equal variance, independence, residual plots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The benefit calculation</a:t>
            </a:r>
          </a:p>
          <a:p>
            <a:pPr algn="l">
              <a:spcAft>
                <a:spcPts val="300"/>
              </a:spcAft>
            </a:pPr>
            <a:r>
              <a:rPr sz="1200" b="0">
                <a:solidFill>
                  <a:srgbClr val="5B6372"/>
                </a:solidFill>
                <a:latin typeface="Arial"/>
              </a:rPr>
              <a:t>Baseline, rates, the Finance method, and the sign-off</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Alternatives rejected</a:t>
            </a:r>
          </a:p>
          <a:p>
            <a:pPr algn="l">
              <a:spcAft>
                <a:spcPts val="300"/>
              </a:spcAft>
            </a:pPr>
            <a:r>
              <a:rPr sz="1200" b="0">
                <a:solidFill>
                  <a:srgbClr val="5B6372"/>
                </a:solidFill>
                <a:latin typeface="Arial"/>
              </a:rPr>
              <a:t>The countermeasures considered and why they were not chosen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CAPSTONE - DEFENCE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Expect to be challenged</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Answer with evidence, never with assertion. Assertion is what a weak project sounds like.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CAPSTONE - DEFENCE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Challenge 1 - sample adequacy and power</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The challenge</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Was 30 really enough?</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How did you choose that sample size?</a:t>
            </a:r>
          </a:p>
          <a:p>
            <a:pPr>
              <a:spcAft>
                <a:spcPts val="700"/>
              </a:spcAft>
            </a:pPr>
            <a:r>
              <a:rPr sz="1200">
                <a:solidFill>
                  <a:srgbClr val="161B26"/>
                </a:solidFill>
                <a:latin typeface="Arial"/>
              </a:rPr>
              <a:t>•  Could you have missed a real effect?</a:t>
            </a:r>
          </a:p>
          <a:p>
            <a:pPr>
              <a:spcAft>
                <a:spcPts val="700"/>
              </a:spcAft>
            </a:pPr>
            <a:r>
              <a:rPr sz="1200">
                <a:solidFill>
                  <a:srgbClr val="161B26"/>
                </a:solidFill>
                <a:latin typeface="Arial"/>
              </a:rPr>
              <a:t>•  Is that sample representative of all shifts?</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The weak answer</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Assertion</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It is a standard sample size</a:t>
            </a:r>
          </a:p>
          <a:p>
            <a:pPr>
              <a:spcAft>
                <a:spcPts val="700"/>
              </a:spcAft>
            </a:pPr>
            <a:r>
              <a:rPr sz="1200">
                <a:solidFill>
                  <a:srgbClr val="161B26"/>
                </a:solidFill>
                <a:latin typeface="Arial"/>
              </a:rPr>
              <a:t>•  We collected what we could get</a:t>
            </a:r>
          </a:p>
          <a:p>
            <a:pPr>
              <a:spcAft>
                <a:spcPts val="700"/>
              </a:spcAft>
            </a:pPr>
            <a:r>
              <a:rPr sz="1200">
                <a:solidFill>
                  <a:srgbClr val="161B26"/>
                </a:solidFill>
                <a:latin typeface="Arial"/>
              </a:rPr>
              <a:t>•  The p-value was significant, so it was enough</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The strong answer</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Evidence</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Sized for a 0.05 mL effect at 80 percent power, alpha 0.05 - n = 28, we took 32</a:t>
            </a:r>
          </a:p>
          <a:p>
            <a:pPr>
              <a:spcAft>
                <a:spcPts val="700"/>
              </a:spcAft>
            </a:pPr>
            <a:r>
              <a:rPr sz="1200">
                <a:solidFill>
                  <a:srgbClr val="161B26"/>
                </a:solidFill>
                <a:latin typeface="Arial"/>
              </a:rPr>
              <a:t>•  Stratified across all three shifts and both operators</a:t>
            </a:r>
          </a:p>
          <a:p>
            <a:pPr>
              <a:spcAft>
                <a:spcPts val="700"/>
              </a:spcAft>
            </a:pPr>
            <a:r>
              <a:rPr sz="1200">
                <a:solidFill>
                  <a:srgbClr val="161B26"/>
                </a:solidFill>
                <a:latin typeface="Arial"/>
              </a:rPr>
              <a:t>•  Appendix A4 shows the power calculation</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CAPSTONE - DEFENCE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Challenge 2 - measurement system validity</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The challenge</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How do you know the data is real?</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Was the gauge capable of seeing this difference?</a:t>
            </a:r>
          </a:p>
          <a:p>
            <a:pPr>
              <a:spcAft>
                <a:spcPts val="700"/>
              </a:spcAft>
            </a:pPr>
            <a:r>
              <a:rPr sz="1200">
                <a:solidFill>
                  <a:srgbClr val="161B26"/>
                </a:solidFill>
                <a:latin typeface="Arial"/>
              </a:rPr>
              <a:t>•  Do your inspectors even agree with each other?</a:t>
            </a:r>
          </a:p>
          <a:p>
            <a:pPr>
              <a:spcAft>
                <a:spcPts val="700"/>
              </a:spcAft>
            </a:pPr>
            <a:r>
              <a:rPr sz="1200">
                <a:solidFill>
                  <a:srgbClr val="161B26"/>
                </a:solidFill>
                <a:latin typeface="Arial"/>
              </a:rPr>
              <a:t>•  Could the improvement be a measurement artifact?</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The weak answer</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Assertion</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gauge is calibrated</a:t>
            </a:r>
          </a:p>
          <a:p>
            <a:pPr>
              <a:spcAft>
                <a:spcPts val="700"/>
              </a:spcAft>
            </a:pPr>
            <a:r>
              <a:rPr sz="1200">
                <a:solidFill>
                  <a:srgbClr val="161B26"/>
                </a:solidFill>
                <a:latin typeface="Arial"/>
              </a:rPr>
              <a:t>•  We have always measured it this way</a:t>
            </a:r>
          </a:p>
          <a:p>
            <a:pPr>
              <a:spcAft>
                <a:spcPts val="700"/>
              </a:spcAft>
            </a:pPr>
            <a:r>
              <a:rPr sz="1200">
                <a:solidFill>
                  <a:srgbClr val="161B26"/>
                </a:solidFill>
                <a:latin typeface="Arial"/>
              </a:rPr>
              <a:t>•  Calibration is not the same as capability</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The strong answer</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Evidence</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Gage R&amp;R at 11.4 percent study variation - acceptable, appendix A2</a:t>
            </a:r>
          </a:p>
          <a:p>
            <a:pPr>
              <a:spcAft>
                <a:spcPts val="700"/>
              </a:spcAft>
            </a:pPr>
            <a:r>
              <a:rPr sz="1200">
                <a:solidFill>
                  <a:srgbClr val="161B26"/>
                </a:solidFill>
                <a:latin typeface="Arial"/>
              </a:rPr>
              <a:t>•  Attribute Kappa 0.83 across four inspectors, above the 0.75 threshold</a:t>
            </a:r>
          </a:p>
          <a:p>
            <a:pPr>
              <a:spcAft>
                <a:spcPts val="700"/>
              </a:spcAft>
            </a:pPr>
            <a:r>
              <a:rPr sz="1200">
                <a:solidFill>
                  <a:srgbClr val="161B26"/>
                </a:solidFill>
                <a:latin typeface="Arial"/>
              </a:rPr>
              <a:t>•  MSA was run and passed BEFORE any analysis data was collected</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CAPSTONE - DEFENCE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Challenge 4 - confounding and attribution</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The challenge</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How do you know it was YOUR change?</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Volume changed in the same period</a:t>
            </a:r>
          </a:p>
          <a:p>
            <a:pPr>
              <a:spcAft>
                <a:spcPts val="700"/>
              </a:spcAft>
            </a:pPr>
            <a:r>
              <a:rPr sz="1200">
                <a:solidFill>
                  <a:srgbClr val="161B26"/>
                </a:solidFill>
                <a:latin typeface="Arial"/>
              </a:rPr>
              <a:t>•  A new supplier was qualified at the same time</a:t>
            </a:r>
          </a:p>
          <a:p>
            <a:pPr>
              <a:spcAft>
                <a:spcPts val="700"/>
              </a:spcAft>
            </a:pPr>
            <a:r>
              <a:rPr sz="1200">
                <a:solidFill>
                  <a:srgbClr val="161B26"/>
                </a:solidFill>
                <a:latin typeface="Arial"/>
              </a:rPr>
              <a:t>•  Could this just be seasonality?</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The weak answer</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Assertion</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metric improved after we implemented</a:t>
            </a:r>
          </a:p>
          <a:p>
            <a:pPr>
              <a:spcAft>
                <a:spcPts val="700"/>
              </a:spcAft>
            </a:pPr>
            <a:r>
              <a:rPr sz="1200">
                <a:solidFill>
                  <a:srgbClr val="161B26"/>
                </a:solidFill>
                <a:latin typeface="Arial"/>
              </a:rPr>
              <a:t>•  Nothing else changed as far as we know</a:t>
            </a:r>
          </a:p>
          <a:p>
            <a:pPr>
              <a:spcAft>
                <a:spcPts val="700"/>
              </a:spcAft>
            </a:pPr>
            <a:r>
              <a:rPr sz="1200">
                <a:solidFill>
                  <a:srgbClr val="161B26"/>
                </a:solidFill>
                <a:latin typeface="Arial"/>
              </a:rPr>
              <a:t>•  This is correlation offered as cause</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The strong answer</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Evidence</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DOE established the causal mechanism directly, not just an association</a:t>
            </a:r>
          </a:p>
          <a:p>
            <a:pPr>
              <a:spcAft>
                <a:spcPts val="700"/>
              </a:spcAft>
            </a:pPr>
            <a:r>
              <a:rPr sz="1200">
                <a:solidFill>
                  <a:srgbClr val="161B26"/>
                </a:solidFill>
                <a:latin typeface="Arial"/>
              </a:rPr>
              <a:t>•  Singapore line 1 held unimproved as a control - it did not move</a:t>
            </a:r>
          </a:p>
          <a:p>
            <a:pPr>
              <a:spcAft>
                <a:spcPts val="700"/>
              </a:spcAft>
            </a:pPr>
            <a:r>
              <a:rPr sz="1200">
                <a:solidFill>
                  <a:srgbClr val="161B26"/>
                </a:solidFill>
                <a:latin typeface="Arial"/>
              </a:rPr>
              <a:t>•  Volume normalised in the before-after test; effect persists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CAPSTONE - DEFENCE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Challenge 5 - DOE resolution and aliasing</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The challenge</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What did your fraction give away?</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You ran 16 runs for 7 factors - what is confounded?</a:t>
            </a:r>
          </a:p>
          <a:p>
            <a:pPr>
              <a:spcAft>
                <a:spcPts val="700"/>
              </a:spcAft>
            </a:pPr>
            <a:r>
              <a:rPr sz="1200">
                <a:solidFill>
                  <a:srgbClr val="161B26"/>
                </a:solidFill>
                <a:latin typeface="Arial"/>
              </a:rPr>
              <a:t>•  Could that main effect actually be an interaction?</a:t>
            </a:r>
          </a:p>
          <a:p>
            <a:pPr>
              <a:spcAft>
                <a:spcPts val="700"/>
              </a:spcAft>
            </a:pPr>
            <a:r>
              <a:rPr sz="1200">
                <a:solidFill>
                  <a:srgbClr val="161B26"/>
                </a:solidFill>
                <a:latin typeface="Arial"/>
              </a:rPr>
              <a:t>•  Did you confirm the optimum?</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The weak answer</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Assertion</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software chose the design</a:t>
            </a:r>
          </a:p>
          <a:p>
            <a:pPr>
              <a:spcAft>
                <a:spcPts val="700"/>
              </a:spcAft>
            </a:pPr>
            <a:r>
              <a:rPr sz="1200">
                <a:solidFill>
                  <a:srgbClr val="161B26"/>
                </a:solidFill>
                <a:latin typeface="Arial"/>
              </a:rPr>
              <a:t>•  We only care about main effects anyway</a:t>
            </a:r>
          </a:p>
          <a:p>
            <a:pPr>
              <a:spcAft>
                <a:spcPts val="700"/>
              </a:spcAft>
            </a:pPr>
            <a:r>
              <a:rPr sz="1200">
                <a:solidFill>
                  <a:srgbClr val="161B26"/>
                </a:solidFill>
                <a:latin typeface="Arial"/>
              </a:rPr>
              <a:t>•  This is exactly the answer that loses the room</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The strong answer</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Evidence</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Resolution IV: main effects clear of 2-factor interactions, but 2FIs alias in pairs</a:t>
            </a:r>
          </a:p>
          <a:p>
            <a:pPr>
              <a:spcAft>
                <a:spcPts val="700"/>
              </a:spcAft>
            </a:pPr>
            <a:r>
              <a:rPr sz="1200">
                <a:solidFill>
                  <a:srgbClr val="161B26"/>
                </a:solidFill>
                <a:latin typeface="Arial"/>
              </a:rPr>
              <a:t>•  AB is aliased with CE - we ran 4 fold-over runs to separate them, appendix A7</a:t>
            </a:r>
          </a:p>
          <a:p>
            <a:pPr>
              <a:spcAft>
                <a:spcPts val="700"/>
              </a:spcAft>
            </a:pPr>
            <a:r>
              <a:rPr sz="1200">
                <a:solidFill>
                  <a:srgbClr val="161B26"/>
                </a:solidFill>
                <a:latin typeface="Arial"/>
              </a:rPr>
              <a:t>•  Confirmation run at the optimum matched prediction within 0.01 mL</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CAPSTONE - DEFENCE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Challenge 6 - sustainability and benefit type</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The challenge</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Will it hold, and is the money real?</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What stops this drifting back in six months?</a:t>
            </a:r>
          </a:p>
          <a:p>
            <a:pPr>
              <a:spcAft>
                <a:spcPts val="700"/>
              </a:spcAft>
            </a:pPr>
            <a:r>
              <a:rPr sz="1200">
                <a:solidFill>
                  <a:srgbClr val="161B26"/>
                </a:solidFill>
                <a:latin typeface="Arial"/>
              </a:rPr>
              <a:t>•  How much of that benefit is soft?</a:t>
            </a:r>
          </a:p>
          <a:p>
            <a:pPr>
              <a:spcAft>
                <a:spcPts val="700"/>
              </a:spcAft>
            </a:pPr>
            <a:r>
              <a:rPr sz="1200">
                <a:solidFill>
                  <a:srgbClr val="161B26"/>
                </a:solidFill>
                <a:latin typeface="Arial"/>
              </a:rPr>
              <a:t>•  Has Finance actually signed it?</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The weak answer</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Assertion</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We have a control plan</a:t>
            </a:r>
          </a:p>
          <a:p>
            <a:pPr>
              <a:spcAft>
                <a:spcPts val="700"/>
              </a:spcAft>
            </a:pPr>
            <a:r>
              <a:rPr sz="1200">
                <a:solidFill>
                  <a:srgbClr val="161B26"/>
                </a:solidFill>
                <a:latin typeface="Arial"/>
              </a:rPr>
              <a:t>•  The team is committed to sustaining it</a:t>
            </a:r>
          </a:p>
          <a:p>
            <a:pPr>
              <a:spcAft>
                <a:spcPts val="700"/>
              </a:spcAft>
            </a:pPr>
            <a:r>
              <a:rPr sz="1200">
                <a:solidFill>
                  <a:srgbClr val="161B26"/>
                </a:solidFill>
                <a:latin typeface="Arial"/>
              </a:rPr>
              <a:t>•  Roughly SGD 500k in total benefit</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The strong answer</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Evidence</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EWMA chart live in production, named owner, reaction plan rehearsed</a:t>
            </a:r>
          </a:p>
          <a:p>
            <a:pPr>
              <a:spcAft>
                <a:spcPts val="700"/>
              </a:spcAft>
            </a:pPr>
            <a:r>
              <a:rPr sz="1200">
                <a:solidFill>
                  <a:srgbClr val="161B26"/>
                </a:solidFill>
                <a:latin typeface="Arial"/>
              </a:rPr>
              <a:t>•  30/60/90 audits already in the owner's calendar with dates</a:t>
            </a:r>
          </a:p>
          <a:p>
            <a:pPr>
              <a:spcAft>
                <a:spcPts val="700"/>
              </a:spcAft>
            </a:pPr>
            <a:r>
              <a:rPr sz="1200">
                <a:solidFill>
                  <a:srgbClr val="161B26"/>
                </a:solidFill>
                <a:latin typeface="Arial"/>
              </a:rPr>
              <a:t>•  SGD 328k HARD, signed by the controller. Soft and avoidance shown separately</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CAPSTONE - DEFENCE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Acknowledging a genuine weakness</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Why defensiveness fails</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It costs you the room</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Every project has a weakness. They will find it</a:t>
            </a:r>
          </a:p>
          <a:p>
            <a:pPr>
              <a:spcAft>
                <a:spcPts val="700"/>
              </a:spcAft>
            </a:pPr>
            <a:r>
              <a:rPr sz="1200">
                <a:solidFill>
                  <a:srgbClr val="161B26"/>
                </a:solidFill>
                <a:latin typeface="Arial"/>
              </a:rPr>
              <a:t>•  Denying it makes them doubt everything else</a:t>
            </a:r>
          </a:p>
          <a:p>
            <a:pPr>
              <a:spcAft>
                <a:spcPts val="700"/>
              </a:spcAft>
            </a:pPr>
            <a:r>
              <a:rPr sz="1200">
                <a:solidFill>
                  <a:srgbClr val="161B26"/>
                </a:solidFill>
                <a:latin typeface="Arial"/>
              </a:rPr>
              <a:t>•  It turns a technical point into a credibility problem</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The strong pattern</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Name, bound, mitigate</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NAME it before they do</a:t>
            </a:r>
          </a:p>
          <a:p>
            <a:pPr>
              <a:spcAft>
                <a:spcPts val="700"/>
              </a:spcAft>
            </a:pPr>
            <a:r>
              <a:rPr sz="1200">
                <a:solidFill>
                  <a:srgbClr val="161B26"/>
                </a:solidFill>
                <a:latin typeface="Arial"/>
              </a:rPr>
              <a:t>•  BOUND it - say how much it could change the conclusion</a:t>
            </a:r>
          </a:p>
          <a:p>
            <a:pPr>
              <a:spcAft>
                <a:spcPts val="700"/>
              </a:spcAft>
            </a:pPr>
            <a:r>
              <a:rPr sz="1200">
                <a:solidFill>
                  <a:srgbClr val="161B26"/>
                </a:solidFill>
                <a:latin typeface="Arial"/>
              </a:rPr>
              <a:t>•  MITIGATE it - say what you did or will do about it</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Worked example</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Meridian, honestly stated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Weakness: only 3 months of post-data, so annualisation is an estimate</a:t>
            </a:r>
          </a:p>
          <a:p>
            <a:pPr>
              <a:spcAft>
                <a:spcPts val="700"/>
              </a:spcAft>
            </a:pPr>
            <a:r>
              <a:rPr sz="1200">
                <a:solidFill>
                  <a:srgbClr val="161B26"/>
                </a:solidFill>
                <a:latin typeface="Arial"/>
              </a:rPr>
              <a:t>•  Bound: even at 70 percent hold rate the benefit exceeds SGD 230k</a:t>
            </a:r>
          </a:p>
          <a:p>
            <a:pPr>
              <a:spcAft>
                <a:spcPts val="700"/>
              </a:spcAft>
            </a:pPr>
            <a:r>
              <a:rPr sz="1200">
                <a:solidFill>
                  <a:srgbClr val="161B26"/>
                </a:solidFill>
                <a:latin typeface="Arial"/>
              </a:rPr>
              <a:t>•  Mitigation: benefit re-verified at the 6-month audit before full annualisation</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CAPSTONE - LESSONS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Two kinds of lesson - keep them separate</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PROJECT-SPECIFIC</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Useful to this process only</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The reseal torque spec was wrong in the drawing</a:t>
            </a:r>
          </a:p>
          <a:p>
            <a:pPr>
              <a:spcAft>
                <a:spcPts val="700"/>
              </a:spcAft>
            </a:pPr>
            <a:r>
              <a:rPr sz="1200">
                <a:solidFill>
                  <a:srgbClr val="161B26"/>
                </a:solidFill>
                <a:latin typeface="Arial"/>
              </a:rPr>
              <a:t>•  Line 2 operators were trained on the old dwell time</a:t>
            </a:r>
          </a:p>
          <a:p>
            <a:pPr>
              <a:spcAft>
                <a:spcPts val="700"/>
              </a:spcAft>
            </a:pPr>
            <a:r>
              <a:rPr sz="1200">
                <a:solidFill>
                  <a:srgbClr val="161B26"/>
                </a:solidFill>
                <a:latin typeface="Arial"/>
              </a:rPr>
              <a:t>•  Value: fix it, log it, replicate to sister lines</a:t>
            </a:r>
          </a:p>
          <a:p>
            <a:pPr>
              <a:spcAft>
                <a:spcPts val="700"/>
              </a:spcAft>
            </a:pPr>
            <a:r>
              <a:rPr sz="1200">
                <a:solidFill>
                  <a:srgbClr val="161B26"/>
                </a:solidFill>
                <a:latin typeface="Arial"/>
              </a:rPr>
              <a:t>•  It does not generalise beyond this equipment</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TRANSFERABLE</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Useful to every future project</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We skipped MSA and lost three weeks to bad data</a:t>
            </a:r>
          </a:p>
          <a:p>
            <a:pPr>
              <a:spcAft>
                <a:spcPts val="700"/>
              </a:spcAft>
            </a:pPr>
            <a:r>
              <a:rPr sz="1200">
                <a:solidFill>
                  <a:srgbClr val="161B26"/>
                </a:solidFill>
                <a:latin typeface="Arial"/>
              </a:rPr>
              <a:t>•  The sponsor changed at month 2 and scope drifted immediately</a:t>
            </a:r>
          </a:p>
          <a:p>
            <a:pPr>
              <a:spcAft>
                <a:spcPts val="700"/>
              </a:spcAft>
            </a:pPr>
            <a:r>
              <a:rPr sz="1200">
                <a:solidFill>
                  <a:srgbClr val="161B26"/>
                </a:solidFill>
                <a:latin typeface="Arial"/>
              </a:rPr>
              <a:t>•  Screening DOE first would have saved 40 runs</a:t>
            </a:r>
          </a:p>
          <a:p>
            <a:pPr>
              <a:spcAft>
                <a:spcPts val="700"/>
              </a:spcAft>
            </a:pPr>
            <a:r>
              <a:rPr sz="1200">
                <a:solidFill>
                  <a:srgbClr val="161B26"/>
                </a:solidFill>
                <a:latin typeface="Arial"/>
              </a:rPr>
              <a:t>•  Value: this changes how you and your Green Belts work</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CAPSTONE - MENTORING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coaching question set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What does your DATA show?</a:t>
            </a:r>
          </a:p>
          <a:p>
            <a:pPr algn="l">
              <a:spcAft>
                <a:spcPts val="300"/>
              </a:spcAft>
            </a:pPr>
            <a:r>
              <a:rPr sz="1200" b="0">
                <a:solidFill>
                  <a:srgbClr val="5B6372"/>
                </a:solidFill>
                <a:latin typeface="Arial"/>
              </a:rPr>
              <a:t>Not what you believe - what the data shows. Redirects opinion to evidence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What have you RULED OUT?</a:t>
            </a:r>
          </a:p>
          <a:p>
            <a:pPr algn="l">
              <a:spcAft>
                <a:spcPts val="300"/>
              </a:spcAft>
            </a:pPr>
            <a:r>
              <a:rPr sz="1200" b="0">
                <a:solidFill>
                  <a:srgbClr val="5B6372"/>
                </a:solidFill>
                <a:latin typeface="Arial"/>
              </a:rPr>
              <a:t>Forces them to show the alternatives they tested and eliminated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What ASSUMPTION is that resting on?</a:t>
            </a:r>
          </a:p>
          <a:p>
            <a:pPr algn="l">
              <a:spcAft>
                <a:spcPts val="300"/>
              </a:spcAft>
            </a:pPr>
            <a:r>
              <a:rPr sz="1200" b="0">
                <a:solidFill>
                  <a:srgbClr val="5B6372"/>
                </a:solidFill>
                <a:latin typeface="Arial"/>
              </a:rPr>
              <a:t>Surfaces the normality, independence or causality they assumed</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How would you know if you were WRONG?</a:t>
            </a:r>
          </a:p>
          <a:p>
            <a:pPr algn="l">
              <a:spcAft>
                <a:spcPts val="300"/>
              </a:spcAft>
            </a:pPr>
            <a:r>
              <a:rPr sz="1200" b="0">
                <a:solidFill>
                  <a:srgbClr val="5B6372"/>
                </a:solidFill>
                <a:latin typeface="Arial"/>
              </a:rPr>
              <a:t>The single most valuable question. Makes the claim falsifiable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What would the sponsor ask?</a:t>
            </a:r>
          </a:p>
          <a:p>
            <a:pPr algn="l">
              <a:spcAft>
                <a:spcPts val="300"/>
              </a:spcAft>
            </a:pPr>
            <a:r>
              <a:rPr sz="1200" b="0">
                <a:solidFill>
                  <a:srgbClr val="5B6372"/>
                </a:solidFill>
                <a:latin typeface="Arial"/>
              </a:rPr>
              <a:t>Trains them to anticipate challenge before the tollgate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Ask, do not tell</a:t>
            </a:r>
          </a:p>
          <a:p>
            <a:pPr algn="l">
              <a:spcAft>
                <a:spcPts val="300"/>
              </a:spcAft>
            </a:pPr>
            <a:r>
              <a:rPr sz="1200" b="0">
                <a:solidFill>
                  <a:srgbClr val="5B6372"/>
                </a:solidFill>
                <a:latin typeface="Arial"/>
              </a:rPr>
              <a:t>The answer you hand over is forgotten. The one they find, they keep</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CAPSTONE - MENTORING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Where Green Belts most need intervention</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Scope creep</a:t>
            </a:r>
          </a:p>
          <a:p>
            <a:pPr algn="l">
              <a:spcAft>
                <a:spcPts val="300"/>
              </a:spcAft>
            </a:pPr>
            <a:r>
              <a:rPr sz="1200" b="0">
                <a:solidFill>
                  <a:srgbClr val="5B6372"/>
                </a:solidFill>
                <a:latin typeface="Arial"/>
              </a:rPr>
              <a:t>The project quietly grows until it cannot finish. The commonest failure by far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Wrong test selection</a:t>
            </a:r>
          </a:p>
          <a:p>
            <a:pPr algn="l">
              <a:spcAft>
                <a:spcPts val="300"/>
              </a:spcAft>
            </a:pPr>
            <a:r>
              <a:rPr sz="1200" b="0">
                <a:solidFill>
                  <a:srgbClr val="5B6372"/>
                </a:solidFill>
                <a:latin typeface="Arial"/>
              </a:rPr>
              <a:t>A t-test on non-normal data, or repeated t-tests instead of ANOVA</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Correlation read as causation</a:t>
            </a:r>
          </a:p>
          <a:p>
            <a:pPr algn="l">
              <a:spcAft>
                <a:spcPts val="300"/>
              </a:spcAft>
            </a:pPr>
            <a:r>
              <a:rPr sz="1200" b="0">
                <a:solidFill>
                  <a:srgbClr val="5B6372"/>
                </a:solidFill>
                <a:latin typeface="Arial"/>
              </a:rPr>
              <a:t>A scatter plot presented as proof of cause. Intervene immediately</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Skipping MSA</a:t>
            </a:r>
          </a:p>
          <a:p>
            <a:pPr algn="l">
              <a:spcAft>
                <a:spcPts val="300"/>
              </a:spcAft>
            </a:pPr>
            <a:r>
              <a:rPr sz="1200" b="0">
                <a:solidFill>
                  <a:srgbClr val="5B6372"/>
                </a:solidFill>
                <a:latin typeface="Arial"/>
              </a:rPr>
              <a:t>Analysing data from an unvalidated gauge. Everything after it is worthless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Solution jumping</a:t>
            </a:r>
          </a:p>
          <a:p>
            <a:pPr algn="l">
              <a:spcAft>
                <a:spcPts val="300"/>
              </a:spcAft>
            </a:pPr>
            <a:r>
              <a:rPr sz="1200" b="0">
                <a:solidFill>
                  <a:srgbClr val="5B6372"/>
                </a:solidFill>
                <a:latin typeface="Arial"/>
              </a:rPr>
              <a:t>The countermeasure was chosen on day 2, and Analyze is being back-filled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600" b="1">
                <a:solidFill>
                  <a:srgbClr val="161B26"/>
                </a:solidFill>
                <a:latin typeface="Arial"/>
              </a:rPr>
              <a:t>No baseline</a:t>
            </a:r>
          </a:p>
          <a:p>
            <a:pPr algn="l">
              <a:spcAft>
                <a:spcPts val="300"/>
              </a:spcAft>
            </a:pPr>
            <a:r>
              <a:rPr sz="1200" b="0">
                <a:solidFill>
                  <a:srgbClr val="5B6372"/>
                </a:solidFill>
                <a:latin typeface="Arial"/>
              </a:rPr>
              <a:t>No before number, so no improvement can ever be demonstrated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CAPSTONE - MENTORING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When to intervene, and when to let them learn</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INTERVENE now</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error is unrecoverable</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MSA skipped - all downstream data is worthless</a:t>
            </a:r>
          </a:p>
          <a:p>
            <a:pPr>
              <a:spcAft>
                <a:spcPts val="700"/>
              </a:spcAft>
            </a:pPr>
            <a:r>
              <a:rPr sz="1200">
                <a:solidFill>
                  <a:srgbClr val="161B26"/>
                </a:solidFill>
                <a:latin typeface="Arial"/>
              </a:rPr>
              <a:t>•  Scope has grown past what can be finished</a:t>
            </a:r>
          </a:p>
          <a:p>
            <a:pPr>
              <a:spcAft>
                <a:spcPts val="700"/>
              </a:spcAft>
            </a:pPr>
            <a:r>
              <a:rPr sz="1200">
                <a:solidFill>
                  <a:srgbClr val="161B26"/>
                </a:solidFill>
                <a:latin typeface="Arial"/>
              </a:rPr>
              <a:t>•  A causal claim about to be made to the sponsor</a:t>
            </a:r>
          </a:p>
          <a:p>
            <a:pPr>
              <a:spcAft>
                <a:spcPts val="700"/>
              </a:spcAft>
            </a:pPr>
            <a:r>
              <a:rPr sz="1200">
                <a:solidFill>
                  <a:srgbClr val="161B26"/>
                </a:solidFill>
                <a:latin typeface="Arial"/>
              </a:rPr>
              <a:t>•  Anything that wastes weeks or damages credibility</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LET THEM LEARN</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error is cheap and instructive</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A fishbone that turns out too broad</a:t>
            </a:r>
          </a:p>
          <a:p>
            <a:pPr>
              <a:spcAft>
                <a:spcPts val="700"/>
              </a:spcAft>
            </a:pPr>
            <a:r>
              <a:rPr sz="1200">
                <a:solidFill>
                  <a:srgbClr val="161B26"/>
                </a:solidFill>
                <a:latin typeface="Arial"/>
              </a:rPr>
              <a:t>•  A first-draft charter that the sponsor will refine</a:t>
            </a:r>
          </a:p>
          <a:p>
            <a:pPr>
              <a:spcAft>
                <a:spcPts val="700"/>
              </a:spcAft>
            </a:pPr>
            <a:r>
              <a:rPr sz="1200">
                <a:solidFill>
                  <a:srgbClr val="161B26"/>
                </a:solidFill>
                <a:latin typeface="Arial"/>
              </a:rPr>
              <a:t>•  A hypothesis that the data does not support</a:t>
            </a:r>
          </a:p>
          <a:p>
            <a:pPr>
              <a:spcAft>
                <a:spcPts val="700"/>
              </a:spcAft>
            </a:pPr>
            <a:r>
              <a:rPr sz="1200">
                <a:solidFill>
                  <a:srgbClr val="161B26"/>
                </a:solidFill>
                <a:latin typeface="Arial"/>
              </a:rPr>
              <a:t>•  Being wrong here is the lesson, not the failure</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The judgement</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Cost of the mistake</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Expensive or irreversible -&gt; intervene, and explain why</a:t>
            </a:r>
          </a:p>
          <a:p>
            <a:pPr>
              <a:spcAft>
                <a:spcPts val="700"/>
              </a:spcAft>
            </a:pPr>
            <a:r>
              <a:rPr sz="1200">
                <a:solidFill>
                  <a:srgbClr val="161B26"/>
                </a:solidFill>
                <a:latin typeface="Arial"/>
              </a:rPr>
              <a:t>•  Cheap and recoverable -&gt; let it run, then debrief</a:t>
            </a:r>
          </a:p>
          <a:p>
            <a:pPr>
              <a:spcAft>
                <a:spcPts val="700"/>
              </a:spcAft>
            </a:pPr>
            <a:r>
              <a:rPr sz="1200">
                <a:solidFill>
                  <a:srgbClr val="161B26"/>
                </a:solidFill>
                <a:latin typeface="Arial"/>
              </a:rPr>
              <a:t>•  Always debrief. An unexamined mistake teaches nothing</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CAPSTONE - PATHWAY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Black Belt pathway from here</a:t>
            </a:r>
          </a:p>
        </p:txBody>
      </p:sp>
      <p:sp>
        <p:nvSpPr>
          <p:cNvPr id="6" name="Rectangle 5"/>
          <p:cNvSpPr/>
          <p:nvPr/>
        </p:nvSpPr>
        <p:spPr>
          <a:xfrm>
            <a:off x="914400" y="3870473"/>
            <a:ext cx="1905609" cy="166164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870473"/>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4089929"/>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Trained</a:t>
            </a:r>
          </a:p>
        </p:txBody>
      </p:sp>
      <p:sp>
        <p:nvSpPr>
          <p:cNvPr id="9" name="TextBox 8"/>
          <p:cNvSpPr txBox="1"/>
          <p:nvPr/>
        </p:nvSpPr>
        <p:spPr>
          <a:xfrm>
            <a:off x="1042416" y="4675145"/>
            <a:ext cx="1649577" cy="747247"/>
          </a:xfrm>
          <a:prstGeom prst="rect">
            <a:avLst/>
          </a:prstGeom>
          <a:noFill/>
        </p:spPr>
        <p:txBody>
          <a:bodyPr wrap="square" anchor="t">
            <a:spAutoFit/>
          </a:bodyPr>
          <a:lstStyle/>
          <a:p>
            <a:pPr algn="ctr">
              <a:spcAft>
                <a:spcPts val="400"/>
              </a:spcAft>
            </a:pPr>
            <a:r>
              <a:rPr sz="1100" b="0">
                <a:solidFill>
                  <a:srgbClr val="5B6372"/>
                </a:solidFill>
                <a:latin typeface="Arial"/>
              </a:rPr>
              <a:t>You have completed the body of knowledge and the capstone</a:t>
            </a:r>
          </a:p>
        </p:txBody>
      </p:sp>
      <p:sp>
        <p:nvSpPr>
          <p:cNvPr id="10" name="Rectangle 9"/>
          <p:cNvSpPr/>
          <p:nvPr/>
        </p:nvSpPr>
        <p:spPr>
          <a:xfrm>
            <a:off x="3021177" y="3405775"/>
            <a:ext cx="1905609" cy="21263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021177" y="3405775"/>
            <a:ext cx="19056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130905" y="3625231"/>
            <a:ext cx="1686153" cy="548640"/>
          </a:xfrm>
          <a:prstGeom prst="rect">
            <a:avLst/>
          </a:prstGeom>
          <a:noFill/>
        </p:spPr>
        <p:txBody>
          <a:bodyPr wrap="square" anchor="t">
            <a:spAutoFit/>
          </a:bodyPr>
          <a:lstStyle/>
          <a:p>
            <a:pPr algn="ctr">
              <a:spcAft>
                <a:spcPts val="400"/>
              </a:spcAft>
            </a:pPr>
            <a:r>
              <a:rPr sz="1500" b="1">
                <a:solidFill>
                  <a:srgbClr val="10B981"/>
                </a:solidFill>
                <a:latin typeface="Arial"/>
              </a:rPr>
              <a:t>Certified</a:t>
            </a:r>
          </a:p>
        </p:txBody>
      </p:sp>
      <p:sp>
        <p:nvSpPr>
          <p:cNvPr id="13" name="TextBox 12"/>
          <p:cNvSpPr txBox="1"/>
          <p:nvPr/>
        </p:nvSpPr>
        <p:spPr>
          <a:xfrm>
            <a:off x="3149193" y="4210447"/>
            <a:ext cx="1649577" cy="1211945"/>
          </a:xfrm>
          <a:prstGeom prst="rect">
            <a:avLst/>
          </a:prstGeom>
          <a:noFill/>
        </p:spPr>
        <p:txBody>
          <a:bodyPr wrap="square" anchor="t">
            <a:spAutoFit/>
          </a:bodyPr>
          <a:lstStyle/>
          <a:p>
            <a:pPr algn="ctr">
              <a:spcAft>
                <a:spcPts val="400"/>
              </a:spcAft>
            </a:pPr>
            <a:r>
              <a:rPr sz="1100" b="0">
                <a:solidFill>
                  <a:srgbClr val="5B6372"/>
                </a:solidFill>
                <a:latin typeface="Arial"/>
              </a:rPr>
              <a:t>Capstone project and steering committee defence accepted</a:t>
            </a:r>
          </a:p>
        </p:txBody>
      </p:sp>
      <p:sp>
        <p:nvSpPr>
          <p:cNvPr id="14" name="Rectangle 13"/>
          <p:cNvSpPr/>
          <p:nvPr/>
        </p:nvSpPr>
        <p:spPr>
          <a:xfrm>
            <a:off x="5127954" y="2941077"/>
            <a:ext cx="1905609" cy="25910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127954" y="2941077"/>
            <a:ext cx="1905609"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237682" y="3160533"/>
            <a:ext cx="1686153" cy="548640"/>
          </a:xfrm>
          <a:prstGeom prst="rect">
            <a:avLst/>
          </a:prstGeom>
          <a:noFill/>
        </p:spPr>
        <p:txBody>
          <a:bodyPr wrap="square" anchor="t">
            <a:spAutoFit/>
          </a:bodyPr>
          <a:lstStyle/>
          <a:p>
            <a:pPr algn="ctr">
              <a:spcAft>
                <a:spcPts val="400"/>
              </a:spcAft>
            </a:pPr>
            <a:r>
              <a:rPr sz="1500" b="1">
                <a:solidFill>
                  <a:srgbClr val="7C3AED"/>
                </a:solidFill>
                <a:latin typeface="Arial"/>
              </a:rPr>
              <a:t>Practising</a:t>
            </a:r>
          </a:p>
        </p:txBody>
      </p:sp>
      <p:sp>
        <p:nvSpPr>
          <p:cNvPr id="17" name="TextBox 16"/>
          <p:cNvSpPr txBox="1"/>
          <p:nvPr/>
        </p:nvSpPr>
        <p:spPr>
          <a:xfrm>
            <a:off x="5255970" y="3745749"/>
            <a:ext cx="1649577" cy="1676643"/>
          </a:xfrm>
          <a:prstGeom prst="rect">
            <a:avLst/>
          </a:prstGeom>
          <a:noFill/>
        </p:spPr>
        <p:txBody>
          <a:bodyPr wrap="square" anchor="t">
            <a:spAutoFit/>
          </a:bodyPr>
          <a:lstStyle/>
          <a:p>
            <a:pPr algn="ctr">
              <a:spcAft>
                <a:spcPts val="400"/>
              </a:spcAft>
            </a:pPr>
            <a:r>
              <a:rPr sz="1100" b="0">
                <a:solidFill>
                  <a:srgbClr val="5B6372"/>
                </a:solidFill>
                <a:latin typeface="Arial"/>
              </a:rPr>
              <a:t>Two to three live projects delivered with Finance-validated benefit</a:t>
            </a:r>
          </a:p>
        </p:txBody>
      </p:sp>
      <p:sp>
        <p:nvSpPr>
          <p:cNvPr id="18" name="Rectangle 17"/>
          <p:cNvSpPr/>
          <p:nvPr/>
        </p:nvSpPr>
        <p:spPr>
          <a:xfrm>
            <a:off x="7234731" y="2476379"/>
            <a:ext cx="1905609" cy="30557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234731" y="2476379"/>
            <a:ext cx="1905609"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44459" y="2695835"/>
            <a:ext cx="1686153" cy="548640"/>
          </a:xfrm>
          <a:prstGeom prst="rect">
            <a:avLst/>
          </a:prstGeom>
          <a:noFill/>
        </p:spPr>
        <p:txBody>
          <a:bodyPr wrap="square" anchor="t">
            <a:spAutoFit/>
          </a:bodyPr>
          <a:lstStyle/>
          <a:p>
            <a:pPr algn="ctr">
              <a:spcAft>
                <a:spcPts val="400"/>
              </a:spcAft>
            </a:pPr>
            <a:r>
              <a:rPr sz="1500" b="1">
                <a:solidFill>
                  <a:srgbClr val="F59E0B"/>
                </a:solidFill>
                <a:latin typeface="Arial"/>
              </a:rPr>
              <a:t>Mentoring</a:t>
            </a:r>
          </a:p>
        </p:txBody>
      </p:sp>
      <p:sp>
        <p:nvSpPr>
          <p:cNvPr id="21" name="TextBox 20"/>
          <p:cNvSpPr txBox="1"/>
          <p:nvPr/>
        </p:nvSpPr>
        <p:spPr>
          <a:xfrm>
            <a:off x="7362747" y="3281051"/>
            <a:ext cx="1649577" cy="2141341"/>
          </a:xfrm>
          <a:prstGeom prst="rect">
            <a:avLst/>
          </a:prstGeom>
          <a:noFill/>
        </p:spPr>
        <p:txBody>
          <a:bodyPr wrap="square" anchor="t">
            <a:spAutoFit/>
          </a:bodyPr>
          <a:lstStyle/>
          <a:p>
            <a:pPr algn="ctr">
              <a:spcAft>
                <a:spcPts val="400"/>
              </a:spcAft>
            </a:pPr>
            <a:r>
              <a:rPr sz="1100" b="0">
                <a:solidFill>
                  <a:srgbClr val="5B6372"/>
                </a:solidFill>
                <a:latin typeface="Arial"/>
              </a:rPr>
              <a:t>Coaching Green Belts through their own projects</a:t>
            </a:r>
          </a:p>
        </p:txBody>
      </p:sp>
      <p:sp>
        <p:nvSpPr>
          <p:cNvPr id="22" name="Rectangle 21"/>
          <p:cNvSpPr/>
          <p:nvPr/>
        </p:nvSpPr>
        <p:spPr>
          <a:xfrm>
            <a:off x="9341508" y="2011680"/>
            <a:ext cx="1905609"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9341508" y="2011680"/>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451236" y="2231136"/>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Master Black Belt</a:t>
            </a:r>
          </a:p>
        </p:txBody>
      </p:sp>
      <p:sp>
        <p:nvSpPr>
          <p:cNvPr id="25" name="TextBox 24"/>
          <p:cNvSpPr txBox="1"/>
          <p:nvPr/>
        </p:nvSpPr>
        <p:spPr>
          <a:xfrm>
            <a:off x="9469524" y="2816352"/>
            <a:ext cx="1649577" cy="2606040"/>
          </a:xfrm>
          <a:prstGeom prst="rect">
            <a:avLst/>
          </a:prstGeom>
          <a:noFill/>
        </p:spPr>
        <p:txBody>
          <a:bodyPr wrap="square" anchor="t">
            <a:spAutoFit/>
          </a:bodyPr>
          <a:lstStyle/>
          <a:p>
            <a:pPr algn="ctr">
              <a:spcAft>
                <a:spcPts val="400"/>
              </a:spcAft>
            </a:pPr>
            <a:r>
              <a:rPr sz="1100" b="0">
                <a:solidFill>
                  <a:srgbClr val="5B6372"/>
                </a:solidFill>
                <a:latin typeface="Arial"/>
              </a:rPr>
              <a:t>Owning the programme, the curriculum and the portfolio</a:t>
            </a:r>
          </a:p>
        </p:txBody>
      </p:sp>
      <p:cxnSp>
        <p:nvCxnSpPr>
          <p:cNvPr id="26" name="Connector 25"/>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Certification is the start of practice, not the end of learning.</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CAPSTONE - PATHWAY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first 90 days back at work</a:t>
            </a:r>
          </a:p>
        </p:txBody>
      </p:sp>
      <p:sp>
        <p:nvSpPr>
          <p:cNvPr id="6" name="Rectangle 5"/>
          <p:cNvSpPr/>
          <p:nvPr/>
        </p:nvSpPr>
        <p:spPr>
          <a:xfrm>
            <a:off x="777240"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Days 1-15: present the capstone to your real sponsor and confirm the mandate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Days 16-30: agree the benefit method with Finance BEFORE anything else</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Days 31-60: run the next tollgate; recruit and scope one Green Belt project</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Days 61-90: audit the control plan at 30/60/90 and verify the benefit is flowing</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Ongoing: log every project, mentor by asking, and keep the portfolio honest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CAPSTONE - DAY 5</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Your capstone is your credential</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Not a certificate on a wall - a project you can defend in any room, to anyone.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Labs — Capstone</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749808"/>
          </a:xfrm>
          <a:prstGeom prst="rect">
            <a:avLst/>
          </a:prstGeom>
          <a:noFill/>
        </p:spPr>
        <p:txBody>
          <a:bodyPr wrap="square" anchor="ctr">
            <a:spAutoFit/>
          </a:bodyPr>
          <a:lstStyle/>
          <a:p>
            <a:pPr algn="l">
              <a:spcAft>
                <a:spcPts val="300"/>
              </a:spcAft>
            </a:pPr>
            <a:r>
              <a:rPr sz="1500" b="1">
                <a:solidFill>
                  <a:srgbClr val="161B26"/>
                </a:solidFill>
                <a:latin typeface="Arial"/>
              </a:rPr>
              <a:t>Lab 31 — Consolidating Your Capstone — The A3 Storyboard</a:t>
            </a:r>
          </a:p>
          <a:p>
            <a:pPr algn="l">
              <a:spcAft>
                <a:spcPts val="300"/>
              </a:spcAft>
            </a:pPr>
            <a:r>
              <a:rPr sz="1100" b="0">
                <a:solidFill>
                  <a:srgbClr val="5B6372"/>
                </a:solidFill>
                <a:latin typeface="Arial"/>
              </a:rPr>
              <a:t>A complete A3 storyboard covering your full DMAIC project on a single page.  •  Data: lab-31-a3-storyboard.xlsx</a:t>
            </a:r>
          </a:p>
        </p:txBody>
      </p:sp>
      <p:sp>
        <p:nvSpPr>
          <p:cNvPr id="11" name="Rectangle 10"/>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312724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3044952"/>
            <a:ext cx="9482328" cy="749808"/>
          </a:xfrm>
          <a:prstGeom prst="rect">
            <a:avLst/>
          </a:prstGeom>
          <a:noFill/>
        </p:spPr>
        <p:txBody>
          <a:bodyPr wrap="square" anchor="ctr">
            <a:spAutoFit/>
          </a:bodyPr>
          <a:lstStyle/>
          <a:p>
            <a:pPr algn="l">
              <a:spcAft>
                <a:spcPts val="300"/>
              </a:spcAft>
            </a:pPr>
            <a:r>
              <a:rPr sz="1500" b="1">
                <a:solidFill>
                  <a:srgbClr val="161B26"/>
                </a:solidFill>
                <a:latin typeface="Arial"/>
              </a:rPr>
              <a:t>Lab 32 — Building the Steering Committee Presentation</a:t>
            </a:r>
          </a:p>
          <a:p>
            <a:pPr algn="l">
              <a:spcAft>
                <a:spcPts val="300"/>
              </a:spcAft>
            </a:pPr>
            <a:r>
              <a:rPr sz="1100" b="0">
                <a:solidFill>
                  <a:srgbClr val="5B6372"/>
                </a:solidFill>
                <a:latin typeface="Arial"/>
              </a:rPr>
              <a:t>A 15-minute steering committee presentation with an appendix of supporting analysis.  •  Data: lab-32-steering-committee-deck.xlsx</a:t>
            </a:r>
          </a:p>
        </p:txBody>
      </p:sp>
      <p:sp>
        <p:nvSpPr>
          <p:cNvPr id="16" name="Rectangle 15"/>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27939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9482328" cy="749808"/>
          </a:xfrm>
          <a:prstGeom prst="rect">
            <a:avLst/>
          </a:prstGeom>
          <a:noFill/>
        </p:spPr>
        <p:txBody>
          <a:bodyPr wrap="square" anchor="ctr">
            <a:spAutoFit/>
          </a:bodyPr>
          <a:lstStyle/>
          <a:p>
            <a:pPr algn="l">
              <a:spcAft>
                <a:spcPts val="300"/>
              </a:spcAft>
            </a:pPr>
            <a:r>
              <a:rPr sz="1500" b="1">
                <a:solidFill>
                  <a:srgbClr val="161B26"/>
                </a:solidFill>
                <a:latin typeface="Arial"/>
              </a:rPr>
              <a:t>Lab 33 — Capstone Presentation and Defence</a:t>
            </a:r>
          </a:p>
          <a:p>
            <a:pPr algn="l">
              <a:spcAft>
                <a:spcPts val="300"/>
              </a:spcAft>
            </a:pPr>
            <a:r>
              <a:rPr sz="1100" b="0">
                <a:solidFill>
                  <a:srgbClr val="5B6372"/>
                </a:solidFill>
                <a:latin typeface="Arial"/>
              </a:rPr>
              <a:t>A delivered 15-minute presentation with a defended Q&amp;A session.  •  Data: lab-33-capstone-defence-rubric.xlsx</a:t>
            </a:r>
          </a:p>
        </p:txBody>
      </p:sp>
      <p:sp>
        <p:nvSpPr>
          <p:cNvPr id="21" name="Rectangle 20"/>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5349240"/>
            <a:ext cx="9482328" cy="749808"/>
          </a:xfrm>
          <a:prstGeom prst="rect">
            <a:avLst/>
          </a:prstGeom>
          <a:noFill/>
        </p:spPr>
        <p:txBody>
          <a:bodyPr wrap="square" anchor="ctr">
            <a:spAutoFit/>
          </a:bodyPr>
          <a:lstStyle/>
          <a:p>
            <a:pPr algn="l">
              <a:spcAft>
                <a:spcPts val="300"/>
              </a:spcAft>
            </a:pPr>
            <a:r>
              <a:rPr sz="1500" b="1">
                <a:solidFill>
                  <a:srgbClr val="161B26"/>
                </a:solidFill>
                <a:latin typeface="Arial"/>
              </a:rPr>
              <a:t>Lab 34 — Lessons Learned, Mentoring Green Belts and Your Black Belt Journey</a:t>
            </a:r>
          </a:p>
          <a:p>
            <a:pPr algn="l">
              <a:spcAft>
                <a:spcPts val="300"/>
              </a:spcAft>
            </a:pPr>
            <a:r>
              <a:rPr sz="1100" b="0">
                <a:solidFill>
                  <a:srgbClr val="5B6372"/>
                </a:solidFill>
                <a:latin typeface="Arial"/>
              </a:rPr>
              <a:t>A lessons-learned record, a Green Belt mentoring plan and a personal development…  •  Data: lab-34-lessons-learned-mentoring.xlsx</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CAPSTONE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Consolidating Your Capstone — The A3 Storyboard</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31</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You have been building this project since Lab 1. Now assemble thirty labs' worth of artifacts into ONE page that tells the whole story. The A3 discipline is deliberately constraining — if it does not fit on one page, you do not yet understand which parts matter.</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 A3 storyboard covering your full DMAIC project on a single page.</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A3 thinking, storyboard structure, artifact selection, visual summary, narrative flow</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31 · Consolidating Your Capstone — The A3…</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Consolidating Your Capstone — The A3 Storyboard</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1-6 OF 12</a:t>
            </a:r>
          </a:p>
        </p:txBody>
      </p:sp>
      <p:sp>
        <p:nvSpPr>
          <p:cNvPr id="7" name="Rectangle 6"/>
          <p:cNvSpPr/>
          <p:nvPr/>
        </p:nvSpPr>
        <p:spPr>
          <a:xfrm>
            <a:off x="777240" y="2121408"/>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16331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6331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Retrieve every artifact you have produced since Lab 1 and lay them out in DMAIC order. You should have thirty or more pieces.</a:t>
            </a:r>
          </a:p>
        </p:txBody>
      </p:sp>
      <p:sp>
        <p:nvSpPr>
          <p:cNvPr id="12" name="Rectangle 11"/>
          <p:cNvSpPr/>
          <p:nvPr/>
        </p:nvSpPr>
        <p:spPr>
          <a:xfrm>
            <a:off x="777240" y="2808731"/>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08731"/>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28506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285064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2863595"/>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Learn the A3 structure: Background, Current State, Goal, Root Cause Analysis, Countermeasures, Results, and Follow-up Actions.</a:t>
            </a:r>
          </a:p>
        </p:txBody>
      </p:sp>
      <p:sp>
        <p:nvSpPr>
          <p:cNvPr id="17" name="Rectangle 16"/>
          <p:cNvSpPr/>
          <p:nvPr/>
        </p:nvSpPr>
        <p:spPr>
          <a:xfrm>
            <a:off x="777240" y="3496054"/>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496054"/>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53796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53796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550918"/>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Write the Background in three sentences: the business context and why this project was selected from the portfolio.</a:t>
            </a:r>
          </a:p>
        </p:txBody>
      </p:sp>
      <p:sp>
        <p:nvSpPr>
          <p:cNvPr id="22" name="Rectangle 21"/>
          <p:cNvSpPr/>
          <p:nvPr/>
        </p:nvSpPr>
        <p:spPr>
          <a:xfrm>
            <a:off x="777240" y="4183377"/>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183377"/>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2252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2252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238241"/>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Present the Current State using your baseline — sigma level, capability, run chart and the quantified COPQ from Lab 1.</a:t>
            </a:r>
          </a:p>
        </p:txBody>
      </p:sp>
      <p:sp>
        <p:nvSpPr>
          <p:cNvPr id="27" name="Rectangle 26"/>
          <p:cNvSpPr/>
          <p:nvPr/>
        </p:nvSpPr>
        <p:spPr>
          <a:xfrm>
            <a:off x="777240" y="4870700"/>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4870700"/>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491260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491260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4925564"/>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State the Goal exactly as chartered, with the SMART target and the deadline.</a:t>
            </a:r>
          </a:p>
        </p:txBody>
      </p:sp>
      <p:sp>
        <p:nvSpPr>
          <p:cNvPr id="32" name="Rectangle 31"/>
          <p:cNvSpPr/>
          <p:nvPr/>
        </p:nvSpPr>
        <p:spPr>
          <a:xfrm>
            <a:off x="777240" y="5558023"/>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77240" y="5558023"/>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024128" y="559993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24128" y="559993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36" name="TextBox 35"/>
          <p:cNvSpPr txBox="1"/>
          <p:nvPr/>
        </p:nvSpPr>
        <p:spPr>
          <a:xfrm>
            <a:off x="1700784" y="5612887"/>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Summarise Root Cause Analysis with your strongest evidence only — the Pareto or stratification, the key hypothesis test result and the regression or ANOVA finding.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31 · Consolidating Your Capstone — The A3…</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Consolidating Your Capstone — The A3 Storyboard</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7-12 OF 12</a:t>
            </a:r>
          </a:p>
        </p:txBody>
      </p:sp>
      <p:sp>
        <p:nvSpPr>
          <p:cNvPr id="7" name="Rectangle 6"/>
          <p:cNvSpPr/>
          <p:nvPr/>
        </p:nvSpPr>
        <p:spPr>
          <a:xfrm>
            <a:off x="777240" y="2121408"/>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16331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6331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1" name="TextBox 10"/>
          <p:cNvSpPr txBox="1"/>
          <p:nvPr/>
        </p:nvSpPr>
        <p:spPr>
          <a:xfrm>
            <a:off x="1700784" y="2176272"/>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Present Countermeasures: the selected solutions, the DOE optimum settings and the FMEA-driven risk mitigations.</a:t>
            </a:r>
          </a:p>
        </p:txBody>
      </p:sp>
      <p:sp>
        <p:nvSpPr>
          <p:cNvPr id="12" name="Rectangle 11"/>
          <p:cNvSpPr/>
          <p:nvPr/>
        </p:nvSpPr>
        <p:spPr>
          <a:xfrm>
            <a:off x="777240" y="2808731"/>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08731"/>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28506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285064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16" name="TextBox 15"/>
          <p:cNvSpPr txBox="1"/>
          <p:nvPr/>
        </p:nvSpPr>
        <p:spPr>
          <a:xfrm>
            <a:off x="1700784" y="2863595"/>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Present Results: before/after comparison, the statistical significance test, the control chart showing sustained performance, and the Finance-validated benefit.</a:t>
            </a:r>
          </a:p>
        </p:txBody>
      </p:sp>
      <p:sp>
        <p:nvSpPr>
          <p:cNvPr id="17" name="Rectangle 16"/>
          <p:cNvSpPr/>
          <p:nvPr/>
        </p:nvSpPr>
        <p:spPr>
          <a:xfrm>
            <a:off x="777240" y="3496054"/>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496054"/>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53796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53796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1" name="TextBox 20"/>
          <p:cNvSpPr txBox="1"/>
          <p:nvPr/>
        </p:nvSpPr>
        <p:spPr>
          <a:xfrm>
            <a:off x="1700784" y="3550918"/>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List Follow-up Actions: the control plan owner, audit schedule, open risks and the next project in the portfolio.</a:t>
            </a:r>
          </a:p>
        </p:txBody>
      </p:sp>
      <p:sp>
        <p:nvSpPr>
          <p:cNvPr id="22" name="Rectangle 21"/>
          <p:cNvSpPr/>
          <p:nvPr/>
        </p:nvSpPr>
        <p:spPr>
          <a:xfrm>
            <a:off x="777240" y="4183377"/>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183377"/>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2252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2252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26" name="TextBox 25"/>
          <p:cNvSpPr txBox="1"/>
          <p:nvPr/>
        </p:nvSpPr>
        <p:spPr>
          <a:xfrm>
            <a:off x="1700784" y="4238241"/>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Now edit ruthlessly to one page. Every element must earn its place — cut anything that does not change the reader's understanding or decision.</a:t>
            </a:r>
          </a:p>
        </p:txBody>
      </p:sp>
      <p:sp>
        <p:nvSpPr>
          <p:cNvPr id="27" name="Rectangle 26"/>
          <p:cNvSpPr/>
          <p:nvPr/>
        </p:nvSpPr>
        <p:spPr>
          <a:xfrm>
            <a:off x="777240" y="4870700"/>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4870700"/>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491260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491260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31" name="TextBox 30"/>
          <p:cNvSpPr txBox="1"/>
          <p:nvPr/>
        </p:nvSpPr>
        <p:spPr>
          <a:xfrm>
            <a:off x="1700784" y="4925564"/>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Apply the visual test: a sponsor should grasp the whole story in 60 seconds from the charts alone, without reading the text.</a:t>
            </a:r>
          </a:p>
        </p:txBody>
      </p:sp>
      <p:sp>
        <p:nvSpPr>
          <p:cNvPr id="32" name="Rectangle 31"/>
          <p:cNvSpPr/>
          <p:nvPr/>
        </p:nvSpPr>
        <p:spPr>
          <a:xfrm>
            <a:off x="777240" y="5558023"/>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77240" y="5558023"/>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024128" y="559993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24128" y="559993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12</a:t>
            </a:r>
          </a:p>
        </p:txBody>
      </p:sp>
      <p:sp>
        <p:nvSpPr>
          <p:cNvPr id="36" name="TextBox 35"/>
          <p:cNvSpPr txBox="1"/>
          <p:nvPr/>
        </p:nvSpPr>
        <p:spPr>
          <a:xfrm>
            <a:off x="1700784" y="5612887"/>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Have a peer read your A3 cold and tell you what the project did. If they get it wrong, the A3 is not yet finished.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31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Consolidating Your Capstone — The A3 Storyboard</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A3 fits on one page, covers all seven sections, carries your real project data throughout, and a peer reading it cold can correctly summarise the project.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CAPSTONE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Building the Steering Committee Presentation</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32</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Sponsors are not statisticians. They want the decision, the money and the risk in the first two minutes, with the statistics available underneath as supporting evidence. This lab builds the deck you will deliver and defend in Lab 33.</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15-minute steering committee presentation with an appendix of supporting analysis.</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Executive communication, data storytelling, chart selection, structuring for decisions, appendix strategy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32 · Building the Steering Committee…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Building the Steering Committee Presentation</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1-6 OF 12</a:t>
            </a:r>
          </a:p>
        </p:txBody>
      </p:sp>
      <p:sp>
        <p:nvSpPr>
          <p:cNvPr id="7" name="Rectangle 6"/>
          <p:cNvSpPr/>
          <p:nvPr/>
        </p:nvSpPr>
        <p:spPr>
          <a:xfrm>
            <a:off x="777240" y="2121408"/>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16331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6331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Understand your audience: the sponsor wants the business outcome; the process owner wants the operational change; Finance wants the benefit validated.</a:t>
            </a:r>
          </a:p>
        </p:txBody>
      </p:sp>
      <p:sp>
        <p:nvSpPr>
          <p:cNvPr id="12" name="Rectangle 11"/>
          <p:cNvSpPr/>
          <p:nvPr/>
        </p:nvSpPr>
        <p:spPr>
          <a:xfrm>
            <a:off x="777240" y="2808731"/>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08731"/>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28506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285064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2863595"/>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Open with the headline: what the project achieved, what it is worth annually, and what decision you need from the committee.</a:t>
            </a:r>
          </a:p>
        </p:txBody>
      </p:sp>
      <p:sp>
        <p:nvSpPr>
          <p:cNvPr id="17" name="Rectangle 16"/>
          <p:cNvSpPr/>
          <p:nvPr/>
        </p:nvSpPr>
        <p:spPr>
          <a:xfrm>
            <a:off x="777240" y="3496054"/>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496054"/>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53796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53796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550918"/>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Apply the two-minute rule — if the committee stopped you after two minutes, they should already have everything needed to make a decision.</a:t>
            </a:r>
          </a:p>
        </p:txBody>
      </p:sp>
      <p:sp>
        <p:nvSpPr>
          <p:cNvPr id="22" name="Rectangle 21"/>
          <p:cNvSpPr/>
          <p:nvPr/>
        </p:nvSpPr>
        <p:spPr>
          <a:xfrm>
            <a:off x="777240" y="4183377"/>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183377"/>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2252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2252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238241"/>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Structure the main body against DMAIC, but at business altitude: the problem, what the data showed, what you changed, what resulted.</a:t>
            </a:r>
          </a:p>
        </p:txBody>
      </p:sp>
      <p:sp>
        <p:nvSpPr>
          <p:cNvPr id="27" name="Rectangle 26"/>
          <p:cNvSpPr/>
          <p:nvPr/>
        </p:nvSpPr>
        <p:spPr>
          <a:xfrm>
            <a:off x="777240" y="4870700"/>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4870700"/>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491260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491260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4925564"/>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Select your charts carefully. One before/after comparison, one root cause chart, one control chart showing sustained gain. Resist showing everything you built.</a:t>
            </a:r>
          </a:p>
        </p:txBody>
      </p:sp>
      <p:sp>
        <p:nvSpPr>
          <p:cNvPr id="32" name="Rectangle 31"/>
          <p:cNvSpPr/>
          <p:nvPr/>
        </p:nvSpPr>
        <p:spPr>
          <a:xfrm>
            <a:off x="777240" y="5558023"/>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77240" y="5558023"/>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024128" y="559993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24128" y="559993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36" name="TextBox 35"/>
          <p:cNvSpPr txBox="1"/>
          <p:nvPr/>
        </p:nvSpPr>
        <p:spPr>
          <a:xfrm>
            <a:off x="1700784" y="5612887"/>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Design each chart for a projector at the back of a room: large fonts, direct labels, no unexplained jargon and no default spreadsheet styling.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32 · Building the Steering Committee…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Building the Steering Committee Presentation</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7-12 OF 12</a:t>
            </a:r>
          </a:p>
        </p:txBody>
      </p:sp>
      <p:sp>
        <p:nvSpPr>
          <p:cNvPr id="7" name="Rectangle 6"/>
          <p:cNvSpPr/>
          <p:nvPr/>
        </p:nvSpPr>
        <p:spPr>
          <a:xfrm>
            <a:off x="777240" y="2121408"/>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16331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6331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1" name="TextBox 10"/>
          <p:cNvSpPr txBox="1"/>
          <p:nvPr/>
        </p:nvSpPr>
        <p:spPr>
          <a:xfrm>
            <a:off x="1700784" y="2176272"/>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State the statistics in business language. 'The difference is statistically significant (p = 0.003)' beats a table of test output.</a:t>
            </a:r>
          </a:p>
        </p:txBody>
      </p:sp>
      <p:sp>
        <p:nvSpPr>
          <p:cNvPr id="12" name="Rectangle 11"/>
          <p:cNvSpPr/>
          <p:nvPr/>
        </p:nvSpPr>
        <p:spPr>
          <a:xfrm>
            <a:off x="777240" y="2808731"/>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08731"/>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28506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285064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16" name="TextBox 15"/>
          <p:cNvSpPr txBox="1"/>
          <p:nvPr/>
        </p:nvSpPr>
        <p:spPr>
          <a:xfrm>
            <a:off x="1700784" y="2863595"/>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Present the benefit precisely: hard, soft and cost avoidance separated, with the Finance sign-off named explicitly.</a:t>
            </a:r>
          </a:p>
        </p:txBody>
      </p:sp>
      <p:sp>
        <p:nvSpPr>
          <p:cNvPr id="17" name="Rectangle 16"/>
          <p:cNvSpPr/>
          <p:nvPr/>
        </p:nvSpPr>
        <p:spPr>
          <a:xfrm>
            <a:off x="777240" y="3496054"/>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496054"/>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53796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53796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1" name="TextBox 20"/>
          <p:cNvSpPr txBox="1"/>
          <p:nvPr/>
        </p:nvSpPr>
        <p:spPr>
          <a:xfrm>
            <a:off x="1700784" y="3550918"/>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Present the risks honestly, along with their mitigations. A presentation with no risks reads as naive and invites harder challenge.</a:t>
            </a:r>
          </a:p>
        </p:txBody>
      </p:sp>
      <p:sp>
        <p:nvSpPr>
          <p:cNvPr id="22" name="Rectangle 21"/>
          <p:cNvSpPr/>
          <p:nvPr/>
        </p:nvSpPr>
        <p:spPr>
          <a:xfrm>
            <a:off x="777240" y="4183377"/>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183377"/>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2252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2252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26" name="TextBox 25"/>
          <p:cNvSpPr txBox="1"/>
          <p:nvPr/>
        </p:nvSpPr>
        <p:spPr>
          <a:xfrm>
            <a:off x="1700784" y="4238241"/>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Close with the specific ask: approve the rollout, release resources, or approve the next project in the portfolio.</a:t>
            </a:r>
          </a:p>
        </p:txBody>
      </p:sp>
      <p:sp>
        <p:nvSpPr>
          <p:cNvPr id="27" name="Rectangle 26"/>
          <p:cNvSpPr/>
          <p:nvPr/>
        </p:nvSpPr>
        <p:spPr>
          <a:xfrm>
            <a:off x="777240" y="4870700"/>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4870700"/>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491260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491260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31" name="TextBox 30"/>
          <p:cNvSpPr txBox="1"/>
          <p:nvPr/>
        </p:nvSpPr>
        <p:spPr>
          <a:xfrm>
            <a:off x="1700784" y="4925564"/>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Build the APPENDIX with your full analysis — regression output, ANOVA tables, DOE design and alias structure, MSA study and control plan. This is where challenges get answered.</a:t>
            </a:r>
          </a:p>
        </p:txBody>
      </p:sp>
      <p:sp>
        <p:nvSpPr>
          <p:cNvPr id="32" name="Rectangle 31"/>
          <p:cNvSpPr/>
          <p:nvPr/>
        </p:nvSpPr>
        <p:spPr>
          <a:xfrm>
            <a:off x="777240" y="5558023"/>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77240" y="5558023"/>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024128" y="559993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24128" y="559993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12</a:t>
            </a:r>
          </a:p>
        </p:txBody>
      </p:sp>
      <p:sp>
        <p:nvSpPr>
          <p:cNvPr id="36" name="TextBox 35"/>
          <p:cNvSpPr txBox="1"/>
          <p:nvPr/>
        </p:nvSpPr>
        <p:spPr>
          <a:xfrm>
            <a:off x="1700784" y="5612887"/>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Rehearse to time. Fifteen minutes means fifteen minutes; overrunning signals you cannot prioritise.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32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Building the Steering Committee Presentation</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presentation delivers the decision, benefit and ask within the first two minutes, charts are projector-legible, statistics are stated in business language, and every likely challenge has an appendix slide behind it.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CAPSTONE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Capstone Presentation and Defence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33</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The capstone assessment. Present your project to a simulated steering committee of peers and the trainer, then defend the analysis under challenge. Defending your methodology under pressure is the skill that separates a Black Belt from a Green Belt.</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delivered 15-minute presentation with a defended Q&amp;A session.</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Presentation delivery, handling challenge, methodological defence, peer assessment, professional judgement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33 · Capstone Presentation and Defence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Capstone Presentation and Defence</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1-6 OF 12</a:t>
            </a:r>
          </a:p>
        </p:txBody>
      </p:sp>
      <p:sp>
        <p:nvSpPr>
          <p:cNvPr id="7" name="Rectangle 6"/>
          <p:cNvSpPr/>
          <p:nvPr/>
        </p:nvSpPr>
        <p:spPr>
          <a:xfrm>
            <a:off x="777240" y="2121408"/>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16331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6331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Deliver your 15-minute presentation to the steering committee panel.</a:t>
            </a:r>
          </a:p>
        </p:txBody>
      </p:sp>
      <p:sp>
        <p:nvSpPr>
          <p:cNvPr id="12" name="Rectangle 11"/>
          <p:cNvSpPr/>
          <p:nvPr/>
        </p:nvSpPr>
        <p:spPr>
          <a:xfrm>
            <a:off x="777240" y="2808731"/>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08731"/>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28506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285064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2863595"/>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Hold the two-minute rule under pressure — lead with outcome, benefit and ask.</a:t>
            </a:r>
          </a:p>
        </p:txBody>
      </p:sp>
      <p:sp>
        <p:nvSpPr>
          <p:cNvPr id="17" name="Rectangle 16"/>
          <p:cNvSpPr/>
          <p:nvPr/>
        </p:nvSpPr>
        <p:spPr>
          <a:xfrm>
            <a:off x="777240" y="3496054"/>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496054"/>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53796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53796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550918"/>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Take questions. Expect challenge on sample adequacy: was your sample size justified, and what power did your tests have?</a:t>
            </a:r>
          </a:p>
        </p:txBody>
      </p:sp>
      <p:sp>
        <p:nvSpPr>
          <p:cNvPr id="22" name="Rectangle 21"/>
          <p:cNvSpPr/>
          <p:nvPr/>
        </p:nvSpPr>
        <p:spPr>
          <a:xfrm>
            <a:off x="777240" y="4183377"/>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183377"/>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2252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2252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238241"/>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Expect challenge on the measurement system: how do you know the data is trustworthy? Have your Gage R&amp;R or Kappa result ready.</a:t>
            </a:r>
          </a:p>
        </p:txBody>
      </p:sp>
      <p:sp>
        <p:nvSpPr>
          <p:cNvPr id="27" name="Rectangle 26"/>
          <p:cNvSpPr/>
          <p:nvPr/>
        </p:nvSpPr>
        <p:spPr>
          <a:xfrm>
            <a:off x="777240" y="4870700"/>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4870700"/>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491260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491260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4925564"/>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Expect challenge on assumptions: did you test normality, equal variance and independence, and what did you do when they failed?</a:t>
            </a:r>
          </a:p>
        </p:txBody>
      </p:sp>
      <p:sp>
        <p:nvSpPr>
          <p:cNvPr id="32" name="Rectangle 31"/>
          <p:cNvSpPr/>
          <p:nvPr/>
        </p:nvSpPr>
        <p:spPr>
          <a:xfrm>
            <a:off x="777240" y="5558023"/>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77240" y="5558023"/>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024128" y="559993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24128" y="559993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36" name="TextBox 35"/>
          <p:cNvSpPr txBox="1"/>
          <p:nvPr/>
        </p:nvSpPr>
        <p:spPr>
          <a:xfrm>
            <a:off x="1700784" y="5612887"/>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Expect challenge on confounding: what else changed during the period, and how do you know your intervention caused the improvement?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33 · Capstone Presentation and Defence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Capstone Presentation and Defence</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7-12 OF 12</a:t>
            </a:r>
          </a:p>
        </p:txBody>
      </p:sp>
      <p:sp>
        <p:nvSpPr>
          <p:cNvPr id="7" name="Rectangle 6"/>
          <p:cNvSpPr/>
          <p:nvPr/>
        </p:nvSpPr>
        <p:spPr>
          <a:xfrm>
            <a:off x="777240" y="2121408"/>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16331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6331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1" name="TextBox 10"/>
          <p:cNvSpPr txBox="1"/>
          <p:nvPr/>
        </p:nvSpPr>
        <p:spPr>
          <a:xfrm>
            <a:off x="1700784" y="2176272"/>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Expect challenge on DOE: what was your design resolution, what effects were aliased, and did confirmation runs validate the optimum?</a:t>
            </a:r>
          </a:p>
        </p:txBody>
      </p:sp>
      <p:sp>
        <p:nvSpPr>
          <p:cNvPr id="12" name="Rectangle 11"/>
          <p:cNvSpPr/>
          <p:nvPr/>
        </p:nvSpPr>
        <p:spPr>
          <a:xfrm>
            <a:off x="777240" y="2808731"/>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08731"/>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28506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285064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16" name="TextBox 15"/>
          <p:cNvSpPr txBox="1"/>
          <p:nvPr/>
        </p:nvSpPr>
        <p:spPr>
          <a:xfrm>
            <a:off x="1700784" y="2863595"/>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Expect challenge on sustainability: what stops this from decaying in six months once attention moves elsewhere?</a:t>
            </a:r>
          </a:p>
        </p:txBody>
      </p:sp>
      <p:sp>
        <p:nvSpPr>
          <p:cNvPr id="17" name="Rectangle 16"/>
          <p:cNvSpPr/>
          <p:nvPr/>
        </p:nvSpPr>
        <p:spPr>
          <a:xfrm>
            <a:off x="777240" y="3496054"/>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496054"/>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53796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53796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1" name="TextBox 20"/>
          <p:cNvSpPr txBox="1"/>
          <p:nvPr/>
        </p:nvSpPr>
        <p:spPr>
          <a:xfrm>
            <a:off x="1700784" y="3550918"/>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Expect challenge on the benefit: is it hard or soft, who in Finance validated it, and over what period?</a:t>
            </a:r>
          </a:p>
        </p:txBody>
      </p:sp>
      <p:sp>
        <p:nvSpPr>
          <p:cNvPr id="22" name="Rectangle 21"/>
          <p:cNvSpPr/>
          <p:nvPr/>
        </p:nvSpPr>
        <p:spPr>
          <a:xfrm>
            <a:off x="777240" y="4183377"/>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183377"/>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2252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2252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26" name="TextBox 25"/>
          <p:cNvSpPr txBox="1"/>
          <p:nvPr/>
        </p:nvSpPr>
        <p:spPr>
          <a:xfrm>
            <a:off x="1700784" y="4238241"/>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Answer with evidence, not assertion. Go to your appendix. Where you do not know, say so and state how you would find out — this is far stronger than bluffing.</a:t>
            </a:r>
          </a:p>
        </p:txBody>
      </p:sp>
      <p:sp>
        <p:nvSpPr>
          <p:cNvPr id="27" name="Rectangle 26"/>
          <p:cNvSpPr/>
          <p:nvPr/>
        </p:nvSpPr>
        <p:spPr>
          <a:xfrm>
            <a:off x="777240" y="4870700"/>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4870700"/>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491260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491260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31" name="TextBox 30"/>
          <p:cNvSpPr txBox="1"/>
          <p:nvPr/>
        </p:nvSpPr>
        <p:spPr>
          <a:xfrm>
            <a:off x="1700784" y="4925564"/>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Where a challenge reveals a genuine weakness, acknowledge it and state the mitigation. Defensiveness costs more credibility than the weakness itself.</a:t>
            </a:r>
          </a:p>
        </p:txBody>
      </p:sp>
      <p:sp>
        <p:nvSpPr>
          <p:cNvPr id="32" name="Rectangle 31"/>
          <p:cNvSpPr/>
          <p:nvPr/>
        </p:nvSpPr>
        <p:spPr>
          <a:xfrm>
            <a:off x="777240" y="5558023"/>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77240" y="5558023"/>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024128" y="559993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24128" y="559993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12</a:t>
            </a:r>
          </a:p>
        </p:txBody>
      </p:sp>
      <p:sp>
        <p:nvSpPr>
          <p:cNvPr id="36" name="TextBox 35"/>
          <p:cNvSpPr txBox="1"/>
          <p:nvPr/>
        </p:nvSpPr>
        <p:spPr>
          <a:xfrm>
            <a:off x="1700784" y="5612887"/>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Observe the other presentations and record challenges you had not anticipated for your own project.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33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Capstone Presentation and Defence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delivered within time, answered challenges with evidence from your appendix rather than assertion, and acknowledged genuine weaknesses with a stated mitigation.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CAPSTONE · HANDS-ON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Lessons Learned, Mentoring Green Belts and Your Black Belt Journey</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34</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Close the course as you would close a project. Harvest what transfers, then turn to the accountability that most defines the role: mentoring Green Belts. A Black Belt is measured not only by their own projects but by the belts they develop.</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lessons-learned record, a Green Belt mentoring plan and a personal development roadmap.</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Lessons learned, knowledge transfer, mentoring model, coaching questions, certification pathway, continuing practice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34 · Lessons Learned, Mentoring Green…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Lessons Learned, Mentoring Green Belts and Your Black Belt Journey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1-6 OF 12</a:t>
            </a:r>
          </a:p>
        </p:txBody>
      </p:sp>
      <p:sp>
        <p:nvSpPr>
          <p:cNvPr id="7" name="Rectangle 6"/>
          <p:cNvSpPr/>
          <p:nvPr/>
        </p:nvSpPr>
        <p:spPr>
          <a:xfrm>
            <a:off x="777240" y="2121408"/>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16331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6331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00784" y="2176272"/>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Run your own lessons learned: what worked in your capstone, what did not, and what you would do differently next time.</a:t>
            </a:r>
          </a:p>
        </p:txBody>
      </p:sp>
      <p:sp>
        <p:nvSpPr>
          <p:cNvPr id="12" name="Rectangle 11"/>
          <p:cNvSpPr/>
          <p:nvPr/>
        </p:nvSpPr>
        <p:spPr>
          <a:xfrm>
            <a:off x="777240" y="2808731"/>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08731"/>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28506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285064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00784" y="2863595"/>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Separate lessons that are project-specific from those that transfer to any project. Only the transferable ones belong in the organisational knowledge base.</a:t>
            </a:r>
          </a:p>
        </p:txBody>
      </p:sp>
      <p:sp>
        <p:nvSpPr>
          <p:cNvPr id="17" name="Rectangle 16"/>
          <p:cNvSpPr/>
          <p:nvPr/>
        </p:nvSpPr>
        <p:spPr>
          <a:xfrm>
            <a:off x="777240" y="3496054"/>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496054"/>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53796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53796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00784" y="3550918"/>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Record the two analytical techniques from this course you found most difficult, and plan how you will build fluency in them.</a:t>
            </a:r>
          </a:p>
        </p:txBody>
      </p:sp>
      <p:sp>
        <p:nvSpPr>
          <p:cNvPr id="22" name="Rectangle 21"/>
          <p:cNvSpPr/>
          <p:nvPr/>
        </p:nvSpPr>
        <p:spPr>
          <a:xfrm>
            <a:off x="777240" y="4183377"/>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183377"/>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2252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2252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00784" y="4238241"/>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Now the mentoring role. Understand the core principle: a Black Belt coaches Green Belts through their analysis rather than performing it for them.</a:t>
            </a:r>
          </a:p>
        </p:txBody>
      </p:sp>
      <p:sp>
        <p:nvSpPr>
          <p:cNvPr id="27" name="Rectangle 26"/>
          <p:cNvSpPr/>
          <p:nvPr/>
        </p:nvSpPr>
        <p:spPr>
          <a:xfrm>
            <a:off x="777240" y="4870700"/>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4870700"/>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491260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491260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31" name="TextBox 30"/>
          <p:cNvSpPr txBox="1"/>
          <p:nvPr/>
        </p:nvSpPr>
        <p:spPr>
          <a:xfrm>
            <a:off x="1700784" y="4925564"/>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Learn the coaching question set: what does your data show, what have you ruled out, what assumption is that resting on, and how would you know if you were wrong?</a:t>
            </a:r>
          </a:p>
        </p:txBody>
      </p:sp>
      <p:sp>
        <p:nvSpPr>
          <p:cNvPr id="32" name="Rectangle 31"/>
          <p:cNvSpPr/>
          <p:nvPr/>
        </p:nvSpPr>
        <p:spPr>
          <a:xfrm>
            <a:off x="777240" y="5558023"/>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77240" y="5558023"/>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024128" y="559993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24128" y="559993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6</a:t>
            </a:r>
          </a:p>
        </p:txBody>
      </p:sp>
      <p:sp>
        <p:nvSpPr>
          <p:cNvPr id="36" name="TextBox 35"/>
          <p:cNvSpPr txBox="1"/>
          <p:nvPr/>
        </p:nvSpPr>
        <p:spPr>
          <a:xfrm>
            <a:off x="1700784" y="5612887"/>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Identify where Green Belts most commonly need intervention — scope creep, wrong test selection, confusing correlation with causation, and skipping MSA entirely.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34 · Lessons Learned, Mentoring Green…</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Lessons Learned, Mentoring Green Belts and Your Black Belt Journey</a:t>
            </a:r>
          </a:p>
        </p:txBody>
      </p:sp>
      <p:sp>
        <p:nvSpPr>
          <p:cNvPr id="6" name="TextBox 5"/>
          <p:cNvSpPr txBox="1"/>
          <p:nvPr/>
        </p:nvSpPr>
        <p:spPr>
          <a:xfrm>
            <a:off x="822960" y="1700784"/>
            <a:ext cx="10058400" cy="329184"/>
          </a:xfrm>
          <a:prstGeom prst="rect">
            <a:avLst/>
          </a:prstGeom>
          <a:noFill/>
        </p:spPr>
        <p:txBody>
          <a:bodyPr wrap="square" anchor="t">
            <a:spAutoFit/>
          </a:bodyPr>
          <a:lstStyle/>
          <a:p>
            <a:pPr algn="l">
              <a:spcAft>
                <a:spcPts val="400"/>
              </a:spcAft>
            </a:pPr>
            <a:r>
              <a:rPr sz="1300" b="1">
                <a:solidFill>
                  <a:srgbClr val="5B6372"/>
                </a:solidFill>
                <a:latin typeface="Arial"/>
              </a:rPr>
              <a:t>STEPS 7-12 OF 12</a:t>
            </a:r>
          </a:p>
        </p:txBody>
      </p:sp>
      <p:sp>
        <p:nvSpPr>
          <p:cNvPr id="7" name="Rectangle 6"/>
          <p:cNvSpPr/>
          <p:nvPr/>
        </p:nvSpPr>
        <p:spPr>
          <a:xfrm>
            <a:off x="777240" y="2121408"/>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121408"/>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16331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63317"/>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7</a:t>
            </a:r>
          </a:p>
        </p:txBody>
      </p:sp>
      <p:sp>
        <p:nvSpPr>
          <p:cNvPr id="11" name="TextBox 10"/>
          <p:cNvSpPr txBox="1"/>
          <p:nvPr/>
        </p:nvSpPr>
        <p:spPr>
          <a:xfrm>
            <a:off x="1700784" y="2176272"/>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Plan your tollgate review approach: what evidence you require at each gate before allowing a Green Belt project to proceed.</a:t>
            </a:r>
          </a:p>
        </p:txBody>
      </p:sp>
      <p:sp>
        <p:nvSpPr>
          <p:cNvPr id="12" name="Rectangle 11"/>
          <p:cNvSpPr/>
          <p:nvPr/>
        </p:nvSpPr>
        <p:spPr>
          <a:xfrm>
            <a:off x="777240" y="2808731"/>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08731"/>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24128" y="285064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4128" y="2850640"/>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8</a:t>
            </a:r>
          </a:p>
        </p:txBody>
      </p:sp>
      <p:sp>
        <p:nvSpPr>
          <p:cNvPr id="16" name="TextBox 15"/>
          <p:cNvSpPr txBox="1"/>
          <p:nvPr/>
        </p:nvSpPr>
        <p:spPr>
          <a:xfrm>
            <a:off x="1700784" y="2863595"/>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Decide when to intervene directly versus letting a Green Belt learn from a recoverable mistake. Both have costs.</a:t>
            </a:r>
          </a:p>
        </p:txBody>
      </p:sp>
      <p:sp>
        <p:nvSpPr>
          <p:cNvPr id="17" name="Rectangle 16"/>
          <p:cNvSpPr/>
          <p:nvPr/>
        </p:nvSpPr>
        <p:spPr>
          <a:xfrm>
            <a:off x="777240" y="3496054"/>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7240" y="3496054"/>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24128" y="3537963"/>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3537963"/>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9</a:t>
            </a:r>
          </a:p>
        </p:txBody>
      </p:sp>
      <p:sp>
        <p:nvSpPr>
          <p:cNvPr id="21" name="TextBox 20"/>
          <p:cNvSpPr txBox="1"/>
          <p:nvPr/>
        </p:nvSpPr>
        <p:spPr>
          <a:xfrm>
            <a:off x="1700784" y="3550918"/>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Draft a mentoring plan for one Green Belt in your organisation: their project, their development gaps, your review cadence.</a:t>
            </a:r>
          </a:p>
        </p:txBody>
      </p:sp>
      <p:sp>
        <p:nvSpPr>
          <p:cNvPr id="22" name="Rectangle 21"/>
          <p:cNvSpPr/>
          <p:nvPr/>
        </p:nvSpPr>
        <p:spPr>
          <a:xfrm>
            <a:off x="777240" y="4183377"/>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77240" y="4183377"/>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24128" y="422528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24128" y="422528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10</a:t>
            </a:r>
          </a:p>
        </p:txBody>
      </p:sp>
      <p:sp>
        <p:nvSpPr>
          <p:cNvPr id="26" name="TextBox 25"/>
          <p:cNvSpPr txBox="1"/>
          <p:nvPr/>
        </p:nvSpPr>
        <p:spPr>
          <a:xfrm>
            <a:off x="1700784" y="4238241"/>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Map your certification pathway: project logging requirements, the certification body's criteria and any remaining evidence you need.</a:t>
            </a:r>
          </a:p>
        </p:txBody>
      </p:sp>
      <p:sp>
        <p:nvSpPr>
          <p:cNvPr id="27" name="Rectangle 26"/>
          <p:cNvSpPr/>
          <p:nvPr/>
        </p:nvSpPr>
        <p:spPr>
          <a:xfrm>
            <a:off x="777240" y="4870700"/>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77240" y="4870700"/>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24128" y="4912609"/>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4912609"/>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11</a:t>
            </a:r>
          </a:p>
        </p:txBody>
      </p:sp>
      <p:sp>
        <p:nvSpPr>
          <p:cNvPr id="31" name="TextBox 30"/>
          <p:cNvSpPr txBox="1"/>
          <p:nvPr/>
        </p:nvSpPr>
        <p:spPr>
          <a:xfrm>
            <a:off x="1700784" y="4925564"/>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Identify your next portfolio project from the Lab 2 map, and set a start date.</a:t>
            </a:r>
          </a:p>
        </p:txBody>
      </p:sp>
      <p:sp>
        <p:nvSpPr>
          <p:cNvPr id="32" name="Rectangle 31"/>
          <p:cNvSpPr/>
          <p:nvPr/>
        </p:nvSpPr>
        <p:spPr>
          <a:xfrm>
            <a:off x="777240" y="5558023"/>
            <a:ext cx="10634472" cy="5410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77240" y="5558023"/>
            <a:ext cx="82296" cy="5410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024128" y="5599932"/>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24128" y="559993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12</a:t>
            </a:r>
          </a:p>
        </p:txBody>
      </p:sp>
      <p:sp>
        <p:nvSpPr>
          <p:cNvPr id="36" name="TextBox 35"/>
          <p:cNvSpPr txBox="1"/>
          <p:nvPr/>
        </p:nvSpPr>
        <p:spPr>
          <a:xfrm>
            <a:off x="1700784" y="5612887"/>
            <a:ext cx="9509760" cy="431291"/>
          </a:xfrm>
          <a:prstGeom prst="rect">
            <a:avLst/>
          </a:prstGeom>
          <a:noFill/>
        </p:spPr>
        <p:txBody>
          <a:bodyPr wrap="square" anchor="ctr">
            <a:spAutoFit/>
          </a:bodyPr>
          <a:lstStyle/>
          <a:p>
            <a:pPr algn="l">
              <a:spcAft>
                <a:spcPts val="400"/>
              </a:spcAft>
            </a:pPr>
            <a:r>
              <a:rPr sz="1300" b="0">
                <a:solidFill>
                  <a:srgbClr val="161B26"/>
                </a:solidFill>
                <a:latin typeface="Arial"/>
              </a:rPr>
              <a:t>Write your 90-day plan: complete or hand over the capstone, begin mentoring, and select the next project.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34 · VERIFY</a:t>
            </a:r>
          </a:p>
        </p:txBody>
      </p:sp>
      <p:sp>
        <p:nvSpPr>
          <p:cNvPr id="5" name="TextBox 4"/>
          <p:cNvSpPr txBox="1"/>
          <p:nvPr/>
        </p:nvSpPr>
        <p:spPr>
          <a:xfrm>
            <a:off x="777240" y="822960"/>
            <a:ext cx="10881360" cy="749808"/>
          </a:xfrm>
          <a:prstGeom prst="rect">
            <a:avLst/>
          </a:prstGeom>
          <a:noFill/>
        </p:spPr>
        <p:txBody>
          <a:bodyPr wrap="square" anchor="t">
            <a:spAutoFit/>
          </a:bodyPr>
          <a:lstStyle/>
          <a:p>
            <a:pPr algn="l">
              <a:spcAft>
                <a:spcPts val="400"/>
              </a:spcAft>
            </a:pPr>
            <a:r>
              <a:rPr sz="2300" b="1">
                <a:solidFill>
                  <a:srgbClr val="161B26"/>
                </a:solidFill>
                <a:latin typeface="Arial"/>
              </a:rPr>
              <a:t>Lessons Learned, Mentoring Green Belts and Your Black Belt Journey</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lessons are separated into project-specific and transferable, you have a named Green Belt mentoring plan with a review cadence, and your 90-day plan has dated commitments.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Capstone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400">
                <a:solidFill>
                  <a:srgbClr val="161B26"/>
                </a:solidFill>
                <a:latin typeface="Arial"/>
              </a:rPr>
              <a:t>•  The A3 storyboard — One page tells the whole project: background, current state, analysis, countermeasures, results, next steps.</a:t>
            </a:r>
          </a:p>
          <a:p>
            <a:pPr>
              <a:spcAft>
                <a:spcPts val="1000"/>
              </a:spcAft>
            </a:pPr>
            <a:r>
              <a:rPr sz="1400">
                <a:solidFill>
                  <a:srgbClr val="161B26"/>
                </a:solidFill>
                <a:latin typeface="Arial"/>
              </a:rPr>
              <a:t>•  Consolidating your artifacts — Every lab from Day 1 produced one piece of your capstone — now assemble them into one narrative.</a:t>
            </a:r>
          </a:p>
          <a:p>
            <a:pPr>
              <a:spcAft>
                <a:spcPts val="1000"/>
              </a:spcAft>
            </a:pPr>
            <a:r>
              <a:rPr sz="1400">
                <a:solidFill>
                  <a:srgbClr val="161B26"/>
                </a:solidFill>
                <a:latin typeface="Arial"/>
              </a:rPr>
              <a:t>•  Telling the data story — Lead with the business impact, support it with the statistics — never the other way round.</a:t>
            </a:r>
          </a:p>
          <a:p>
            <a:pPr>
              <a:spcAft>
                <a:spcPts val="1000"/>
              </a:spcAft>
            </a:pPr>
            <a:r>
              <a:rPr sz="1400">
                <a:solidFill>
                  <a:srgbClr val="161B26"/>
                </a:solidFill>
                <a:latin typeface="Arial"/>
              </a:rPr>
              <a:t>•  Presenting to a steering committee — Sponsors want the decision, the risk and the money in the first two minutes.</a:t>
            </a:r>
          </a:p>
          <a:p>
            <a:pPr>
              <a:spcAft>
                <a:spcPts val="1000"/>
              </a:spcAft>
            </a:pPr>
            <a:r>
              <a:rPr sz="1400">
                <a:solidFill>
                  <a:srgbClr val="161B26"/>
                </a:solidFill>
                <a:latin typeface="Arial"/>
              </a:rPr>
              <a:t>•  Defending the analysis — Expect challenge on sample size, assumptions and confounding — prepare the evidence for each.</a:t>
            </a:r>
          </a:p>
          <a:p>
            <a:pPr>
              <a:spcAft>
                <a:spcPts val="1000"/>
              </a:spcAft>
            </a:pPr>
            <a:r>
              <a:rPr sz="1400">
                <a:solidFill>
                  <a:srgbClr val="161B26"/>
                </a:solidFill>
                <a:latin typeface="Arial"/>
              </a:rPr>
              <a:t>•  Handover and sustainability — Show who owns the process now, how it is monitored, and what triggers escalation.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CAPSTONE PACKAGE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You Achieved — The Full DMAIC Journey</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Chartered your capstone</a:t>
            </a:r>
          </a:p>
          <a:p>
            <a:pPr>
              <a:spcAft>
                <a:spcPts val="600"/>
              </a:spcAft>
            </a:pPr>
            <a:r>
              <a:rPr sz="1100">
                <a:solidFill>
                  <a:srgbClr val="161B26"/>
                </a:solidFill>
                <a:latin typeface="Arial"/>
              </a:rPr>
              <a:t>•  Built the CTQ flowdown</a:t>
            </a:r>
          </a:p>
          <a:p>
            <a:pPr>
              <a:spcAft>
                <a:spcPts val="600"/>
              </a:spcAft>
            </a:pPr>
            <a:r>
              <a:rPr sz="1100">
                <a:solidFill>
                  <a:srgbClr val="161B26"/>
                </a:solidFill>
                <a:latin typeface="Arial"/>
              </a:rPr>
              <a:t>•  Mapped stakeholders</a:t>
            </a:r>
          </a:p>
          <a:p>
            <a:pPr>
              <a:spcAft>
                <a:spcPts val="600"/>
              </a:spcAft>
            </a:pPr>
            <a:r>
              <a:rPr sz="1100">
                <a:solidFill>
                  <a:srgbClr val="161B26"/>
                </a:solidFill>
                <a:latin typeface="Arial"/>
              </a:rPr>
              <a:t>•  Planned the change</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Proved the gage (R&amp;R)</a:t>
            </a:r>
          </a:p>
          <a:p>
            <a:pPr>
              <a:spcAft>
                <a:spcPts val="600"/>
              </a:spcAft>
            </a:pPr>
            <a:r>
              <a:rPr sz="1100">
                <a:solidFill>
                  <a:srgbClr val="161B26"/>
                </a:solidFill>
                <a:latin typeface="Arial"/>
              </a:rPr>
              <a:t>•  Ran attribute MSA / Kappa</a:t>
            </a:r>
          </a:p>
          <a:p>
            <a:pPr>
              <a:spcAft>
                <a:spcPts val="600"/>
              </a:spcAft>
            </a:pPr>
            <a:r>
              <a:rPr sz="1100">
                <a:solidFill>
                  <a:srgbClr val="161B26"/>
                </a:solidFill>
                <a:latin typeface="Arial"/>
              </a:rPr>
              <a:t>•  Handled non-normal data</a:t>
            </a:r>
          </a:p>
          <a:p>
            <a:pPr>
              <a:spcAft>
                <a:spcPts val="600"/>
              </a:spcAft>
            </a:pPr>
            <a:r>
              <a:rPr sz="1100">
                <a:solidFill>
                  <a:srgbClr val="161B26"/>
                </a:solidFill>
                <a:latin typeface="Arial"/>
              </a:rPr>
              <a:t>•  Baselined capability</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Fitted multiple regression</a:t>
            </a:r>
          </a:p>
          <a:p>
            <a:pPr>
              <a:spcAft>
                <a:spcPts val="600"/>
              </a:spcAft>
            </a:pPr>
            <a:r>
              <a:rPr sz="1100">
                <a:solidFill>
                  <a:srgbClr val="161B26"/>
                </a:solidFill>
                <a:latin typeface="Arial"/>
              </a:rPr>
              <a:t>•  Ran ANOVA &amp; interactions</a:t>
            </a:r>
          </a:p>
          <a:p>
            <a:pPr>
              <a:spcAft>
                <a:spcPts val="600"/>
              </a:spcAft>
            </a:pPr>
            <a:r>
              <a:rPr sz="1100">
                <a:solidFill>
                  <a:srgbClr val="161B26"/>
                </a:solidFill>
                <a:latin typeface="Arial"/>
              </a:rPr>
              <a:t>•  Decomposed multi-vari</a:t>
            </a:r>
          </a:p>
          <a:p>
            <a:pPr>
              <a:spcAft>
                <a:spcPts val="600"/>
              </a:spcAft>
            </a:pPr>
            <a:r>
              <a:rPr sz="1100">
                <a:solidFill>
                  <a:srgbClr val="161B26"/>
                </a:solidFill>
                <a:latin typeface="Arial"/>
              </a:rPr>
              <a:t>•  Proved root cause</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Designed full factorials</a:t>
            </a:r>
          </a:p>
          <a:p>
            <a:pPr>
              <a:spcAft>
                <a:spcPts val="600"/>
              </a:spcAft>
            </a:pPr>
            <a:r>
              <a:rPr sz="1100">
                <a:solidFill>
                  <a:srgbClr val="161B26"/>
                </a:solidFill>
                <a:latin typeface="Arial"/>
              </a:rPr>
              <a:t>•  Screened with fractionals</a:t>
            </a:r>
          </a:p>
          <a:p>
            <a:pPr>
              <a:spcAft>
                <a:spcPts val="600"/>
              </a:spcAft>
            </a:pPr>
            <a:r>
              <a:rPr sz="1100">
                <a:solidFill>
                  <a:srgbClr val="161B26"/>
                </a:solidFill>
                <a:latin typeface="Arial"/>
              </a:rPr>
              <a:t>•  Optimised with RSM</a:t>
            </a:r>
          </a:p>
          <a:p>
            <a:pPr>
              <a:spcAft>
                <a:spcPts val="600"/>
              </a:spcAft>
            </a:pPr>
            <a:r>
              <a:rPr sz="1100">
                <a:solidFill>
                  <a:srgbClr val="161B26"/>
                </a:solidFill>
                <a:latin typeface="Arial"/>
              </a:rPr>
              <a:t>•  De-risked with FMEA</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Built CUSUM &amp; EWMA</a:t>
            </a:r>
          </a:p>
          <a:p>
            <a:pPr>
              <a:spcAft>
                <a:spcPts val="600"/>
              </a:spcAft>
            </a:pPr>
            <a:r>
              <a:rPr sz="1100">
                <a:solidFill>
                  <a:srgbClr val="161B26"/>
                </a:solidFill>
                <a:latin typeface="Arial"/>
              </a:rPr>
              <a:t>•  Applied T-squared</a:t>
            </a:r>
          </a:p>
          <a:p>
            <a:pPr>
              <a:spcAft>
                <a:spcPts val="600"/>
              </a:spcAft>
            </a:pPr>
            <a:r>
              <a:rPr sz="1100">
                <a:solidFill>
                  <a:srgbClr val="161B26"/>
                </a:solidFill>
                <a:latin typeface="Arial"/>
              </a:rPr>
              <a:t>•  Validated the benefit</a:t>
            </a:r>
          </a:p>
          <a:p>
            <a:pPr>
              <a:spcAft>
                <a:spcPts val="600"/>
              </a:spcAft>
            </a:pPr>
            <a:r>
              <a:rPr sz="1100">
                <a:solidFill>
                  <a:srgbClr val="161B26"/>
                </a:solidFill>
                <a:latin typeface="Arial"/>
              </a:rPr>
              <a:t>•  Handed over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 BUILT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Integrated Capstone Package</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Portfolio &amp; charter</a:t>
            </a:r>
          </a:p>
          <a:p>
            <a:pPr algn="l">
              <a:spcAft>
                <a:spcPts val="300"/>
              </a:spcAft>
            </a:pPr>
            <a:r>
              <a:rPr sz="1000" b="0">
                <a:solidFill>
                  <a:srgbClr val="5B6372"/>
                </a:solidFill>
                <a:latin typeface="Arial"/>
              </a:rPr>
              <a:t>Weighted selection matrix, business case and governed charter.</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Customer requirements</a:t>
            </a:r>
          </a:p>
          <a:p>
            <a:pPr algn="l">
              <a:spcAft>
                <a:spcPts val="300"/>
              </a:spcAft>
            </a:pPr>
            <a:r>
              <a:rPr sz="1000" b="0">
                <a:solidFill>
                  <a:srgbClr val="5B6372"/>
                </a:solidFill>
                <a:latin typeface="Arial"/>
              </a:rPr>
              <a:t>VOC log, Kano classification and CTQ flowdown to controllable Xs.</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Process baseline</a:t>
            </a:r>
          </a:p>
          <a:p>
            <a:pPr algn="l">
              <a:spcAft>
                <a:spcPts val="300"/>
              </a:spcAft>
            </a:pPr>
            <a:r>
              <a:rPr sz="1000" b="0">
                <a:solidFill>
                  <a:srgbClr val="5B6372"/>
                </a:solidFill>
                <a:latin typeface="Arial"/>
              </a:rPr>
              <a:t>SIPOC, swimlane map, VSM, takt time and quantified waste.</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Valid measurement</a:t>
            </a:r>
          </a:p>
          <a:p>
            <a:pPr algn="l">
              <a:spcAft>
                <a:spcPts val="300"/>
              </a:spcAft>
            </a:pPr>
            <a:r>
              <a:rPr sz="1000" b="0">
                <a:solidFill>
                  <a:srgbClr val="5B6372"/>
                </a:solidFill>
                <a:latin typeface="Arial"/>
              </a:rPr>
              <a:t>Gage R&amp;R, attribute Kappa study and a nested gauge design.</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Performance baseline</a:t>
            </a:r>
          </a:p>
          <a:p>
            <a:pPr algn="l">
              <a:spcAft>
                <a:spcPts val="300"/>
              </a:spcAft>
            </a:pPr>
            <a:r>
              <a:rPr sz="1000" b="0">
                <a:solidFill>
                  <a:srgbClr val="5B6372"/>
                </a:solidFill>
                <a:latin typeface="Arial"/>
              </a:rPr>
              <a:t>RTY, DPMO, sigma level, Cpk and Ppk with normality handled.</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Proven root causes</a:t>
            </a:r>
          </a:p>
          <a:p>
            <a:pPr algn="l">
              <a:spcAft>
                <a:spcPts val="300"/>
              </a:spcAft>
            </a:pPr>
            <a:r>
              <a:rPr sz="1000" b="0">
                <a:solidFill>
                  <a:srgbClr val="5B6372"/>
                </a:solidFill>
                <a:latin typeface="Arial"/>
              </a:rPr>
              <a:t>Regression model, ANOVA, multi-vari and chi-square evidence.</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Optimised improvements</a:t>
            </a:r>
          </a:p>
          <a:p>
            <a:pPr algn="l">
              <a:spcAft>
                <a:spcPts val="300"/>
              </a:spcAft>
            </a:pPr>
            <a:r>
              <a:rPr sz="1000" b="0">
                <a:solidFill>
                  <a:srgbClr val="5B6372"/>
                </a:solidFill>
                <a:latin typeface="Arial"/>
              </a:rPr>
              <a:t>DOE design, alias structure, RSM optimum and FMEA re-scoring.</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Sustained control</a:t>
            </a:r>
          </a:p>
          <a:p>
            <a:pPr algn="l">
              <a:spcAft>
                <a:spcPts val="300"/>
              </a:spcAft>
            </a:pPr>
            <a:r>
              <a:rPr sz="1000" b="0">
                <a:solidFill>
                  <a:srgbClr val="5B6372"/>
                </a:solidFill>
                <a:latin typeface="Arial"/>
              </a:rPr>
              <a:t>CUSUM/EWMA charts, control plan and Finance-validated benefit.</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BEFORE YOUR PRESENTATION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Capstone Readiness Checklist</a:t>
            </a:r>
          </a:p>
        </p:txBody>
      </p:sp>
      <p:sp>
        <p:nvSpPr>
          <p:cNvPr id="6" name="Rectangle 5"/>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78308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78308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74520"/>
            <a:ext cx="9482328" cy="384048"/>
          </a:xfrm>
          <a:prstGeom prst="rect">
            <a:avLst/>
          </a:prstGeom>
          <a:noFill/>
        </p:spPr>
        <p:txBody>
          <a:bodyPr wrap="square" anchor="ctr">
            <a:spAutoFit/>
          </a:bodyPr>
          <a:lstStyle/>
          <a:p>
            <a:pPr algn="l">
              <a:spcAft>
                <a:spcPts val="400"/>
              </a:spcAft>
            </a:pPr>
            <a:r>
              <a:rPr sz="1400" b="0">
                <a:solidFill>
                  <a:srgbClr val="161B26"/>
                </a:solidFill>
                <a:latin typeface="Arial"/>
              </a:rPr>
              <a:t>Can you defend your project selection against the portfolio criteria?</a:t>
            </a:r>
          </a:p>
        </p:txBody>
      </p:sp>
      <p:sp>
        <p:nvSpPr>
          <p:cNvPr id="11" name="Rectangle 10"/>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642616"/>
            <a:ext cx="9482328" cy="384048"/>
          </a:xfrm>
          <a:prstGeom prst="rect">
            <a:avLst/>
          </a:prstGeom>
          <a:noFill/>
        </p:spPr>
        <p:txBody>
          <a:bodyPr wrap="square" anchor="ctr">
            <a:spAutoFit/>
          </a:bodyPr>
          <a:lstStyle/>
          <a:p>
            <a:pPr algn="l">
              <a:spcAft>
                <a:spcPts val="400"/>
              </a:spcAft>
            </a:pPr>
            <a:r>
              <a:rPr sz="1400" b="0">
                <a:solidFill>
                  <a:srgbClr val="161B26"/>
                </a:solidFill>
                <a:latin typeface="Arial"/>
              </a:rPr>
              <a:t>Can you prove your measurement system is valid for your data type?</a:t>
            </a:r>
          </a:p>
        </p:txBody>
      </p:sp>
      <p:sp>
        <p:nvSpPr>
          <p:cNvPr id="16" name="Rectangle 15"/>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31927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31927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10712"/>
            <a:ext cx="9482328" cy="384048"/>
          </a:xfrm>
          <a:prstGeom prst="rect">
            <a:avLst/>
          </a:prstGeom>
          <a:noFill/>
        </p:spPr>
        <p:txBody>
          <a:bodyPr wrap="square" anchor="ctr">
            <a:spAutoFit/>
          </a:bodyPr>
          <a:lstStyle/>
          <a:p>
            <a:pPr algn="l">
              <a:spcAft>
                <a:spcPts val="400"/>
              </a:spcAft>
            </a:pPr>
            <a:r>
              <a:rPr sz="1400" b="0">
                <a:solidFill>
                  <a:srgbClr val="161B26"/>
                </a:solidFill>
                <a:latin typeface="Arial"/>
              </a:rPr>
              <a:t>Can you state the power of your tests and justify your sample size?</a:t>
            </a:r>
          </a:p>
        </p:txBody>
      </p:sp>
      <p:sp>
        <p:nvSpPr>
          <p:cNvPr id="21" name="Rectangle 20"/>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408736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408736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4178808"/>
            <a:ext cx="9482328" cy="384048"/>
          </a:xfrm>
          <a:prstGeom prst="rect">
            <a:avLst/>
          </a:prstGeom>
          <a:noFill/>
        </p:spPr>
        <p:txBody>
          <a:bodyPr wrap="square" anchor="ctr">
            <a:spAutoFit/>
          </a:bodyPr>
          <a:lstStyle/>
          <a:p>
            <a:pPr algn="l">
              <a:spcAft>
                <a:spcPts val="400"/>
              </a:spcAft>
            </a:pPr>
            <a:r>
              <a:rPr sz="1400" b="0">
                <a:solidFill>
                  <a:srgbClr val="161B26"/>
                </a:solidFill>
                <a:latin typeface="Arial"/>
              </a:rPr>
              <a:t>Can you interpret your regression coefficients in business language?</a:t>
            </a:r>
          </a:p>
        </p:txBody>
      </p:sp>
      <p:sp>
        <p:nvSpPr>
          <p:cNvPr id="26" name="Rectangle 25"/>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85546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46904"/>
            <a:ext cx="9482328" cy="384048"/>
          </a:xfrm>
          <a:prstGeom prst="rect">
            <a:avLst/>
          </a:prstGeom>
          <a:noFill/>
        </p:spPr>
        <p:txBody>
          <a:bodyPr wrap="square" anchor="ctr">
            <a:spAutoFit/>
          </a:bodyPr>
          <a:lstStyle/>
          <a:p>
            <a:pPr algn="l">
              <a:spcAft>
                <a:spcPts val="400"/>
              </a:spcAft>
            </a:pPr>
            <a:r>
              <a:rPr sz="1400" b="0">
                <a:solidFill>
                  <a:srgbClr val="161B26"/>
                </a:solidFill>
                <a:latin typeface="Arial"/>
              </a:rPr>
              <a:t>Can you explain your DOE resolution and what effects were aliased?</a:t>
            </a:r>
          </a:p>
        </p:txBody>
      </p:sp>
      <p:sp>
        <p:nvSpPr>
          <p:cNvPr id="31" name="Rectangle 30"/>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1014984" y="5623560"/>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14984" y="562356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1709928" y="5715000"/>
            <a:ext cx="9482328" cy="384048"/>
          </a:xfrm>
          <a:prstGeom prst="rect">
            <a:avLst/>
          </a:prstGeom>
          <a:noFill/>
        </p:spPr>
        <p:txBody>
          <a:bodyPr wrap="square" anchor="ctr">
            <a:spAutoFit/>
          </a:bodyPr>
          <a:lstStyle/>
          <a:p>
            <a:pPr algn="l">
              <a:spcAft>
                <a:spcPts val="400"/>
              </a:spcAft>
            </a:pPr>
            <a:r>
              <a:rPr sz="1400" b="0">
                <a:solidFill>
                  <a:srgbClr val="161B26"/>
                </a:solidFill>
                <a:latin typeface="Arial"/>
              </a:rPr>
              <a:t>Can you show sustained performance on a control chart after handover?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BEFORE YOUR PRESENTATION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Capstone Readiness Checklist (2)</a:t>
            </a:r>
          </a:p>
        </p:txBody>
      </p:sp>
      <p:sp>
        <p:nvSpPr>
          <p:cNvPr id="6" name="Rectangle 5"/>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859889"/>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85988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74520"/>
            <a:ext cx="9482328" cy="537667"/>
          </a:xfrm>
          <a:prstGeom prst="rect">
            <a:avLst/>
          </a:prstGeom>
          <a:noFill/>
        </p:spPr>
        <p:txBody>
          <a:bodyPr wrap="square" anchor="ctr">
            <a:spAutoFit/>
          </a:bodyPr>
          <a:lstStyle/>
          <a:p>
            <a:pPr algn="l">
              <a:spcAft>
                <a:spcPts val="400"/>
              </a:spcAft>
            </a:pPr>
            <a:r>
              <a:rPr sz="1400" b="0">
                <a:solidFill>
                  <a:srgbClr val="161B26"/>
                </a:solidFill>
                <a:latin typeface="Arial"/>
              </a:rPr>
              <a:t>Can you separate hard, soft and cost-avoidance benefits?</a:t>
            </a:r>
          </a:p>
        </p:txBody>
      </p:sp>
      <p:sp>
        <p:nvSpPr>
          <p:cNvPr id="11" name="Rectangle 10"/>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7816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7816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796235"/>
            <a:ext cx="9482328" cy="537667"/>
          </a:xfrm>
          <a:prstGeom prst="rect">
            <a:avLst/>
          </a:prstGeom>
          <a:noFill/>
        </p:spPr>
        <p:txBody>
          <a:bodyPr wrap="square" anchor="ctr">
            <a:spAutoFit/>
          </a:bodyPr>
          <a:lstStyle/>
          <a:p>
            <a:pPr algn="l">
              <a:spcAft>
                <a:spcPts val="400"/>
              </a:spcAft>
            </a:pPr>
            <a:r>
              <a:rPr sz="1400" b="0">
                <a:solidFill>
                  <a:srgbClr val="161B26"/>
                </a:solidFill>
                <a:latin typeface="Arial"/>
              </a:rPr>
              <a:t>Can you name who in Finance validated your benefit, and over what period?</a:t>
            </a:r>
          </a:p>
        </p:txBody>
      </p:sp>
      <p:sp>
        <p:nvSpPr>
          <p:cNvPr id="16" name="Rectangle 15"/>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19"/>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1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717950"/>
            <a:ext cx="9482328" cy="537667"/>
          </a:xfrm>
          <a:prstGeom prst="rect">
            <a:avLst/>
          </a:prstGeom>
          <a:noFill/>
        </p:spPr>
        <p:txBody>
          <a:bodyPr wrap="square" anchor="ctr">
            <a:spAutoFit/>
          </a:bodyPr>
          <a:lstStyle/>
          <a:p>
            <a:pPr algn="l">
              <a:spcAft>
                <a:spcPts val="400"/>
              </a:spcAft>
            </a:pPr>
            <a:r>
              <a:rPr sz="1400" b="0">
                <a:solidFill>
                  <a:srgbClr val="161B26"/>
                </a:solidFill>
                <a:latin typeface="Arial"/>
              </a:rPr>
              <a:t>Can you answer a confounding challenge with evidence rather than assertion?</a:t>
            </a:r>
          </a:p>
        </p:txBody>
      </p:sp>
      <p:sp>
        <p:nvSpPr>
          <p:cNvPr id="21" name="Rectangle 20"/>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462503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462503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4639665"/>
            <a:ext cx="9482328" cy="537667"/>
          </a:xfrm>
          <a:prstGeom prst="rect">
            <a:avLst/>
          </a:prstGeom>
          <a:noFill/>
        </p:spPr>
        <p:txBody>
          <a:bodyPr wrap="square" anchor="ctr">
            <a:spAutoFit/>
          </a:bodyPr>
          <a:lstStyle/>
          <a:p>
            <a:pPr algn="l">
              <a:spcAft>
                <a:spcPts val="400"/>
              </a:spcAft>
            </a:pPr>
            <a:r>
              <a:rPr sz="1400" b="0">
                <a:solidFill>
                  <a:srgbClr val="161B26"/>
                </a:solidFill>
                <a:latin typeface="Arial"/>
              </a:rPr>
              <a:t>Can you state what stops this improvement decaying in six months?</a:t>
            </a:r>
          </a:p>
        </p:txBody>
      </p:sp>
      <p:sp>
        <p:nvSpPr>
          <p:cNvPr id="26" name="Rectangle 25"/>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546749"/>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54674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5561380"/>
            <a:ext cx="9482328" cy="537667"/>
          </a:xfrm>
          <a:prstGeom prst="rect">
            <a:avLst/>
          </a:prstGeom>
          <a:noFill/>
        </p:spPr>
        <p:txBody>
          <a:bodyPr wrap="square" anchor="ctr">
            <a:spAutoFit/>
          </a:bodyPr>
          <a:lstStyle/>
          <a:p>
            <a:pPr algn="l">
              <a:spcAft>
                <a:spcPts val="400"/>
              </a:spcAft>
            </a:pPr>
            <a:r>
              <a:rPr sz="1400" b="0">
                <a:solidFill>
                  <a:srgbClr val="161B26"/>
                </a:solidFill>
                <a:latin typeface="Arial"/>
              </a:rPr>
              <a:t>Can you coach a Green Belt through the analysis you just performed?</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NEXT STEPS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Continuing Your Black Belt Journey</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Complete your capstone</a:t>
            </a:r>
          </a:p>
          <a:p>
            <a:pPr algn="l">
              <a:spcAft>
                <a:spcPts val="300"/>
              </a:spcAft>
            </a:pPr>
            <a:r>
              <a:rPr sz="1200" b="0">
                <a:solidFill>
                  <a:srgbClr val="5B6372"/>
                </a:solidFill>
                <a:latin typeface="Arial"/>
              </a:rPr>
              <a:t>Take the project you started here through to real closure.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Mentor Green Belts</a:t>
            </a:r>
          </a:p>
          <a:p>
            <a:pPr algn="l">
              <a:spcAft>
                <a:spcPts val="300"/>
              </a:spcAft>
            </a:pPr>
            <a:r>
              <a:rPr sz="1200" b="0">
                <a:solidFill>
                  <a:srgbClr val="5B6372"/>
                </a:solidFill>
                <a:latin typeface="Arial"/>
              </a:rPr>
              <a:t>Coach their analysis rather than performing it for them.</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Master Black Belt</a:t>
            </a:r>
          </a:p>
          <a:p>
            <a:pPr algn="l">
              <a:spcAft>
                <a:spcPts val="300"/>
              </a:spcAft>
            </a:pPr>
            <a:r>
              <a:rPr sz="1200" b="0">
                <a:solidFill>
                  <a:srgbClr val="5B6372"/>
                </a:solidFill>
                <a:latin typeface="Arial"/>
              </a:rPr>
              <a:t>The next step — leads programmes and develops Black Belts.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Log your projects</a:t>
            </a:r>
          </a:p>
          <a:p>
            <a:pPr algn="l">
              <a:spcAft>
                <a:spcPts val="300"/>
              </a:spcAft>
            </a:pPr>
            <a:r>
              <a:rPr sz="1200" b="0">
                <a:solidFill>
                  <a:srgbClr val="5B6372"/>
                </a:solidFill>
                <a:latin typeface="Arial"/>
              </a:rPr>
              <a:t>Certification requires documented, benefit-validated projects.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ASSESSMENT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Final Assessment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Sit the Written Assessment (SAQ, 1 hour) then the Case Study (90 minutes) — both open book. Your capstone project and presentation are delivered in addition.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 Flow</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Sit the WA (SAQ, 1 hour), then the Case Study (90 minutes)</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Submit your capstone report and present it to the steering committee</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Digital Attendance (Assessment)</a:t>
            </a:r>
          </a:p>
        </p:txBody>
      </p:sp>
      <p:sp>
        <p:nvSpPr>
          <p:cNvPr id="6" name="Rectangle 5"/>
          <p:cNvSpPr/>
          <p:nvPr/>
        </p:nvSpPr>
        <p:spPr>
          <a:xfrm>
            <a:off x="777240"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Trainer displays the SSG digital attendance QR code</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3513582"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Scan the QR code with your phone camera</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6249924"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your NRIC/FIN and submit</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8986266"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Attendance must be recorded before you begin the papers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YOUR FEEDBACK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TRAQOM Survey</a:t>
            </a:r>
          </a:p>
        </p:txBody>
      </p:sp>
      <p:sp>
        <p:nvSpPr>
          <p:cNvPr id="6" name="Rectangle 5"/>
          <p:cNvSpPr/>
          <p:nvPr/>
        </p:nvSpPr>
        <p:spPr>
          <a:xfrm>
            <a:off x="777240"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Open the TRAQOM survey link on the LMS</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3513582"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the last four characters of your NRIC/FIN</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6249924"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the six-digit course run ID</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8986266"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Complete and submit — your feedback shapes this course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AFTER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Certificate &amp; Support</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Two e-certificates are awarded on demonstrating competency and achieving at least 75% attendance.</a:t>
            </a:r>
          </a:p>
          <a:p>
            <a:pPr>
              <a:spcAft>
                <a:spcPts val="1000"/>
              </a:spcAft>
            </a:pPr>
            <a:r>
              <a:rPr sz="2000">
                <a:solidFill>
                  <a:srgbClr val="161B26"/>
                </a:solidFill>
                <a:latin typeface="Arial"/>
              </a:rPr>
              <a:t>•  A SkillsFuture Statement of Attainment (SOA) is issued for the WSQ assessment.</a:t>
            </a:r>
          </a:p>
          <a:p>
            <a:pPr>
              <a:spcAft>
                <a:spcPts val="1000"/>
              </a:spcAft>
            </a:pPr>
            <a:r>
              <a:rPr sz="2000">
                <a:solidFill>
                  <a:srgbClr val="161B26"/>
                </a:solidFill>
                <a:latin typeface="Arial"/>
              </a:rPr>
              <a:t>•  Email: enquiry@tertiaryinfotech.com</a:t>
            </a:r>
          </a:p>
          <a:p>
            <a:pPr>
              <a:spcAft>
                <a:spcPts val="1000"/>
              </a:spcAft>
            </a:pPr>
            <a:r>
              <a:rPr sz="2000">
                <a:solidFill>
                  <a:srgbClr val="161B26"/>
                </a:solidFill>
                <a:latin typeface="Arial"/>
              </a:rPr>
              <a:t>•  Tel / WhatsApp: +65 6100 0613</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END OF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Now go and finish the project you started here, then mentor the next Green Belt through theirs — that is what a Black Belt is for.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PORTAL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Login to LMS and Download Course Material</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Black Belt (CLSSBB) Training  ·  TGS-2024051900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pic>
        <p:nvPicPr>
          <p:cNvPr id="38" name="Picture 37" descr="ref_login.png"/>
          <p:cNvPicPr>
            <a:picLocks noChangeAspect="1"/>
          </p:cNvPicPr>
          <p:nvPr/>
        </p:nvPicPr>
        <p:blipFill>
          <a:blip r:embed="rId2"/>
          <a:stretch>
            <a:fillRect/>
          </a:stretch>
        </p:blipFill>
        <p:spPr>
          <a:xfrm>
            <a:off x="1992535" y="1732788"/>
            <a:ext cx="8206625" cy="4082796"/>
          </a:xfrm>
          <a:prstGeom prst="rect">
            <a:avLst/>
          </a:prstGeom>
          <a:ln w="12700">
            <a:solidFill>
              <a:srgbClr val="E2E8F0"/>
            </a:solidFill>
          </a:ln>
        </p:spPr>
      </p:pic>
      <p:sp>
        <p:nvSpPr>
          <p:cNvPr id="39" name="TextBox 38"/>
          <p:cNvSpPr txBox="1"/>
          <p:nvPr/>
        </p:nvSpPr>
        <p:spPr>
          <a:xfrm>
            <a:off x="777240" y="5897880"/>
            <a:ext cx="10637215" cy="459486"/>
          </a:xfrm>
          <a:prstGeom prst="rect">
            <a:avLst/>
          </a:prstGeom>
          <a:noFill/>
        </p:spPr>
        <p:txBody>
          <a:bodyPr wrap="square">
            <a:spAutoFit/>
          </a:bodyPr>
          <a:lstStyle/>
          <a:p>
            <a:pPr algn="ctr"/>
            <a:r>
              <a:rPr sz="1150">
                <a:solidFill>
                  <a:srgbClr val="475569"/>
                </a:solidFill>
                <a:latin typeface="Arial"/>
              </a:rPr>
              <a:t>Log in at lms-tms.tertiaryinfotech.com with your registered email and the OTP sent to your inbox, then open this course to download the slides and Learner 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